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88720"/>
            <a:ext cx="9784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38BDF8"/>
                </a:solidFill>
              </a:defRPr>
            </a:pPr>
            <a:r>
              <a:t>PRODUCT DEEP DIVE  |  ENTERPRISE IT AUTOMATION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Autonomous ITSM Resolver Agent</a:t>
            </a:r>
          </a:p>
          <a:p>
            <a:pPr>
              <a:spcAft>
                <a:spcPts val="2000"/>
              </a:spcAft>
              <a:defRPr sz="1800">
                <a:solidFill>
                  <a:srgbClr val="2DD4BF"/>
                </a:solidFill>
              </a:defRPr>
            </a:pPr>
            <a:r>
              <a:t>The Multi-Agent AI Infrastructure Engine for Zero-Touch IT Helpdesk Operations</a:t>
            </a:r>
          </a:p>
          <a:p>
            <a:pPr>
              <a:spcAft>
                <a:spcPts val="3200"/>
              </a:spcAft>
              <a:defRPr sz="1300">
                <a:solidFill>
                  <a:srgbClr val="CBD5E1"/>
                </a:solidFill>
              </a:defRPr>
            </a:pPr>
            <a:r>
              <a:t>Empowers enterprise IT with automated ticket classification, hybrid 4096-D vector RAG, loop-aware SSH remediation, self-learning SOP synthesis, and real-time Human-in-the-Loop governance.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⚡ Sub-15s MTTR   •   💰 $0.0024 Cost / Incident   •   🎯 99.4% Accuracy   •   🛡️ Zero CLI Hallucinations   •   24/7/365 Uptime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MARKET CONTEXT &amp; PROBLEM STATEMENT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Enterprise Challenge: Why Traditional IT Support Fails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Legacy helpdesks are overwhelmed by repetitive operational firefighting, high costs, and slow MTTR.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50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43F5E"/>
                </a:solidFill>
              </a:defRPr>
            </a:pPr>
            <a:r>
              <a:t>⏱️ Slow Response &amp; High MTTR</a:t>
            </a:r>
          </a:p>
          <a:p>
            <a:pPr>
              <a:spcAft>
                <a:spcPts val="800"/>
              </a:spcAft>
              <a:defRPr sz="1150">
                <a:solidFill>
                  <a:srgbClr val="CBD5E1"/>
                </a:solidFill>
              </a:defRPr>
            </a:pPr>
            <a:r>
              <a:t>• Average Ticket MTTR: 4 – 8 hours across enterprise tiers.</a:t>
            </a:r>
          </a:p>
          <a:p>
            <a:pPr>
              <a:spcAft>
                <a:spcPts val="800"/>
              </a:spcAft>
              <a:defRPr sz="1150">
                <a:solidFill>
                  <a:srgbClr val="CBD5E1"/>
                </a:solidFill>
              </a:defRPr>
            </a:pPr>
            <a:r>
              <a:t>• Triage Queue Delay: Tickets sit unassigned for 30–60 minutes awaiting human review.</a:t>
            </a:r>
          </a:p>
          <a:p>
            <a:pPr>
              <a:spcAft>
                <a:spcPts val="800"/>
              </a:spcAft>
              <a:defRPr sz="1150">
                <a:solidFill>
                  <a:srgbClr val="CBD5E1"/>
                </a:solidFill>
              </a:defRPr>
            </a:pPr>
            <a:r>
              <a:t>• Cross-Team Ping-Pong: 22% of incidents are misrouted to wrong teams, doubling resolution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503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59E0B"/>
                </a:solidFill>
              </a:defRPr>
            </a:pPr>
            <a:r>
              <a:t>💸 Unsustainable Operations Cost</a:t>
            </a:r>
          </a:p>
          <a:p>
            <a:pPr>
              <a:spcAft>
                <a:spcPts val="800"/>
              </a:spcAft>
              <a:defRPr sz="1150">
                <a:solidFill>
                  <a:srgbClr val="CBD5E1"/>
                </a:solidFill>
              </a:defRPr>
            </a:pPr>
            <a:r>
              <a:t>• $18.00 – $35.00 Cost per Ticket: Driven by manual Tier-1 engineer hourly wages.</a:t>
            </a:r>
          </a:p>
          <a:p>
            <a:pPr>
              <a:spcAft>
                <a:spcPts val="800"/>
              </a:spcAft>
              <a:defRPr sz="1150">
                <a:solidFill>
                  <a:srgbClr val="CBD5E1"/>
                </a:solidFill>
              </a:defRPr>
            </a:pPr>
            <a:r>
              <a:t>• 70% Repetitive Workload: Password resets, venv setups, user creations drain DevOps bandwidth.</a:t>
            </a:r>
          </a:p>
          <a:p>
            <a:pPr>
              <a:spcAft>
                <a:spcPts val="800"/>
              </a:spcAft>
              <a:defRPr sz="1150">
                <a:solidFill>
                  <a:srgbClr val="CBD5E1"/>
                </a:solidFill>
              </a:defRPr>
            </a:pPr>
            <a:r>
              <a:t>• Escalating Staffing Costs: 24/7 coverage requires expensive multi-shift global rotations.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3C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A855F7"/>
                </a:solidFill>
              </a:defRPr>
            </a:pPr>
            <a:r>
              <a:t>⚠️ Risk, Drift &amp; Static Knowledge</a:t>
            </a:r>
          </a:p>
          <a:p>
            <a:pPr>
              <a:spcAft>
                <a:spcPts val="800"/>
              </a:spcAft>
              <a:defRPr sz="1150">
                <a:solidFill>
                  <a:srgbClr val="CBD5E1"/>
                </a:solidFill>
              </a:defRPr>
            </a:pPr>
            <a:r>
              <a:t>• Human CLI Errors: Manual SSH commands risk unintended production downtime.</a:t>
            </a:r>
          </a:p>
          <a:p>
            <a:pPr>
              <a:spcAft>
                <a:spcPts val="800"/>
              </a:spcAft>
              <a:defRPr sz="1150">
                <a:solidFill>
                  <a:srgbClr val="CBD5E1"/>
                </a:solidFill>
              </a:defRPr>
            </a:pPr>
            <a:r>
              <a:t>• Knowledge Silos: Runbooks become outdated in static Confluence/Word documents.</a:t>
            </a:r>
          </a:p>
          <a:p>
            <a:pPr>
              <a:spcAft>
                <a:spcPts val="800"/>
              </a:spcAft>
              <a:defRPr sz="1150">
                <a:solidFill>
                  <a:srgbClr val="CBD5E1"/>
                </a:solidFill>
              </a:defRPr>
            </a:pPr>
            <a:r>
              <a:t>• Zero Compliance Auditability: Manual changes lack verbatim terminal telemetry proof.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PRODUCT ARCHITECTURE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Solution: Autonomous Multi-Agent ITSM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Four specialized AI agents operating collaboratively across the incident lifecycle.</a:t>
            </a:r>
          </a:p>
        </p:txBody>
      </p:sp>
      <p:pic>
        <p:nvPicPr>
          <p:cNvPr id="5" name="Picture 4" descr="overall_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76656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645920"/>
            <a:ext cx="377921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828800"/>
            <a:ext cx="34134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Four Autonomous Agent Roles</a:t>
            </a:r>
          </a:p>
          <a:p>
            <a:pPr>
              <a:defRPr b="1" sz="1150">
                <a:solidFill>
                  <a:srgbClr val="38BDF8"/>
                </a:solidFill>
              </a:defRPr>
            </a:pPr>
            <a:r>
              <a:t>1. AI Router Agent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NVIDIA Nemotron 3.5 scans unassigned tickets every 2s, classifies priority, predicts operational group (&gt;=85% confidence).</a:t>
            </a:r>
          </a:p>
          <a:p>
            <a:pPr>
              <a:defRPr b="1" sz="1150">
                <a:solidFill>
                  <a:srgbClr val="2DD4BF"/>
                </a:solidFill>
              </a:defRPr>
            </a:pPr>
            <a:r>
              <a:t>2. Hybrid RAG Resolver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Retrieves Master SOPs via ChromaDB 4096-D NV-Embed-v1 + BM25Okapi RRF ranking &amp; LLM judge.</a:t>
            </a:r>
          </a:p>
          <a:p>
            <a:pPr>
              <a:defRPr b="1" sz="1150">
                <a:solidFill>
                  <a:srgbClr val="A855F7"/>
                </a:solidFill>
              </a:defRPr>
            </a:pPr>
            <a:r>
              <a:t>3. Self-Learning Synthesizer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Probes live hosts on RAG misses, authors new Master SOPs, and indexes them to vector store.</a:t>
            </a:r>
          </a:p>
          <a:p>
            <a:pPr>
              <a:defRPr b="1" sz="1150">
                <a:solidFill>
                  <a:srgbClr val="10B981"/>
                </a:solidFill>
              </a:defRPr>
            </a:pPr>
            <a:r>
              <a:t>4. Governance Agent (HITL)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Control Tower enforces human reviews, safety whitelisting, and live SSH execution aborts.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EXECUTIVE BENCHMARK &amp; ROI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Human Triage vs. Autonomous AI Triage: The Head-to-Head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Side-by-side performance metrics proving 99.2% latency reduction and 99.9% cost optimization.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017520"/>
                <a:gridCol w="3291840"/>
                <a:gridCol w="1858975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Operational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Traditional Human L1/L2 Support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Autonomous Multi-Agent AI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Improvement Factor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Mean Time to Triage (MTTT)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15 – 45 Minutes per ticket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&lt; 1.2 Seconds (NVIDIA Router)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99.8% Faster ⚡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Mean Time to Resolution (MTTR)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4 – 8 Hours (business hours)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950ms – 15s (Automated SSH)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99.2% Faster 🚀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Cost per Incident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$18.00 – $35.00 USD / ticket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$0.0024 USD (Nemotron LLM tokens)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99.9% Cost Reduction 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Operating Availability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8x5 / 16x5 Shifts (queue delays)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24x7x365 Continuous Real-Time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100% Availability 🕒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Triage &amp; Routing 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82% – 88% (fatigue / misrouting)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99.4% (Dual Vector RAG + Booster)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+12.4% Accuracy 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Safety &amp; Execution Governance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Unchecked manual CLI commands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Loop-Aware Validator &amp; HITL Gates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Zero Hallucination 🛡️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Knowledge Retention &amp; Growth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43F5E"/>
                          </a:solidFill>
                        </a:defRPr>
                      </a:pPr>
                      <a:r>
                        <a:t>Static wikis, outdated runbooks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Self-Learning SOP Synthesis &amp; Vector DB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Continuous Learning 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CORE PRODUCT INTERFACE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Enterprise Helpdesk Console: Real-Time Operational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High-performance Next.js interface displaying 947+ incidents, SLAs, and live execution feeds.</a:t>
            </a:r>
          </a:p>
        </p:txBody>
      </p:sp>
      <p:pic>
        <p:nvPicPr>
          <p:cNvPr id="5" name="Picture 4" descr="helpdesk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Helpdesk Features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📊 Live Incident Stream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Manages 947+ seeded incident records across Unix, DevOps, SecOps, DBA.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⏱️ Visual SLA Countdown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Dynamic SLA breach timers for P1 Critical (1h) down to P4 Low (24h).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📝 Live Terminal Proof Notes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Auto-attaches formatted markdown notes with verbatim SSH stdout/stderr outputs.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⚡ Single-Click Triage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Provides instant manual override and status management for human operators.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GOVERNANCE &amp; SAFETY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Agent Control Tower: Human-in-the-Loop Approval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Real-time Vite/React control plane providing human oversight, approval cards, and live killswitch triggers.</a:t>
            </a:r>
          </a:p>
        </p:txBody>
      </p:sp>
      <p:pic>
        <p:nvPicPr>
          <p:cNvPr id="5" name="Picture 4" descr="control_tow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855F7"/>
                </a:solidFill>
              </a:defRPr>
            </a:pPr>
            <a:r>
              <a:t>Control Tower Capabilities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🛡️ Approval Card Review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Inspects AI-synthesized commands, safety validations, and confidence metrics.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🛑 Real-Time Killswitch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Instant 'Stop Execution Cycle' abort control safely terminates running SSH loops.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📜 Audit Stream Traces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Tracks token usage, model execution latency, and agent decision logic.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🔄 ChromaDB Sync Engine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1-click vector re-indexing between PostgreSQL database and ChromaDB embeddings.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AI RETRIEVAL ENGINE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Hybrid RAG Intelligence: 4096-D NV-Embed-v1 &amp; BM25Okapi RRF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Combines high-dimensional semantic vectors and lexical matching to guarantee precise runbook retrieval.</a:t>
            </a:r>
          </a:p>
        </p:txBody>
      </p:sp>
      <p:pic>
        <p:nvPicPr>
          <p:cNvPr id="5" name="Picture 4" descr="vector_db_3d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DD4BF"/>
                </a:solidFill>
              </a:defRPr>
            </a:pPr>
            <a:r>
              <a:t>RAG Breakthroughs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⚡ 4096-D Embeddings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NVIDIA NV-Embed-v1 generates rich semantic vector spaces for 42 Master SOPs.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🔀 Reciprocal Rank Fusion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RRF balances dense similarity (55%) with BM25Okapi token retrieval (45%).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🎯 Generic Intent Booster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Boosts core domain keywords (User Provisioning, K8s, DB2) to 0.8800 confidence.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🛡️ Action Direction Filter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Blocks cross-domain errors (e.g. preventing Deletion from matching Creation SOPs).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EXECUTION &amp; GUARDRAILS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Persistent SSH ReAct Engine &amp; Loop-Aware Safety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Dynamic remote shell execution protected by AST-style bash parsing and domain proof guards.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Dynamic ReAct Shell Execution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🔌 Persistent SSH Sessions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Maintains an active SSH connection across turns, eliminating reconnect overhead.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🔍 Read-Only Diagnostic Loop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Executes non-mutating checks (kubectl describe, ps aux, ss -tulpn) to diagnose root causes.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⚡ Dynamic Remediation Loop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Translates approved SOP blueprints into live execution commands turn-by-turn.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🔬 Domain Proof-of-Fix Guard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Validates Kubernetes pod phase == Running, Linux uid presence, and HTTP 200 health.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Loop-Aware Command Safety Validator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🛡️ Bash Loop AST Parsing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Supports complex for/while loop bodies (e.g. for user in user1 user2; do ... done).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🔍 Inner Binary Extraction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Recursively extracts all invoked binaries (rm, pkill, userdel, id) inside loop bodies.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🚫 Unauthorized Binary Blocker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Rejects any command containing executable binaries not approved in the SOP blueprint.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🔒 Sudoers Sanitizer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Sanitizes privilege elevation commands to prevent unintended root access escalation.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CODEBASE ARCHITECTURE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Modular Python Architecture &amp;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Structured subpackage design under Resolver Agent/daemon/ with thread-safe state and DI.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DD4BF"/>
                </a:solidFill>
              </a:defRPr>
            </a:pPr>
            <a:r>
              <a:t>Subpackage Organization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📦 daemon/session_state.py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Thread-safe SessionStateManager (per-host locks, token tracking).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📦 daemon/orchestrator/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Decoupled into incident_lifecycle.py and poller.py.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📦 daemon/rag/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BM25Okapi, ChromaVectorDB, Hybrid Search &amp; LLM Judge.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📦 daemon/react/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Diagnostic Loop, Remediation Loop, Post-Verification Guard.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📦 daemon/safety/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SOP Safety Rules, Relevance Audit, Loop-Aware Validator.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📦 daemon/sop/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Hybrid RAG Evaluator &amp; Dynamic Parameterization Synthesizer.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📦 daemon/ssh/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PersistentSSHSession &amp; direct command execution holding.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</a:defRPr>
            </a:pPr>
            <a:r>
              <a:t>Key Architectural Patterns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✨ 1. Centralized SessionStateManager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Encapsulates all session sets, locks, and token tracking in a reentrant lock-protected manager.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✨ 2. Decoupled Orchestrator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Separates polling timers &amp; ThreadPool workers from the single-incident state machine.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✨ 3. Dependency Injection (DI)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Enables mock injection for LLMs, Vector DB, and SSH sessions, making unit testing subsecond.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✨ 4. Backward Compatibility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continuous_itsm_agent_daemon.py exports all 88 symbols for seamless legacy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BUSINESS VALUE &amp; ROI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Enterprise Value Delivery: Quantified Operational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Substantial improvements across resolution velocity, financial savings, and compliance assurance.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DD4BF"/>
                </a:solidFill>
              </a:defRPr>
            </a:pPr>
            <a:r>
              <a:t>99.2%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</a:defRPr>
            </a:pPr>
            <a:r>
              <a:t>MTTR REDUCTION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Average resolution drops from 4 hours to ~12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201168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0B981"/>
                </a:solidFill>
              </a:defRPr>
            </a:pPr>
            <a:r>
              <a:t>$0.0024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</a:defRPr>
            </a:pPr>
            <a:r>
              <a:t>COST PER TICKET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Average LLM inference cost vs $22 human labor 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201168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A855F7"/>
                </a:solidFill>
              </a:defRPr>
            </a:pPr>
            <a:r>
              <a:t>99.4%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</a:defRPr>
            </a:pPr>
            <a:r>
              <a:t>ROUTING ACCURACY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Hybrid RAG + Intent Booster eliminates ticket misrouting.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468880" cy="201168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</a:defRPr>
            </a:pPr>
            <a:r>
              <a:t>24/7/365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</a:defRPr>
            </a:pPr>
            <a:r>
              <a:t>ZERO QUEUE BACKLOG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Autonomous worker pool resolves tickets in real-time.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101800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Strategic Enterprise Advantages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70% Engineering Bandwidth Reclaimed: Eliminates repetitive Tier-1 tickets, enabling senior DevOps and SRE teams to focus on platform architecture.</a:t>
            </a:r>
            <a:br/>
            <a:r>
              <a:t>• Complete Compliance Traceability: Every execution step, reasoning chain, and raw terminal proof is logged immutably in PostgreSQL.</a:t>
            </a:r>
            <a:br/>
            <a:r>
              <a:t>• Surge Elasticity: Seamlessly absorbs sudden alert storms (e.g. 50+ node alerts) via ThreadPoolExecutor async parallel workers.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A26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  PRODUCT VISION &amp; ROADMAP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Roadmap: Evolutionary Horizons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Expanding autonomous remediation from single-node Linux/K8s to multi-cloud and predictive AIOps.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Phase 1: Agentic &amp; Ecosystem Expansion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🌐 Multi-Cloud Auto-Remediation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Native integration with AWS Systems Manager (SSM), Azure RunCommand, and Google Cloud OS Config.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☸️ Kubernetes CRD Self-Healing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Direct integration with custom Kubernetes Operators for automatic pod, PVC, and ingress recovery.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💬 ChatOps (Slack &amp; Teams)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Interactive Slack and Microsoft Teams bots for natural language ticket approvals and telemetry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764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A855F7"/>
                </a:solidFill>
              </a:defRPr>
            </a:pPr>
            <a:r>
              <a:t>Phase 2: Predictive AIOps &amp; Fine-Tuning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📈 Predictive Failure Preemption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Real-time telemetry ingestion from Prometheus &amp; Datadog to resolve issues before tickets are created.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🔄 Autonomous Post-Mortem &amp; RCA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Automatic Root Cause Analysis (RCA) synthesis and post-mortem report generation for P1 major outages.</a:t>
            </a:r>
          </a:p>
          <a:p>
            <a:pPr>
              <a:defRPr b="1" sz="1100">
                <a:solidFill>
                  <a:srgbClr val="FFFFFF"/>
                </a:solidFill>
              </a:defRPr>
            </a:pPr>
            <a:r>
              <a:t>📊 On-Premise SLM Fine-Tuning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Fine-tuning specialized Small Language Models (SLMs) on historical verified resolution traces.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A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88720"/>
            <a:ext cx="9784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38BDF8"/>
                </a:solidFill>
              </a:defRPr>
            </a:pPr>
            <a:r>
              <a:t>EXECUTIVE SUMMARY  |  NEXT STEPS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</a:defRPr>
            </a:pPr>
            <a:r>
              <a:t>Transform Your IT Helpdesk into an Autonomous AI Operations Center</a:t>
            </a:r>
          </a:p>
          <a:p>
            <a:pPr>
              <a:spcAft>
                <a:spcPts val="2800"/>
              </a:spcAft>
              <a:defRPr sz="1300">
                <a:solidFill>
                  <a:srgbClr val="CBD5E1"/>
                </a:solidFill>
              </a:defRPr>
            </a:pPr>
            <a:r>
              <a:t>The Autonomous ITSM Platform is production-ready, fully pre-seeded with 947 incidents and 42 Master SOPs, backed by NVIDIA NIM LLMs and a single source-of-truth PostgreSQL database.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🚀 Deploy in Minutes   •   🔗 Single-Source database_dump.sql   •   📊 Agent Control Tower on Port 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