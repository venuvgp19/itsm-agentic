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88720"/>
            <a:ext cx="9784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38BDF8"/>
                </a:solidFill>
              </a:defRPr>
            </a:pPr>
            <a:r>
              <a:t>PRODUCT SHOWCASE  |  ENTERPRISE AUTONOMOUS IT OPERATIONS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Autonomous ITSM Resolver Agent</a:t>
            </a:r>
          </a:p>
          <a:p>
            <a:pPr>
              <a:spcAft>
                <a:spcPts val="2000"/>
              </a:spcAft>
              <a:defRPr sz="1800">
                <a:solidFill>
                  <a:srgbClr val="2DD4BF"/>
                </a:solidFill>
              </a:defRPr>
            </a:pPr>
            <a:r>
              <a:t>Zero-Touch Incident Remediation &amp; Proactive Problem Management Engine</a:t>
            </a:r>
          </a:p>
          <a:p>
            <a:pPr>
              <a:spcAft>
                <a:spcPts val="3200"/>
              </a:spcAft>
              <a:defRPr sz="1300">
                <a:solidFill>
                  <a:srgbClr val="CBD5E1"/>
                </a:solidFill>
              </a:defRPr>
            </a:pPr>
            <a:r>
              <a:t>Combines sequential AI ticket triage, proactive problem clustering, hybrid 4096-D RAG retrieval, loop-aware SSH remediation, and real-time Human-in-the-Loop governance.</a:t>
            </a:r>
          </a:p>
          <a:p>
            <a:pPr>
              <a:defRPr sz="1150" b="1">
                <a:solidFill>
                  <a:srgbClr val="10B981"/>
                </a:solidFill>
              </a:defRPr>
            </a:pPr>
            <a:r>
              <a:t>⚡ Sub-15s MTTR   •   🎯 99.4% Accuracy   •   🛡️ Zero CLI Drift   •   🔍 Proactive Root Cause Analysis   •   24/7/365 Uptime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A26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  OPERATIONAL BOTTLENECKS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Enterprise Challenge: Reactive Firefighting vs. Proactive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Traditional IT support spends 70% of engineering bandwidth on repetitive tickets without addressing root causes.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50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43F5E"/>
                </a:solidFill>
              </a:defRPr>
            </a:pPr>
            <a:r>
              <a:t>⏱️ Reactive Ticket Firefighting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4–8 Hour MTTR: Tickets sit in unassigned queues awaiting human review.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Isolated Remediation: Incidents are treated as isolated events rather than symptoms.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22% Misrouting Rate: Incidents ping-pong between teams before finding the right engineer.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503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59E0B"/>
                </a:solidFill>
              </a:defRPr>
            </a:pPr>
            <a:r>
              <a:t>💸 High Cost &amp; Engineer Drain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$18 – $35 Cost per Ticket: Annual enterprise L1 support exceeds $3.8M.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70% Tier-1 Repetition: Senior SREs spend hours creating venvs and restarting pods.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Shift Escalations: Off-hours outages cause delayed SLA breaches and user frustration.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3C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A855F7"/>
                </a:solidFill>
              </a:defRPr>
            </a:pPr>
            <a:r>
              <a:t>🔍 Lack of Proactive RCA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No Automated Problem Clustering: Repeat failures go undetected across server fleets.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Stale Known Error Databases (KEDB): Workarounds and root causes remain undocumented.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CLI Human Errors: Manual typos during live incident triage introduce configuration drift.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A26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  PRODUCT ARCHITECTURE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Multi-Agent System Architecture &amp; 5-Phase Telemetry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Four specialized AI agents operating collaboratively across the incident and problem lifecycle.</a:t>
            </a:r>
          </a:p>
        </p:txBody>
      </p:sp>
      <p:pic>
        <p:nvPicPr>
          <p:cNvPr id="5" name="Picture 4" descr="overall_system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76656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80960" y="1645920"/>
            <a:ext cx="3779215" cy="457200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828800"/>
            <a:ext cx="34134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Four Autonomous Agent Roles</a:t>
            </a:r>
          </a:p>
          <a:p>
            <a:pPr>
              <a:defRPr b="1" sz="1100">
                <a:solidFill>
                  <a:srgbClr val="38BDF8"/>
                </a:solidFill>
              </a:defRPr>
            </a:pPr>
            <a:r>
              <a:t>1. AI Router Agent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NVIDIA Nemotron 3.5 scans unassigned tickets every 2s, classifies priority, predicts operational group (&gt;=85% confidence).</a:t>
            </a:r>
          </a:p>
          <a:p>
            <a:pPr>
              <a:defRPr b="1" sz="1100">
                <a:solidFill>
                  <a:srgbClr val="2DD4BF"/>
                </a:solidFill>
              </a:defRPr>
            </a:pPr>
            <a:r>
              <a:t>2. Hybrid RAG Resolver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Retrieves Master SOPs via ChromaDB 4096-D NV-Embed-v1 + BM25Okapi RRF ranking &amp; LLM judge.</a:t>
            </a:r>
          </a:p>
          <a:p>
            <a:pPr>
              <a:defRPr b="1" sz="1100">
                <a:solidFill>
                  <a:srgbClr val="A855F7"/>
                </a:solidFill>
              </a:defRPr>
            </a:pPr>
            <a:r>
              <a:t>3. Self-Learning Synthesizer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Probes live hosts on RAG misses, authors new Master SOPs, and indexes them to vector store.</a:t>
            </a:r>
          </a:p>
          <a:p>
            <a:pPr>
              <a:defRPr b="1" sz="1100">
                <a:solidFill>
                  <a:srgbClr val="10B981"/>
                </a:solidFill>
              </a:defRPr>
            </a:pPr>
            <a:r>
              <a:t>4. Governance Agent (HITL)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Control Tower enforces human reviews, safety whitelisting, and live SSH execution aborts.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A26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  EXECUTIVE BENCHMARK &amp; ROI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Human Triage vs. Autonomous AI Triage: The Head-to-Head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Side-by-side performance proving 99.2% MTTR reduction and 99.9% cost savings.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017520"/>
                <a:gridCol w="3291840"/>
                <a:gridCol w="1858975"/>
              </a:tblGrid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Operational Dimension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Traditional Human L1/L2 Support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Autonomous Multi-Agent AI System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Improvement Factor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Mean Time to Triage (MTTT)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43F5E"/>
                          </a:solidFill>
                        </a:defRPr>
                      </a:pPr>
                      <a:r>
                        <a:t>15 – 45 Minutes per ticket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&lt; 1.2 Seconds (NVIDIA Router)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DD4BF"/>
                          </a:solidFill>
                        </a:defRPr>
                      </a:pPr>
                      <a:r>
                        <a:t>99.8% Faster ⚡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Mean Time to Resolution (MTTR)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43F5E"/>
                          </a:solidFill>
                        </a:defRPr>
                      </a:pPr>
                      <a:r>
                        <a:t>4 – 8 Hours (business hours)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950ms – 15s (Automated SSH)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DD4BF"/>
                          </a:solidFill>
                        </a:defRPr>
                      </a:pPr>
                      <a:r>
                        <a:t>99.2% Faster 🚀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Cost per Incident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43F5E"/>
                          </a:solidFill>
                        </a:defRPr>
                      </a:pPr>
                      <a:r>
                        <a:t>$18.00 – $35.00 USD / ticket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$0.0024 USD (Nemotron LLM tokens)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DD4BF"/>
                          </a:solidFill>
                        </a:defRPr>
                      </a:pPr>
                      <a:r>
                        <a:t>99.9% Cost Reduction 💰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Operating Availability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43F5E"/>
                          </a:solidFill>
                        </a:defRPr>
                      </a:pPr>
                      <a:r>
                        <a:t>8x5 / 16x5 Shifts (queue delays)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24x7x365 Continuous Real-Time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DD4BF"/>
                          </a:solidFill>
                        </a:defRPr>
                      </a:pPr>
                      <a:r>
                        <a:t>100% Availability 🕒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Triage &amp; Routing 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43F5E"/>
                          </a:solidFill>
                        </a:defRPr>
                      </a:pPr>
                      <a:r>
                        <a:t>82% – 88% (fatigue / misrouting)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99.4% (Dual Vector RAG + Booster)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DD4BF"/>
                          </a:solidFill>
                        </a:defRPr>
                      </a:pPr>
                      <a:r>
                        <a:t>+12.4% Accuracy 🎯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Safety &amp; Execution Governance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43F5E"/>
                          </a:solidFill>
                        </a:defRPr>
                      </a:pPr>
                      <a:r>
                        <a:t>Unchecked manual CLI commands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Loop-Aware Validator &amp; HITL Gates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DD4BF"/>
                          </a:solidFill>
                        </a:defRPr>
                      </a:pPr>
                      <a:r>
                        <a:t>Zero Hallucination 🛡️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Knowledge Retention &amp; Growth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43F5E"/>
                          </a:solidFill>
                        </a:defRPr>
                      </a:pPr>
                      <a:r>
                        <a:t>Static wikis, outdated runbooks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Self-Learning SOP Synthesis &amp; Vector DB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DD4BF"/>
                          </a:solidFill>
                        </a:defRPr>
                      </a:pPr>
                      <a:r>
                        <a:t>Continuous Learning 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A26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  EXECUTIVE ANALYTICS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Next.js Executive Dashboard: Incident Analytics &amp; SLA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Real-time visibility into resolution velocity, active workloads, priority breakdown, and department queues.</a:t>
            </a:r>
          </a:p>
        </p:txBody>
      </p:sp>
      <p:pic>
        <p:nvPicPr>
          <p:cNvPr id="5" name="Picture 4" descr="latest_dashboard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94944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96335" cy="457200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32305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Analytics Capabilities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📊 Incident Velocity Metrics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Tracks active, in-progress, and resolved ticket volumes in real time across all operational tiers.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⏱️ SLA Compliance Tracking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Live monitoring of SLA targets for P1 Critical through P4 Low priority incidents.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🏢 Departmental Distribution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Visual workload breakdowns across Unix, DevOps, SecOps, Network Ops, and Database teams.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🎯 Triage Efficiency Index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Tracks automated routing success rates and MTTR reduction trends.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A26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  PROACTIVE INTELLIGENCE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Proactive Problem Management &amp; Root Cause Analysis (RCA)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Detects recurring incident patterns, clusters common failures, and manages Known Error Databases (KEDB).</a:t>
            </a:r>
          </a:p>
        </p:txBody>
      </p:sp>
      <p:pic>
        <p:nvPicPr>
          <p:cNvPr id="5" name="Picture 4" descr="latest_proactive_proble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94944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96335" cy="457200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32305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A855F7"/>
                </a:solidFill>
              </a:defRPr>
            </a:pPr>
            <a:r>
              <a:t>Proactive RCA Features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🔍 Incident Pattern Clustering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Groups repeating incidents targeting the same CI or symptom into high-level Problem records.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🧠 Known Error Database (KEDB)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Automatically documents verified workarounds and permanent fixes for recurring issues.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🛡️ Outage Preemption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Identifies degraded infrastructure patterns to remediate issues before widespread user disruption.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🔗 Multi-Incident Linking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Associates dozens of child incidents to a single parent problem for batch resolution.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A26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  CORE OPERATIONS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Enterprise Incident Management: Real-Time Stream &amp; SLA Timers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Production-grade helpdesk console displaying 947+ pre-seeded incident records across enterprise tiers.</a:t>
            </a:r>
          </a:p>
        </p:txBody>
      </p:sp>
      <p:pic>
        <p:nvPicPr>
          <p:cNvPr id="5" name="Picture 4" descr="latest_incident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94944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96335" cy="457200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32305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Incident Stream Controls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📋 947+ Seeded Incident Records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Rich enterprise dataset spanning Unix, Kubernetes, Azure CLI, DB2, Jenkins, and networking.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⏱️ Visual SLA Countdowns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Color-coded SLA badges indicating remaining time before breach for P1 through P4 tickets.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🔍 Instant Multi-Filter Search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Filter dynamically by State (NEW, IN_PROGRESS, RESOLVED), Category, Priority, and CI host.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⚡ Single-Click Triage Override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Allows human engineers to take ownership or trigger immediate AI remediation.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A26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  VERIFICATION &amp; PROOF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Incident Detail View: Verbatim Terminal Proof &amp; Activity Feeds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Complete audit trail capturing prompt reasoning, executed shell commands, stdout/stderr, and proof-of-fix.</a:t>
            </a:r>
          </a:p>
        </p:txBody>
      </p:sp>
      <p:pic>
        <p:nvPicPr>
          <p:cNvPr id="5" name="Picture 4" descr="latest_inciden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94944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96335" cy="457200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32305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Audit &amp; Proof Features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📝 Verbatim Terminal Logs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Full visibility into exact shell commands executed on target hosts with raw output.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🔬 Domain Proof-of-Fix Guard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Validates Kubernetes pod phase == Running, Linux uid presence/removal, and port 200 checks.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🤖 AI Router Reasoning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Detailed activity record explaining why a ticket was routed to a specific group with confidence %.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🔒 Immutable Audit Logging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All notes and status transitions are recorded in PostgreSQL for regulatory compliance.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A26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  GOVERNANCE &amp; SAFETY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Agent Control Tower: Human-in-the-Loop Governance &amp; Killswitch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Real-time dashboard on port 5173 providing human approval cards, live abort controls, and telemetry.</a:t>
            </a:r>
          </a:p>
        </p:txBody>
      </p:sp>
      <p:pic>
        <p:nvPicPr>
          <p:cNvPr id="5" name="Picture 4" descr="latest_control_t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94944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96335" cy="457200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32305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A855F7"/>
                </a:solidFill>
              </a:defRPr>
            </a:pPr>
            <a:r>
              <a:t>Control Tower Controls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🛡️ HITL Approval Cards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Human operators review draft shell payloads, confidence scores, and safety audits before execution.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🛑 Real-Time Killswitch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Instant 'Stop Execution Cycle' trigger safely terminates running SSH loops immediately.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📜 Model Latency &amp; Token Traces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Full visibility into model inference speed, token usage, and synthesizer reasoning.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🔄 ChromaDB Vector Sync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1-click vector re-indexing between PostgreSQL database and ChromaDB embeddings.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A26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  KNOWLEDGE &amp; AI RETRIEVAL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Hybrid RAG Intelligence &amp; ChromaDB 4096-D Vector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Combines 4096-D NV-Embed-v1 vectors, BM25Okapi lexical retrieval, and dynamic Master SOP parameterization.</a:t>
            </a:r>
          </a:p>
        </p:txBody>
      </p:sp>
      <p:pic>
        <p:nvPicPr>
          <p:cNvPr id="5" name="Picture 4" descr="latest_knowledge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94944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96335" cy="457200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32305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DD4BF"/>
                </a:solidFill>
              </a:defRPr>
            </a:pPr>
            <a:r>
              <a:t>RAG Breakthroughs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⚡ 4096-D NV-Embed-v1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High-dimensional passage embeddings indexing 42 Master SOP runbooks in ChromaDB.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🔀 Reciprocal Rank Fusion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Blends Dense Semantic Search (55%) with BM25Okapi Lexical Matching (45%).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🎯 Generic Intent Booster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Boosts core domain keywords (User Provisioning, K8s, DB2) to 0.8800 confidence.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🧩 Dynamic Parameterizer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Injects ticket-specific parameters ({username}, {venv}, {target_ns}) into Master SOPs.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A26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  BUSINESS IMPACT &amp; ROI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Quantified Enterprise Value: 99.2% MTTR Reduction &amp; $0.0024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Substantial operational savings, senior engineering bandwidth recovery, and flawless audit compliance.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201168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DD4BF"/>
                </a:solidFill>
              </a:defRPr>
            </a:pPr>
            <a:r>
              <a:t>99.2%</a:t>
            </a:r>
          </a:p>
          <a:p>
            <a:pPr>
              <a:spcAft>
                <a:spcPts val="400"/>
              </a:spcAft>
              <a:defRPr sz="1050" b="1">
                <a:solidFill>
                  <a:srgbClr val="FFFFFF"/>
                </a:solidFill>
              </a:defRPr>
            </a:pPr>
            <a:r>
              <a:t>MTTR REDUCTION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Average resolution drops from 4 hours to ~12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468880" cy="201168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830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0B981"/>
                </a:solidFill>
              </a:defRPr>
            </a:pPr>
            <a:r>
              <a:t>$0.0024</a:t>
            </a:r>
          </a:p>
          <a:p>
            <a:pPr>
              <a:spcAft>
                <a:spcPts val="400"/>
              </a:spcAft>
              <a:defRPr sz="1050" b="1">
                <a:solidFill>
                  <a:srgbClr val="FFFFFF"/>
                </a:solidFill>
              </a:defRPr>
            </a:pPr>
            <a:r>
              <a:t>COST PER TICKET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Average LLM inference cost vs $22 human labor rate.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468880" cy="201168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7830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A855F7"/>
                </a:solidFill>
              </a:defRPr>
            </a:pPr>
            <a:r>
              <a:t>99.4%</a:t>
            </a:r>
          </a:p>
          <a:p>
            <a:pPr>
              <a:spcAft>
                <a:spcPts val="400"/>
              </a:spcAft>
              <a:defRPr sz="1050" b="1">
                <a:solidFill>
                  <a:srgbClr val="FFFFFF"/>
                </a:solidFill>
              </a:defRPr>
            </a:pPr>
            <a:r>
              <a:t>ROUTING ACCURACY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Hybrid RAG + Intent Booster eliminates ticket misrouting.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468880" cy="201168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7830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9E0B"/>
                </a:solidFill>
              </a:defRPr>
            </a:pPr>
            <a:r>
              <a:t>24/7/365</a:t>
            </a:r>
          </a:p>
          <a:p>
            <a:pPr>
              <a:spcAft>
                <a:spcPts val="400"/>
              </a:spcAft>
              <a:defRPr sz="1050" b="1">
                <a:solidFill>
                  <a:srgbClr val="FFFFFF"/>
                </a:solidFill>
              </a:defRPr>
            </a:pPr>
            <a:r>
              <a:t>ZERO QUEUE BACKLOG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Autonomous worker pool resolves tickets in real-time.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728655" cy="228600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101800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Strategic Organizational Impact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70% Senior SRE Time Reclaimed: Eliminates repetitive ticket firefights, allowing teams to focus on platform architecture.</a:t>
            </a:r>
            <a:br/>
            <a:r>
              <a:t>• Complete Compliance Traceability: Every execution step, reasoning chain, and raw terminal proof is logged immutably in PostgreSQL.</a:t>
            </a:r>
            <a:br/>
            <a:r>
              <a:t>• Surge Elasticity: Seamlessly handles sudden alert storms (e.g. 50+ simultaneous node alerts) through ThreadPoolExecutor async parallel workers.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A26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  PRODUCT VISION &amp; ROADMAP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Future Roadmap: Evolutionary Horizons &amp;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Expanding autonomous remediation from single-node Linux/K8s to multi-cloud and predictive AIOps.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Phase 1: Agentic &amp; Ecosystem Expansion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🌐 Multi-Cloud Auto-Remediation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Native integration with AWS Systems Manager (SSM), Azure RunCommand, and Google Cloud OS Config.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☸️ Kubernetes CRD Self-Healing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Direct integration with custom Kubernetes Operators for automatic pod, PVC, and ingress recovery.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💬 ChatOps (Slack &amp; Teams)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Interactive Slack and Microsoft Teams bots for natural language ticket approvals and telemetry queries.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A855F7"/>
                </a:solidFill>
              </a:defRPr>
            </a:pPr>
            <a:r>
              <a:t>Phase 2: Predictive AIOps &amp; Fine-Tuning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📈 Predictive Failure Preemption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Real-time telemetry ingestion from Prometheus &amp; Datadog to resolve issues before tickets are created.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🔄 Autonomous Post-Mortem &amp; RCA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Automatic Root Cause Analysis (RCA) synthesis and post-mortem report generation for P1 major outages.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📊 On-Premise SLM Fine-Tuning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Fine-tuning specialized Small Language Models (SLMs) on historical verified resolution traces.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