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7"/>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  <Relationship Id="rId2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
          </a:p>
        </p:txBody>
      </p:sp>
    </p:spTree>
  </p:cSld>
  <p:clrMap bg1="lt1" tx1="dk1" bg2="lt2" tx2="dk2" accent1="accent1" accent2="accent2" accent3="accent3" accent4="accent4" accent5="accent5" accent6="accent6" hlink="hlink" folHlink="folHlink"/>
  <p:hf/>
  <p:notesStyle>
    <a:lvl1pPr marL="0" algn="l">
      <a:defRPr sz="1200" lang="e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Good morning, and thank you for being here. What you're looking at is the Autonomous ITSM and Agentic SRE Control Tower — a platform built to take an incident all the way from the moment a ticket is created to a verified fix, without a human ever needing to open a terminal, unless the platform itself decides it needs a human's judgment first. Under the hood this runs on a multi-agent AI engine powered by NVIDIA NIM large language models, and over the next twenty minutes or so I'm going to walk you through exactly how it works: how it triages a ticket on its own, how it grounds every decision in real historical evidence through hybrid retrieval, how it actually executes a fix live over SSH and proves that fix worked, and how a human stays firmly in the loop for anything the system hasn't seen before. This is not a mockup or a slide-deck concept. Everything I'm about to show you is a live capture from a running system.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Let's start with why this needed to exist. Most people think of ITSM as just a ticketing tool, a place to log a complaint and assign it to someone. But if you've ever been on call, you know the real pain is everything that happens after the ticket lands. Tickets sit unassigned while engineers essentially triage by memory and tribal knowledge, because there's no consistent process forcing a decision. Diagnosis and remediation depend entirely on whoever happens to be on call finding the right runbook fast enough — and if that person is new, or the runbook is buried somewhere, resolution just stalls. Every fix ends up being a manual SSH session, typed by hand, with no consistent proof afterward that it actually worked — you just sort of trust it did. And worst of all, whatever that engineer learned in the process almost never makes it back into a reusable, searchable playbook, so the next person hits the exact same wall. Every minute a ticket sits like this is cost, risk, and a slowly burning-out team. That's the gap we're closing.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So here's the shape of the answer, and these four pillars are going to recur through the rest of the talk, so keep them in mind. First, autonomous triage: the platform routes tickets by grounding its decision in precedent — over eleven hundred and eighty-seven past incidents and two hundred eighteen prior SRE execution logs — at better than ninety-five percent confidence when it acts. Second, hybrid RAG: that's retrieval-augmented generation, but combining two different search techniques — four-thousand-ninety-six dimensional dense vectors stored in ChromaDB, fused with old-school BM25 lexical keyword search, combined through something called Reciprocal Rank Fusion. Third, dynamic ReAct remediation — forty-four parameterized master standard operating procedures that get executed live over SSH, with proof captured directly from the target machine. And fourth, human-in-the-loop governance: any action the system hasn't seen a close precedent for gets proposed to a human, who has to approve or reject it before anything touches production. All of this runs on NVIDIA NIM — Nemotron 3.5 Lightning for fast classification, Llama 3.3 70B and DeepSeek R1 for deeper reasoning. Let's go tier by tier.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This is the actual system architecture, a C4-style container diagram straight from the engineering documentation. Five tiers, strictly decoupled from each other, but forming one continuous loop. At the top, presentation: the Next.js Helpdesk running on port 3000 for end users, and the SRE Control Tower on port 5173 — that's a React and Vite application streaming live updates over server-sent events, which is the dashboard I'll be showing you for most of this talk. Below that, the services tier: a NestJS REST API on port 4000, an ITSM MCP server that exposes the platform's tools using the Model Context Protocol, and a Python SRE daemon that polls for new work every fifteen seconds. Then the AI and RAG tier, where NVIDIA NIM inference and the hybrid retrieval engine actually live. Persistence is deliberately split into two separate PostgreSQL databases — itsm_db, which is the system of record for tickets, and agentic_sre_db, which is a completely separate governance database for every autonomous action, so the audit trail can never be quietly edited alongside the ticket data. And at the bottom, the actual target infrastructure — Linux and Kubernetes worker nodes and enterprise configuration items, reached over SSH. Now let's look at the cockpit that ties all of this together.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This is the Agent Control Tower — the live mission-control view an operator actually watches. On the left you can see the four things it aggregates into one screen: a live execution and remediation stream showing per-incident resolution status as it happens; the managed AI assets, meaning which LLM model is currently active and what the fallback router looks like if that model becomes unavailable; a fleet-wide emergency kill switch that's always armed and one click away from stopping every active session, which we'll talk more about when we get to safety; and a direct comparison of autonomous mean-time-to-repair against the old manual baseline. On the right is an actual live capture of that dashboard. The whole design philosophy here is that an operator should never have to go dig through logs to understand what the platform is doing right now — it's all surfaced at a glance, the same way a real network operations center works.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Now let's walk through the exact path an incident takes, because every single ticket — whether it resolves in three seconds or waits two hours for a human decision — goes through the same five governed phases. First, a ticket is created, in state NEW, with group UNASSIGNED. Second, the AI router grounds its routing decision in historical precedent and assigns a group and priority, but only auto-assigns at eighty-five percent confidence or higher — below that, it deliberately leaves the ticket for a human rather than guess. Third, the SRE daemon polls every fifteen seconds and runs a hybrid RAG search looking for a matching master SOP. Fourth is where it branches: a RAG hit means direct parameterized execution over SSH, but a RAG miss triggers a read-only diagnosis, a synthesized SOP proposal, and a PENDING approval card for a human to review — never a blind attempt. And fifth, before anything is marked resolved, in-guest terminal proof verifies the fix actually worked, and that trace gets indexed so the next similar incident is even faster. That's the whole loop — now let's look at each piece in more depth, starting with the system underneath it.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Before the autonomy, there's a real system of record underneath it, and this is it — the Core Helpdesk Console, a full Next.js ITIL service-management portal. This is where end users and admins actually work day to day. It gives you a live-synchronized incident stream with priority, state, and department visible at a glance. Priority itself isn't guessed — it's driven automatically by an ITIL Impact-by-Urgency matrix that resolves to a P1 through P4 classification. SLA target compliance is tracked per priority tier in real time, so nothing quietly breaches without anyone noticing. And beyond incidents, this same console houses the CMDB and asset inventory, the service catalog, the knowledge base, and a workflow studio — so the autonomous layer we've been talking about isn't bolted onto a toy ticket queue, it's sitting on top of a genuinely complete ITSM platform.</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This is where autonomy actually begins — the moment a new ticket gets assigned without anyone touching it. What you're seeing on the right is the live triage screen. The mechanism on the left is the important part: every new ticket gets matched against that pool of over eleven hundred historical incidents and two hundred eighteen SRE execution logs before any routing decision is made. NVIDIA's Nemotron 3.5 Lightning model classifies priority and department from that precedent context — it's grounded reasoning, not a static if-this-then-that rules table. If confidence comes back at eighty-five percent or above, the ticket auto-assigns and immediately moves to IN_PROGRESS. If it's below that threshold, the ticket deliberately stays UNASSIGNED for a human to triage — the system would rather admit uncertainty than make a silent guess. And this isn't triggered manually — there's a continuous background scan of the unassigned queue, so routing is happening constantly in the background.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Once a ticket is routed, the next question is: does the platform actually know how to fix this? That's where hybrid retrieval comes in, and this is genuinely one of the more interesting engineering decisions in the system. On the left you can see the two search methods it fuses rather than choosing between. Dense semantic search uses NVIDIA's nv-embed-v1 model to build four-thousand-ninety-six dimensional embeddings, indexed in ChromaDB — that catches things that mean the same thing even when the wording is completely different. Lexical search, running in parallel, uses BM25Okapi, the classic keyword-precision algorithm — that catches exact terms dense search sometimes misses. Reciprocal Rank Fusion merges both ranked lists into one candidate list. And critically, an LLM acting as a RAG Judge then verifies that top match before the system trusts it enough to act on it — so even the retrieval step has a sanity check built in. On the right is the actual three-dimensional vector universe visualization from the live product. The reason this matters: it's the difference between finding the right fix because the wording happens to match, and finding the right fix because the system actually understands what's being asked.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So the platform knows what to do — now how does it actually do it safely? This is the ReAct execution loop, and it's built around a simple principle: nothing gets trusted on faith. Stage one is diagnosis — a strictly read-only loop that gathers live telemetry using commands like systemctl, ps, ss, and journalctl, before anything is changed. Stage two is remediation — the platform executes the matched, parameterized SOP's commands live over SSH, with automatic ten-second stabilization pauses built in between steps so it isn't racing ahead of a system that's still settling. And stage three is verification — a domain-aware Proof-of-Fix Guard that checks for the actual expected outcome. For example, if the fix was supposed to create a user account, it will run something like id and the username to confirm it exists; if it was supposed to open a port, it checks with something like ss dash tulpn. These traces are captured directly from real in-guest standard output and error streams — this isn't an external ping or health check assuming success, it's direct evidence from inside the machine itself.</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Now, everything so far has been about what the platform can do on its own — this slide is about what it deliberately does not do on its own. When there's no matching precedent, the platform doesn't guess and it doesn't refuse to help either — it synthesizes a proposed SOP, attaches the diagnostic evidence it gathered, and raises a PENDING approval card, exactly like what you see in this live capture. The ticket itself moves to ON_HOLD until a human operator makes a call. From there it's a clean binary: Approve authorizes execution and the platform proceeds with the plan; Reject locks the ticket and escalates it, full stop. And this approval flow isn't locked inside one dashboard — it's mirrored into Slack, so an operator away from their desk can review and decide from their phone. This is really the heart of why this platform is trustworthy rather than just impressive: the moment it's in genuinely novel territory, a human decides.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Trust also depends on nothing being able to quietly disappear, and that's what this slide is about. Every autonomous action the platform takes — whether it ran automatically or only after a human approved it — gets written as a complete, inspectable execution trace into a dedicated governance database. That's genuinely separate infrastructure from the core ticket system; remember from the architecture slide, agentic_sre_db is architecturally isolated from itsm_db, so there's no way to edit a ticket's history and have the execution record quietly follow along. Each incident's timeline links diagnosis, approval, execution, and verification together into one connected story, which is what you're seeing in this live capture. And these historical traces aren't just an archive — they feed directly back into precedent grounding, meaning every resolved incident makes the next triage and retrieval decision a little sharper.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Zoom out from a single incident and you get this — fleet-wide telemetry, live, at the same mission-control layer as execution itself, not buried in a log file you have to go dig through after the fact. This screen shows a live timeline of every active and recent SRE execution across the entire managed fleet, SLA and response-time tracking sitting right alongside that execution data, and managed-asset and host-lock state visible per target configuration item, so an operator instantly knows if a machine is currently being worked on by the platform. The whole design intent here is that an operator's next action should always be obvious — you shouldn't have to reconstruct what's happening from scattered logs, it should just be visible.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Here's what makes this platform compound in value over time instead of staying static. When the platform hits a RAG miss, gets human approval, and successfully resolves something novel, that fix doesn't just disappear once the ticket closes. It gets synthesized into a new master SOP blueprint automatically, and that new SOP is immediately indexed into ChromaDB, ready for hybrid RAG matching on the next similar incident. So today's genuinely novel incident — the kind that needed a human to approve a synthesized plan — becomes tomorrow's automatic RAG hit, resolved with no human touch at all. And importantly, this isn't hand-written documentation somebody has to remember to update — the knowledge base grows exclusively from real, in-guest-verified fixes. What you're seeing on the right is the actual live knowledge base and SOP synthesizer screen where that happens.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At this point you've seen a system that can act autonomously, execute real commands, and learn from what it does — which naturally raises the question of what stops it from doing something catastrophic. This slide is the answer. There's a pre-execution catastrophic blacklist that blocks destructive commands before they ever reach a host — things like rm dash rf slash, mkfs, dd if equals, fork bombs, and reboot commands are all blocked outright. There's a loop-aware command validator that inspects every bash control structure in a proposed command, so a dangerous binary can't sneak in disguised inside a loop or conditional that technically matches the approved SOP. The domain-aware Proof-of-Fix Guard we talked about earlier is mandatory, specifically to prevent the platform from ever falsely declaring something resolved. And if something does go wrong, there's an emergency kill switch that can terminate active sessions fleet-wide or on a single configuration item in under one and a half seconds. This is genuinely autonomy with a leash — capable, but bounded by hard, deterministic limits that don't rely on the model behaving well.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Let's ground all of this in one real incident, end to end. This is an actual incident detail page, and it's essentially the receipts for everything we've discussed. AI work notes automatically capture the routing reasoning, the target group it was assigned to, and the confidence score behind that decision — no one had to type that up. The full diagnostic-to-resolution activity log is preserved directly on the ticket itself, so anyone auditing it later doesn't need to go hunting across systems. ITIL close codes and resolution notes are posted automatically, with zero manual data entry. And response and resolution SLA timers are visible right against the actual elapsed time, so you can see at a glance whether this incident met its target. This is the level of detail every single incident carries — not just the ones someone remembered to document well.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So what does all of this actually add up to for the business? The clearest signal is mean-time-to-repair — on matched incidents, autonomous resolution collapses that from what used to take hours down to minutes, measured directly against the platform's own prior manual-resolution baseline. That's not just a nice number; it directly reclaims engineer hours that used to go into repetitive triage and remediation work, freeing that time for the problems that genuinely need human judgment. Success rate is tracked continuously across every single autonomous execution, so this isn't a claim made once and never revisited — it's a live, ongoing metric. And importantly, governance overhead stays low, because approval is only required where a human genuinely adds judgment — the system isn't asking for a rubber stamp on routine work, only surfacing the decisions that actually matter.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I want to ground all of this in the actual engineering footprint, because this is a real, deployable stack, not a research prototype. Six services make up the whole platform. PostgreSQL on port 5432 hosts those two separate databases we discussed. A NestJS backend API on port 4000 exposes REST endpoints with Swagger documentation and serves as the system of record. A Next.js frontend on port 3000 is the Core Helpdesk Console. The SRE Control Tower on port 5173 is the React and Vite governance dashboard streaming over server-sent events that you've seen throughout this talk. A Python SRE daemon runs in the background as the autonomous resolver and hybrid RAG engine. And an ITSM MCP server exposes the platform's tools over the standardized Model Context Protocol, over stdio or SSE, with an optional Slack bridge for that approval flow we saw earlier. Nothing here is exotic — it's a production-shaped stack that happens to run a genuinely autonomous loop.</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After sixteen dense slides of capability, let's step back and answer the question you might reasonably be asking: how is this actually different from a chatbot bolted onto a ticket queue, or another rules-engine automation product? Traditional rules engines guess from static conditions someone wrote down once; this platform grounds every decision in real historical precedent that keeps growing. Chat-based assistants will suggest a fix and stop there, leaving a human to actually go do it; this platform executes that fix live over SSH and captures proof it worked. Most automation simply trusts its own success claim — it ran the command, so it assumes success; this platform requires actual in-guest verification before it will ever mark something resolved. And most tools that call themselves autonomous quietly skip governance the moment it becomes inconvenient; here, every genuinely novel action still waits for a human, every time. That combination — grounded reasoning, live execution with captured proof, and a real governance gate — is what separates this from the tools that just look impressive in a demo.</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So let's bring it back to the loop we opened with: triage, retrieve, remediate, verify, learn — a closed loop, and it's already running, today, on real infrastructure. This was built end-to-end as an actual running platform, not a concept deck or a proof-of-concept that stops working the moment you look too closely. Everything I showed you — the mission control tower, the triage engine, the hybrid retrieval, the live SSH remediation, the approval flow, the audit trail, the safety guardrails — all of it is live right now. Thank you for your time. I'd love to take your questions, and if you want to see any part of this running live rather than as a screenshot, or want to look at the architecture in more depth, I'm happy to do that right now.</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itsm_agentic_platform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itsm_agentic_platform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2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1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9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6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5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3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2400" kern="1200">
          <a:solidFill>
            <a:schemeClr val="tx1"/>
          </a:solidFill>
          <a:latin typeface="+mn-lt"/>
          <a:ea typeface="+mn-ea"/>
          <a:cs typeface="+mn-cs"/>
        </a:defRPr>
      </a:lvl1pPr>
      <a:lvl2pPr marL="457200" algn="l" defTabSz="457200" rtl="0" eaLnBrk="1" latinLnBrk="0" hangingPunct="1">
        <a:defRPr sz="2250" kern="1200">
          <a:solidFill>
            <a:schemeClr val="tx1"/>
          </a:solidFill>
          <a:latin typeface="+mn-lt"/>
          <a:ea typeface="+mn-ea"/>
          <a:cs typeface="+mn-cs"/>
        </a:defRPr>
      </a:lvl2pPr>
      <a:lvl3pPr marL="914400" algn="l" defTabSz="457200" rtl="0" eaLnBrk="1" latinLnBrk="0" hangingPunct="1">
        <a:defRPr sz="2100" kern="1200">
          <a:solidFill>
            <a:schemeClr val="tx1"/>
          </a:solidFill>
          <a:latin typeface="+mn-lt"/>
          <a:ea typeface="+mn-ea"/>
          <a:cs typeface="+mn-cs"/>
        </a:defRPr>
      </a:lvl3pPr>
      <a:lvl4pPr marL="1371600" algn="l" defTabSz="457200" rtl="0" eaLnBrk="1" latinLnBrk="0" hangingPunct="1">
        <a:defRPr sz="195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650" kern="1200">
          <a:solidFill>
            <a:schemeClr val="tx1"/>
          </a:solidFill>
          <a:latin typeface="+mn-lt"/>
          <a:ea typeface="+mn-ea"/>
          <a:cs typeface="+mn-cs"/>
        </a:defRPr>
      </a:lvl6pPr>
      <a:lvl7pPr marL="2743200" algn="l" defTabSz="457200" rtl="0" eaLnBrk="1" latinLnBrk="0" hangingPunct="1">
        <a:defRPr sz="1500" kern="1200">
          <a:solidFill>
            <a:schemeClr val="tx1"/>
          </a:solidFill>
          <a:latin typeface="+mn-lt"/>
          <a:ea typeface="+mn-ea"/>
          <a:cs typeface="+mn-cs"/>
        </a:defRPr>
      </a:lvl7pPr>
      <a:lvl8pPr marL="3200400" algn="l" defTabSz="457200" rtl="0" eaLnBrk="1" latinLnBrk="0" hangingPunct="1">
        <a:defRPr sz="135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cf6ee252c9dc59c.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fefa99ae49e94b7.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8ef4fd2a6d71d1a.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83572c73fb80019.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8724bfd6b1ab61b.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e8e1b747cd6c021.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50b3770f2ab94d4.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2d331cb5a9c945d.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3170086f25d74c5.pn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3ce8b85b2e96187.pn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bc3dc4a70d3fcc5.pn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823fc5a66c16aec.png"/>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32000"/>
                </a:schemeClr>
              </a:gs>
              <a:gs pos="55000">
                <a:schemeClr val="accent1">
                  <a:alpha val="8000"/>
                </a:schemeClr>
              </a:gs>
              <a:gs pos="100000">
                <a:schemeClr val="accent1">
                  <a:alpha val="0"/>
                </a:schemeClr>
              </a:gs>
            </a:gsLst>
            <a:path path="circle">
              <a:fillToRect l="72000" t="28000" r="28000" b="72000"/>
            </a:path>
          </a:gradFill>
          <a:ln>
            <a:noFill/>
          </a:ln>
        </p:spPr>
      </p:sp>
      <p:sp>
        <p:nvSpPr>
          <p:cNvPr id="3" name="Rectangle 3"/>
          <p:cNvSpPr/>
          <p:nvPr/>
        </p:nvSpPr>
        <p:spPr>
          <a:xfrm>
            <a:off x="0" y="0"/>
            <a:ext cx="12192000" cy="6858000"/>
          </a:xfrm>
          <a:prstGeom prst="rect">
            <a:avLst/>
          </a:prstGeom>
          <a:gradFill>
            <a:gsLst>
              <a:gs pos="0">
                <a:schemeClr val="accent2">
                  <a:alpha val="18000"/>
                </a:schemeClr>
              </a:gs>
              <a:gs pos="60000">
                <a:schemeClr val="accent2">
                  <a:alpha val="4000"/>
                </a:schemeClr>
              </a:gs>
              <a:gs pos="100000">
                <a:schemeClr val="accent2">
                  <a:alpha val="0"/>
                </a:schemeClr>
              </a:gs>
            </a:gsLst>
            <a:path path="circle">
              <a:fillToRect l="28000" t="72000" r="72000" b="28000"/>
            </a:path>
          </a:gradFill>
          <a:ln>
            <a:noFill/>
          </a:ln>
        </p:spPr>
      </p:sp>
      <p:grpSp>
        <p:nvGrpSpPr>
          <p:cNvPr id="7" name="Group 7"/>
          <p:cNvGrpSpPr/>
          <p:nvPr/>
        </p:nvGrpSpPr>
        <p:grpSpPr>
          <a:xfrm>
            <a:off x="7905750" y="-762000"/>
            <a:ext cx="4381500" cy="4381500"/>
            <a:chOff x="7905750" y="-762000"/>
            <a:chExt cx="4381500" cy="4381500"/>
          </a:xfrm>
        </p:grpSpPr>
        <p:sp>
          <p:nvSpPr>
            <p:cNvPr id="4" name="Ellipse 4"/>
            <p:cNvSpPr/>
            <p:nvPr/>
          </p:nvSpPr>
          <p:spPr>
            <a:xfrm>
              <a:off x="7905750" y="-762000"/>
              <a:ext cx="4381500" cy="4381500"/>
            </a:xfrm>
            <a:prstGeom prst="ellipse">
              <a:avLst/>
            </a:prstGeom>
            <a:noFill/>
            <a:ln w="9525">
              <a:solidFill>
                <a:schemeClr val="accent1">
                  <a:alpha val="10000"/>
                </a:schemeClr>
              </a:solidFill>
            </a:ln>
          </p:spPr>
        </p:sp>
        <p:sp>
          <p:nvSpPr>
            <p:cNvPr id="5" name="Ellipse 5"/>
            <p:cNvSpPr/>
            <p:nvPr/>
          </p:nvSpPr>
          <p:spPr>
            <a:xfrm>
              <a:off x="8667750" y="0"/>
              <a:ext cx="2857500" cy="2857500"/>
            </a:xfrm>
            <a:prstGeom prst="ellipse">
              <a:avLst/>
            </a:prstGeom>
            <a:noFill/>
            <a:ln w="9525">
              <a:solidFill>
                <a:schemeClr val="accent1">
                  <a:alpha val="14000"/>
                </a:schemeClr>
              </a:solidFill>
            </a:ln>
          </p:spPr>
        </p:sp>
        <p:sp>
          <p:nvSpPr>
            <p:cNvPr id="6" name="Ellipse 6"/>
            <p:cNvSpPr/>
            <p:nvPr/>
          </p:nvSpPr>
          <p:spPr>
            <a:xfrm>
              <a:off x="9429750" y="762000"/>
              <a:ext cx="1333500" cy="1333500"/>
            </a:xfrm>
            <a:prstGeom prst="ellipse">
              <a:avLst/>
            </a:prstGeom>
            <a:noFill/>
            <a:ln w="9525">
              <a:solidFill>
                <a:schemeClr val="accent1">
                  <a:alpha val="18000"/>
                </a:schemeClr>
              </a:solidFill>
            </a:ln>
          </p:spPr>
        </p:sp>
      </p:grpSp>
      <p:grpSp>
        <p:nvGrpSpPr>
          <p:cNvPr id="10" name="Group 10"/>
          <p:cNvGrpSpPr/>
          <p:nvPr/>
        </p:nvGrpSpPr>
        <p:grpSpPr>
          <a:xfrm>
            <a:off x="609600" y="609600"/>
            <a:ext cx="10972800" cy="5638800"/>
            <a:chOff x="609600" y="609600"/>
            <a:chExt cx="10972800" cy="5638800"/>
          </a:xfrm>
        </p:grpSpPr>
        <p:sp>
          <p:nvSpPr>
            <p:cNvPr id="8" name="Freeform 8"/>
            <p:cNvSpPr/>
            <p:nvPr/>
          </p:nvSpPr>
          <p:spPr>
            <a:xfrm>
              <a:off x="609600" y="609600"/>
              <a:ext cx="723900" cy="723900"/>
            </a:xfrm>
            <a:custGeom>
              <a:avLst/>
              <a:gdLst/>
              <a:ahLst/>
              <a:cxnLst/>
              <a:rect l="l" t="t" r="r" b="b"/>
              <a:pathLst>
                <a:path w="723900" h="723900">
                  <a:moveTo>
                    <a:pt x="0" y="0"/>
                  </a:moveTo>
                  <a:lnTo>
                    <a:pt x="723900" y="0"/>
                  </a:lnTo>
                  <a:moveTo>
                    <a:pt x="0" y="0"/>
                  </a:moveTo>
                  <a:lnTo>
                    <a:pt x="0" y="723900"/>
                  </a:lnTo>
                </a:path>
              </a:pathLst>
            </a:custGeom>
            <a:noFill/>
            <a:ln w="14288">
              <a:solidFill>
                <a:schemeClr val="accent6"/>
              </a:solidFill>
            </a:ln>
          </p:spPr>
        </p:sp>
        <p:sp>
          <p:nvSpPr>
            <p:cNvPr id="9" name="Freeform 9"/>
            <p:cNvSpPr/>
            <p:nvPr/>
          </p:nvSpPr>
          <p:spPr>
            <a:xfrm>
              <a:off x="10858500" y="5524500"/>
              <a:ext cx="723900" cy="723900"/>
            </a:xfrm>
            <a:custGeom>
              <a:avLst/>
              <a:gdLst/>
              <a:ahLst/>
              <a:cxnLst/>
              <a:rect l="l" t="t" r="r" b="b"/>
              <a:pathLst>
                <a:path w="723900" h="723900">
                  <a:moveTo>
                    <a:pt x="723900" y="723900"/>
                  </a:moveTo>
                  <a:lnTo>
                    <a:pt x="0" y="723900"/>
                  </a:lnTo>
                  <a:moveTo>
                    <a:pt x="723900" y="723900"/>
                  </a:moveTo>
                  <a:lnTo>
                    <a:pt x="723900" y="0"/>
                  </a:lnTo>
                </a:path>
              </a:pathLst>
            </a:custGeom>
            <a:noFill/>
            <a:ln w="14288">
              <a:solidFill>
                <a:schemeClr val="accent6"/>
              </a:solidFill>
            </a:ln>
          </p:spPr>
        </p:sp>
      </p:grpSp>
      <p:grpSp>
        <p:nvGrpSpPr>
          <p:cNvPr id="13" name="Group 13"/>
          <p:cNvGrpSpPr/>
          <p:nvPr/>
        </p:nvGrpSpPr>
        <p:grpSpPr>
          <a:xfrm>
            <a:off x="609600" y="1626300"/>
            <a:ext cx="5255471" cy="295845"/>
            <a:chOff x="609600" y="1626300"/>
            <a:chExt cx="5255471" cy="295845"/>
          </a:xfrm>
        </p:grpSpPr>
        <p:sp>
          <p:nvSpPr>
            <p:cNvPr id="11" name="Freeform 11"/>
            <p:cNvSpPr/>
            <p:nvPr/>
          </p:nvSpPr>
          <p:spPr>
            <a:xfrm>
              <a:off x="609600" y="1626300"/>
              <a:ext cx="266701" cy="176400"/>
            </a:xfrm>
            <a:custGeom>
              <a:avLst/>
              <a:gdLst/>
              <a:ahLst/>
              <a:cxnLst/>
              <a:rect l="l" t="t" r="r" b="b"/>
              <a:pathLst>
                <a:path w="266701" h="176400">
                  <a:moveTo>
                    <a:pt x="99435" y="52618"/>
                  </a:moveTo>
                  <a:lnTo>
                    <a:pt x="99435" y="36727"/>
                  </a:lnTo>
                  <a:cubicBezTo>
                    <a:pt x="101003" y="36611"/>
                    <a:pt x="102574" y="36544"/>
                    <a:pt x="104147" y="36527"/>
                  </a:cubicBezTo>
                  <a:cubicBezTo>
                    <a:pt x="147730" y="35149"/>
                    <a:pt x="176300" y="74021"/>
                    <a:pt x="176300" y="74021"/>
                  </a:cubicBezTo>
                  <a:cubicBezTo>
                    <a:pt x="176300" y="74021"/>
                    <a:pt x="145474" y="116815"/>
                    <a:pt x="112403" y="116815"/>
                  </a:cubicBezTo>
                  <a:cubicBezTo>
                    <a:pt x="107980" y="116815"/>
                    <a:pt x="103658" y="116126"/>
                    <a:pt x="99535" y="114759"/>
                  </a:cubicBezTo>
                  <a:lnTo>
                    <a:pt x="99535" y="66464"/>
                  </a:lnTo>
                  <a:cubicBezTo>
                    <a:pt x="116515" y="68520"/>
                    <a:pt x="119949" y="75987"/>
                    <a:pt x="130061" y="92967"/>
                  </a:cubicBezTo>
                  <a:lnTo>
                    <a:pt x="152731" y="73921"/>
                  </a:lnTo>
                  <a:cubicBezTo>
                    <a:pt x="152731" y="73921"/>
                    <a:pt x="136151" y="52229"/>
                    <a:pt x="108281" y="52229"/>
                  </a:cubicBezTo>
                  <a:cubicBezTo>
                    <a:pt x="105327" y="52163"/>
                    <a:pt x="102372" y="52293"/>
                    <a:pt x="99435" y="52618"/>
                  </a:cubicBezTo>
                  <a:moveTo>
                    <a:pt x="99435" y="0"/>
                  </a:moveTo>
                  <a:lnTo>
                    <a:pt x="99435" y="23759"/>
                  </a:lnTo>
                  <a:lnTo>
                    <a:pt x="104147" y="23459"/>
                  </a:lnTo>
                  <a:cubicBezTo>
                    <a:pt x="164710" y="21403"/>
                    <a:pt x="204271" y="73132"/>
                    <a:pt x="204271" y="73132"/>
                  </a:cubicBezTo>
                  <a:cubicBezTo>
                    <a:pt x="204271" y="73132"/>
                    <a:pt x="158931" y="128294"/>
                    <a:pt x="111703" y="128294"/>
                  </a:cubicBezTo>
                  <a:cubicBezTo>
                    <a:pt x="107592" y="128294"/>
                    <a:pt x="103558" y="127905"/>
                    <a:pt x="99535" y="127216"/>
                  </a:cubicBezTo>
                  <a:lnTo>
                    <a:pt x="99535" y="141940"/>
                  </a:lnTo>
                  <a:cubicBezTo>
                    <a:pt x="102869" y="142329"/>
                    <a:pt x="106314" y="142629"/>
                    <a:pt x="109647" y="142629"/>
                  </a:cubicBezTo>
                  <a:cubicBezTo>
                    <a:pt x="153620" y="142629"/>
                    <a:pt x="185435" y="120149"/>
                    <a:pt x="216250" y="93645"/>
                  </a:cubicBezTo>
                  <a:cubicBezTo>
                    <a:pt x="221351" y="97768"/>
                    <a:pt x="242253" y="107680"/>
                    <a:pt x="246587" y="112003"/>
                  </a:cubicBezTo>
                  <a:cubicBezTo>
                    <a:pt x="217328" y="136540"/>
                    <a:pt x="149108" y="156276"/>
                    <a:pt x="110425" y="156276"/>
                  </a:cubicBezTo>
                  <a:cubicBezTo>
                    <a:pt x="106703" y="156276"/>
                    <a:pt x="103169" y="156076"/>
                    <a:pt x="99635" y="155687"/>
                  </a:cubicBezTo>
                  <a:lnTo>
                    <a:pt x="99635" y="176400"/>
                  </a:lnTo>
                  <a:lnTo>
                    <a:pt x="266701" y="176400"/>
                  </a:lnTo>
                  <a:lnTo>
                    <a:pt x="266701" y="0"/>
                  </a:lnTo>
                  <a:close/>
                  <a:moveTo>
                    <a:pt x="99435" y="114748"/>
                  </a:moveTo>
                  <a:lnTo>
                    <a:pt x="99435" y="127316"/>
                  </a:lnTo>
                  <a:cubicBezTo>
                    <a:pt x="58796" y="120049"/>
                    <a:pt x="47506" y="77754"/>
                    <a:pt x="47506" y="77754"/>
                  </a:cubicBezTo>
                  <a:cubicBezTo>
                    <a:pt x="47506" y="77754"/>
                    <a:pt x="67042" y="56152"/>
                    <a:pt x="99435" y="52618"/>
                  </a:cubicBezTo>
                  <a:lnTo>
                    <a:pt x="99435" y="66364"/>
                  </a:lnTo>
                  <a:lnTo>
                    <a:pt x="99346" y="66364"/>
                  </a:lnTo>
                  <a:cubicBezTo>
                    <a:pt x="82366" y="64297"/>
                    <a:pt x="69009" y="80199"/>
                    <a:pt x="69009" y="80199"/>
                  </a:cubicBezTo>
                  <a:cubicBezTo>
                    <a:pt x="69009" y="80199"/>
                    <a:pt x="76565" y="107003"/>
                    <a:pt x="99446" y="114759"/>
                  </a:cubicBezTo>
                  <a:moveTo>
                    <a:pt x="27292" y="75976"/>
                  </a:moveTo>
                  <a:cubicBezTo>
                    <a:pt x="27292" y="75976"/>
                    <a:pt x="51340" y="40450"/>
                    <a:pt x="99524" y="36716"/>
                  </a:cubicBezTo>
                  <a:lnTo>
                    <a:pt x="99524" y="23759"/>
                  </a:lnTo>
                  <a:cubicBezTo>
                    <a:pt x="46150" y="28081"/>
                    <a:pt x="0" y="73232"/>
                    <a:pt x="0" y="73232"/>
                  </a:cubicBezTo>
                  <a:cubicBezTo>
                    <a:pt x="0" y="73232"/>
                    <a:pt x="26114" y="148819"/>
                    <a:pt x="99435" y="155687"/>
                  </a:cubicBezTo>
                  <a:lnTo>
                    <a:pt x="99435" y="141940"/>
                  </a:lnTo>
                  <a:cubicBezTo>
                    <a:pt x="45650" y="135273"/>
                    <a:pt x="27292" y="75976"/>
                    <a:pt x="27292" y="75976"/>
                  </a:cubicBezTo>
                  <a:close/>
                </a:path>
              </a:pathLst>
            </a:custGeom>
            <a:solidFill>
              <a:schemeClr val="accent1"/>
            </a:solidFill>
            <a:ln>
              <a:noFill/>
            </a:ln>
          </p:spPr>
        </p:sp>
        <p:sp>
          <p:nvSpPr>
            <p:cNvPr id="12" name="TextBox 12"/>
            <p:cNvSpPr txBox="1"/>
            <p:nvPr/>
          </p:nvSpPr>
          <p:spPr>
            <a:xfrm>
              <a:off x="982980" y="1628775"/>
              <a:ext cx="4882091" cy="293370"/>
            </a:xfrm>
            <a:prstGeom prst="rect">
              <a:avLst/>
            </a:prstGeom>
            <a:noFill/>
            <a:ln>
              <a:noFill/>
            </a:ln>
          </p:spPr>
          <p:txBody>
            <a:bodyPr wrap="none" lIns="0" tIns="0" rIns="0" bIns="0" anchor="t" anchorCtr="0">
              <a:spAutoFit/>
            </a:bodyPr>
            <a:lstStyle/>
            <a:p>
              <a:pPr algn="l"/>
              <a:r>
                <a:rPr lang="en" sz="1500" spc="150" dirty="0">
                  <a:solidFill>
                    <a:schemeClr val="accent1"/>
                  </a:solidFill>
                  <a:latin typeface="Consolas"/>
                  <a:ea typeface="Consolas"/>
                  <a:cs typeface="Consolas"/>
                </a:rPr>
                <a:t>MULTI-AGENT AI ENGINE · NVIDIA NIM LLMs</a:t>
              </a:r>
            </a:p>
          </p:txBody>
        </p:sp>
      </p:grpSp>
      <p:grpSp>
        <p:nvGrpSpPr>
          <p:cNvPr id="15" name="Group 15"/>
          <p:cNvGrpSpPr/>
          <p:nvPr/>
        </p:nvGrpSpPr>
        <p:grpSpPr>
          <a:xfrm>
            <a:off x="590550" y="2274570"/>
            <a:ext cx="6518910" cy="2628900"/>
            <a:chOff x="590550" y="2274570"/>
            <a:chExt cx="6518910" cy="2628900"/>
          </a:xfrm>
        </p:grpSpPr>
        <p:sp>
          <p:nvSpPr>
            <p:cNvPr id="14" name="TextBox 14"/>
            <p:cNvSpPr txBox="1"/>
            <p:nvPr/>
          </p:nvSpPr>
          <p:spPr>
            <a:xfrm>
              <a:off x="590550" y="2274570"/>
              <a:ext cx="6518910" cy="2628900"/>
            </a:xfrm>
            <a:prstGeom prst="rect">
              <a:avLst/>
            </a:prstGeom>
            <a:noFill/>
            <a:ln>
              <a:noFill/>
            </a:ln>
          </p:spPr>
          <p:txBody>
            <a:bodyPr wrap="none" lIns="0" tIns="0" rIns="0" bIns="0" anchor="t" anchorCtr="0">
              <a:spAutoFit/>
            </a:bodyPr>
            <a:lstStyle/>
            <a:p>
              <a:pPr algn="l">
                <a:lnSpc>
                  <a:spcPts val="6225"/>
                </a:lnSpc>
              </a:pPr>
              <a:r>
                <a:rPr lang="en" sz="5400" b="1" dirty="0">
                  <a:solidFill>
                    <a:schemeClr val="dk1"/>
                  </a:solidFill>
                  <a:effectLst>
                    <a:glow rad="95250">
                      <a:srgbClr val="6366F1">
                        <a:alpha val="35000"/>
                      </a:srgbClr>
                    </a:glow>
                  </a:effectLst>
                  <a:latin typeface="+mn-lt"/>
                  <a:ea typeface="+mn-ea"/>
                  <a:cs typeface="+mn-cs"/>
                </a:rPr>
                <a:t>Autonomous ITSM &amp;</a:t>
              </a:r>
              <a:br/>
              <a:r>
                <a:rPr lang="en" sz="5400" b="1" dirty="0">
                  <a:solidFill>
                    <a:schemeClr val="dk1"/>
                  </a:solidFill>
                  <a:effectLst>
                    <a:glow rad="95250">
                      <a:srgbClr val="6366F1">
                        <a:alpha val="35000"/>
                      </a:srgbClr>
                    </a:glow>
                  </a:effectLst>
                  <a:latin typeface="+mn-lt"/>
                  <a:ea typeface="+mn-ea"/>
                  <a:cs typeface="+mn-cs"/>
                </a:rPr>
                <a:t>Agentic SRE</a:t>
              </a:r>
              <a:br/>
              <a:r>
                <a:rPr lang="en" sz="5400" b="1" dirty="0">
                  <a:solidFill>
                    <a:schemeClr val="accent1"/>
                  </a:solidFill>
                  <a:effectLst>
                    <a:glow rad="95250">
                      <a:srgbClr val="6366F1">
                        <a:alpha val="35000"/>
                      </a:srgbClr>
                    </a:glow>
                  </a:effectLst>
                  <a:latin typeface="+mn-lt"/>
                  <a:ea typeface="+mn-ea"/>
                  <a:cs typeface="+mn-cs"/>
                </a:rPr>
                <a:t>Control Tower</a:t>
              </a:r>
            </a:p>
          </p:txBody>
        </p:sp>
      </p:grpSp>
      <p:sp>
        <p:nvSpPr>
          <p:cNvPr id="16" name="Rectangle 16"/>
          <p:cNvSpPr/>
          <p:nvPr/>
        </p:nvSpPr>
        <p:spPr>
          <a:xfrm>
            <a:off x="609600" y="4762500"/>
            <a:ext cx="1333500" cy="38100"/>
          </a:xfrm>
          <a:prstGeom prst="roundRect">
            <a:avLst>
              <a:gd name="adj" fmla="val 50000"/>
            </a:avLst>
          </a:prstGeom>
          <a:gradFill>
            <a:gsLst>
              <a:gs pos="0">
                <a:schemeClr val="accent1"/>
              </a:gs>
              <a:gs pos="100000">
                <a:schemeClr val="accent2"/>
              </a:gs>
            </a:gsLst>
            <a:lin ang="0" scaled="1"/>
          </a:gradFill>
          <a:ln>
            <a:noFill/>
          </a:ln>
        </p:spPr>
      </p:sp>
      <p:grpSp>
        <p:nvGrpSpPr>
          <p:cNvPr id="18" name="Group 18"/>
          <p:cNvGrpSpPr/>
          <p:nvPr/>
        </p:nvGrpSpPr>
        <p:grpSpPr>
          <a:xfrm>
            <a:off x="595884" y="4966335"/>
            <a:ext cx="9422892" cy="975741"/>
            <a:chOff x="595884" y="4966335"/>
            <a:chExt cx="9422892" cy="975741"/>
          </a:xfrm>
        </p:grpSpPr>
        <p:sp>
          <p:nvSpPr>
            <p:cNvPr id="17" name="TextBox 17"/>
            <p:cNvSpPr txBox="1"/>
            <p:nvPr/>
          </p:nvSpPr>
          <p:spPr>
            <a:xfrm>
              <a:off x="595884" y="4966335"/>
              <a:ext cx="9422892" cy="975741"/>
            </a:xfrm>
            <a:prstGeom prst="rect">
              <a:avLst/>
            </a:prstGeom>
            <a:noFill/>
            <a:ln>
              <a:noFill/>
            </a:ln>
          </p:spPr>
          <p:txBody>
            <a:bodyPr wrap="none" lIns="0" tIns="0" rIns="0" bIns="0" anchor="t" anchorCtr="0">
              <a:spAutoFit/>
            </a:bodyPr>
            <a:lstStyle/>
            <a:p>
              <a:pPr algn="l">
                <a:lnSpc>
                  <a:spcPts val="3525"/>
                </a:lnSpc>
              </a:pPr>
              <a:r>
                <a:rPr lang="en" sz="2700" dirty="0">
                  <a:solidFill>
                    <a:schemeClr val="dk1"/>
                  </a:solidFill>
                  <a:latin typeface="+mn-lt"/>
                  <a:ea typeface="+mn-ea"/>
                  <a:cs typeface="+mn-cs"/>
                </a:rPr>
                <a:t>From ticket to verified fix — without a human touching a</a:t>
              </a:r>
              <a:br/>
              <a:r>
                <a:rPr lang="en" sz="2700" dirty="0">
                  <a:solidFill>
                    <a:schemeClr val="dk1"/>
                  </a:solidFill>
                  <a:latin typeface="+mn-lt"/>
                  <a:ea typeface="+mn-ea"/>
                  <a:cs typeface="+mn-cs"/>
                </a:rPr>
                <a:t xml:space="preserve">terminal, </a:t>
              </a:r>
              <a:r>
                <a:rPr lang="en" sz="2700" b="1" dirty="0">
                  <a:solidFill>
                    <a:schemeClr val="accent2"/>
                  </a:solidFill>
                  <a:latin typeface="+mn-lt"/>
                  <a:ea typeface="+mn-ea"/>
                  <a:cs typeface="+mn-cs"/>
                </a:rPr>
                <a:t>unless the platform asks first</a:t>
              </a:r>
              <a:r>
                <a:rPr lang="en" sz="2700" dirty="0">
                  <a:solidFill>
                    <a:schemeClr val="dk1"/>
                  </a:solidFill>
                  <a:latin typeface="+mn-lt"/>
                  <a:ea typeface="+mn-ea"/>
                  <a:cs typeface="+mn-cs"/>
                </a:rPr>
                <a:t>.</a:t>
              </a:r>
            </a:p>
          </p:txBody>
        </p:sp>
      </p:grpSp>
      <p:grpSp>
        <p:nvGrpSpPr>
          <p:cNvPr id="20" name="Group 20"/>
          <p:cNvGrpSpPr/>
          <p:nvPr/>
        </p:nvGrpSpPr>
        <p:grpSpPr>
          <a:xfrm>
            <a:off x="600456" y="5958840"/>
            <a:ext cx="6704838" cy="637794"/>
            <a:chOff x="600456" y="5958840"/>
            <a:chExt cx="6704838" cy="637794"/>
          </a:xfrm>
        </p:grpSpPr>
        <p:sp>
          <p:nvSpPr>
            <p:cNvPr id="19" name="TextBox 19"/>
            <p:cNvSpPr txBox="1"/>
            <p:nvPr/>
          </p:nvSpPr>
          <p:spPr>
            <a:xfrm>
              <a:off x="600456" y="5958840"/>
              <a:ext cx="6704838" cy="637794"/>
            </a:xfrm>
            <a:prstGeom prst="rect">
              <a:avLst/>
            </a:prstGeom>
            <a:noFill/>
            <a:ln>
              <a:noFill/>
            </a:ln>
          </p:spPr>
          <p:txBody>
            <a:bodyPr wrap="none" lIns="0" tIns="0" rIns="0" bIns="0" anchor="t" anchorCtr="0">
              <a:spAutoFit/>
            </a:bodyPr>
            <a:lstStyle/>
            <a:p>
              <a:pPr algn="l">
                <a:lnSpc>
                  <a:spcPts val="2250"/>
                </a:lnSpc>
              </a:pPr>
              <a:r>
                <a:rPr lang="en" sz="1800" dirty="0">
                  <a:solidFill>
                    <a:schemeClr val="accent5"/>
                  </a:solidFill>
                  <a:latin typeface="+mn-lt"/>
                  <a:ea typeface="+mn-ea"/>
                  <a:cs typeface="+mn-cs"/>
                </a:rPr>
                <a:t>Autonomous triage · Hybrid RAG · Dynamic ReAct remediation</a:t>
              </a:r>
            </a:p>
            <a:p>
              <a:pPr algn="l" marL="194310" indent="-194310">
                <a:lnSpc>
                  <a:spcPts val="2250"/>
                </a:lnSpc>
                <a:buClr>
                  <a:schemeClr val="accent5"/>
                </a:buClr>
                <a:buSzTx/>
                <a:buFontTx/>
                <a:buChar char="•"/>
              </a:pPr>
              <a:r>
                <a:rPr lang="en" sz="1800" dirty="0">
                  <a:solidFill>
                    <a:schemeClr val="accent5"/>
                  </a:solidFill>
                  <a:latin typeface="+mn-lt"/>
                  <a:ea typeface="+mn-ea"/>
                  <a:cs typeface="+mn-cs"/>
                </a:rPr>
                <a:t>Human-in-the-loop governance</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002890"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01 · THE OPPORTUNITY</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P02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8" name="Group 8"/>
          <p:cNvGrpSpPr/>
          <p:nvPr/>
        </p:nvGrpSpPr>
        <p:grpSpPr>
          <a:xfrm>
            <a:off x="590550" y="1242060"/>
            <a:ext cx="7689776" cy="819150"/>
            <a:chOff x="590550" y="1242060"/>
            <a:chExt cx="7689776" cy="819150"/>
          </a:xfrm>
        </p:grpSpPr>
        <p:sp>
          <p:nvSpPr>
            <p:cNvPr id="7" name="TextBox 7"/>
            <p:cNvSpPr txBox="1"/>
            <p:nvPr/>
          </p:nvSpPr>
          <p:spPr>
            <a:xfrm>
              <a:off x="590550" y="1242060"/>
              <a:ext cx="7689776"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Manual ITSM Doesn’t Scale</a:t>
              </a:r>
            </a:p>
          </p:txBody>
        </p:sp>
      </p:grpSp>
      <p:grpSp>
        <p:nvGrpSpPr>
          <p:cNvPr id="10" name="Group 10"/>
          <p:cNvGrpSpPr/>
          <p:nvPr/>
        </p:nvGrpSpPr>
        <p:grpSpPr>
          <a:xfrm>
            <a:off x="595884" y="1937385"/>
            <a:ext cx="9542907" cy="975741"/>
            <a:chOff x="595884" y="1937385"/>
            <a:chExt cx="9542907" cy="975741"/>
          </a:xfrm>
        </p:grpSpPr>
        <p:sp>
          <p:nvSpPr>
            <p:cNvPr id="9" name="TextBox 9"/>
            <p:cNvSpPr txBox="1"/>
            <p:nvPr/>
          </p:nvSpPr>
          <p:spPr>
            <a:xfrm>
              <a:off x="595884" y="1937385"/>
              <a:ext cx="9542907" cy="975741"/>
            </a:xfrm>
            <a:prstGeom prst="rect">
              <a:avLst/>
            </a:prstGeom>
            <a:noFill/>
            <a:ln>
              <a:noFill/>
            </a:ln>
          </p:spPr>
          <p:txBody>
            <a:bodyPr wrap="none" lIns="0" tIns="0" rIns="0" bIns="0" anchor="t" anchorCtr="0">
              <a:spAutoFit/>
            </a:bodyPr>
            <a:lstStyle/>
            <a:p>
              <a:pPr algn="l">
                <a:lnSpc>
                  <a:spcPts val="3525"/>
                </a:lnSpc>
              </a:pPr>
              <a:r>
                <a:rPr lang="en" sz="2700" dirty="0">
                  <a:solidFill>
                    <a:schemeClr val="dk1"/>
                  </a:solidFill>
                  <a:latin typeface="+mn-lt"/>
                  <a:ea typeface="+mn-ea"/>
                  <a:cs typeface="+mn-cs"/>
                </a:rPr>
                <a:t>Every minute unassigned or half-diagnosed is cost, risk,</a:t>
              </a:r>
              <a:br/>
              <a:r>
                <a:rPr lang="en" sz="2700" dirty="0">
                  <a:solidFill>
                    <a:schemeClr val="dk1"/>
                  </a:solidFill>
                  <a:latin typeface="+mn-lt"/>
                  <a:ea typeface="+mn-ea"/>
                  <a:cs typeface="+mn-cs"/>
                </a:rPr>
                <a:t xml:space="preserve">and </a:t>
              </a:r>
              <a:r>
                <a:rPr lang="en" sz="2700" b="1" dirty="0">
                  <a:solidFill>
                    <a:srgbClr val="F43F5E"/>
                  </a:solidFill>
                  <a:latin typeface="+mn-lt"/>
                  <a:ea typeface="+mn-ea"/>
                  <a:cs typeface="+mn-cs"/>
                </a:rPr>
                <a:t>burnout</a:t>
              </a:r>
              <a:r>
                <a:rPr lang="en" sz="2700" dirty="0">
                  <a:solidFill>
                    <a:schemeClr val="dk1"/>
                  </a:solidFill>
                  <a:latin typeface="+mn-lt"/>
                  <a:ea typeface="+mn-ea"/>
                  <a:cs typeface="+mn-cs"/>
                </a:rPr>
                <a:t xml:space="preserve"> for the team.</a:t>
              </a:r>
            </a:p>
          </p:txBody>
        </p:sp>
      </p:grpSp>
      <p:grpSp>
        <p:nvGrpSpPr>
          <p:cNvPr id="39" name="Group 39"/>
          <p:cNvGrpSpPr/>
          <p:nvPr/>
        </p:nvGrpSpPr>
        <p:grpSpPr>
          <a:xfrm>
            <a:off x="609600" y="3200400"/>
            <a:ext cx="7866671" cy="2571750"/>
            <a:chOff x="609600" y="3200400"/>
            <a:chExt cx="7866671" cy="2571750"/>
          </a:xfrm>
        </p:grpSpPr>
        <p:grpSp>
          <p:nvGrpSpPr>
            <p:cNvPr id="18" name="Group 18"/>
            <p:cNvGrpSpPr/>
            <p:nvPr/>
          </p:nvGrpSpPr>
          <p:grpSpPr>
            <a:xfrm>
              <a:off x="609600" y="3200400"/>
              <a:ext cx="7673421" cy="457200"/>
              <a:chOff x="609600" y="3200400"/>
              <a:chExt cx="7673421" cy="457200"/>
            </a:xfrm>
          </p:grpSpPr>
          <p:sp>
            <p:nvSpPr>
              <p:cNvPr id="11" name="Rectangle 11"/>
              <p:cNvSpPr/>
              <p:nvPr/>
            </p:nvSpPr>
            <p:spPr>
              <a:xfrm>
                <a:off x="609600" y="3200400"/>
                <a:ext cx="457200" cy="457200"/>
              </a:xfrm>
              <a:prstGeom prst="roundRect">
                <a:avLst>
                  <a:gd name="adj" fmla="val 25000"/>
                </a:avLst>
              </a:prstGeom>
              <a:solidFill>
                <a:schemeClr val="lt2"/>
              </a:solidFill>
              <a:ln w="9525">
                <a:solidFill>
                  <a:srgbClr val="F43F5E">
                    <a:alpha val="35000"/>
                  </a:srgbClr>
                </a:solidFill>
              </a:ln>
            </p:spPr>
          </p:sp>
          <p:grpSp>
            <p:nvGrpSpPr>
              <p:cNvPr id="16" name="Group 16"/>
              <p:cNvGrpSpPr/>
              <p:nvPr/>
            </p:nvGrpSpPr>
            <p:grpSpPr>
              <a:xfrm>
                <a:off x="752475" y="3362325"/>
                <a:ext cx="171450" cy="133350"/>
                <a:chOff x="752475" y="3362325"/>
                <a:chExt cx="171450" cy="133350"/>
              </a:xfrm>
            </p:grpSpPr>
            <p:sp>
              <p:nvSpPr>
                <p:cNvPr id="12" name="Freeform 12"/>
                <p:cNvSpPr/>
                <p:nvPr/>
              </p:nvSpPr>
              <p:spPr>
                <a:xfrm>
                  <a:off x="866775" y="3362325"/>
                  <a:ext cx="9525" cy="19050"/>
                </a:xfrm>
                <a:custGeom>
                  <a:avLst/>
                  <a:gdLst/>
                  <a:ahLst/>
                  <a:cxnLst/>
                  <a:rect l="l" t="t" r="r" b="b"/>
                  <a:pathLst>
                    <a:path w="9525" h="19050">
                      <a:moveTo>
                        <a:pt x="0" y="0"/>
                      </a:moveTo>
                      <a:lnTo>
                        <a:pt x="0" y="19050"/>
                      </a:lnTo>
                    </a:path>
                  </a:pathLst>
                </a:custGeom>
                <a:noFill/>
                <a:ln w="19050">
                  <a:solidFill>
                    <a:srgbClr val="F43F5E"/>
                  </a:solidFill>
                </a:ln>
              </p:spPr>
            </p:sp>
            <p:sp>
              <p:nvSpPr>
                <p:cNvPr id="13" name="Freeform 13"/>
                <p:cNvSpPr/>
                <p:nvPr/>
              </p:nvSpPr>
              <p:spPr>
                <a:xfrm>
                  <a:off x="866775" y="3419475"/>
                  <a:ext cx="9525" cy="19050"/>
                </a:xfrm>
                <a:custGeom>
                  <a:avLst/>
                  <a:gdLst/>
                  <a:ahLst/>
                  <a:cxnLst/>
                  <a:rect l="l" t="t" r="r" b="b"/>
                  <a:pathLst>
                    <a:path w="9525" h="19050">
                      <a:moveTo>
                        <a:pt x="0" y="0"/>
                      </a:moveTo>
                      <a:lnTo>
                        <a:pt x="0" y="19050"/>
                      </a:lnTo>
                    </a:path>
                  </a:pathLst>
                </a:custGeom>
                <a:noFill/>
                <a:ln w="19050">
                  <a:solidFill>
                    <a:srgbClr val="F43F5E"/>
                  </a:solidFill>
                </a:ln>
              </p:spPr>
            </p:sp>
            <p:sp>
              <p:nvSpPr>
                <p:cNvPr id="14" name="Freeform 14"/>
                <p:cNvSpPr/>
                <p:nvPr/>
              </p:nvSpPr>
              <p:spPr>
                <a:xfrm>
                  <a:off x="866775" y="3476625"/>
                  <a:ext cx="9525" cy="19050"/>
                </a:xfrm>
                <a:custGeom>
                  <a:avLst/>
                  <a:gdLst/>
                  <a:ahLst/>
                  <a:cxnLst/>
                  <a:rect l="l" t="t" r="r" b="b"/>
                  <a:pathLst>
                    <a:path w="9525" h="19050">
                      <a:moveTo>
                        <a:pt x="0" y="0"/>
                      </a:moveTo>
                      <a:lnTo>
                        <a:pt x="0" y="19050"/>
                      </a:lnTo>
                    </a:path>
                  </a:pathLst>
                </a:custGeom>
                <a:noFill/>
                <a:ln w="19050">
                  <a:solidFill>
                    <a:srgbClr val="F43F5E"/>
                  </a:solidFill>
                </a:ln>
              </p:spPr>
            </p:sp>
            <p:sp>
              <p:nvSpPr>
                <p:cNvPr id="15" name="Freeform 15"/>
                <p:cNvSpPr/>
                <p:nvPr/>
              </p:nvSpPr>
              <p:spPr>
                <a:xfrm>
                  <a:off x="752475" y="3362325"/>
                  <a:ext cx="171450" cy="133350"/>
                </a:xfrm>
                <a:custGeom>
                  <a:avLst/>
                  <a:gdLst/>
                  <a:ahLst/>
                  <a:cxnLst/>
                  <a:rect l="l" t="t" r="r" b="b"/>
                  <a:pathLst>
                    <a:path w="171450" h="133350">
                      <a:moveTo>
                        <a:pt x="19050" y="0"/>
                      </a:moveTo>
                      <a:lnTo>
                        <a:pt x="152400" y="0"/>
                      </a:lnTo>
                      <a:cubicBezTo>
                        <a:pt x="162921" y="0"/>
                        <a:pt x="171450" y="8529"/>
                        <a:pt x="171450" y="19050"/>
                      </a:cubicBezTo>
                      <a:lnTo>
                        <a:pt x="171450" y="47625"/>
                      </a:lnTo>
                      <a:cubicBezTo>
                        <a:pt x="160929" y="47625"/>
                        <a:pt x="152400" y="56154"/>
                        <a:pt x="152400" y="66675"/>
                      </a:cubicBezTo>
                      <a:cubicBezTo>
                        <a:pt x="152400" y="77196"/>
                        <a:pt x="160929" y="85725"/>
                        <a:pt x="171450" y="85725"/>
                      </a:cubicBezTo>
                      <a:lnTo>
                        <a:pt x="171450" y="114300"/>
                      </a:lnTo>
                      <a:cubicBezTo>
                        <a:pt x="171450" y="124821"/>
                        <a:pt x="162921" y="133350"/>
                        <a:pt x="152400" y="133350"/>
                      </a:cubicBezTo>
                      <a:lnTo>
                        <a:pt x="19050" y="133350"/>
                      </a:lnTo>
                      <a:cubicBezTo>
                        <a:pt x="8529" y="133350"/>
                        <a:pt x="0" y="124821"/>
                        <a:pt x="0" y="114300"/>
                      </a:cubicBezTo>
                      <a:lnTo>
                        <a:pt x="0" y="85725"/>
                      </a:lnTo>
                      <a:cubicBezTo>
                        <a:pt x="10521" y="85725"/>
                        <a:pt x="19050" y="77196"/>
                        <a:pt x="19050" y="66675"/>
                      </a:cubicBezTo>
                      <a:cubicBezTo>
                        <a:pt x="19050" y="56154"/>
                        <a:pt x="10521" y="47625"/>
                        <a:pt x="0" y="47625"/>
                      </a:cubicBezTo>
                      <a:lnTo>
                        <a:pt x="0" y="19050"/>
                      </a:lnTo>
                      <a:cubicBezTo>
                        <a:pt x="0" y="8529"/>
                        <a:pt x="8529" y="0"/>
                        <a:pt x="19050" y="0"/>
                      </a:cubicBezTo>
                    </a:path>
                  </a:pathLst>
                </a:custGeom>
                <a:noFill/>
                <a:ln w="19050">
                  <a:solidFill>
                    <a:srgbClr val="F43F5E"/>
                  </a:solidFill>
                </a:ln>
              </p:spPr>
            </p:sp>
          </p:grpSp>
          <p:sp>
            <p:nvSpPr>
              <p:cNvPr id="17" name="TextBox 17"/>
              <p:cNvSpPr txBox="1"/>
              <p:nvPr/>
            </p:nvSpPr>
            <p:spPr>
              <a:xfrm>
                <a:off x="1229106" y="3301365"/>
                <a:ext cx="7053915" cy="352044"/>
              </a:xfrm>
              <a:prstGeom prst="rect">
                <a:avLst/>
              </a:prstGeom>
              <a:noFill/>
              <a:ln>
                <a:noFill/>
              </a:ln>
            </p:spPr>
            <p:txBody>
              <a:bodyPr wrap="none" lIns="0" tIns="0" rIns="0" bIns="0" anchor="t" anchorCtr="0">
                <a:spAutoFit/>
              </a:bodyPr>
              <a:lstStyle/>
              <a:p>
                <a:pPr algn="l"/>
                <a:r>
                  <a:rPr lang="en" sz="1800" dirty="0">
                    <a:solidFill>
                      <a:schemeClr val="dk1"/>
                    </a:solidFill>
                    <a:latin typeface="+mn-lt"/>
                    <a:ea typeface="+mn-ea"/>
                    <a:cs typeface="+mn-cs"/>
                  </a:rPr>
                  <a:t>Tickets queue unassigned — triaged by memory, not process</a:t>
                </a:r>
              </a:p>
            </p:txBody>
          </p:sp>
        </p:grpSp>
        <p:grpSp>
          <p:nvGrpSpPr>
            <p:cNvPr id="25" name="Group 25"/>
            <p:cNvGrpSpPr/>
            <p:nvPr/>
          </p:nvGrpSpPr>
          <p:grpSpPr>
            <a:xfrm>
              <a:off x="609600" y="3905250"/>
              <a:ext cx="7866671" cy="457200"/>
              <a:chOff x="609600" y="3905250"/>
              <a:chExt cx="7866671" cy="457200"/>
            </a:xfrm>
          </p:grpSpPr>
          <p:sp>
            <p:nvSpPr>
              <p:cNvPr id="19" name="Rectangle 19"/>
              <p:cNvSpPr/>
              <p:nvPr/>
            </p:nvSpPr>
            <p:spPr>
              <a:xfrm>
                <a:off x="609600" y="3905250"/>
                <a:ext cx="457200" cy="457200"/>
              </a:xfrm>
              <a:prstGeom prst="roundRect">
                <a:avLst>
                  <a:gd name="adj" fmla="val 25000"/>
                </a:avLst>
              </a:prstGeom>
              <a:solidFill>
                <a:schemeClr val="lt2"/>
              </a:solidFill>
              <a:ln w="9525">
                <a:solidFill>
                  <a:srgbClr val="F43F5E">
                    <a:alpha val="35000"/>
                  </a:srgbClr>
                </a:solidFill>
              </a:ln>
            </p:spPr>
          </p:sp>
          <p:grpSp>
            <p:nvGrpSpPr>
              <p:cNvPr id="23" name="Group 23"/>
              <p:cNvGrpSpPr/>
              <p:nvPr/>
            </p:nvGrpSpPr>
            <p:grpSpPr>
              <a:xfrm>
                <a:off x="771525" y="4057650"/>
                <a:ext cx="133350" cy="152400"/>
                <a:chOff x="771525" y="4057650"/>
                <a:chExt cx="133350" cy="152400"/>
              </a:xfrm>
            </p:grpSpPr>
            <p:sp>
              <p:nvSpPr>
                <p:cNvPr id="20" name="Freeform 20"/>
                <p:cNvSpPr/>
                <p:nvPr/>
              </p:nvSpPr>
              <p:spPr>
                <a:xfrm>
                  <a:off x="771525" y="4057650"/>
                  <a:ext cx="133350" cy="152400"/>
                </a:xfrm>
                <a:custGeom>
                  <a:avLst/>
                  <a:gdLst/>
                  <a:ahLst/>
                  <a:cxnLst/>
                  <a:rect l="l" t="t" r="r" b="b"/>
                  <a:pathLst>
                    <a:path w="133350" h="152400">
                      <a:moveTo>
                        <a:pt x="133350" y="0"/>
                      </a:moveTo>
                      <a:lnTo>
                        <a:pt x="133350" y="152400"/>
                      </a:lnTo>
                      <a:lnTo>
                        <a:pt x="19050" y="152400"/>
                      </a:lnTo>
                      <a:cubicBezTo>
                        <a:pt x="8529" y="152400"/>
                        <a:pt x="0" y="143871"/>
                        <a:pt x="0" y="133350"/>
                      </a:cubicBezTo>
                      <a:lnTo>
                        <a:pt x="0" y="19050"/>
                      </a:lnTo>
                      <a:cubicBezTo>
                        <a:pt x="0" y="8529"/>
                        <a:pt x="8529" y="0"/>
                        <a:pt x="19050" y="0"/>
                      </a:cubicBezTo>
                      <a:lnTo>
                        <a:pt x="133350" y="0"/>
                      </a:lnTo>
                    </a:path>
                  </a:pathLst>
                </a:custGeom>
                <a:noFill/>
                <a:ln w="19050">
                  <a:solidFill>
                    <a:srgbClr val="F43F5E"/>
                  </a:solidFill>
                </a:ln>
              </p:spPr>
            </p:sp>
            <p:sp>
              <p:nvSpPr>
                <p:cNvPr id="21" name="Freeform 21"/>
                <p:cNvSpPr/>
                <p:nvPr/>
              </p:nvSpPr>
              <p:spPr>
                <a:xfrm>
                  <a:off x="771525" y="4171950"/>
                  <a:ext cx="133350" cy="19050"/>
                </a:xfrm>
                <a:custGeom>
                  <a:avLst/>
                  <a:gdLst/>
                  <a:ahLst/>
                  <a:cxnLst/>
                  <a:rect l="l" t="t" r="r" b="b"/>
                  <a:pathLst>
                    <a:path w="133350" h="19050">
                      <a:moveTo>
                        <a:pt x="133350" y="0"/>
                      </a:moveTo>
                      <a:lnTo>
                        <a:pt x="19050" y="0"/>
                      </a:lnTo>
                      <a:cubicBezTo>
                        <a:pt x="8529" y="0"/>
                        <a:pt x="0" y="8529"/>
                        <a:pt x="0" y="19050"/>
                      </a:cubicBezTo>
                    </a:path>
                  </a:pathLst>
                </a:custGeom>
                <a:noFill/>
                <a:ln w="19050">
                  <a:solidFill>
                    <a:srgbClr val="F43F5E"/>
                  </a:solidFill>
                </a:ln>
              </p:spPr>
            </p:sp>
            <p:sp>
              <p:nvSpPr>
                <p:cNvPr id="22" name="Freeform 22"/>
                <p:cNvSpPr/>
                <p:nvPr/>
              </p:nvSpPr>
              <p:spPr>
                <a:xfrm>
                  <a:off x="809625" y="4095750"/>
                  <a:ext cx="57150" cy="9525"/>
                </a:xfrm>
                <a:custGeom>
                  <a:avLst/>
                  <a:gdLst/>
                  <a:ahLst/>
                  <a:cxnLst/>
                  <a:rect l="l" t="t" r="r" b="b"/>
                  <a:pathLst>
                    <a:path w="57150" h="9525">
                      <a:moveTo>
                        <a:pt x="0" y="0"/>
                      </a:moveTo>
                      <a:lnTo>
                        <a:pt x="57150" y="0"/>
                      </a:lnTo>
                    </a:path>
                  </a:pathLst>
                </a:custGeom>
                <a:noFill/>
                <a:ln w="19050">
                  <a:solidFill>
                    <a:srgbClr val="F43F5E"/>
                  </a:solidFill>
                </a:ln>
              </p:spPr>
            </p:sp>
          </p:grpSp>
          <p:sp>
            <p:nvSpPr>
              <p:cNvPr id="24" name="TextBox 24"/>
              <p:cNvSpPr txBox="1"/>
              <p:nvPr/>
            </p:nvSpPr>
            <p:spPr>
              <a:xfrm>
                <a:off x="1229106" y="4006215"/>
                <a:ext cx="7247165" cy="352044"/>
              </a:xfrm>
              <a:prstGeom prst="rect">
                <a:avLst/>
              </a:prstGeom>
              <a:noFill/>
              <a:ln>
                <a:noFill/>
              </a:ln>
            </p:spPr>
            <p:txBody>
              <a:bodyPr wrap="none" lIns="0" tIns="0" rIns="0" bIns="0" anchor="t" anchorCtr="0">
                <a:spAutoFit/>
              </a:bodyPr>
              <a:lstStyle/>
              <a:p>
                <a:pPr algn="l"/>
                <a:r>
                  <a:rPr lang="en" sz="1800" dirty="0">
                    <a:solidFill>
                      <a:schemeClr val="dk1"/>
                    </a:solidFill>
                    <a:latin typeface="+mn-lt"/>
                    <a:ea typeface="+mn-ea"/>
                    <a:cs typeface="+mn-cs"/>
                  </a:rPr>
                  <a:t>Diagnosis depends on the on-call engineer finding the runbook</a:t>
                </a:r>
              </a:p>
            </p:txBody>
          </p:sp>
        </p:grpSp>
        <p:grpSp>
          <p:nvGrpSpPr>
            <p:cNvPr id="32" name="Group 32"/>
            <p:cNvGrpSpPr/>
            <p:nvPr/>
          </p:nvGrpSpPr>
          <p:grpSpPr>
            <a:xfrm>
              <a:off x="609600" y="4610100"/>
              <a:ext cx="7382985" cy="457200"/>
              <a:chOff x="609600" y="4610100"/>
              <a:chExt cx="7382985" cy="457200"/>
            </a:xfrm>
          </p:grpSpPr>
          <p:sp>
            <p:nvSpPr>
              <p:cNvPr id="26" name="Rectangle 26"/>
              <p:cNvSpPr/>
              <p:nvPr/>
            </p:nvSpPr>
            <p:spPr>
              <a:xfrm>
                <a:off x="609600" y="4610100"/>
                <a:ext cx="457200" cy="457200"/>
              </a:xfrm>
              <a:prstGeom prst="roundRect">
                <a:avLst>
                  <a:gd name="adj" fmla="val 25000"/>
                </a:avLst>
              </a:prstGeom>
              <a:solidFill>
                <a:schemeClr val="lt2"/>
              </a:solidFill>
              <a:ln w="9525">
                <a:solidFill>
                  <a:srgbClr val="F43F5E">
                    <a:alpha val="35000"/>
                  </a:srgbClr>
                </a:solidFill>
              </a:ln>
            </p:spPr>
          </p:sp>
          <p:grpSp>
            <p:nvGrpSpPr>
              <p:cNvPr id="30" name="Group 30"/>
              <p:cNvGrpSpPr/>
              <p:nvPr/>
            </p:nvGrpSpPr>
            <p:grpSpPr>
              <a:xfrm>
                <a:off x="752475" y="4762500"/>
                <a:ext cx="171450" cy="152400"/>
                <a:chOff x="752475" y="4762500"/>
                <a:chExt cx="171450" cy="152400"/>
              </a:xfrm>
            </p:grpSpPr>
            <p:sp>
              <p:nvSpPr>
                <p:cNvPr id="27" name="Freeform 27"/>
                <p:cNvSpPr/>
                <p:nvPr/>
              </p:nvSpPr>
              <p:spPr>
                <a:xfrm>
                  <a:off x="800100" y="4810125"/>
                  <a:ext cx="28575" cy="57150"/>
                </a:xfrm>
                <a:custGeom>
                  <a:avLst/>
                  <a:gdLst/>
                  <a:ahLst/>
                  <a:cxnLst/>
                  <a:rect l="l" t="t" r="r" b="b"/>
                  <a:pathLst>
                    <a:path w="28575" h="57150">
                      <a:moveTo>
                        <a:pt x="0" y="0"/>
                      </a:moveTo>
                      <a:lnTo>
                        <a:pt x="28575" y="28575"/>
                      </a:lnTo>
                      <a:lnTo>
                        <a:pt x="0" y="57150"/>
                      </a:lnTo>
                    </a:path>
                  </a:pathLst>
                </a:custGeom>
                <a:noFill/>
                <a:ln w="19050">
                  <a:solidFill>
                    <a:srgbClr val="F43F5E"/>
                  </a:solidFill>
                </a:ln>
              </p:spPr>
            </p:sp>
            <p:sp>
              <p:nvSpPr>
                <p:cNvPr id="28" name="Freeform 28"/>
                <p:cNvSpPr/>
                <p:nvPr/>
              </p:nvSpPr>
              <p:spPr>
                <a:xfrm>
                  <a:off x="847725" y="4867275"/>
                  <a:ext cx="28575" cy="9525"/>
                </a:xfrm>
                <a:custGeom>
                  <a:avLst/>
                  <a:gdLst/>
                  <a:ahLst/>
                  <a:cxnLst/>
                  <a:rect l="l" t="t" r="r" b="b"/>
                  <a:pathLst>
                    <a:path w="28575" h="9525">
                      <a:moveTo>
                        <a:pt x="0" y="0"/>
                      </a:moveTo>
                      <a:lnTo>
                        <a:pt x="28575" y="0"/>
                      </a:lnTo>
                    </a:path>
                  </a:pathLst>
                </a:custGeom>
                <a:noFill/>
                <a:ln w="19050">
                  <a:solidFill>
                    <a:srgbClr val="F43F5E"/>
                  </a:solidFill>
                </a:ln>
              </p:spPr>
            </p:sp>
            <p:sp>
              <p:nvSpPr>
                <p:cNvPr id="29" name="Freeform 29"/>
                <p:cNvSpPr/>
                <p:nvPr/>
              </p:nvSpPr>
              <p:spPr>
                <a:xfrm>
                  <a:off x="752475" y="4762500"/>
                  <a:ext cx="171450" cy="152400"/>
                </a:xfrm>
                <a:custGeom>
                  <a:avLst/>
                  <a:gdLst/>
                  <a:ahLst/>
                  <a:cxnLst/>
                  <a:rect l="l" t="t" r="r" b="b"/>
                  <a:pathLst>
                    <a:path w="171450" h="152400">
                      <a:moveTo>
                        <a:pt x="0" y="19050"/>
                      </a:moveTo>
                      <a:cubicBezTo>
                        <a:pt x="0" y="8529"/>
                        <a:pt x="8529" y="0"/>
                        <a:pt x="19050" y="0"/>
                      </a:cubicBezTo>
                      <a:lnTo>
                        <a:pt x="152400" y="0"/>
                      </a:lnTo>
                      <a:cubicBezTo>
                        <a:pt x="162921" y="0"/>
                        <a:pt x="171450" y="8529"/>
                        <a:pt x="171450" y="19050"/>
                      </a:cubicBezTo>
                      <a:lnTo>
                        <a:pt x="171450" y="133350"/>
                      </a:lnTo>
                      <a:cubicBezTo>
                        <a:pt x="171450" y="143871"/>
                        <a:pt x="162921" y="152400"/>
                        <a:pt x="152400" y="152400"/>
                      </a:cubicBezTo>
                      <a:lnTo>
                        <a:pt x="19050" y="152400"/>
                      </a:lnTo>
                      <a:cubicBezTo>
                        <a:pt x="8529" y="152400"/>
                        <a:pt x="0" y="143871"/>
                        <a:pt x="0" y="133350"/>
                      </a:cubicBezTo>
                      <a:lnTo>
                        <a:pt x="0" y="19050"/>
                      </a:lnTo>
                    </a:path>
                  </a:pathLst>
                </a:custGeom>
                <a:noFill/>
                <a:ln w="19050">
                  <a:solidFill>
                    <a:srgbClr val="F43F5E"/>
                  </a:solidFill>
                </a:ln>
              </p:spPr>
            </p:sp>
          </p:grpSp>
          <p:sp>
            <p:nvSpPr>
              <p:cNvPr id="31" name="TextBox 31"/>
              <p:cNvSpPr txBox="1"/>
              <p:nvPr/>
            </p:nvSpPr>
            <p:spPr>
              <a:xfrm>
                <a:off x="1229106" y="4711065"/>
                <a:ext cx="6763479" cy="352044"/>
              </a:xfrm>
              <a:prstGeom prst="rect">
                <a:avLst/>
              </a:prstGeom>
              <a:noFill/>
              <a:ln>
                <a:noFill/>
              </a:ln>
            </p:spPr>
            <p:txBody>
              <a:bodyPr wrap="none" lIns="0" tIns="0" rIns="0" bIns="0" anchor="t" anchorCtr="0">
                <a:spAutoFit/>
              </a:bodyPr>
              <a:lstStyle/>
              <a:p>
                <a:pPr algn="l"/>
                <a:r>
                  <a:rPr lang="en" sz="1800" dirty="0">
                    <a:solidFill>
                      <a:schemeClr val="dk1"/>
                    </a:solidFill>
                    <a:latin typeface="+mn-lt"/>
                    <a:ea typeface="+mn-ea"/>
                    <a:cs typeface="+mn-cs"/>
                  </a:rPr>
                  <a:t>Every fix is a manual SSH session with no proof it worked</a:t>
                </a:r>
              </a:p>
            </p:txBody>
          </p:sp>
        </p:grpSp>
        <p:grpSp>
          <p:nvGrpSpPr>
            <p:cNvPr id="38" name="Group 38"/>
            <p:cNvGrpSpPr/>
            <p:nvPr/>
          </p:nvGrpSpPr>
          <p:grpSpPr>
            <a:xfrm>
              <a:off x="609600" y="5314950"/>
              <a:ext cx="7030510" cy="457200"/>
              <a:chOff x="609600" y="5314950"/>
              <a:chExt cx="7030510" cy="457200"/>
            </a:xfrm>
          </p:grpSpPr>
          <p:sp>
            <p:nvSpPr>
              <p:cNvPr id="33" name="Rectangle 33"/>
              <p:cNvSpPr/>
              <p:nvPr/>
            </p:nvSpPr>
            <p:spPr>
              <a:xfrm>
                <a:off x="609600" y="5314950"/>
                <a:ext cx="457200" cy="457200"/>
              </a:xfrm>
              <a:prstGeom prst="roundRect">
                <a:avLst>
                  <a:gd name="adj" fmla="val 25000"/>
                </a:avLst>
              </a:prstGeom>
              <a:solidFill>
                <a:schemeClr val="lt2"/>
              </a:solidFill>
              <a:ln w="9525">
                <a:solidFill>
                  <a:srgbClr val="F43F5E">
                    <a:alpha val="35000"/>
                  </a:srgbClr>
                </a:solidFill>
              </a:ln>
            </p:spPr>
          </p:sp>
          <p:grpSp>
            <p:nvGrpSpPr>
              <p:cNvPr id="36" name="Group 36"/>
              <p:cNvGrpSpPr/>
              <p:nvPr/>
            </p:nvGrpSpPr>
            <p:grpSpPr>
              <a:xfrm>
                <a:off x="752475" y="5457825"/>
                <a:ext cx="171450" cy="171450"/>
                <a:chOff x="752475" y="5457825"/>
                <a:chExt cx="171450" cy="171450"/>
              </a:xfrm>
            </p:grpSpPr>
            <p:sp>
              <p:nvSpPr>
                <p:cNvPr id="34" name="Freeform 34"/>
                <p:cNvSpPr/>
                <p:nvPr/>
              </p:nvSpPr>
              <p:spPr>
                <a:xfrm>
                  <a:off x="752475" y="5457825"/>
                  <a:ext cx="133350" cy="133350"/>
                </a:xfrm>
                <a:custGeom>
                  <a:avLst/>
                  <a:gdLst/>
                  <a:ahLst/>
                  <a:cxnLst/>
                  <a:rect l="l" t="t" r="r" b="b"/>
                  <a:pathLst>
                    <a:path w="133350" h="133350">
                      <a:moveTo>
                        <a:pt x="0" y="66675"/>
                      </a:moveTo>
                      <a:cubicBezTo>
                        <a:pt x="0" y="103499"/>
                        <a:pt x="29851" y="133350"/>
                        <a:pt x="66675" y="133350"/>
                      </a:cubicBezTo>
                      <a:cubicBezTo>
                        <a:pt x="103499" y="133350"/>
                        <a:pt x="133350" y="103499"/>
                        <a:pt x="133350" y="66675"/>
                      </a:cubicBezTo>
                      <a:cubicBezTo>
                        <a:pt x="133350" y="29851"/>
                        <a:pt x="103499" y="0"/>
                        <a:pt x="66675" y="0"/>
                      </a:cubicBezTo>
                      <a:cubicBezTo>
                        <a:pt x="29851" y="0"/>
                        <a:pt x="0" y="29851"/>
                        <a:pt x="0" y="66675"/>
                      </a:cubicBezTo>
                    </a:path>
                  </a:pathLst>
                </a:custGeom>
                <a:noFill/>
                <a:ln w="19050">
                  <a:solidFill>
                    <a:srgbClr val="F43F5E"/>
                  </a:solidFill>
                </a:ln>
              </p:spPr>
            </p:sp>
            <p:sp>
              <p:nvSpPr>
                <p:cNvPr id="35" name="Freeform 35"/>
                <p:cNvSpPr/>
                <p:nvPr/>
              </p:nvSpPr>
              <p:spPr>
                <a:xfrm>
                  <a:off x="866775" y="5572125"/>
                  <a:ext cx="57150" cy="57150"/>
                </a:xfrm>
                <a:custGeom>
                  <a:avLst/>
                  <a:gdLst/>
                  <a:ahLst/>
                  <a:cxnLst/>
                  <a:rect l="l" t="t" r="r" b="b"/>
                  <a:pathLst>
                    <a:path w="57150" h="57150">
                      <a:moveTo>
                        <a:pt x="57150" y="57150"/>
                      </a:moveTo>
                      <a:lnTo>
                        <a:pt x="0" y="0"/>
                      </a:lnTo>
                    </a:path>
                  </a:pathLst>
                </a:custGeom>
                <a:noFill/>
                <a:ln w="19050">
                  <a:solidFill>
                    <a:srgbClr val="F43F5E"/>
                  </a:solidFill>
                </a:ln>
              </p:spPr>
            </p:sp>
          </p:grpSp>
          <p:sp>
            <p:nvSpPr>
              <p:cNvPr id="37" name="TextBox 37"/>
              <p:cNvSpPr txBox="1"/>
              <p:nvPr/>
            </p:nvSpPr>
            <p:spPr>
              <a:xfrm>
                <a:off x="1229106" y="5415915"/>
                <a:ext cx="6411004" cy="352044"/>
              </a:xfrm>
              <a:prstGeom prst="rect">
                <a:avLst/>
              </a:prstGeom>
              <a:noFill/>
              <a:ln>
                <a:noFill/>
              </a:ln>
            </p:spPr>
            <p:txBody>
              <a:bodyPr wrap="none" lIns="0" tIns="0" rIns="0" bIns="0" anchor="t" anchorCtr="0">
                <a:spAutoFit/>
              </a:bodyPr>
              <a:lstStyle/>
              <a:p>
                <a:pPr algn="l"/>
                <a:r>
                  <a:rPr lang="en" sz="1800" dirty="0">
                    <a:solidFill>
                      <a:schemeClr val="dk1"/>
                    </a:solidFill>
                    <a:latin typeface="+mn-lt"/>
                    <a:ea typeface="+mn-ea"/>
                    <a:cs typeface="+mn-cs"/>
                  </a:rPr>
                  <a:t>Incident knowledge rarely reaches a reusable playbook</a:t>
                </a:r>
              </a:p>
            </p:txBody>
          </p:sp>
        </p:gr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002890"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01 · THE OPPORTUNITY</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P03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10655882" cy="954024"/>
            <a:chOff x="590550" y="1223010"/>
            <a:chExt cx="10655882" cy="954024"/>
          </a:xfrm>
        </p:grpSpPr>
        <p:sp>
          <p:nvSpPr>
            <p:cNvPr id="7" name="TextBox 7"/>
            <p:cNvSpPr txBox="1"/>
            <p:nvPr/>
          </p:nvSpPr>
          <p:spPr>
            <a:xfrm>
              <a:off x="590550" y="1223010"/>
              <a:ext cx="7805304"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One Platform, Four Pillars</a:t>
              </a:r>
            </a:p>
          </p:txBody>
        </p:sp>
        <p:sp>
          <p:nvSpPr>
            <p:cNvPr id="8" name="TextBox 8"/>
            <p:cNvSpPr txBox="1"/>
            <p:nvPr/>
          </p:nvSpPr>
          <p:spPr>
            <a:xfrm>
              <a:off x="600456" y="1824990"/>
              <a:ext cx="10645976" cy="352044"/>
            </a:xfrm>
            <a:prstGeom prst="rect">
              <a:avLst/>
            </a:prstGeom>
            <a:noFill/>
            <a:ln>
              <a:noFill/>
            </a:ln>
          </p:spPr>
          <p:txBody>
            <a:bodyPr wrap="none" lIns="0" tIns="0" rIns="0" bIns="0" anchor="t" anchorCtr="0">
              <a:spAutoFit/>
            </a:bodyPr>
            <a:lstStyle/>
            <a:p>
              <a:pPr algn="l"/>
              <a:r>
                <a:rPr lang="en" sz="1800" dirty="0">
                  <a:solidFill>
                    <a:schemeClr val="accent5"/>
                  </a:solidFill>
                  <a:latin typeface="+mn-lt"/>
                  <a:ea typeface="+mn-ea"/>
                  <a:cs typeface="+mn-cs"/>
                </a:rPr>
                <a:t>Autonomous triage, hybrid RAG, ReAct remediation, and human governance close one loop.</a:t>
              </a:r>
            </a:p>
          </p:txBody>
        </p:sp>
      </p:grpSp>
      <p:grpSp>
        <p:nvGrpSpPr>
          <p:cNvPr id="19" name="Group 19"/>
          <p:cNvGrpSpPr/>
          <p:nvPr/>
        </p:nvGrpSpPr>
        <p:grpSpPr>
          <a:xfrm>
            <a:off x="895350" y="2638425"/>
            <a:ext cx="10115550" cy="439864"/>
            <a:chOff x="895350" y="2638425"/>
            <a:chExt cx="10115550" cy="439864"/>
          </a:xfrm>
        </p:grpSpPr>
        <p:sp>
          <p:nvSpPr>
            <p:cNvPr id="10" name="Line 10"/>
            <p:cNvSpPr/>
            <p:nvPr/>
          </p:nvSpPr>
          <p:spPr>
            <a:xfrm>
              <a:off x="895350" y="2857500"/>
              <a:ext cx="10115550" cy="9525"/>
            </a:xfrm>
            <a:custGeom>
              <a:avLst/>
              <a:gdLst/>
              <a:ahLst/>
              <a:cxnLst/>
              <a:rect l="l" t="t" r="r" b="b"/>
              <a:pathLst>
                <a:path w="10115550" h="9525">
                  <a:moveTo>
                    <a:pt x="0" y="0"/>
                  </a:moveTo>
                  <a:lnTo>
                    <a:pt x="10115550" y="0"/>
                  </a:lnTo>
                </a:path>
              </a:pathLst>
            </a:custGeom>
            <a:noFill/>
            <a:ln w="19050">
              <a:solidFill>
                <a:schemeClr val="accent6"/>
              </a:solidFill>
            </a:ln>
          </p:spPr>
        </p:sp>
        <p:sp>
          <p:nvSpPr>
            <p:cNvPr id="11" name="Ellipse 11"/>
            <p:cNvSpPr/>
            <p:nvPr/>
          </p:nvSpPr>
          <p:spPr>
            <a:xfrm>
              <a:off x="1628775" y="2638425"/>
              <a:ext cx="438150" cy="438150"/>
            </a:xfrm>
            <a:prstGeom prst="ellipse">
              <a:avLst/>
            </a:prstGeom>
            <a:solidFill>
              <a:schemeClr val="lt2"/>
            </a:solidFill>
            <a:ln w="19050">
              <a:solidFill>
                <a:schemeClr val="accent1"/>
              </a:solidFill>
            </a:ln>
          </p:spPr>
        </p:sp>
        <p:sp>
          <p:nvSpPr>
            <p:cNvPr id="12" name="TextBox 12"/>
            <p:cNvSpPr txBox="1"/>
            <p:nvPr/>
          </p:nvSpPr>
          <p:spPr>
            <a:xfrm>
              <a:off x="1775330" y="2755582"/>
              <a:ext cx="145040" cy="322707"/>
            </a:xfrm>
            <a:prstGeom prst="rect">
              <a:avLst/>
            </a:prstGeom>
            <a:noFill/>
            <a:ln>
              <a:noFill/>
            </a:ln>
          </p:spPr>
          <p:txBody>
            <a:bodyPr wrap="none" lIns="0" tIns="0" rIns="0" bIns="0" anchor="t" anchorCtr="0">
              <a:spAutoFit/>
            </a:bodyPr>
            <a:lstStyle/>
            <a:p>
              <a:pPr algn="ctr"/>
              <a:r>
                <a:rPr lang="en" sz="1650" b="1" dirty="0">
                  <a:solidFill>
                    <a:schemeClr val="accent1"/>
                  </a:solidFill>
                  <a:latin typeface="Consolas"/>
                  <a:ea typeface="Consolas"/>
                  <a:cs typeface="Consolas"/>
                </a:rPr>
                <a:t>1</a:t>
              </a:r>
            </a:p>
          </p:txBody>
        </p:sp>
        <p:sp>
          <p:nvSpPr>
            <p:cNvPr id="13" name="Ellipse 13"/>
            <p:cNvSpPr/>
            <p:nvPr/>
          </p:nvSpPr>
          <p:spPr>
            <a:xfrm>
              <a:off x="4333875" y="2638425"/>
              <a:ext cx="438150" cy="438150"/>
            </a:xfrm>
            <a:prstGeom prst="ellipse">
              <a:avLst/>
            </a:prstGeom>
            <a:solidFill>
              <a:schemeClr val="lt2"/>
            </a:solidFill>
            <a:ln w="19050">
              <a:solidFill>
                <a:schemeClr val="accent1"/>
              </a:solidFill>
            </a:ln>
          </p:spPr>
        </p:sp>
        <p:sp>
          <p:nvSpPr>
            <p:cNvPr id="14" name="TextBox 14"/>
            <p:cNvSpPr txBox="1"/>
            <p:nvPr/>
          </p:nvSpPr>
          <p:spPr>
            <a:xfrm>
              <a:off x="4480430" y="2755582"/>
              <a:ext cx="145040" cy="322707"/>
            </a:xfrm>
            <a:prstGeom prst="rect">
              <a:avLst/>
            </a:prstGeom>
            <a:noFill/>
            <a:ln>
              <a:noFill/>
            </a:ln>
          </p:spPr>
          <p:txBody>
            <a:bodyPr wrap="none" lIns="0" tIns="0" rIns="0" bIns="0" anchor="t" anchorCtr="0">
              <a:spAutoFit/>
            </a:bodyPr>
            <a:lstStyle/>
            <a:p>
              <a:pPr algn="ctr"/>
              <a:r>
                <a:rPr lang="en" sz="1650" b="1" dirty="0">
                  <a:solidFill>
                    <a:schemeClr val="accent1"/>
                  </a:solidFill>
                  <a:latin typeface="Consolas"/>
                  <a:ea typeface="Consolas"/>
                  <a:cs typeface="Consolas"/>
                </a:rPr>
                <a:t>2</a:t>
              </a:r>
            </a:p>
          </p:txBody>
        </p:sp>
        <p:sp>
          <p:nvSpPr>
            <p:cNvPr id="15" name="Ellipse 15"/>
            <p:cNvSpPr/>
            <p:nvPr/>
          </p:nvSpPr>
          <p:spPr>
            <a:xfrm>
              <a:off x="7038975" y="2638425"/>
              <a:ext cx="438150" cy="438150"/>
            </a:xfrm>
            <a:prstGeom prst="ellipse">
              <a:avLst/>
            </a:prstGeom>
            <a:solidFill>
              <a:schemeClr val="lt2"/>
            </a:solidFill>
            <a:ln w="19050">
              <a:solidFill>
                <a:schemeClr val="accent1"/>
              </a:solidFill>
            </a:ln>
          </p:spPr>
        </p:sp>
        <p:sp>
          <p:nvSpPr>
            <p:cNvPr id="16" name="TextBox 16"/>
            <p:cNvSpPr txBox="1"/>
            <p:nvPr/>
          </p:nvSpPr>
          <p:spPr>
            <a:xfrm>
              <a:off x="7185530" y="2755582"/>
              <a:ext cx="145040" cy="322707"/>
            </a:xfrm>
            <a:prstGeom prst="rect">
              <a:avLst/>
            </a:prstGeom>
            <a:noFill/>
            <a:ln>
              <a:noFill/>
            </a:ln>
          </p:spPr>
          <p:txBody>
            <a:bodyPr wrap="none" lIns="0" tIns="0" rIns="0" bIns="0" anchor="t" anchorCtr="0">
              <a:spAutoFit/>
            </a:bodyPr>
            <a:lstStyle/>
            <a:p>
              <a:pPr algn="ctr"/>
              <a:r>
                <a:rPr lang="en" sz="1650" b="1" dirty="0">
                  <a:solidFill>
                    <a:schemeClr val="accent1"/>
                  </a:solidFill>
                  <a:latin typeface="Consolas"/>
                  <a:ea typeface="Consolas"/>
                  <a:cs typeface="Consolas"/>
                </a:rPr>
                <a:t>3</a:t>
              </a:r>
            </a:p>
          </p:txBody>
        </p:sp>
        <p:sp>
          <p:nvSpPr>
            <p:cNvPr id="17" name="Ellipse 17"/>
            <p:cNvSpPr/>
            <p:nvPr/>
          </p:nvSpPr>
          <p:spPr>
            <a:xfrm>
              <a:off x="9744075" y="2638425"/>
              <a:ext cx="438150" cy="438150"/>
            </a:xfrm>
            <a:prstGeom prst="ellipse">
              <a:avLst/>
            </a:prstGeom>
            <a:solidFill>
              <a:schemeClr val="lt2"/>
            </a:solidFill>
            <a:ln w="19050">
              <a:solidFill>
                <a:schemeClr val="accent1"/>
              </a:solidFill>
            </a:ln>
          </p:spPr>
        </p:sp>
        <p:sp>
          <p:nvSpPr>
            <p:cNvPr id="18" name="TextBox 18"/>
            <p:cNvSpPr txBox="1"/>
            <p:nvPr/>
          </p:nvSpPr>
          <p:spPr>
            <a:xfrm>
              <a:off x="9890630" y="2755582"/>
              <a:ext cx="145040" cy="322707"/>
            </a:xfrm>
            <a:prstGeom prst="rect">
              <a:avLst/>
            </a:prstGeom>
            <a:noFill/>
            <a:ln>
              <a:noFill/>
            </a:ln>
          </p:spPr>
          <p:txBody>
            <a:bodyPr wrap="none" lIns="0" tIns="0" rIns="0" bIns="0" anchor="t" anchorCtr="0">
              <a:spAutoFit/>
            </a:bodyPr>
            <a:lstStyle/>
            <a:p>
              <a:pPr algn="ctr"/>
              <a:r>
                <a:rPr lang="en" sz="1650" b="1" dirty="0">
                  <a:solidFill>
                    <a:schemeClr val="accent1"/>
                  </a:solidFill>
                  <a:latin typeface="Consolas"/>
                  <a:ea typeface="Consolas"/>
                  <a:cs typeface="Consolas"/>
                </a:rPr>
                <a:t>4</a:t>
              </a:r>
            </a:p>
          </p:txBody>
        </p:sp>
      </p:grpSp>
      <p:grpSp>
        <p:nvGrpSpPr>
          <p:cNvPr id="33" name="Group 33"/>
          <p:cNvGrpSpPr/>
          <p:nvPr/>
        </p:nvGrpSpPr>
        <p:grpSpPr>
          <a:xfrm>
            <a:off x="609600" y="3162300"/>
            <a:ext cx="2476500" cy="2762250"/>
            <a:chOff x="609600" y="3162300"/>
            <a:chExt cx="2476500" cy="2762250"/>
          </a:xfrm>
        </p:grpSpPr>
        <p:sp>
          <p:nvSpPr>
            <p:cNvPr id="20" name="Rectangle 20"/>
            <p:cNvSpPr/>
            <p:nvPr/>
          </p:nvSpPr>
          <p:spPr>
            <a:xfrm>
              <a:off x="609600" y="3162300"/>
              <a:ext cx="2476500" cy="2762250"/>
            </a:xfrm>
            <a:prstGeom prst="roundRect">
              <a:avLst>
                <a:gd name="adj" fmla="val 6154"/>
              </a:avLst>
            </a:prstGeom>
            <a:solidFill>
              <a:schemeClr val="lt2"/>
            </a:solidFill>
            <a:ln w="9525">
              <a:solidFill>
                <a:schemeClr val="accent6"/>
              </a:solidFill>
            </a:ln>
          </p:spPr>
        </p:sp>
        <p:grpSp>
          <p:nvGrpSpPr>
            <p:cNvPr id="30" name="Group 30"/>
            <p:cNvGrpSpPr/>
            <p:nvPr/>
          </p:nvGrpSpPr>
          <p:grpSpPr>
            <a:xfrm>
              <a:off x="917575" y="3422650"/>
              <a:ext cx="222250" cy="301625"/>
              <a:chOff x="917575" y="3422650"/>
              <a:chExt cx="222250" cy="301625"/>
            </a:xfrm>
          </p:grpSpPr>
          <p:sp>
            <p:nvSpPr>
              <p:cNvPr id="21" name="Freeform 21"/>
              <p:cNvSpPr/>
              <p:nvPr/>
            </p:nvSpPr>
            <p:spPr>
              <a:xfrm>
                <a:off x="933450" y="3454400"/>
                <a:ext cx="190500" cy="127000"/>
              </a:xfrm>
              <a:custGeom>
                <a:avLst/>
                <a:gdLst/>
                <a:ahLst/>
                <a:cxnLst/>
                <a:rect l="l" t="t" r="r" b="b"/>
                <a:pathLst>
                  <a:path w="190500" h="127000">
                    <a:moveTo>
                      <a:pt x="0" y="31750"/>
                    </a:moveTo>
                    <a:cubicBezTo>
                      <a:pt x="0" y="14215"/>
                      <a:pt x="14215" y="0"/>
                      <a:pt x="31750" y="0"/>
                    </a:cubicBezTo>
                    <a:lnTo>
                      <a:pt x="158750" y="0"/>
                    </a:lnTo>
                    <a:cubicBezTo>
                      <a:pt x="176285" y="0"/>
                      <a:pt x="190500" y="14215"/>
                      <a:pt x="190500" y="31750"/>
                    </a:cubicBezTo>
                    <a:lnTo>
                      <a:pt x="190500" y="95250"/>
                    </a:lnTo>
                    <a:cubicBezTo>
                      <a:pt x="190500" y="112785"/>
                      <a:pt x="176285" y="127000"/>
                      <a:pt x="158750" y="127000"/>
                    </a:cubicBezTo>
                    <a:lnTo>
                      <a:pt x="31750" y="127000"/>
                    </a:lnTo>
                    <a:cubicBezTo>
                      <a:pt x="14215" y="127000"/>
                      <a:pt x="0" y="112785"/>
                      <a:pt x="0" y="95250"/>
                    </a:cubicBezTo>
                    <a:lnTo>
                      <a:pt x="0" y="31750"/>
                    </a:lnTo>
                  </a:path>
                </a:pathLst>
              </a:custGeom>
              <a:noFill/>
              <a:ln w="31750">
                <a:solidFill>
                  <a:schemeClr val="accent1"/>
                </a:solidFill>
              </a:ln>
            </p:spPr>
          </p:sp>
          <p:sp>
            <p:nvSpPr>
              <p:cNvPr id="22" name="Freeform 22"/>
              <p:cNvSpPr/>
              <p:nvPr/>
            </p:nvSpPr>
            <p:spPr>
              <a:xfrm>
                <a:off x="1028700" y="3422650"/>
                <a:ext cx="9525" cy="31750"/>
              </a:xfrm>
              <a:custGeom>
                <a:avLst/>
                <a:gdLst/>
                <a:ahLst/>
                <a:cxnLst/>
                <a:rect l="l" t="t" r="r" b="b"/>
                <a:pathLst>
                  <a:path w="9525" h="31750">
                    <a:moveTo>
                      <a:pt x="0" y="0"/>
                    </a:moveTo>
                    <a:lnTo>
                      <a:pt x="0" y="31750"/>
                    </a:lnTo>
                  </a:path>
                </a:pathLst>
              </a:custGeom>
              <a:noFill/>
              <a:ln w="31750">
                <a:solidFill>
                  <a:schemeClr val="accent1"/>
                </a:solidFill>
              </a:ln>
            </p:spPr>
          </p:sp>
          <p:sp>
            <p:nvSpPr>
              <p:cNvPr id="23" name="Freeform 23"/>
              <p:cNvSpPr/>
              <p:nvPr/>
            </p:nvSpPr>
            <p:spPr>
              <a:xfrm>
                <a:off x="981075" y="3581400"/>
                <a:ext cx="9525" cy="142875"/>
              </a:xfrm>
              <a:custGeom>
                <a:avLst/>
                <a:gdLst/>
                <a:ahLst/>
                <a:cxnLst/>
                <a:rect l="l" t="t" r="r" b="b"/>
                <a:pathLst>
                  <a:path w="9525" h="142875">
                    <a:moveTo>
                      <a:pt x="0" y="0"/>
                    </a:moveTo>
                    <a:lnTo>
                      <a:pt x="0" y="142875"/>
                    </a:lnTo>
                  </a:path>
                </a:pathLst>
              </a:custGeom>
              <a:noFill/>
              <a:ln w="31750">
                <a:solidFill>
                  <a:schemeClr val="accent1"/>
                </a:solidFill>
              </a:ln>
            </p:spPr>
          </p:sp>
          <p:sp>
            <p:nvSpPr>
              <p:cNvPr id="24" name="Freeform 24"/>
              <p:cNvSpPr/>
              <p:nvPr/>
            </p:nvSpPr>
            <p:spPr>
              <a:xfrm>
                <a:off x="1076325" y="3581400"/>
                <a:ext cx="9525" cy="142875"/>
              </a:xfrm>
              <a:custGeom>
                <a:avLst/>
                <a:gdLst/>
                <a:ahLst/>
                <a:cxnLst/>
                <a:rect l="l" t="t" r="r" b="b"/>
                <a:pathLst>
                  <a:path w="9525" h="142875">
                    <a:moveTo>
                      <a:pt x="0" y="0"/>
                    </a:moveTo>
                    <a:lnTo>
                      <a:pt x="0" y="142875"/>
                    </a:lnTo>
                  </a:path>
                </a:pathLst>
              </a:custGeom>
              <a:noFill/>
              <a:ln w="31750">
                <a:solidFill>
                  <a:schemeClr val="accent1"/>
                </a:solidFill>
              </a:ln>
            </p:spPr>
          </p:sp>
          <p:sp>
            <p:nvSpPr>
              <p:cNvPr id="25" name="Freeform 25"/>
              <p:cNvSpPr/>
              <p:nvPr/>
            </p:nvSpPr>
            <p:spPr>
              <a:xfrm>
                <a:off x="917575" y="3613150"/>
                <a:ext cx="63500" cy="31750"/>
              </a:xfrm>
              <a:custGeom>
                <a:avLst/>
                <a:gdLst/>
                <a:ahLst/>
                <a:cxnLst/>
                <a:rect l="l" t="t" r="r" b="b"/>
                <a:pathLst>
                  <a:path w="63500" h="31750">
                    <a:moveTo>
                      <a:pt x="0" y="31750"/>
                    </a:moveTo>
                    <a:lnTo>
                      <a:pt x="63500" y="0"/>
                    </a:lnTo>
                  </a:path>
                </a:pathLst>
              </a:custGeom>
              <a:noFill/>
              <a:ln w="31750">
                <a:solidFill>
                  <a:schemeClr val="accent1"/>
                </a:solidFill>
              </a:ln>
            </p:spPr>
          </p:sp>
          <p:sp>
            <p:nvSpPr>
              <p:cNvPr id="26" name="Freeform 26"/>
              <p:cNvSpPr/>
              <p:nvPr/>
            </p:nvSpPr>
            <p:spPr>
              <a:xfrm>
                <a:off x="1076325" y="3613150"/>
                <a:ext cx="63500" cy="31750"/>
              </a:xfrm>
              <a:custGeom>
                <a:avLst/>
                <a:gdLst/>
                <a:ahLst/>
                <a:cxnLst/>
                <a:rect l="l" t="t" r="r" b="b"/>
                <a:pathLst>
                  <a:path w="63500" h="31750">
                    <a:moveTo>
                      <a:pt x="0" y="0"/>
                    </a:moveTo>
                    <a:lnTo>
                      <a:pt x="63500" y="31750"/>
                    </a:lnTo>
                  </a:path>
                </a:pathLst>
              </a:custGeom>
              <a:noFill/>
              <a:ln w="31750">
                <a:solidFill>
                  <a:schemeClr val="accent1"/>
                </a:solidFill>
              </a:ln>
            </p:spPr>
          </p:sp>
          <p:sp>
            <p:nvSpPr>
              <p:cNvPr id="27" name="Freeform 27"/>
              <p:cNvSpPr/>
              <p:nvPr/>
            </p:nvSpPr>
            <p:spPr>
              <a:xfrm>
                <a:off x="981075" y="3676651"/>
                <a:ext cx="95250" cy="9525"/>
              </a:xfrm>
              <a:custGeom>
                <a:avLst/>
                <a:gdLst/>
                <a:ahLst/>
                <a:cxnLst/>
                <a:rect l="l" t="t" r="r" b="b"/>
                <a:pathLst>
                  <a:path w="95250" h="9525">
                    <a:moveTo>
                      <a:pt x="0" y="0"/>
                    </a:moveTo>
                    <a:lnTo>
                      <a:pt x="95250" y="0"/>
                    </a:lnTo>
                  </a:path>
                </a:pathLst>
              </a:custGeom>
              <a:noFill/>
              <a:ln w="31750">
                <a:solidFill>
                  <a:schemeClr val="accent1"/>
                </a:solidFill>
              </a:ln>
            </p:spPr>
          </p:sp>
          <p:sp>
            <p:nvSpPr>
              <p:cNvPr id="28" name="Freeform 28"/>
              <p:cNvSpPr/>
              <p:nvPr/>
            </p:nvSpPr>
            <p:spPr>
              <a:xfrm>
                <a:off x="996950" y="3517900"/>
                <a:ext cx="9525" cy="9525"/>
              </a:xfrm>
              <a:custGeom>
                <a:avLst/>
                <a:gdLst/>
                <a:ahLst/>
                <a:cxnLst/>
                <a:rect l="l" t="t" r="r" b="b"/>
                <a:pathLst>
                  <a:path w="9525" h="9525">
                    <a:moveTo>
                      <a:pt x="0" y="0"/>
                    </a:moveTo>
                    <a:lnTo>
                      <a:pt x="0" y="159"/>
                    </a:lnTo>
                  </a:path>
                </a:pathLst>
              </a:custGeom>
              <a:noFill/>
              <a:ln w="31750">
                <a:solidFill>
                  <a:schemeClr val="accent1"/>
                </a:solidFill>
              </a:ln>
            </p:spPr>
          </p:sp>
          <p:sp>
            <p:nvSpPr>
              <p:cNvPr id="29" name="Freeform 29"/>
              <p:cNvSpPr/>
              <p:nvPr/>
            </p:nvSpPr>
            <p:spPr>
              <a:xfrm>
                <a:off x="1060450" y="3517900"/>
                <a:ext cx="9525" cy="9525"/>
              </a:xfrm>
              <a:custGeom>
                <a:avLst/>
                <a:gdLst/>
                <a:ahLst/>
                <a:cxnLst/>
                <a:rect l="l" t="t" r="r" b="b"/>
                <a:pathLst>
                  <a:path w="9525" h="9525">
                    <a:moveTo>
                      <a:pt x="0" y="0"/>
                    </a:moveTo>
                    <a:lnTo>
                      <a:pt x="0" y="159"/>
                    </a:lnTo>
                  </a:path>
                </a:pathLst>
              </a:custGeom>
              <a:noFill/>
              <a:ln w="31750">
                <a:solidFill>
                  <a:schemeClr val="accent1"/>
                </a:solidFill>
              </a:ln>
            </p:spPr>
          </p:sp>
        </p:grpSp>
        <p:sp>
          <p:nvSpPr>
            <p:cNvPr id="31" name="TextBox 31"/>
            <p:cNvSpPr txBox="1"/>
            <p:nvPr/>
          </p:nvSpPr>
          <p:spPr>
            <a:xfrm>
              <a:off x="829818" y="3974782"/>
              <a:ext cx="1270921" cy="589407"/>
            </a:xfrm>
            <a:prstGeom prst="rect">
              <a:avLst/>
            </a:prstGeom>
            <a:noFill/>
            <a:ln>
              <a:noFill/>
            </a:ln>
          </p:spPr>
          <p:txBody>
            <a:bodyPr wrap="none" lIns="0" tIns="0" rIns="0" bIns="0" anchor="t" anchorCtr="0">
              <a:spAutoFit/>
            </a:bodyPr>
            <a:lstStyle/>
            <a:p>
              <a:pPr algn="l">
                <a:lnSpc>
                  <a:spcPts val="2100"/>
                </a:lnSpc>
              </a:pPr>
              <a:r>
                <a:rPr lang="en" sz="1650" b="1" dirty="0">
                  <a:solidFill>
                    <a:schemeClr val="dk1"/>
                  </a:solidFill>
                  <a:latin typeface="+mn-lt"/>
                  <a:ea typeface="+mn-ea"/>
                  <a:cs typeface="+mn-cs"/>
                </a:rPr>
                <a:t>Autonomous</a:t>
              </a:r>
              <a:br/>
              <a:r>
                <a:rPr lang="en" sz="1650" b="1" dirty="0">
                  <a:solidFill>
                    <a:schemeClr val="dk1"/>
                  </a:solidFill>
                  <a:latin typeface="+mn-lt"/>
                  <a:ea typeface="+mn-ea"/>
                  <a:cs typeface="+mn-cs"/>
                </a:rPr>
                <a:t>Triage</a:t>
              </a:r>
            </a:p>
          </p:txBody>
        </p:sp>
        <p:sp>
          <p:nvSpPr>
            <p:cNvPr id="32" name="TextBox 32"/>
            <p:cNvSpPr txBox="1"/>
            <p:nvPr/>
          </p:nvSpPr>
          <p:spPr>
            <a:xfrm>
              <a:off x="831723" y="4643914"/>
              <a:ext cx="1858010" cy="668465"/>
            </a:xfrm>
            <a:prstGeom prst="rect">
              <a:avLst/>
            </a:prstGeom>
            <a:noFill/>
            <a:ln>
              <a:noFill/>
            </a:ln>
          </p:spPr>
          <p:txBody>
            <a:bodyPr wrap="none" lIns="0" tIns="0" rIns="0" bIns="0" anchor="t" anchorCtr="0">
              <a:spAutoFit/>
            </a:bodyPr>
            <a:lstStyle/>
            <a:p>
              <a:pPr algn="l">
                <a:lnSpc>
                  <a:spcPts val="1650"/>
                </a:lnSpc>
              </a:pPr>
              <a:r>
                <a:rPr lang="en" sz="1280" dirty="0">
                  <a:solidFill>
                    <a:schemeClr val="accent5"/>
                  </a:solidFill>
                  <a:latin typeface="+mn-lt"/>
                  <a:ea typeface="+mn-ea"/>
                  <a:cs typeface="+mn-cs"/>
                </a:rPr>
                <a:t>Precedent routing over</a:t>
              </a:r>
              <a:br/>
              <a:r>
                <a:rPr lang="en" sz="1280" dirty="0">
                  <a:solidFill>
                    <a:schemeClr val="accent5"/>
                  </a:solidFill>
                  <a:latin typeface="+mn-lt"/>
                  <a:ea typeface="+mn-ea"/>
                  <a:cs typeface="+mn-cs"/>
                </a:rPr>
                <a:t>1,187+ past incidents</a:t>
              </a:r>
              <a:br/>
              <a:r>
                <a:rPr lang="en" sz="1280" dirty="0">
                  <a:solidFill>
                    <a:schemeClr val="accent5"/>
                  </a:solidFill>
                  <a:latin typeface="+mn-lt"/>
                  <a:ea typeface="+mn-ea"/>
                  <a:cs typeface="+mn-cs"/>
                </a:rPr>
                <a:t xml:space="preserve">at </a:t>
              </a:r>
              <a:r>
                <a:rPr lang="en" sz="1280" b="1" dirty="0">
                  <a:solidFill>
                    <a:schemeClr val="accent2"/>
                  </a:solidFill>
                  <a:latin typeface="+mn-lt"/>
                  <a:ea typeface="+mn-ea"/>
                  <a:cs typeface="+mn-cs"/>
                </a:rPr>
                <a:t>&gt;95% confidence</a:t>
              </a:r>
            </a:p>
          </p:txBody>
        </p:sp>
      </p:grpSp>
      <p:grpSp>
        <p:nvGrpSpPr>
          <p:cNvPr id="41" name="Group 41"/>
          <p:cNvGrpSpPr/>
          <p:nvPr/>
        </p:nvGrpSpPr>
        <p:grpSpPr>
          <a:xfrm>
            <a:off x="3314700" y="3162300"/>
            <a:ext cx="2476500" cy="2762250"/>
            <a:chOff x="3314700" y="3162300"/>
            <a:chExt cx="2476500" cy="2762250"/>
          </a:xfrm>
        </p:grpSpPr>
        <p:sp>
          <p:nvSpPr>
            <p:cNvPr id="34" name="Rectangle 34"/>
            <p:cNvSpPr/>
            <p:nvPr/>
          </p:nvSpPr>
          <p:spPr>
            <a:xfrm>
              <a:off x="3314700" y="3162300"/>
              <a:ext cx="2476500" cy="2762250"/>
            </a:xfrm>
            <a:prstGeom prst="roundRect">
              <a:avLst>
                <a:gd name="adj" fmla="val 6154"/>
              </a:avLst>
            </a:prstGeom>
            <a:solidFill>
              <a:schemeClr val="lt2"/>
            </a:solidFill>
            <a:ln w="9525">
              <a:solidFill>
                <a:schemeClr val="accent6"/>
              </a:solidFill>
            </a:ln>
          </p:spPr>
        </p:sp>
        <p:grpSp>
          <p:nvGrpSpPr>
            <p:cNvPr id="38" name="Group 38"/>
            <p:cNvGrpSpPr/>
            <p:nvPr/>
          </p:nvGrpSpPr>
          <p:grpSpPr>
            <a:xfrm>
              <a:off x="3606800" y="3438525"/>
              <a:ext cx="254001" cy="285750"/>
              <a:chOff x="3606800" y="3438525"/>
              <a:chExt cx="254001" cy="285750"/>
            </a:xfrm>
          </p:grpSpPr>
          <p:sp>
            <p:nvSpPr>
              <p:cNvPr id="35" name="Freeform 35"/>
              <p:cNvSpPr/>
              <p:nvPr/>
            </p:nvSpPr>
            <p:spPr>
              <a:xfrm>
                <a:off x="3606800" y="3438525"/>
                <a:ext cx="254001" cy="95250"/>
              </a:xfrm>
              <a:custGeom>
                <a:avLst/>
                <a:gdLst/>
                <a:ahLst/>
                <a:cxnLst/>
                <a:rect l="l" t="t" r="r" b="b"/>
                <a:pathLst>
                  <a:path w="254001" h="95250">
                    <a:moveTo>
                      <a:pt x="0" y="47625"/>
                    </a:moveTo>
                    <a:cubicBezTo>
                      <a:pt x="0" y="73928"/>
                      <a:pt x="56860" y="95250"/>
                      <a:pt x="127000" y="95250"/>
                    </a:cubicBezTo>
                    <a:cubicBezTo>
                      <a:pt x="197141" y="95250"/>
                      <a:pt x="254001" y="73928"/>
                      <a:pt x="254001" y="47625"/>
                    </a:cubicBezTo>
                    <a:cubicBezTo>
                      <a:pt x="254001" y="21322"/>
                      <a:pt x="197141" y="0"/>
                      <a:pt x="127000" y="0"/>
                    </a:cubicBezTo>
                    <a:cubicBezTo>
                      <a:pt x="56860" y="0"/>
                      <a:pt x="0" y="21322"/>
                      <a:pt x="0" y="47625"/>
                    </a:cubicBezTo>
                  </a:path>
                </a:pathLst>
              </a:custGeom>
              <a:noFill/>
              <a:ln w="31750">
                <a:solidFill>
                  <a:schemeClr val="accent1"/>
                </a:solidFill>
              </a:ln>
            </p:spPr>
          </p:sp>
          <p:sp>
            <p:nvSpPr>
              <p:cNvPr id="36" name="Freeform 36"/>
              <p:cNvSpPr/>
              <p:nvPr/>
            </p:nvSpPr>
            <p:spPr>
              <a:xfrm>
                <a:off x="3606800" y="3486150"/>
                <a:ext cx="254001" cy="142875"/>
              </a:xfrm>
              <a:custGeom>
                <a:avLst/>
                <a:gdLst/>
                <a:ahLst/>
                <a:cxnLst/>
                <a:rect l="l" t="t" r="r" b="b"/>
                <a:pathLst>
                  <a:path w="254001" h="142875">
                    <a:moveTo>
                      <a:pt x="0" y="0"/>
                    </a:moveTo>
                    <a:lnTo>
                      <a:pt x="0" y="95250"/>
                    </a:lnTo>
                    <a:cubicBezTo>
                      <a:pt x="0" y="121553"/>
                      <a:pt x="56860" y="142875"/>
                      <a:pt x="127000" y="142875"/>
                    </a:cubicBezTo>
                    <a:cubicBezTo>
                      <a:pt x="197141" y="142875"/>
                      <a:pt x="254001" y="121553"/>
                      <a:pt x="254001" y="95250"/>
                    </a:cubicBezTo>
                    <a:lnTo>
                      <a:pt x="254001" y="0"/>
                    </a:lnTo>
                  </a:path>
                </a:pathLst>
              </a:custGeom>
              <a:noFill/>
              <a:ln w="31750">
                <a:solidFill>
                  <a:schemeClr val="accent1"/>
                </a:solidFill>
              </a:ln>
            </p:spPr>
          </p:sp>
          <p:sp>
            <p:nvSpPr>
              <p:cNvPr id="37" name="Freeform 37"/>
              <p:cNvSpPr/>
              <p:nvPr/>
            </p:nvSpPr>
            <p:spPr>
              <a:xfrm>
                <a:off x="3606800" y="3581400"/>
                <a:ext cx="254001" cy="142875"/>
              </a:xfrm>
              <a:custGeom>
                <a:avLst/>
                <a:gdLst/>
                <a:ahLst/>
                <a:cxnLst/>
                <a:rect l="l" t="t" r="r" b="b"/>
                <a:pathLst>
                  <a:path w="254001" h="142875">
                    <a:moveTo>
                      <a:pt x="0" y="0"/>
                    </a:moveTo>
                    <a:lnTo>
                      <a:pt x="0" y="95250"/>
                    </a:lnTo>
                    <a:cubicBezTo>
                      <a:pt x="0" y="121553"/>
                      <a:pt x="56860" y="142875"/>
                      <a:pt x="127000" y="142875"/>
                    </a:cubicBezTo>
                    <a:cubicBezTo>
                      <a:pt x="197141" y="142875"/>
                      <a:pt x="254001" y="121553"/>
                      <a:pt x="254001" y="95250"/>
                    </a:cubicBezTo>
                    <a:lnTo>
                      <a:pt x="254001" y="0"/>
                    </a:lnTo>
                  </a:path>
                </a:pathLst>
              </a:custGeom>
              <a:noFill/>
              <a:ln w="31750">
                <a:solidFill>
                  <a:schemeClr val="accent1"/>
                </a:solidFill>
              </a:ln>
            </p:spPr>
          </p:sp>
        </p:grpSp>
        <p:sp>
          <p:nvSpPr>
            <p:cNvPr id="39" name="TextBox 39"/>
            <p:cNvSpPr txBox="1"/>
            <p:nvPr/>
          </p:nvSpPr>
          <p:spPr>
            <a:xfrm>
              <a:off x="3534918" y="3974782"/>
              <a:ext cx="1212247" cy="322707"/>
            </a:xfrm>
            <a:prstGeom prst="rect">
              <a:avLst/>
            </a:prstGeom>
            <a:noFill/>
            <a:ln>
              <a:noFill/>
            </a:ln>
          </p:spPr>
          <p:txBody>
            <a:bodyPr wrap="none" lIns="0" tIns="0" rIns="0" bIns="0" anchor="t" anchorCtr="0">
              <a:spAutoFit/>
            </a:bodyPr>
            <a:lstStyle/>
            <a:p>
              <a:pPr algn="l"/>
              <a:r>
                <a:rPr lang="en" sz="1650" b="1" dirty="0">
                  <a:solidFill>
                    <a:schemeClr val="dk1"/>
                  </a:solidFill>
                  <a:latin typeface="+mn-lt"/>
                  <a:ea typeface="+mn-ea"/>
                  <a:cs typeface="+mn-cs"/>
                </a:rPr>
                <a:t>Hybrid RAG</a:t>
              </a:r>
            </a:p>
          </p:txBody>
        </p:sp>
        <p:sp>
          <p:nvSpPr>
            <p:cNvPr id="40" name="TextBox 40"/>
            <p:cNvSpPr txBox="1"/>
            <p:nvPr/>
          </p:nvSpPr>
          <p:spPr>
            <a:xfrm>
              <a:off x="3536823" y="4358164"/>
              <a:ext cx="1864919" cy="668465"/>
            </a:xfrm>
            <a:prstGeom prst="rect">
              <a:avLst/>
            </a:prstGeom>
            <a:noFill/>
            <a:ln>
              <a:noFill/>
            </a:ln>
          </p:spPr>
          <p:txBody>
            <a:bodyPr wrap="none" lIns="0" tIns="0" rIns="0" bIns="0" anchor="t" anchorCtr="0">
              <a:spAutoFit/>
            </a:bodyPr>
            <a:lstStyle/>
            <a:p>
              <a:pPr algn="l">
                <a:lnSpc>
                  <a:spcPts val="1650"/>
                </a:lnSpc>
              </a:pPr>
              <a:r>
                <a:rPr lang="en" sz="1280" dirty="0">
                  <a:solidFill>
                    <a:schemeClr val="accent5"/>
                  </a:solidFill>
                  <a:latin typeface="+mn-lt"/>
                  <a:ea typeface="+mn-ea"/>
                  <a:cs typeface="+mn-cs"/>
                </a:rPr>
                <a:t>4096-D dense vectors +</a:t>
              </a:r>
              <a:br/>
              <a:r>
                <a:rPr lang="en" sz="1280" dirty="0">
                  <a:solidFill>
                    <a:schemeClr val="accent5"/>
                  </a:solidFill>
                  <a:latin typeface="+mn-lt"/>
                  <a:ea typeface="+mn-ea"/>
                  <a:cs typeface="+mn-cs"/>
                </a:rPr>
                <a:t>BM25 lexical, fused by</a:t>
              </a:r>
              <a:br/>
              <a:r>
                <a:rPr lang="en" sz="1280" b="1" dirty="0">
                  <a:solidFill>
                    <a:schemeClr val="accent2"/>
                  </a:solidFill>
                  <a:latin typeface="+mn-lt"/>
                  <a:ea typeface="+mn-ea"/>
                  <a:cs typeface="+mn-cs"/>
                </a:rPr>
                <a:t>Reciprocal Rank Fusion</a:t>
              </a:r>
            </a:p>
          </p:txBody>
        </p:sp>
      </p:grpSp>
      <p:grpSp>
        <p:nvGrpSpPr>
          <p:cNvPr id="51" name="Group 51"/>
          <p:cNvGrpSpPr/>
          <p:nvPr/>
        </p:nvGrpSpPr>
        <p:grpSpPr>
          <a:xfrm>
            <a:off x="6019800" y="3162300"/>
            <a:ext cx="2476500" cy="2762250"/>
            <a:chOff x="6019800" y="3162300"/>
            <a:chExt cx="2476500" cy="2762250"/>
          </a:xfrm>
        </p:grpSpPr>
        <p:sp>
          <p:nvSpPr>
            <p:cNvPr id="42" name="Rectangle 42"/>
            <p:cNvSpPr/>
            <p:nvPr/>
          </p:nvSpPr>
          <p:spPr>
            <a:xfrm>
              <a:off x="6019800" y="3162300"/>
              <a:ext cx="2476500" cy="2762250"/>
            </a:xfrm>
            <a:prstGeom prst="roundRect">
              <a:avLst>
                <a:gd name="adj" fmla="val 6154"/>
              </a:avLst>
            </a:prstGeom>
            <a:solidFill>
              <a:schemeClr val="lt2"/>
            </a:solidFill>
            <a:ln w="9525">
              <a:solidFill>
                <a:schemeClr val="accent6"/>
              </a:solidFill>
            </a:ln>
          </p:spPr>
        </p:sp>
        <p:grpSp>
          <p:nvGrpSpPr>
            <p:cNvPr id="46" name="Group 46"/>
            <p:cNvGrpSpPr/>
            <p:nvPr/>
          </p:nvGrpSpPr>
          <p:grpSpPr>
            <a:xfrm>
              <a:off x="6296025" y="3454400"/>
              <a:ext cx="285751" cy="254001"/>
              <a:chOff x="6296025" y="3454400"/>
              <a:chExt cx="285751" cy="254001"/>
            </a:xfrm>
          </p:grpSpPr>
          <p:sp>
            <p:nvSpPr>
              <p:cNvPr id="43" name="Freeform 43"/>
              <p:cNvSpPr/>
              <p:nvPr/>
            </p:nvSpPr>
            <p:spPr>
              <a:xfrm>
                <a:off x="6375400" y="3533775"/>
                <a:ext cx="47625" cy="95250"/>
              </a:xfrm>
              <a:custGeom>
                <a:avLst/>
                <a:gdLst/>
                <a:ahLst/>
                <a:cxnLst/>
                <a:rect l="l" t="t" r="r" b="b"/>
                <a:pathLst>
                  <a:path w="47625" h="95250">
                    <a:moveTo>
                      <a:pt x="0" y="0"/>
                    </a:moveTo>
                    <a:lnTo>
                      <a:pt x="47625" y="47625"/>
                    </a:lnTo>
                    <a:lnTo>
                      <a:pt x="0" y="95250"/>
                    </a:lnTo>
                  </a:path>
                </a:pathLst>
              </a:custGeom>
              <a:noFill/>
              <a:ln w="31750">
                <a:solidFill>
                  <a:schemeClr val="accent1"/>
                </a:solidFill>
              </a:ln>
            </p:spPr>
          </p:sp>
          <p:sp>
            <p:nvSpPr>
              <p:cNvPr id="44" name="Freeform 44"/>
              <p:cNvSpPr/>
              <p:nvPr/>
            </p:nvSpPr>
            <p:spPr>
              <a:xfrm>
                <a:off x="6454775" y="3629025"/>
                <a:ext cx="47625" cy="9525"/>
              </a:xfrm>
              <a:custGeom>
                <a:avLst/>
                <a:gdLst/>
                <a:ahLst/>
                <a:cxnLst/>
                <a:rect l="l" t="t" r="r" b="b"/>
                <a:pathLst>
                  <a:path w="47625" h="9525">
                    <a:moveTo>
                      <a:pt x="0" y="0"/>
                    </a:moveTo>
                    <a:lnTo>
                      <a:pt x="47625" y="0"/>
                    </a:lnTo>
                  </a:path>
                </a:pathLst>
              </a:custGeom>
              <a:noFill/>
              <a:ln w="31750">
                <a:solidFill>
                  <a:schemeClr val="accent1"/>
                </a:solidFill>
              </a:ln>
            </p:spPr>
          </p:sp>
          <p:sp>
            <p:nvSpPr>
              <p:cNvPr id="45" name="Freeform 45"/>
              <p:cNvSpPr/>
              <p:nvPr/>
            </p:nvSpPr>
            <p:spPr>
              <a:xfrm>
                <a:off x="6296025" y="3454400"/>
                <a:ext cx="285751" cy="254001"/>
              </a:xfrm>
              <a:custGeom>
                <a:avLst/>
                <a:gdLst/>
                <a:ahLst/>
                <a:cxnLst/>
                <a:rect l="l" t="t" r="r" b="b"/>
                <a:pathLst>
                  <a:path w="285751" h="254001">
                    <a:moveTo>
                      <a:pt x="0" y="31750"/>
                    </a:moveTo>
                    <a:cubicBezTo>
                      <a:pt x="0" y="14215"/>
                      <a:pt x="14215" y="0"/>
                      <a:pt x="31750" y="0"/>
                    </a:cubicBezTo>
                    <a:lnTo>
                      <a:pt x="254001" y="0"/>
                    </a:lnTo>
                    <a:cubicBezTo>
                      <a:pt x="271536" y="0"/>
                      <a:pt x="285751" y="14215"/>
                      <a:pt x="285751" y="31750"/>
                    </a:cubicBezTo>
                    <a:lnTo>
                      <a:pt x="285751" y="222250"/>
                    </a:lnTo>
                    <a:cubicBezTo>
                      <a:pt x="285751" y="239786"/>
                      <a:pt x="271536" y="254001"/>
                      <a:pt x="254001" y="254001"/>
                    </a:cubicBezTo>
                    <a:lnTo>
                      <a:pt x="31750" y="254001"/>
                    </a:lnTo>
                    <a:cubicBezTo>
                      <a:pt x="14215" y="254001"/>
                      <a:pt x="0" y="239786"/>
                      <a:pt x="0" y="222250"/>
                    </a:cubicBezTo>
                    <a:lnTo>
                      <a:pt x="0" y="31750"/>
                    </a:lnTo>
                  </a:path>
                </a:pathLst>
              </a:custGeom>
              <a:noFill/>
              <a:ln w="31750">
                <a:solidFill>
                  <a:schemeClr val="accent1"/>
                </a:solidFill>
              </a:ln>
            </p:spPr>
          </p:sp>
        </p:grpSp>
        <p:sp>
          <p:nvSpPr>
            <p:cNvPr id="47" name="TextBox 47"/>
            <p:cNvSpPr txBox="1"/>
            <p:nvPr/>
          </p:nvSpPr>
          <p:spPr>
            <a:xfrm>
              <a:off x="6240018" y="3974782"/>
              <a:ext cx="1523952" cy="589407"/>
            </a:xfrm>
            <a:prstGeom prst="rect">
              <a:avLst/>
            </a:prstGeom>
            <a:noFill/>
            <a:ln>
              <a:noFill/>
            </a:ln>
          </p:spPr>
          <p:txBody>
            <a:bodyPr wrap="none" lIns="0" tIns="0" rIns="0" bIns="0" anchor="t" anchorCtr="0">
              <a:spAutoFit/>
            </a:bodyPr>
            <a:lstStyle/>
            <a:p>
              <a:pPr algn="l">
                <a:lnSpc>
                  <a:spcPts val="2100"/>
                </a:lnSpc>
              </a:pPr>
              <a:r>
                <a:rPr lang="en" sz="1650" b="1" dirty="0">
                  <a:solidFill>
                    <a:schemeClr val="dk1"/>
                  </a:solidFill>
                  <a:latin typeface="+mn-lt"/>
                  <a:ea typeface="+mn-ea"/>
                  <a:cs typeface="+mn-cs"/>
                </a:rPr>
                <a:t>Dynamic ReAct</a:t>
              </a:r>
              <a:br/>
              <a:r>
                <a:rPr lang="en" sz="1650" b="1" dirty="0">
                  <a:solidFill>
                    <a:schemeClr val="dk1"/>
                  </a:solidFill>
                  <a:latin typeface="+mn-lt"/>
                  <a:ea typeface="+mn-ea"/>
                  <a:cs typeface="+mn-cs"/>
                </a:rPr>
                <a:t>Remediation</a:t>
              </a:r>
            </a:p>
          </p:txBody>
        </p:sp>
        <p:sp>
          <p:nvSpPr>
            <p:cNvPr id="48" name="TextBox 48"/>
            <p:cNvSpPr txBox="1"/>
            <p:nvPr/>
          </p:nvSpPr>
          <p:spPr>
            <a:xfrm>
              <a:off x="6241923" y="4643914"/>
              <a:ext cx="1747378" cy="249364"/>
            </a:xfrm>
            <a:prstGeom prst="rect">
              <a:avLst/>
            </a:prstGeom>
            <a:noFill/>
            <a:ln>
              <a:noFill/>
            </a:ln>
          </p:spPr>
          <p:txBody>
            <a:bodyPr wrap="none" lIns="0" tIns="0" rIns="0" bIns="0" anchor="t" anchorCtr="0">
              <a:spAutoFit/>
            </a:bodyPr>
            <a:lstStyle/>
            <a:p>
              <a:pPr algn="l"/>
              <a:r>
                <a:rPr lang="en" sz="1280" b="1" dirty="0">
                  <a:solidFill>
                    <a:schemeClr val="accent2"/>
                  </a:solidFill>
                  <a:latin typeface="+mn-lt"/>
                  <a:ea typeface="+mn-ea"/>
                  <a:cs typeface="+mn-cs"/>
                </a:rPr>
                <a:t>44 master SOPs</a:t>
              </a:r>
              <a:r>
                <a:rPr lang="en" sz="1280" dirty="0">
                  <a:solidFill>
                    <a:schemeClr val="accent5"/>
                  </a:solidFill>
                  <a:latin typeface="+mn-lt"/>
                  <a:ea typeface="+mn-ea"/>
                  <a:cs typeface="+mn-cs"/>
                </a:rPr>
                <a:t xml:space="preserve"> run</a:t>
              </a:r>
            </a:p>
          </p:txBody>
        </p:sp>
        <p:sp>
          <p:nvSpPr>
            <p:cNvPr id="49" name="TextBox 49"/>
            <p:cNvSpPr txBox="1"/>
            <p:nvPr/>
          </p:nvSpPr>
          <p:spPr>
            <a:xfrm>
              <a:off x="6241923" y="4853464"/>
              <a:ext cx="1511627" cy="249364"/>
            </a:xfrm>
            <a:prstGeom prst="rect">
              <a:avLst/>
            </a:prstGeom>
            <a:noFill/>
            <a:ln>
              <a:noFill/>
            </a:ln>
          </p:spPr>
          <p:txBody>
            <a:bodyPr wrap="none" lIns="0" tIns="0" rIns="0" bIns="0" anchor="t" anchorCtr="0">
              <a:spAutoFit/>
            </a:bodyPr>
            <a:lstStyle/>
            <a:p>
              <a:pPr algn="l"/>
              <a:r>
                <a:rPr lang="en" sz="1280" dirty="0">
                  <a:solidFill>
                    <a:schemeClr val="accent5"/>
                  </a:solidFill>
                  <a:latin typeface="+mn-lt"/>
                  <a:ea typeface="+mn-ea"/>
                  <a:cs typeface="+mn-cs"/>
                </a:rPr>
                <a:t>live over SSH with</a:t>
              </a:r>
            </a:p>
          </p:txBody>
        </p:sp>
        <p:sp>
          <p:nvSpPr>
            <p:cNvPr id="50" name="TextBox 50"/>
            <p:cNvSpPr txBox="1"/>
            <p:nvPr/>
          </p:nvSpPr>
          <p:spPr>
            <a:xfrm>
              <a:off x="6241923" y="5063014"/>
              <a:ext cx="1253612" cy="249364"/>
            </a:xfrm>
            <a:prstGeom prst="rect">
              <a:avLst/>
            </a:prstGeom>
            <a:noFill/>
            <a:ln>
              <a:noFill/>
            </a:ln>
          </p:spPr>
          <p:txBody>
            <a:bodyPr wrap="none" lIns="0" tIns="0" rIns="0" bIns="0" anchor="t" anchorCtr="0">
              <a:spAutoFit/>
            </a:bodyPr>
            <a:lstStyle/>
            <a:p>
              <a:pPr algn="l"/>
              <a:r>
                <a:rPr lang="en" sz="1280" dirty="0">
                  <a:solidFill>
                    <a:schemeClr val="accent5"/>
                  </a:solidFill>
                  <a:latin typeface="+mn-lt"/>
                  <a:ea typeface="+mn-ea"/>
                  <a:cs typeface="+mn-cs"/>
                </a:rPr>
                <a:t>in-guest proof</a:t>
              </a:r>
            </a:p>
          </p:txBody>
        </p:sp>
      </p:grpSp>
      <p:grpSp>
        <p:nvGrpSpPr>
          <p:cNvPr id="58" name="Group 58"/>
          <p:cNvGrpSpPr/>
          <p:nvPr/>
        </p:nvGrpSpPr>
        <p:grpSpPr>
          <a:xfrm>
            <a:off x="8724900" y="3162300"/>
            <a:ext cx="2476500" cy="2762250"/>
            <a:chOff x="8724900" y="3162300"/>
            <a:chExt cx="2476500" cy="2762250"/>
          </a:xfrm>
        </p:grpSpPr>
        <p:sp>
          <p:nvSpPr>
            <p:cNvPr id="52" name="Rectangle 52"/>
            <p:cNvSpPr/>
            <p:nvPr/>
          </p:nvSpPr>
          <p:spPr>
            <a:xfrm>
              <a:off x="8724900" y="3162300"/>
              <a:ext cx="2476500" cy="2762250"/>
            </a:xfrm>
            <a:prstGeom prst="roundRect">
              <a:avLst>
                <a:gd name="adj" fmla="val 6154"/>
              </a:avLst>
            </a:prstGeom>
            <a:solidFill>
              <a:schemeClr val="lt2"/>
            </a:solidFill>
            <a:ln w="9525">
              <a:solidFill>
                <a:schemeClr val="accent6"/>
              </a:solidFill>
            </a:ln>
          </p:spPr>
        </p:sp>
        <p:grpSp>
          <p:nvGrpSpPr>
            <p:cNvPr id="55" name="Group 55"/>
            <p:cNvGrpSpPr/>
            <p:nvPr/>
          </p:nvGrpSpPr>
          <p:grpSpPr>
            <a:xfrm>
              <a:off x="8979701" y="3438525"/>
              <a:ext cx="310011" cy="285751"/>
              <a:chOff x="8979701" y="3438525"/>
              <a:chExt cx="310011" cy="285751"/>
            </a:xfrm>
          </p:grpSpPr>
          <p:sp>
            <p:nvSpPr>
              <p:cNvPr id="53" name="Freeform 53"/>
              <p:cNvSpPr/>
              <p:nvPr/>
            </p:nvSpPr>
            <p:spPr>
              <a:xfrm>
                <a:off x="8979701" y="3438525"/>
                <a:ext cx="310011" cy="283306"/>
              </a:xfrm>
              <a:custGeom>
                <a:avLst/>
                <a:gdLst/>
                <a:ahLst/>
                <a:cxnLst/>
                <a:rect l="l" t="t" r="r" b="b"/>
                <a:pathLst>
                  <a:path w="310011" h="283306">
                    <a:moveTo>
                      <a:pt x="155727" y="283306"/>
                    </a:moveTo>
                    <a:cubicBezTo>
                      <a:pt x="56277" y="252479"/>
                      <a:pt x="0" y="147517"/>
                      <a:pt x="29362" y="47625"/>
                    </a:cubicBezTo>
                    <a:cubicBezTo>
                      <a:pt x="78821" y="49888"/>
                      <a:pt x="127218" y="32807"/>
                      <a:pt x="164299" y="0"/>
                    </a:cubicBezTo>
                    <a:cubicBezTo>
                      <a:pt x="201381" y="32807"/>
                      <a:pt x="249778" y="49888"/>
                      <a:pt x="299237" y="47625"/>
                    </a:cubicBezTo>
                    <a:cubicBezTo>
                      <a:pt x="310011" y="84282"/>
                      <a:pt x="309513" y="123332"/>
                      <a:pt x="297808" y="159703"/>
                    </a:cubicBezTo>
                  </a:path>
                </a:pathLst>
              </a:custGeom>
              <a:noFill/>
              <a:ln w="31750">
                <a:solidFill>
                  <a:schemeClr val="accent1"/>
                </a:solidFill>
              </a:ln>
            </p:spPr>
          </p:sp>
          <p:sp>
            <p:nvSpPr>
              <p:cNvPr id="54" name="Freeform 54"/>
              <p:cNvSpPr/>
              <p:nvPr/>
            </p:nvSpPr>
            <p:spPr>
              <a:xfrm>
                <a:off x="9191625" y="3660776"/>
                <a:ext cx="95250" cy="63500"/>
              </a:xfrm>
              <a:custGeom>
                <a:avLst/>
                <a:gdLst/>
                <a:ahLst/>
                <a:cxnLst/>
                <a:rect l="l" t="t" r="r" b="b"/>
                <a:pathLst>
                  <a:path w="95250" h="63500">
                    <a:moveTo>
                      <a:pt x="0" y="31750"/>
                    </a:moveTo>
                    <a:lnTo>
                      <a:pt x="31750" y="63500"/>
                    </a:lnTo>
                    <a:lnTo>
                      <a:pt x="95250" y="0"/>
                    </a:lnTo>
                  </a:path>
                </a:pathLst>
              </a:custGeom>
              <a:noFill/>
              <a:ln w="31750">
                <a:solidFill>
                  <a:schemeClr val="accent1"/>
                </a:solidFill>
              </a:ln>
            </p:spPr>
          </p:sp>
        </p:grpSp>
        <p:sp>
          <p:nvSpPr>
            <p:cNvPr id="56" name="TextBox 56"/>
            <p:cNvSpPr txBox="1"/>
            <p:nvPr/>
          </p:nvSpPr>
          <p:spPr>
            <a:xfrm>
              <a:off x="8945118" y="3974782"/>
              <a:ext cx="1776984" cy="589407"/>
            </a:xfrm>
            <a:prstGeom prst="rect">
              <a:avLst/>
            </a:prstGeom>
            <a:noFill/>
            <a:ln>
              <a:noFill/>
            </a:ln>
          </p:spPr>
          <p:txBody>
            <a:bodyPr wrap="none" lIns="0" tIns="0" rIns="0" bIns="0" anchor="t" anchorCtr="0">
              <a:spAutoFit/>
            </a:bodyPr>
            <a:lstStyle/>
            <a:p>
              <a:pPr algn="l">
                <a:lnSpc>
                  <a:spcPts val="2100"/>
                </a:lnSpc>
              </a:pPr>
              <a:r>
                <a:rPr lang="en" sz="1650" b="1" dirty="0">
                  <a:solidFill>
                    <a:schemeClr val="dk1"/>
                  </a:solidFill>
                  <a:latin typeface="+mn-lt"/>
                  <a:ea typeface="+mn-ea"/>
                  <a:cs typeface="+mn-cs"/>
                </a:rPr>
                <a:t>Human-in-the-</a:t>
              </a:r>
              <a:br/>
              <a:r>
                <a:rPr lang="en" sz="1650" b="1" dirty="0">
                  <a:solidFill>
                    <a:schemeClr val="dk1"/>
                  </a:solidFill>
                  <a:latin typeface="+mn-lt"/>
                  <a:ea typeface="+mn-ea"/>
                  <a:cs typeface="+mn-cs"/>
                </a:rPr>
                <a:t>Loop Governance</a:t>
              </a:r>
            </a:p>
          </p:txBody>
        </p:sp>
        <p:sp>
          <p:nvSpPr>
            <p:cNvPr id="57" name="TextBox 57"/>
            <p:cNvSpPr txBox="1"/>
            <p:nvPr/>
          </p:nvSpPr>
          <p:spPr>
            <a:xfrm>
              <a:off x="8947023" y="4643914"/>
              <a:ext cx="1762506" cy="668465"/>
            </a:xfrm>
            <a:prstGeom prst="rect">
              <a:avLst/>
            </a:prstGeom>
            <a:noFill/>
            <a:ln>
              <a:noFill/>
            </a:ln>
          </p:spPr>
          <p:txBody>
            <a:bodyPr wrap="none" lIns="0" tIns="0" rIns="0" bIns="0" anchor="t" anchorCtr="0">
              <a:spAutoFit/>
            </a:bodyPr>
            <a:lstStyle/>
            <a:p>
              <a:pPr algn="l">
                <a:lnSpc>
                  <a:spcPts val="1650"/>
                </a:lnSpc>
              </a:pPr>
              <a:r>
                <a:rPr lang="en" sz="1280" dirty="0">
                  <a:solidFill>
                    <a:schemeClr val="accent5"/>
                  </a:solidFill>
                  <a:latin typeface="+mn-lt"/>
                  <a:ea typeface="+mn-ea"/>
                  <a:cs typeface="+mn-cs"/>
                </a:rPr>
                <a:t>Every novel action is</a:t>
              </a:r>
              <a:br/>
              <a:r>
                <a:rPr lang="en" sz="1280" b="1" dirty="0">
                  <a:solidFill>
                    <a:schemeClr val="accent3"/>
                  </a:solidFill>
                  <a:latin typeface="+mn-lt"/>
                  <a:ea typeface="+mn-ea"/>
                  <a:cs typeface="+mn-cs"/>
                </a:rPr>
                <a:t>approved or rejected</a:t>
              </a:r>
              <a:br/>
              <a:r>
                <a:rPr lang="en" sz="1280" dirty="0">
                  <a:solidFill>
                    <a:schemeClr val="accent5"/>
                  </a:solidFill>
                  <a:latin typeface="+mn-lt"/>
                  <a:ea typeface="+mn-ea"/>
                  <a:cs typeface="+mn-cs"/>
                </a:rPr>
                <a:t>by an operator</a:t>
              </a:r>
            </a:p>
          </p:txBody>
        </p:sp>
      </p:grpSp>
      <p:grpSp>
        <p:nvGrpSpPr>
          <p:cNvPr id="61" name="Group 61"/>
          <p:cNvGrpSpPr/>
          <p:nvPr/>
        </p:nvGrpSpPr>
        <p:grpSpPr>
          <a:xfrm>
            <a:off x="609600" y="6042660"/>
            <a:ext cx="6444697" cy="234696"/>
            <a:chOff x="609600" y="6042660"/>
            <a:chExt cx="6444697" cy="234696"/>
          </a:xfrm>
        </p:grpSpPr>
        <p:sp>
          <p:nvSpPr>
            <p:cNvPr id="59" name="Freeform 59"/>
            <p:cNvSpPr/>
            <p:nvPr/>
          </p:nvSpPr>
          <p:spPr>
            <a:xfrm>
              <a:off x="609600" y="6048825"/>
              <a:ext cx="171450" cy="113400"/>
            </a:xfrm>
            <a:custGeom>
              <a:avLst/>
              <a:gdLst/>
              <a:ahLst/>
              <a:cxnLst/>
              <a:rect l="l" t="t" r="r" b="b"/>
              <a:pathLst>
                <a:path w="171450" h="113400">
                  <a:moveTo>
                    <a:pt x="63922" y="33826"/>
                  </a:moveTo>
                  <a:lnTo>
                    <a:pt x="63922" y="23610"/>
                  </a:lnTo>
                  <a:cubicBezTo>
                    <a:pt x="64930" y="23535"/>
                    <a:pt x="65940" y="23492"/>
                    <a:pt x="66951" y="23482"/>
                  </a:cubicBezTo>
                  <a:cubicBezTo>
                    <a:pt x="94969" y="22596"/>
                    <a:pt x="113336" y="47585"/>
                    <a:pt x="113336" y="47585"/>
                  </a:cubicBezTo>
                  <a:cubicBezTo>
                    <a:pt x="113336" y="47585"/>
                    <a:pt x="93519" y="75095"/>
                    <a:pt x="72259" y="75095"/>
                  </a:cubicBezTo>
                  <a:cubicBezTo>
                    <a:pt x="69416" y="75095"/>
                    <a:pt x="66637" y="74652"/>
                    <a:pt x="63987" y="73774"/>
                  </a:cubicBezTo>
                  <a:lnTo>
                    <a:pt x="63987" y="42727"/>
                  </a:lnTo>
                  <a:cubicBezTo>
                    <a:pt x="74902" y="44048"/>
                    <a:pt x="77110" y="48849"/>
                    <a:pt x="83610" y="59765"/>
                  </a:cubicBezTo>
                  <a:lnTo>
                    <a:pt x="98184" y="47520"/>
                  </a:lnTo>
                  <a:cubicBezTo>
                    <a:pt x="98184" y="47520"/>
                    <a:pt x="87525" y="33576"/>
                    <a:pt x="69609" y="33576"/>
                  </a:cubicBezTo>
                  <a:cubicBezTo>
                    <a:pt x="67710" y="33533"/>
                    <a:pt x="65810" y="33617"/>
                    <a:pt x="63922" y="33826"/>
                  </a:cubicBezTo>
                  <a:moveTo>
                    <a:pt x="63922" y="0"/>
                  </a:moveTo>
                  <a:lnTo>
                    <a:pt x="63922" y="15273"/>
                  </a:lnTo>
                  <a:lnTo>
                    <a:pt x="66951" y="15080"/>
                  </a:lnTo>
                  <a:cubicBezTo>
                    <a:pt x="105885" y="13759"/>
                    <a:pt x="131316" y="47013"/>
                    <a:pt x="131316" y="47013"/>
                  </a:cubicBezTo>
                  <a:cubicBezTo>
                    <a:pt x="131316" y="47013"/>
                    <a:pt x="102170" y="82475"/>
                    <a:pt x="71809" y="82475"/>
                  </a:cubicBezTo>
                  <a:cubicBezTo>
                    <a:pt x="69166" y="82475"/>
                    <a:pt x="66573" y="82225"/>
                    <a:pt x="63987" y="81782"/>
                  </a:cubicBezTo>
                  <a:lnTo>
                    <a:pt x="63987" y="91247"/>
                  </a:lnTo>
                  <a:cubicBezTo>
                    <a:pt x="66130" y="91497"/>
                    <a:pt x="68344" y="91690"/>
                    <a:pt x="70487" y="91690"/>
                  </a:cubicBezTo>
                  <a:cubicBezTo>
                    <a:pt x="98755" y="91690"/>
                    <a:pt x="119208" y="77238"/>
                    <a:pt x="139017" y="60200"/>
                  </a:cubicBezTo>
                  <a:cubicBezTo>
                    <a:pt x="142296" y="62851"/>
                    <a:pt x="155734" y="69223"/>
                    <a:pt x="158520" y="72002"/>
                  </a:cubicBezTo>
                  <a:cubicBezTo>
                    <a:pt x="139710" y="87775"/>
                    <a:pt x="95855" y="100463"/>
                    <a:pt x="70987" y="100463"/>
                  </a:cubicBezTo>
                  <a:cubicBezTo>
                    <a:pt x="68594" y="100463"/>
                    <a:pt x="66323" y="100334"/>
                    <a:pt x="64051" y="100084"/>
                  </a:cubicBezTo>
                  <a:lnTo>
                    <a:pt x="64051" y="113400"/>
                  </a:lnTo>
                  <a:lnTo>
                    <a:pt x="171450" y="113400"/>
                  </a:lnTo>
                  <a:lnTo>
                    <a:pt x="171450" y="0"/>
                  </a:lnTo>
                  <a:close/>
                  <a:moveTo>
                    <a:pt x="63922" y="73766"/>
                  </a:moveTo>
                  <a:lnTo>
                    <a:pt x="63922" y="81846"/>
                  </a:lnTo>
                  <a:cubicBezTo>
                    <a:pt x="37798" y="77174"/>
                    <a:pt x="30540" y="49985"/>
                    <a:pt x="30540" y="49985"/>
                  </a:cubicBezTo>
                  <a:cubicBezTo>
                    <a:pt x="30540" y="49985"/>
                    <a:pt x="43098" y="36097"/>
                    <a:pt x="63922" y="33826"/>
                  </a:cubicBezTo>
                  <a:lnTo>
                    <a:pt x="63922" y="42662"/>
                  </a:lnTo>
                  <a:lnTo>
                    <a:pt x="63865" y="42662"/>
                  </a:lnTo>
                  <a:cubicBezTo>
                    <a:pt x="52949" y="41334"/>
                    <a:pt x="44363" y="51556"/>
                    <a:pt x="44363" y="51556"/>
                  </a:cubicBezTo>
                  <a:cubicBezTo>
                    <a:pt x="44363" y="51556"/>
                    <a:pt x="49220" y="68787"/>
                    <a:pt x="63929" y="73774"/>
                  </a:cubicBezTo>
                  <a:moveTo>
                    <a:pt x="17545" y="48842"/>
                  </a:moveTo>
                  <a:cubicBezTo>
                    <a:pt x="17545" y="48842"/>
                    <a:pt x="33004" y="26003"/>
                    <a:pt x="63979" y="23603"/>
                  </a:cubicBezTo>
                  <a:lnTo>
                    <a:pt x="63979" y="15273"/>
                  </a:lnTo>
                  <a:cubicBezTo>
                    <a:pt x="29668" y="18052"/>
                    <a:pt x="0" y="47077"/>
                    <a:pt x="0" y="47077"/>
                  </a:cubicBezTo>
                  <a:cubicBezTo>
                    <a:pt x="0" y="47077"/>
                    <a:pt x="16788" y="95669"/>
                    <a:pt x="63922" y="100084"/>
                  </a:cubicBezTo>
                  <a:lnTo>
                    <a:pt x="63922" y="91247"/>
                  </a:lnTo>
                  <a:cubicBezTo>
                    <a:pt x="29347" y="86961"/>
                    <a:pt x="17545" y="48842"/>
                    <a:pt x="17545" y="48842"/>
                  </a:cubicBezTo>
                  <a:close/>
                </a:path>
              </a:pathLst>
            </a:custGeom>
            <a:solidFill>
              <a:srgbClr val="94A3B8"/>
            </a:solidFill>
            <a:ln>
              <a:noFill/>
            </a:ln>
          </p:spPr>
        </p:sp>
        <p:sp>
          <p:nvSpPr>
            <p:cNvPr id="60" name="TextBox 60"/>
            <p:cNvSpPr txBox="1"/>
            <p:nvPr/>
          </p:nvSpPr>
          <p:spPr>
            <a:xfrm>
              <a:off x="851154" y="6042660"/>
              <a:ext cx="6203143"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Consolas"/>
                  <a:ea typeface="Consolas"/>
                  <a:cs typeface="Consolas"/>
                </a:rPr>
                <a:t>Powered by NVIDIA NIM — Nemotron 3.5 Lightning · Llama 3.3 70B · DeepSeek R1</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2779928"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02 · HOW IT’S BUILT</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P04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8" name="Group 8"/>
          <p:cNvGrpSpPr/>
          <p:nvPr/>
        </p:nvGrpSpPr>
        <p:grpSpPr>
          <a:xfrm>
            <a:off x="602742" y="1073468"/>
            <a:ext cx="7980233" cy="264033"/>
            <a:chOff x="602742" y="1073468"/>
            <a:chExt cx="7980233" cy="264033"/>
          </a:xfrm>
        </p:grpSpPr>
        <p:sp>
          <p:nvSpPr>
            <p:cNvPr id="7" name="TextBox 7"/>
            <p:cNvSpPr txBox="1"/>
            <p:nvPr/>
          </p:nvSpPr>
          <p:spPr>
            <a:xfrm>
              <a:off x="602742" y="1073468"/>
              <a:ext cx="798023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mn-lt"/>
                  <a:ea typeface="+mn-ea"/>
                  <a:cs typeface="+mn-cs"/>
                </a:rPr>
                <a:t>Five tiers, one closed loop — the complete container-level map, every port and data flow.</a:t>
              </a:r>
            </a:p>
          </p:txBody>
        </p:sp>
      </p:grpSp>
      <p:grpSp>
        <p:nvGrpSpPr>
          <p:cNvPr id="10" name="Group 10"/>
          <p:cNvGrpSpPr/>
          <p:nvPr/>
        </p:nvGrpSpPr>
        <p:grpSpPr>
          <a:xfrm>
            <a:off x="1171575" y="1333500"/>
            <a:ext cx="9858375" cy="5524500"/>
            <a:chOff x="1171575" y="1333500"/>
            <a:chExt cx="9858375" cy="5524500"/>
          </a:xfrm>
        </p:grpSpPr>
        <p:pic>
          <p:nvPicPr>
            <p:cNvPr id="9" name="Image 9"/>
            <p:cNvPicPr>
              <a:picLocks noChangeAspect="1"/>
            </p:cNvPicPr>
            <p:nvPr/>
          </p:nvPicPr>
          <p:blipFill>
            <a:blip r:embed="rId2"/>
            <a:stretch>
              <a:fillRect/>
            </a:stretch>
          </p:blipFill>
          <p:spPr>
            <a:xfrm>
              <a:off x="1171575" y="1333500"/>
              <a:ext cx="9858375" cy="5524500"/>
            </a:xfrm>
            <a:prstGeom prst="rect">
              <a:avLst/>
            </a:prstGeom>
          </p:spPr>
        </p:pic>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2779928"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02 · HOW IT’S BUILT</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P05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7152781" cy="883729"/>
            <a:chOff x="590550" y="1223010"/>
            <a:chExt cx="7152781" cy="883729"/>
          </a:xfrm>
        </p:grpSpPr>
        <p:sp>
          <p:nvSpPr>
            <p:cNvPr id="7" name="TextBox 7"/>
            <p:cNvSpPr txBox="1"/>
            <p:nvPr/>
          </p:nvSpPr>
          <p:spPr>
            <a:xfrm>
              <a:off x="590550" y="1223010"/>
              <a:ext cx="7152781"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The Agent Control Tower</a:t>
              </a:r>
            </a:p>
          </p:txBody>
        </p:sp>
        <p:sp>
          <p:nvSpPr>
            <p:cNvPr id="8" name="TextBox 8"/>
            <p:cNvSpPr txBox="1"/>
            <p:nvPr/>
          </p:nvSpPr>
          <p:spPr>
            <a:xfrm>
              <a:off x="601218" y="1784032"/>
              <a:ext cx="6955007"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One dashboard, real-time command of every autonomous asset.</a:t>
              </a:r>
            </a:p>
          </p:txBody>
        </p:sp>
      </p:grpSp>
      <p:grpSp>
        <p:nvGrpSpPr>
          <p:cNvPr id="42" name="Group 42"/>
          <p:cNvGrpSpPr/>
          <p:nvPr/>
        </p:nvGrpSpPr>
        <p:grpSpPr>
          <a:xfrm>
            <a:off x="609600" y="2247900"/>
            <a:ext cx="3238500" cy="4000500"/>
            <a:chOff x="609600" y="2247900"/>
            <a:chExt cx="3238500" cy="4000500"/>
          </a:xfrm>
        </p:grpSpPr>
        <p:sp>
          <p:nvSpPr>
            <p:cNvPr id="10" name="Rectangle 10"/>
            <p:cNvSpPr/>
            <p:nvPr/>
          </p:nvSpPr>
          <p:spPr>
            <a:xfrm>
              <a:off x="609600" y="2247900"/>
              <a:ext cx="3238500" cy="4000500"/>
            </a:xfrm>
            <a:prstGeom prst="roundRect">
              <a:avLst>
                <a:gd name="adj" fmla="val 4706"/>
              </a:avLst>
            </a:prstGeom>
            <a:noFill/>
            <a:ln w="14288">
              <a:solidFill>
                <a:schemeClr val="accent6"/>
              </a:solidFill>
            </a:ln>
          </p:spPr>
        </p:sp>
        <p:sp>
          <p:nvSpPr>
            <p:cNvPr id="11" name="TextBox 11"/>
            <p:cNvSpPr txBox="1"/>
            <p:nvPr/>
          </p:nvSpPr>
          <p:spPr>
            <a:xfrm>
              <a:off x="813054" y="2404110"/>
              <a:ext cx="2149775" cy="234696"/>
            </a:xfrm>
            <a:prstGeom prst="rect">
              <a:avLst/>
            </a:prstGeom>
            <a:noFill/>
            <a:ln>
              <a:noFill/>
            </a:ln>
          </p:spPr>
          <p:txBody>
            <a:bodyPr wrap="none" lIns="0" tIns="0" rIns="0" bIns="0" anchor="t" anchorCtr="0">
              <a:spAutoFit/>
            </a:bodyPr>
            <a:lstStyle/>
            <a:p>
              <a:pPr algn="l"/>
              <a:r>
                <a:rPr lang="en" sz="1200" spc="112" dirty="0">
                  <a:solidFill>
                    <a:schemeClr val="accent1"/>
                  </a:solidFill>
                  <a:latin typeface="Consolas"/>
                  <a:ea typeface="Consolas"/>
                  <a:cs typeface="Consolas"/>
                </a:rPr>
                <a:t>MISSION CONTROL VIEW</a:t>
              </a:r>
            </a:p>
          </p:txBody>
        </p:sp>
        <p:sp>
          <p:nvSpPr>
            <p:cNvPr id="12" name="Line 12"/>
            <p:cNvSpPr/>
            <p:nvPr/>
          </p:nvSpPr>
          <p:spPr>
            <a:xfrm>
              <a:off x="819150" y="2647950"/>
              <a:ext cx="2819400" cy="9525"/>
            </a:xfrm>
            <a:custGeom>
              <a:avLst/>
              <a:gdLst/>
              <a:ahLst/>
              <a:cxnLst/>
              <a:rect l="l" t="t" r="r" b="b"/>
              <a:pathLst>
                <a:path w="2819400" h="9525">
                  <a:moveTo>
                    <a:pt x="0" y="0"/>
                  </a:moveTo>
                  <a:lnTo>
                    <a:pt x="2819400" y="0"/>
                  </a:lnTo>
                </a:path>
              </a:pathLst>
            </a:custGeom>
            <a:noFill/>
            <a:ln w="9525">
              <a:solidFill>
                <a:schemeClr val="accent6"/>
              </a:solidFill>
            </a:ln>
          </p:spPr>
        </p:sp>
        <p:grpSp>
          <p:nvGrpSpPr>
            <p:cNvPr id="16" name="Group 16"/>
            <p:cNvGrpSpPr/>
            <p:nvPr/>
          </p:nvGrpSpPr>
          <p:grpSpPr>
            <a:xfrm>
              <a:off x="812673" y="2867025"/>
              <a:ext cx="2540762" cy="702279"/>
              <a:chOff x="812673" y="2867025"/>
              <a:chExt cx="2540762" cy="702279"/>
            </a:xfrm>
          </p:grpSpPr>
          <p:sp>
            <p:nvSpPr>
              <p:cNvPr id="13" name="Freeform 13"/>
              <p:cNvSpPr/>
              <p:nvPr/>
            </p:nvSpPr>
            <p:spPr>
              <a:xfrm>
                <a:off x="854869" y="2867025"/>
                <a:ext cx="214312" cy="190500"/>
              </a:xfrm>
              <a:custGeom>
                <a:avLst/>
                <a:gdLst/>
                <a:ahLst/>
                <a:cxnLst/>
                <a:rect l="l" t="t" r="r" b="b"/>
                <a:pathLst>
                  <a:path w="214312" h="190500">
                    <a:moveTo>
                      <a:pt x="0" y="95250"/>
                    </a:moveTo>
                    <a:lnTo>
                      <a:pt x="47625" y="95250"/>
                    </a:lnTo>
                    <a:lnTo>
                      <a:pt x="83344" y="190500"/>
                    </a:lnTo>
                    <a:lnTo>
                      <a:pt x="130969" y="0"/>
                    </a:lnTo>
                    <a:lnTo>
                      <a:pt x="166688" y="95250"/>
                    </a:lnTo>
                    <a:lnTo>
                      <a:pt x="214312" y="95250"/>
                    </a:lnTo>
                  </a:path>
                </a:pathLst>
              </a:custGeom>
              <a:noFill/>
              <a:ln w="23812">
                <a:solidFill>
                  <a:schemeClr val="accent2"/>
                </a:solidFill>
              </a:ln>
            </p:spPr>
          </p:sp>
          <p:sp>
            <p:nvSpPr>
              <p:cNvPr id="14" name="TextBox 14"/>
              <p:cNvSpPr txBox="1"/>
              <p:nvPr/>
            </p:nvSpPr>
            <p:spPr>
              <a:xfrm>
                <a:off x="1212342" y="2883218"/>
                <a:ext cx="2083406"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Live Execution Stream</a:t>
                </a:r>
              </a:p>
            </p:txBody>
          </p:sp>
          <p:sp>
            <p:nvSpPr>
              <p:cNvPr id="15" name="TextBox 15"/>
              <p:cNvSpPr txBox="1"/>
              <p:nvPr/>
            </p:nvSpPr>
            <p:spPr>
              <a:xfrm>
                <a:off x="812673" y="3119914"/>
                <a:ext cx="2540762"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Per-incident resolution status,</a:t>
                </a:r>
                <a:br/>
                <a:r>
                  <a:rPr lang="en" sz="1280" dirty="0">
                    <a:solidFill>
                      <a:schemeClr val="accent5"/>
                    </a:solidFill>
                    <a:latin typeface="+mn-lt"/>
                    <a:ea typeface="+mn-ea"/>
                    <a:cs typeface="+mn-cs"/>
                  </a:rPr>
                  <a:t>updated in real time</a:t>
                </a:r>
              </a:p>
            </p:txBody>
          </p:sp>
        </p:grpSp>
        <p:grpSp>
          <p:nvGrpSpPr>
            <p:cNvPr id="29" name="Group 29"/>
            <p:cNvGrpSpPr/>
            <p:nvPr/>
          </p:nvGrpSpPr>
          <p:grpSpPr>
            <a:xfrm>
              <a:off x="812673" y="3681412"/>
              <a:ext cx="2345690" cy="726092"/>
              <a:chOff x="812673" y="3681412"/>
              <a:chExt cx="2345690" cy="726092"/>
            </a:xfrm>
          </p:grpSpPr>
          <p:grpSp>
            <p:nvGrpSpPr>
              <p:cNvPr id="26" name="Group 26"/>
              <p:cNvGrpSpPr/>
              <p:nvPr/>
            </p:nvGrpSpPr>
            <p:grpSpPr>
              <a:xfrm>
                <a:off x="878681" y="3681412"/>
                <a:ext cx="166688" cy="226219"/>
                <a:chOff x="878681" y="3681412"/>
                <a:chExt cx="166688" cy="226219"/>
              </a:xfrm>
            </p:grpSpPr>
            <p:sp>
              <p:nvSpPr>
                <p:cNvPr id="17" name="Freeform 17"/>
                <p:cNvSpPr/>
                <p:nvPr/>
              </p:nvSpPr>
              <p:spPr>
                <a:xfrm>
                  <a:off x="890588" y="3705225"/>
                  <a:ext cx="142875" cy="95250"/>
                </a:xfrm>
                <a:custGeom>
                  <a:avLst/>
                  <a:gdLst/>
                  <a:ahLst/>
                  <a:cxnLst/>
                  <a:rect l="l" t="t" r="r" b="b"/>
                  <a:pathLst>
                    <a:path w="142875" h="95250">
                      <a:moveTo>
                        <a:pt x="0" y="23812"/>
                      </a:moveTo>
                      <a:cubicBezTo>
                        <a:pt x="0" y="10661"/>
                        <a:pt x="10661" y="0"/>
                        <a:pt x="23812" y="0"/>
                      </a:cubicBezTo>
                      <a:lnTo>
                        <a:pt x="119062" y="0"/>
                      </a:lnTo>
                      <a:cubicBezTo>
                        <a:pt x="132214" y="0"/>
                        <a:pt x="142875" y="10661"/>
                        <a:pt x="142875" y="23812"/>
                      </a:cubicBezTo>
                      <a:lnTo>
                        <a:pt x="142875" y="71438"/>
                      </a:lnTo>
                      <a:cubicBezTo>
                        <a:pt x="142875" y="84589"/>
                        <a:pt x="132214" y="95250"/>
                        <a:pt x="119062" y="95250"/>
                      </a:cubicBezTo>
                      <a:lnTo>
                        <a:pt x="23812" y="95250"/>
                      </a:lnTo>
                      <a:cubicBezTo>
                        <a:pt x="10661" y="95250"/>
                        <a:pt x="0" y="84589"/>
                        <a:pt x="0" y="71438"/>
                      </a:cubicBezTo>
                      <a:lnTo>
                        <a:pt x="0" y="23812"/>
                      </a:lnTo>
                    </a:path>
                  </a:pathLst>
                </a:custGeom>
                <a:noFill/>
                <a:ln w="23812">
                  <a:solidFill>
                    <a:schemeClr val="accent1"/>
                  </a:solidFill>
                </a:ln>
              </p:spPr>
            </p:sp>
            <p:sp>
              <p:nvSpPr>
                <p:cNvPr id="18" name="Freeform 18"/>
                <p:cNvSpPr/>
                <p:nvPr/>
              </p:nvSpPr>
              <p:spPr>
                <a:xfrm>
                  <a:off x="962025" y="3681412"/>
                  <a:ext cx="9525" cy="23812"/>
                </a:xfrm>
                <a:custGeom>
                  <a:avLst/>
                  <a:gdLst/>
                  <a:ahLst/>
                  <a:cxnLst/>
                  <a:rect l="l" t="t" r="r" b="b"/>
                  <a:pathLst>
                    <a:path w="9525" h="23812">
                      <a:moveTo>
                        <a:pt x="0" y="0"/>
                      </a:moveTo>
                      <a:lnTo>
                        <a:pt x="0" y="23812"/>
                      </a:lnTo>
                    </a:path>
                  </a:pathLst>
                </a:custGeom>
                <a:noFill/>
                <a:ln w="23812">
                  <a:solidFill>
                    <a:schemeClr val="accent1"/>
                  </a:solidFill>
                </a:ln>
              </p:spPr>
            </p:sp>
            <p:sp>
              <p:nvSpPr>
                <p:cNvPr id="19" name="Freeform 19"/>
                <p:cNvSpPr/>
                <p:nvPr/>
              </p:nvSpPr>
              <p:spPr>
                <a:xfrm>
                  <a:off x="926306" y="3800475"/>
                  <a:ext cx="9525" cy="107156"/>
                </a:xfrm>
                <a:custGeom>
                  <a:avLst/>
                  <a:gdLst/>
                  <a:ahLst/>
                  <a:cxnLst/>
                  <a:rect l="l" t="t" r="r" b="b"/>
                  <a:pathLst>
                    <a:path w="9525" h="107156">
                      <a:moveTo>
                        <a:pt x="0" y="0"/>
                      </a:moveTo>
                      <a:lnTo>
                        <a:pt x="0" y="107156"/>
                      </a:lnTo>
                    </a:path>
                  </a:pathLst>
                </a:custGeom>
                <a:noFill/>
                <a:ln w="23812">
                  <a:solidFill>
                    <a:schemeClr val="accent1"/>
                  </a:solidFill>
                </a:ln>
              </p:spPr>
            </p:sp>
            <p:sp>
              <p:nvSpPr>
                <p:cNvPr id="20" name="Freeform 20"/>
                <p:cNvSpPr/>
                <p:nvPr/>
              </p:nvSpPr>
              <p:spPr>
                <a:xfrm>
                  <a:off x="997744" y="3800475"/>
                  <a:ext cx="9525" cy="107156"/>
                </a:xfrm>
                <a:custGeom>
                  <a:avLst/>
                  <a:gdLst/>
                  <a:ahLst/>
                  <a:cxnLst/>
                  <a:rect l="l" t="t" r="r" b="b"/>
                  <a:pathLst>
                    <a:path w="9525" h="107156">
                      <a:moveTo>
                        <a:pt x="0" y="0"/>
                      </a:moveTo>
                      <a:lnTo>
                        <a:pt x="0" y="107156"/>
                      </a:lnTo>
                    </a:path>
                  </a:pathLst>
                </a:custGeom>
                <a:noFill/>
                <a:ln w="23812">
                  <a:solidFill>
                    <a:schemeClr val="accent1"/>
                  </a:solidFill>
                </a:ln>
              </p:spPr>
            </p:sp>
            <p:sp>
              <p:nvSpPr>
                <p:cNvPr id="21" name="Freeform 21"/>
                <p:cNvSpPr/>
                <p:nvPr/>
              </p:nvSpPr>
              <p:spPr>
                <a:xfrm>
                  <a:off x="878681" y="3824288"/>
                  <a:ext cx="47625" cy="23812"/>
                </a:xfrm>
                <a:custGeom>
                  <a:avLst/>
                  <a:gdLst/>
                  <a:ahLst/>
                  <a:cxnLst/>
                  <a:rect l="l" t="t" r="r" b="b"/>
                  <a:pathLst>
                    <a:path w="47625" h="23812">
                      <a:moveTo>
                        <a:pt x="0" y="23812"/>
                      </a:moveTo>
                      <a:lnTo>
                        <a:pt x="47625" y="0"/>
                      </a:lnTo>
                    </a:path>
                  </a:pathLst>
                </a:custGeom>
                <a:noFill/>
                <a:ln w="23812">
                  <a:solidFill>
                    <a:schemeClr val="accent1"/>
                  </a:solidFill>
                </a:ln>
              </p:spPr>
            </p:sp>
            <p:sp>
              <p:nvSpPr>
                <p:cNvPr id="22" name="Freeform 22"/>
                <p:cNvSpPr/>
                <p:nvPr/>
              </p:nvSpPr>
              <p:spPr>
                <a:xfrm>
                  <a:off x="997744" y="3824288"/>
                  <a:ext cx="47625" cy="23812"/>
                </a:xfrm>
                <a:custGeom>
                  <a:avLst/>
                  <a:gdLst/>
                  <a:ahLst/>
                  <a:cxnLst/>
                  <a:rect l="l" t="t" r="r" b="b"/>
                  <a:pathLst>
                    <a:path w="47625" h="23812">
                      <a:moveTo>
                        <a:pt x="0" y="0"/>
                      </a:moveTo>
                      <a:lnTo>
                        <a:pt x="47625" y="23812"/>
                      </a:lnTo>
                    </a:path>
                  </a:pathLst>
                </a:custGeom>
                <a:noFill/>
                <a:ln w="23812">
                  <a:solidFill>
                    <a:schemeClr val="accent1"/>
                  </a:solidFill>
                </a:ln>
              </p:spPr>
            </p:sp>
            <p:sp>
              <p:nvSpPr>
                <p:cNvPr id="23" name="Freeform 23"/>
                <p:cNvSpPr/>
                <p:nvPr/>
              </p:nvSpPr>
              <p:spPr>
                <a:xfrm>
                  <a:off x="926306" y="3871912"/>
                  <a:ext cx="71438" cy="9525"/>
                </a:xfrm>
                <a:custGeom>
                  <a:avLst/>
                  <a:gdLst/>
                  <a:ahLst/>
                  <a:cxnLst/>
                  <a:rect l="l" t="t" r="r" b="b"/>
                  <a:pathLst>
                    <a:path w="71438" h="9525">
                      <a:moveTo>
                        <a:pt x="0" y="0"/>
                      </a:moveTo>
                      <a:lnTo>
                        <a:pt x="71438" y="0"/>
                      </a:lnTo>
                    </a:path>
                  </a:pathLst>
                </a:custGeom>
                <a:noFill/>
                <a:ln w="23812">
                  <a:solidFill>
                    <a:schemeClr val="accent1"/>
                  </a:solidFill>
                </a:ln>
              </p:spPr>
            </p:sp>
            <p:sp>
              <p:nvSpPr>
                <p:cNvPr id="24" name="Freeform 24"/>
                <p:cNvSpPr/>
                <p:nvPr/>
              </p:nvSpPr>
              <p:spPr>
                <a:xfrm>
                  <a:off x="938212" y="3752850"/>
                  <a:ext cx="9525" cy="9525"/>
                </a:xfrm>
                <a:custGeom>
                  <a:avLst/>
                  <a:gdLst/>
                  <a:ahLst/>
                  <a:cxnLst/>
                  <a:rect l="l" t="t" r="r" b="b"/>
                  <a:pathLst>
                    <a:path w="9525" h="9525">
                      <a:moveTo>
                        <a:pt x="0" y="0"/>
                      </a:moveTo>
                      <a:lnTo>
                        <a:pt x="0" y="119"/>
                      </a:lnTo>
                    </a:path>
                  </a:pathLst>
                </a:custGeom>
                <a:noFill/>
                <a:ln w="23812">
                  <a:solidFill>
                    <a:schemeClr val="accent1"/>
                  </a:solidFill>
                </a:ln>
              </p:spPr>
            </p:sp>
            <p:sp>
              <p:nvSpPr>
                <p:cNvPr id="25" name="Freeform 25"/>
                <p:cNvSpPr/>
                <p:nvPr/>
              </p:nvSpPr>
              <p:spPr>
                <a:xfrm>
                  <a:off x="985838" y="3752850"/>
                  <a:ext cx="9525" cy="9525"/>
                </a:xfrm>
                <a:custGeom>
                  <a:avLst/>
                  <a:gdLst/>
                  <a:ahLst/>
                  <a:cxnLst/>
                  <a:rect l="l" t="t" r="r" b="b"/>
                  <a:pathLst>
                    <a:path w="9525" h="9525">
                      <a:moveTo>
                        <a:pt x="0" y="0"/>
                      </a:moveTo>
                      <a:lnTo>
                        <a:pt x="0" y="119"/>
                      </a:lnTo>
                    </a:path>
                  </a:pathLst>
                </a:custGeom>
                <a:noFill/>
                <a:ln w="23812">
                  <a:solidFill>
                    <a:schemeClr val="accent1"/>
                  </a:solidFill>
                </a:ln>
              </p:spPr>
            </p:sp>
          </p:grpSp>
          <p:sp>
            <p:nvSpPr>
              <p:cNvPr id="27" name="TextBox 27"/>
              <p:cNvSpPr txBox="1"/>
              <p:nvPr/>
            </p:nvSpPr>
            <p:spPr>
              <a:xfrm>
                <a:off x="1212342" y="3721418"/>
                <a:ext cx="1718313"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Managed AI Assets</a:t>
                </a:r>
              </a:p>
            </p:txBody>
          </p:sp>
          <p:sp>
            <p:nvSpPr>
              <p:cNvPr id="28" name="TextBox 28"/>
              <p:cNvSpPr txBox="1"/>
              <p:nvPr/>
            </p:nvSpPr>
            <p:spPr>
              <a:xfrm>
                <a:off x="812673" y="3958114"/>
                <a:ext cx="2345690"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Active LLM model and fallback</a:t>
                </a:r>
                <a:br/>
                <a:r>
                  <a:rPr lang="en" sz="1280" dirty="0">
                    <a:solidFill>
                      <a:schemeClr val="accent5"/>
                    </a:solidFill>
                    <a:latin typeface="+mn-lt"/>
                    <a:ea typeface="+mn-ea"/>
                    <a:cs typeface="+mn-cs"/>
                  </a:rPr>
                  <a:t>router at a glance</a:t>
                </a:r>
              </a:p>
            </p:txBody>
          </p:sp>
        </p:grpSp>
        <p:grpSp>
          <p:nvGrpSpPr>
            <p:cNvPr id="35" name="Group 35"/>
            <p:cNvGrpSpPr/>
            <p:nvPr/>
          </p:nvGrpSpPr>
          <p:grpSpPr>
            <a:xfrm>
              <a:off x="812673" y="4543425"/>
              <a:ext cx="2670810" cy="702279"/>
              <a:chOff x="812673" y="4543425"/>
              <a:chExt cx="2670810" cy="702279"/>
            </a:xfrm>
          </p:grpSpPr>
          <p:grpSp>
            <p:nvGrpSpPr>
              <p:cNvPr id="32" name="Group 32"/>
              <p:cNvGrpSpPr/>
              <p:nvPr/>
            </p:nvGrpSpPr>
            <p:grpSpPr>
              <a:xfrm>
                <a:off x="862059" y="4543425"/>
                <a:ext cx="199931" cy="186588"/>
                <a:chOff x="862059" y="4543425"/>
                <a:chExt cx="199931" cy="186588"/>
              </a:xfrm>
            </p:grpSpPr>
            <p:sp>
              <p:nvSpPr>
                <p:cNvPr id="30" name="Freeform 30"/>
                <p:cNvSpPr/>
                <p:nvPr/>
              </p:nvSpPr>
              <p:spPr>
                <a:xfrm>
                  <a:off x="862059" y="4567238"/>
                  <a:ext cx="199931" cy="162775"/>
                </a:xfrm>
                <a:custGeom>
                  <a:avLst/>
                  <a:gdLst/>
                  <a:ahLst/>
                  <a:cxnLst/>
                  <a:rect l="l" t="t" r="r" b="b"/>
                  <a:pathLst>
                    <a:path w="199931" h="162775">
                      <a:moveTo>
                        <a:pt x="40434" y="0"/>
                      </a:moveTo>
                      <a:cubicBezTo>
                        <a:pt x="10836" y="24993"/>
                        <a:pt x="0" y="65813"/>
                        <a:pt x="13306" y="102195"/>
                      </a:cubicBezTo>
                      <a:cubicBezTo>
                        <a:pt x="26612" y="138577"/>
                        <a:pt x="61226" y="162775"/>
                        <a:pt x="99966" y="162775"/>
                      </a:cubicBezTo>
                      <a:cubicBezTo>
                        <a:pt x="138705" y="162775"/>
                        <a:pt x="173319" y="138577"/>
                        <a:pt x="186625" y="102195"/>
                      </a:cubicBezTo>
                      <a:cubicBezTo>
                        <a:pt x="199931" y="65813"/>
                        <a:pt x="189095" y="24993"/>
                        <a:pt x="159497" y="0"/>
                      </a:cubicBezTo>
                    </a:path>
                  </a:pathLst>
                </a:custGeom>
                <a:noFill/>
                <a:ln w="23812">
                  <a:solidFill>
                    <a:srgbClr val="F43F5E"/>
                  </a:solidFill>
                </a:ln>
              </p:spPr>
            </p:sp>
            <p:sp>
              <p:nvSpPr>
                <p:cNvPr id="31" name="Freeform 31"/>
                <p:cNvSpPr/>
                <p:nvPr/>
              </p:nvSpPr>
              <p:spPr>
                <a:xfrm>
                  <a:off x="962025" y="4543425"/>
                  <a:ext cx="9525" cy="95250"/>
                </a:xfrm>
                <a:custGeom>
                  <a:avLst/>
                  <a:gdLst/>
                  <a:ahLst/>
                  <a:cxnLst/>
                  <a:rect l="l" t="t" r="r" b="b"/>
                  <a:pathLst>
                    <a:path w="9525" h="95250">
                      <a:moveTo>
                        <a:pt x="0" y="0"/>
                      </a:moveTo>
                      <a:lnTo>
                        <a:pt x="0" y="95250"/>
                      </a:lnTo>
                    </a:path>
                  </a:pathLst>
                </a:custGeom>
                <a:noFill/>
                <a:ln w="23812">
                  <a:solidFill>
                    <a:srgbClr val="F43F5E"/>
                  </a:solidFill>
                </a:ln>
              </p:spPr>
            </p:sp>
          </p:grpSp>
          <p:sp>
            <p:nvSpPr>
              <p:cNvPr id="33" name="TextBox 33"/>
              <p:cNvSpPr txBox="1"/>
              <p:nvPr/>
            </p:nvSpPr>
            <p:spPr>
              <a:xfrm>
                <a:off x="1212342" y="4559618"/>
                <a:ext cx="2025647"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Emergency Kill Switch</a:t>
                </a:r>
              </a:p>
            </p:txBody>
          </p:sp>
          <p:sp>
            <p:nvSpPr>
              <p:cNvPr id="34" name="TextBox 34"/>
              <p:cNvSpPr txBox="1"/>
              <p:nvPr/>
            </p:nvSpPr>
            <p:spPr>
              <a:xfrm>
                <a:off x="812673" y="4796314"/>
                <a:ext cx="2670810"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 xml:space="preserve">Fleet-wide, </a:t>
                </a:r>
                <a:r>
                  <a:rPr lang="en" sz="1280" b="1" dirty="0">
                    <a:solidFill>
                      <a:srgbClr val="F43F5E"/>
                    </a:solidFill>
                    <a:latin typeface="+mn-lt"/>
                    <a:ea typeface="+mn-ea"/>
                    <a:cs typeface="+mn-cs"/>
                  </a:rPr>
                  <a:t>armed</a:t>
                </a:r>
                <a:r>
                  <a:rPr lang="en" sz="1280" dirty="0">
                    <a:solidFill>
                      <a:schemeClr val="accent5"/>
                    </a:solidFill>
                    <a:latin typeface="+mn-lt"/>
                    <a:ea typeface="+mn-ea"/>
                    <a:cs typeface="+mn-cs"/>
                  </a:rPr>
                  <a:t xml:space="preserve"> and one</a:t>
                </a:r>
                <a:br/>
                <a:r>
                  <a:rPr lang="en" sz="1280" dirty="0">
                    <a:solidFill>
                      <a:schemeClr val="accent5"/>
                    </a:solidFill>
                    <a:latin typeface="+mn-lt"/>
                    <a:ea typeface="+mn-ea"/>
                    <a:cs typeface="+mn-cs"/>
                  </a:rPr>
                  <a:t>click from stopping every session</a:t>
                </a:r>
              </a:p>
            </p:txBody>
          </p:sp>
        </p:grpSp>
        <p:grpSp>
          <p:nvGrpSpPr>
            <p:cNvPr id="41" name="Group 41"/>
            <p:cNvGrpSpPr/>
            <p:nvPr/>
          </p:nvGrpSpPr>
          <p:grpSpPr>
            <a:xfrm>
              <a:off x="812673" y="5397818"/>
              <a:ext cx="2719578" cy="686086"/>
              <a:chOff x="812673" y="5397818"/>
              <a:chExt cx="2719578" cy="686086"/>
            </a:xfrm>
          </p:grpSpPr>
          <p:grpSp>
            <p:nvGrpSpPr>
              <p:cNvPr id="38" name="Group 38"/>
              <p:cNvGrpSpPr/>
              <p:nvPr/>
            </p:nvGrpSpPr>
            <p:grpSpPr>
              <a:xfrm>
                <a:off x="866775" y="5405438"/>
                <a:ext cx="190500" cy="164306"/>
                <a:chOff x="866775" y="5405438"/>
                <a:chExt cx="190500" cy="164306"/>
              </a:xfrm>
            </p:grpSpPr>
            <p:sp>
              <p:nvSpPr>
                <p:cNvPr id="36" name="Freeform 36"/>
                <p:cNvSpPr/>
                <p:nvPr/>
              </p:nvSpPr>
              <p:spPr>
                <a:xfrm>
                  <a:off x="866775" y="5560219"/>
                  <a:ext cx="190500" cy="9525"/>
                </a:xfrm>
                <a:custGeom>
                  <a:avLst/>
                  <a:gdLst/>
                  <a:ahLst/>
                  <a:cxnLst/>
                  <a:rect l="l" t="t" r="r" b="b"/>
                  <a:pathLst>
                    <a:path w="190500" h="9525">
                      <a:moveTo>
                        <a:pt x="0" y="0"/>
                      </a:moveTo>
                      <a:lnTo>
                        <a:pt x="190500" y="0"/>
                      </a:lnTo>
                    </a:path>
                  </a:pathLst>
                </a:custGeom>
                <a:noFill/>
                <a:ln w="23812">
                  <a:solidFill>
                    <a:schemeClr val="accent3"/>
                  </a:solidFill>
                </a:ln>
              </p:spPr>
            </p:sp>
            <p:sp>
              <p:nvSpPr>
                <p:cNvPr id="37" name="Freeform 37"/>
                <p:cNvSpPr/>
                <p:nvPr/>
              </p:nvSpPr>
              <p:spPr>
                <a:xfrm>
                  <a:off x="866775" y="5405438"/>
                  <a:ext cx="190500" cy="107156"/>
                </a:xfrm>
                <a:custGeom>
                  <a:avLst/>
                  <a:gdLst/>
                  <a:ahLst/>
                  <a:cxnLst/>
                  <a:rect l="l" t="t" r="r" b="b"/>
                  <a:pathLst>
                    <a:path w="190500" h="107156">
                      <a:moveTo>
                        <a:pt x="0" y="107156"/>
                      </a:moveTo>
                      <a:lnTo>
                        <a:pt x="47625" y="35719"/>
                      </a:lnTo>
                      <a:lnTo>
                        <a:pt x="95250" y="59531"/>
                      </a:lnTo>
                      <a:lnTo>
                        <a:pt x="142875" y="0"/>
                      </a:lnTo>
                      <a:lnTo>
                        <a:pt x="190500" y="47625"/>
                      </a:lnTo>
                    </a:path>
                  </a:pathLst>
                </a:custGeom>
                <a:noFill/>
                <a:ln w="23812">
                  <a:solidFill>
                    <a:schemeClr val="accent3"/>
                  </a:solidFill>
                </a:ln>
              </p:spPr>
            </p:sp>
          </p:grpSp>
          <p:sp>
            <p:nvSpPr>
              <p:cNvPr id="39" name="TextBox 39"/>
              <p:cNvSpPr txBox="1"/>
              <p:nvPr/>
            </p:nvSpPr>
            <p:spPr>
              <a:xfrm>
                <a:off x="1212342" y="5397818"/>
                <a:ext cx="1678243"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MTTR vs. Baseline</a:t>
                </a:r>
              </a:p>
            </p:txBody>
          </p:sp>
          <p:sp>
            <p:nvSpPr>
              <p:cNvPr id="40" name="TextBox 40"/>
              <p:cNvSpPr txBox="1"/>
              <p:nvPr/>
            </p:nvSpPr>
            <p:spPr>
              <a:xfrm>
                <a:off x="812673" y="5634514"/>
                <a:ext cx="2719578"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Autonomous MTTR compared</a:t>
                </a:r>
                <a:br/>
                <a:r>
                  <a:rPr lang="en" sz="1280" dirty="0">
                    <a:solidFill>
                      <a:schemeClr val="accent5"/>
                    </a:solidFill>
                    <a:latin typeface="+mn-lt"/>
                    <a:ea typeface="+mn-ea"/>
                    <a:cs typeface="+mn-cs"/>
                  </a:rPr>
                  <a:t>directly against manual resolution</a:t>
                </a:r>
              </a:p>
            </p:txBody>
          </p:sp>
        </p:grpSp>
      </p:grpSp>
      <p:grpSp>
        <p:nvGrpSpPr>
          <p:cNvPr id="46" name="Group 46"/>
          <p:cNvGrpSpPr/>
          <p:nvPr/>
        </p:nvGrpSpPr>
        <p:grpSpPr>
          <a:xfrm>
            <a:off x="4038600" y="2247900"/>
            <a:ext cx="7543800" cy="4000500"/>
            <a:chOff x="4038600" y="2247900"/>
            <a:chExt cx="7543800" cy="4000500"/>
          </a:xfrm>
        </p:grpSpPr>
        <p:sp>
          <p:nvSpPr>
            <p:cNvPr id="43" name="Rectangle 43"/>
            <p:cNvSpPr/>
            <p:nvPr/>
          </p:nvSpPr>
          <p:spPr>
            <a:xfrm>
              <a:off x="4038600" y="2247900"/>
              <a:ext cx="7543800" cy="4000500"/>
            </a:xfrm>
            <a:prstGeom prst="roundRect">
              <a:avLst>
                <a:gd name="adj" fmla="val 3810"/>
              </a:avLst>
            </a:prstGeom>
            <a:solidFill>
              <a:schemeClr val="lt2"/>
            </a:solidFill>
            <a:ln w="9525">
              <a:solidFill>
                <a:schemeClr val="accent6"/>
              </a:solidFill>
            </a:ln>
            <a:effectLst>
              <a:outerShdw blurRad="228600" dist="57150" dir="5400000" algn="ctr" rotWithShape="0">
                <a:srgbClr val="000000">
                  <a:alpha val="33750"/>
                </a:srgbClr>
              </a:outerShdw>
            </a:effectLst>
          </p:spPr>
        </p:sp>
        <p:pic>
          <p:nvPicPr>
            <p:cNvPr id="44" name="Image 44"/>
            <p:cNvPicPr>
              <a:picLocks noChangeAspect="1"/>
            </p:cNvPicPr>
            <p:nvPr/>
          </p:nvPicPr>
          <p:blipFill>
            <a:blip r:embed="rId2"/>
            <a:stretch>
              <a:fillRect/>
            </a:stretch>
          </p:blipFill>
          <p:spPr>
            <a:xfrm>
              <a:off x="4660900" y="2476500"/>
              <a:ext cx="6299200" cy="3543300"/>
            </a:xfrm>
            <a:prstGeom prst="rect">
              <a:avLst/>
            </a:prstGeom>
          </p:spPr>
        </p:pic>
        <p:sp>
          <p:nvSpPr>
            <p:cNvPr id="45" name="TextBox 45"/>
            <p:cNvSpPr txBox="1"/>
            <p:nvPr/>
          </p:nvSpPr>
          <p:spPr>
            <a:xfrm>
              <a:off x="8767525" y="6004560"/>
              <a:ext cx="2592371"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Consolas"/>
                  <a:ea typeface="Consolas"/>
                  <a:cs typeface="Consolas"/>
                </a:rPr>
                <a:t>SRE Control Tower — live capture</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785921"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03 · THE PLATFORM IN ACTION</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P06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7861815" cy="883729"/>
            <a:chOff x="590550" y="1223010"/>
            <a:chExt cx="7861815" cy="883729"/>
          </a:xfrm>
        </p:grpSpPr>
        <p:sp>
          <p:nvSpPr>
            <p:cNvPr id="7" name="TextBox 7"/>
            <p:cNvSpPr txBox="1"/>
            <p:nvPr/>
          </p:nvSpPr>
          <p:spPr>
            <a:xfrm>
              <a:off x="590550" y="1223010"/>
              <a:ext cx="7861815"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From Ticket to Verified Fix</a:t>
              </a:r>
            </a:p>
          </p:txBody>
        </p:sp>
        <p:sp>
          <p:nvSpPr>
            <p:cNvPr id="8" name="TextBox 8"/>
            <p:cNvSpPr txBox="1"/>
            <p:nvPr/>
          </p:nvSpPr>
          <p:spPr>
            <a:xfrm>
              <a:off x="601218" y="1784032"/>
              <a:ext cx="6710235"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Every incident moves through the same five governed phases.</a:t>
              </a:r>
            </a:p>
          </p:txBody>
        </p:sp>
      </p:grpSp>
      <p:grpSp>
        <p:nvGrpSpPr>
          <p:cNvPr id="34" name="Group 34"/>
          <p:cNvGrpSpPr/>
          <p:nvPr/>
        </p:nvGrpSpPr>
        <p:grpSpPr>
          <a:xfrm>
            <a:off x="609600" y="3000375"/>
            <a:ext cx="10668000" cy="1238250"/>
            <a:chOff x="609600" y="3000375"/>
            <a:chExt cx="10668000" cy="1238250"/>
          </a:xfrm>
        </p:grpSpPr>
        <p:sp>
          <p:nvSpPr>
            <p:cNvPr id="10" name="Freeform 10"/>
            <p:cNvSpPr/>
            <p:nvPr/>
          </p:nvSpPr>
          <p:spPr>
            <a:xfrm>
              <a:off x="609600" y="3000375"/>
              <a:ext cx="2286000" cy="1238250"/>
            </a:xfrm>
            <a:prstGeom prst="chevron">
              <a:avLst/>
            </a:prstGeom>
            <a:solidFill>
              <a:srgbClr val="312E81"/>
            </a:solidFill>
            <a:ln>
              <a:noFill/>
            </a:ln>
          </p:spPr>
        </p:sp>
        <p:sp>
          <p:nvSpPr>
            <p:cNvPr id="11" name="Freeform 11"/>
            <p:cNvSpPr/>
            <p:nvPr/>
          </p:nvSpPr>
          <p:spPr>
            <a:xfrm>
              <a:off x="2705100" y="3000375"/>
              <a:ext cx="2286000" cy="1238250"/>
            </a:xfrm>
            <a:prstGeom prst="chevron">
              <a:avLst/>
            </a:prstGeom>
            <a:solidFill>
              <a:srgbClr val="3730A3"/>
            </a:solidFill>
            <a:ln>
              <a:noFill/>
            </a:ln>
          </p:spPr>
        </p:sp>
        <p:sp>
          <p:nvSpPr>
            <p:cNvPr id="12" name="Freeform 12"/>
            <p:cNvSpPr/>
            <p:nvPr/>
          </p:nvSpPr>
          <p:spPr>
            <a:xfrm>
              <a:off x="4800600" y="3000375"/>
              <a:ext cx="2286000" cy="1238250"/>
            </a:xfrm>
            <a:prstGeom prst="chevron">
              <a:avLst/>
            </a:prstGeom>
            <a:solidFill>
              <a:srgbClr val="4338CA"/>
            </a:solidFill>
            <a:ln>
              <a:noFill/>
            </a:ln>
          </p:spPr>
        </p:sp>
        <p:sp>
          <p:nvSpPr>
            <p:cNvPr id="13" name="Freeform 13"/>
            <p:cNvSpPr/>
            <p:nvPr/>
          </p:nvSpPr>
          <p:spPr>
            <a:xfrm>
              <a:off x="6896100" y="3000375"/>
              <a:ext cx="2286000" cy="1238250"/>
            </a:xfrm>
            <a:prstGeom prst="chevron">
              <a:avLst/>
            </a:prstGeom>
            <a:solidFill>
              <a:srgbClr val="4F46E5"/>
            </a:solidFill>
            <a:ln>
              <a:noFill/>
            </a:ln>
          </p:spPr>
        </p:sp>
        <p:sp>
          <p:nvSpPr>
            <p:cNvPr id="14" name="Freeform 14"/>
            <p:cNvSpPr/>
            <p:nvPr/>
          </p:nvSpPr>
          <p:spPr>
            <a:xfrm>
              <a:off x="8991600" y="3000375"/>
              <a:ext cx="2286000" cy="1238250"/>
            </a:xfrm>
            <a:prstGeom prst="chevron">
              <a:avLst/>
            </a:prstGeom>
            <a:solidFill>
              <a:schemeClr val="accent2"/>
            </a:solidFill>
            <a:ln>
              <a:noFill/>
            </a:ln>
          </p:spPr>
        </p:sp>
        <p:grpSp>
          <p:nvGrpSpPr>
            <p:cNvPr id="19" name="Group 19"/>
            <p:cNvGrpSpPr/>
            <p:nvPr/>
          </p:nvGrpSpPr>
          <p:grpSpPr>
            <a:xfrm>
              <a:off x="1638300" y="3416300"/>
              <a:ext cx="228599" cy="177800"/>
              <a:chOff x="1638300" y="3416300"/>
              <a:chExt cx="228599" cy="177800"/>
            </a:xfrm>
          </p:grpSpPr>
          <p:sp>
            <p:nvSpPr>
              <p:cNvPr id="15" name="Freeform 15"/>
              <p:cNvSpPr/>
              <p:nvPr/>
            </p:nvSpPr>
            <p:spPr>
              <a:xfrm>
                <a:off x="1790700" y="3416300"/>
                <a:ext cx="9525" cy="25400"/>
              </a:xfrm>
              <a:custGeom>
                <a:avLst/>
                <a:gdLst/>
                <a:ahLst/>
                <a:cxnLst/>
                <a:rect l="l" t="t" r="r" b="b"/>
                <a:pathLst>
                  <a:path w="9525" h="25400">
                    <a:moveTo>
                      <a:pt x="0" y="0"/>
                    </a:moveTo>
                    <a:lnTo>
                      <a:pt x="0" y="25400"/>
                    </a:lnTo>
                  </a:path>
                </a:pathLst>
              </a:custGeom>
              <a:noFill/>
              <a:ln w="25400">
                <a:solidFill>
                  <a:schemeClr val="dk1"/>
                </a:solidFill>
              </a:ln>
            </p:spPr>
          </p:sp>
          <p:sp>
            <p:nvSpPr>
              <p:cNvPr id="16" name="Freeform 16"/>
              <p:cNvSpPr/>
              <p:nvPr/>
            </p:nvSpPr>
            <p:spPr>
              <a:xfrm>
                <a:off x="1790700" y="3492500"/>
                <a:ext cx="9525" cy="25400"/>
              </a:xfrm>
              <a:custGeom>
                <a:avLst/>
                <a:gdLst/>
                <a:ahLst/>
                <a:cxnLst/>
                <a:rect l="l" t="t" r="r" b="b"/>
                <a:pathLst>
                  <a:path w="9525" h="25400">
                    <a:moveTo>
                      <a:pt x="0" y="0"/>
                    </a:moveTo>
                    <a:lnTo>
                      <a:pt x="0" y="25400"/>
                    </a:lnTo>
                  </a:path>
                </a:pathLst>
              </a:custGeom>
              <a:noFill/>
              <a:ln w="25400">
                <a:solidFill>
                  <a:schemeClr val="dk1"/>
                </a:solidFill>
              </a:ln>
            </p:spPr>
          </p:sp>
          <p:sp>
            <p:nvSpPr>
              <p:cNvPr id="17" name="Freeform 17"/>
              <p:cNvSpPr/>
              <p:nvPr/>
            </p:nvSpPr>
            <p:spPr>
              <a:xfrm>
                <a:off x="1790700" y="3568699"/>
                <a:ext cx="9525" cy="25400"/>
              </a:xfrm>
              <a:custGeom>
                <a:avLst/>
                <a:gdLst/>
                <a:ahLst/>
                <a:cxnLst/>
                <a:rect l="l" t="t" r="r" b="b"/>
                <a:pathLst>
                  <a:path w="9525" h="25400">
                    <a:moveTo>
                      <a:pt x="0" y="0"/>
                    </a:moveTo>
                    <a:lnTo>
                      <a:pt x="0" y="25400"/>
                    </a:lnTo>
                  </a:path>
                </a:pathLst>
              </a:custGeom>
              <a:noFill/>
              <a:ln w="25400">
                <a:solidFill>
                  <a:schemeClr val="dk1"/>
                </a:solidFill>
              </a:ln>
            </p:spPr>
          </p:sp>
          <p:sp>
            <p:nvSpPr>
              <p:cNvPr id="18" name="Freeform 18"/>
              <p:cNvSpPr/>
              <p:nvPr/>
            </p:nvSpPr>
            <p:spPr>
              <a:xfrm>
                <a:off x="1638300" y="3416300"/>
                <a:ext cx="228599" cy="177800"/>
              </a:xfrm>
              <a:custGeom>
                <a:avLst/>
                <a:gdLst/>
                <a:ahLst/>
                <a:cxnLst/>
                <a:rect l="l" t="t" r="r" b="b"/>
                <a:pathLst>
                  <a:path w="228599" h="177800">
                    <a:moveTo>
                      <a:pt x="25400" y="0"/>
                    </a:moveTo>
                    <a:lnTo>
                      <a:pt x="203199" y="0"/>
                    </a:lnTo>
                    <a:cubicBezTo>
                      <a:pt x="217227" y="0"/>
                      <a:pt x="228599" y="11372"/>
                      <a:pt x="228599" y="25400"/>
                    </a:cubicBezTo>
                    <a:lnTo>
                      <a:pt x="228599" y="63500"/>
                    </a:lnTo>
                    <a:cubicBezTo>
                      <a:pt x="214571" y="63500"/>
                      <a:pt x="203199" y="74872"/>
                      <a:pt x="203199" y="88900"/>
                    </a:cubicBezTo>
                    <a:cubicBezTo>
                      <a:pt x="203199" y="102928"/>
                      <a:pt x="214571" y="114300"/>
                      <a:pt x="228599" y="114300"/>
                    </a:cubicBezTo>
                    <a:lnTo>
                      <a:pt x="228599" y="152400"/>
                    </a:lnTo>
                    <a:cubicBezTo>
                      <a:pt x="228599" y="166428"/>
                      <a:pt x="217227" y="177800"/>
                      <a:pt x="203199" y="177800"/>
                    </a:cubicBezTo>
                    <a:lnTo>
                      <a:pt x="25400" y="177800"/>
                    </a:lnTo>
                    <a:cubicBezTo>
                      <a:pt x="11372" y="177800"/>
                      <a:pt x="0" y="166428"/>
                      <a:pt x="0" y="152400"/>
                    </a:cubicBezTo>
                    <a:lnTo>
                      <a:pt x="0" y="114300"/>
                    </a:lnTo>
                    <a:cubicBezTo>
                      <a:pt x="14028" y="114300"/>
                      <a:pt x="25400" y="102928"/>
                      <a:pt x="25400" y="88900"/>
                    </a:cubicBezTo>
                    <a:cubicBezTo>
                      <a:pt x="25400" y="74872"/>
                      <a:pt x="14028" y="63500"/>
                      <a:pt x="0" y="63500"/>
                    </a:cubicBezTo>
                    <a:lnTo>
                      <a:pt x="0" y="25400"/>
                    </a:lnTo>
                    <a:cubicBezTo>
                      <a:pt x="0" y="11372"/>
                      <a:pt x="11372" y="0"/>
                      <a:pt x="25400" y="0"/>
                    </a:cubicBezTo>
                  </a:path>
                </a:pathLst>
              </a:custGeom>
              <a:noFill/>
              <a:ln w="25400">
                <a:solidFill>
                  <a:schemeClr val="dk1"/>
                </a:solidFill>
              </a:ln>
            </p:spPr>
          </p:sp>
        </p:grpSp>
        <p:grpSp>
          <p:nvGrpSpPr>
            <p:cNvPr id="23" name="Group 23"/>
            <p:cNvGrpSpPr/>
            <p:nvPr/>
          </p:nvGrpSpPr>
          <p:grpSpPr>
            <a:xfrm>
              <a:off x="3733800" y="3390900"/>
              <a:ext cx="228599" cy="228599"/>
              <a:chOff x="3733800" y="3390900"/>
              <a:chExt cx="228599" cy="228599"/>
            </a:xfrm>
          </p:grpSpPr>
          <p:sp>
            <p:nvSpPr>
              <p:cNvPr id="20" name="Freeform 20"/>
              <p:cNvSpPr/>
              <p:nvPr/>
            </p:nvSpPr>
            <p:spPr>
              <a:xfrm>
                <a:off x="3733800" y="3568699"/>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dk1"/>
                </a:solidFill>
              </a:ln>
            </p:spPr>
          </p:sp>
          <p:sp>
            <p:nvSpPr>
              <p:cNvPr id="21" name="Freeform 21"/>
              <p:cNvSpPr/>
              <p:nvPr/>
            </p:nvSpPr>
            <p:spPr>
              <a:xfrm>
                <a:off x="3911599" y="3390900"/>
                <a:ext cx="50800" cy="50800"/>
              </a:xfrm>
              <a:custGeom>
                <a:avLst/>
                <a:gdLst/>
                <a:ahLst/>
                <a:cxnLst/>
                <a:rect l="l" t="t" r="r" b="b"/>
                <a:pathLst>
                  <a:path w="50800" h="50800">
                    <a:moveTo>
                      <a:pt x="25400" y="50800"/>
                    </a:moveTo>
                    <a:cubicBezTo>
                      <a:pt x="39428" y="50800"/>
                      <a:pt x="50800" y="39428"/>
                      <a:pt x="50800" y="25400"/>
                    </a:cubicBezTo>
                    <a:cubicBezTo>
                      <a:pt x="50800" y="11372"/>
                      <a:pt x="39428" y="0"/>
                      <a:pt x="25400" y="0"/>
                    </a:cubicBezTo>
                    <a:cubicBezTo>
                      <a:pt x="11372" y="0"/>
                      <a:pt x="0" y="11372"/>
                      <a:pt x="0" y="25400"/>
                    </a:cubicBezTo>
                    <a:cubicBezTo>
                      <a:pt x="0" y="39428"/>
                      <a:pt x="11372" y="50800"/>
                      <a:pt x="25400" y="50800"/>
                    </a:cubicBezTo>
                  </a:path>
                </a:pathLst>
              </a:custGeom>
              <a:noFill/>
              <a:ln w="25400">
                <a:solidFill>
                  <a:schemeClr val="dk1"/>
                </a:solidFill>
              </a:ln>
            </p:spPr>
          </p:sp>
          <p:sp>
            <p:nvSpPr>
              <p:cNvPr id="22" name="Freeform 22"/>
              <p:cNvSpPr/>
              <p:nvPr/>
            </p:nvSpPr>
            <p:spPr>
              <a:xfrm>
                <a:off x="3759200" y="3416300"/>
                <a:ext cx="190500" cy="177800"/>
              </a:xfrm>
              <a:custGeom>
                <a:avLst/>
                <a:gdLst/>
                <a:ahLst/>
                <a:cxnLst/>
                <a:rect l="l" t="t" r="r" b="b"/>
                <a:pathLst>
                  <a:path w="190500" h="177800">
                    <a:moveTo>
                      <a:pt x="76200" y="177800"/>
                    </a:moveTo>
                    <a:lnTo>
                      <a:pt x="146050" y="177800"/>
                    </a:lnTo>
                    <a:cubicBezTo>
                      <a:pt x="170599" y="177800"/>
                      <a:pt x="190500" y="157899"/>
                      <a:pt x="190500" y="133350"/>
                    </a:cubicBezTo>
                    <a:cubicBezTo>
                      <a:pt x="190500" y="108801"/>
                      <a:pt x="170599" y="88900"/>
                      <a:pt x="146050" y="88900"/>
                    </a:cubicBezTo>
                    <a:lnTo>
                      <a:pt x="44450" y="88900"/>
                    </a:lnTo>
                    <a:cubicBezTo>
                      <a:pt x="19901" y="88900"/>
                      <a:pt x="0" y="68999"/>
                      <a:pt x="0" y="44450"/>
                    </a:cubicBezTo>
                    <a:cubicBezTo>
                      <a:pt x="0" y="19901"/>
                      <a:pt x="19901" y="0"/>
                      <a:pt x="44450" y="0"/>
                    </a:cubicBezTo>
                    <a:lnTo>
                      <a:pt x="101600" y="0"/>
                    </a:lnTo>
                  </a:path>
                </a:pathLst>
              </a:custGeom>
              <a:noFill/>
              <a:ln w="25400">
                <a:solidFill>
                  <a:schemeClr val="dk1"/>
                </a:solidFill>
              </a:ln>
            </p:spPr>
          </p:sp>
        </p:grpSp>
        <p:grpSp>
          <p:nvGrpSpPr>
            <p:cNvPr id="26" name="Group 26"/>
            <p:cNvGrpSpPr/>
            <p:nvPr/>
          </p:nvGrpSpPr>
          <p:grpSpPr>
            <a:xfrm>
              <a:off x="5829300" y="3390900"/>
              <a:ext cx="228600" cy="228600"/>
              <a:chOff x="5829300" y="3390900"/>
              <a:chExt cx="228600" cy="228600"/>
            </a:xfrm>
          </p:grpSpPr>
          <p:sp>
            <p:nvSpPr>
              <p:cNvPr id="24" name="Freeform 24"/>
              <p:cNvSpPr/>
              <p:nvPr/>
            </p:nvSpPr>
            <p:spPr>
              <a:xfrm>
                <a:off x="5829300" y="3390900"/>
                <a:ext cx="177800" cy="177800"/>
              </a:xfrm>
              <a:custGeom>
                <a:avLst/>
                <a:gdLst/>
                <a:ahLst/>
                <a:cxnLst/>
                <a:rect l="l" t="t" r="r" b="b"/>
                <a:pathLst>
                  <a:path w="177800" h="177800">
                    <a:moveTo>
                      <a:pt x="0" y="88900"/>
                    </a:moveTo>
                    <a:cubicBezTo>
                      <a:pt x="0" y="137998"/>
                      <a:pt x="39802" y="177800"/>
                      <a:pt x="88900" y="177800"/>
                    </a:cubicBezTo>
                    <a:cubicBezTo>
                      <a:pt x="137998" y="177800"/>
                      <a:pt x="177800" y="137998"/>
                      <a:pt x="177800" y="88900"/>
                    </a:cubicBezTo>
                    <a:cubicBezTo>
                      <a:pt x="177800" y="39802"/>
                      <a:pt x="137998" y="0"/>
                      <a:pt x="88900" y="0"/>
                    </a:cubicBezTo>
                    <a:cubicBezTo>
                      <a:pt x="39802" y="0"/>
                      <a:pt x="0" y="39802"/>
                      <a:pt x="0" y="88900"/>
                    </a:cubicBezTo>
                  </a:path>
                </a:pathLst>
              </a:custGeom>
              <a:noFill/>
              <a:ln w="25400">
                <a:solidFill>
                  <a:schemeClr val="dk1"/>
                </a:solidFill>
              </a:ln>
            </p:spPr>
          </p:sp>
          <p:sp>
            <p:nvSpPr>
              <p:cNvPr id="25" name="Freeform 25"/>
              <p:cNvSpPr/>
              <p:nvPr/>
            </p:nvSpPr>
            <p:spPr>
              <a:xfrm>
                <a:off x="5981700" y="3543300"/>
                <a:ext cx="76200" cy="76200"/>
              </a:xfrm>
              <a:custGeom>
                <a:avLst/>
                <a:gdLst/>
                <a:ahLst/>
                <a:cxnLst/>
                <a:rect l="l" t="t" r="r" b="b"/>
                <a:pathLst>
                  <a:path w="76200" h="76200">
                    <a:moveTo>
                      <a:pt x="76200" y="76200"/>
                    </a:moveTo>
                    <a:lnTo>
                      <a:pt x="0" y="0"/>
                    </a:lnTo>
                  </a:path>
                </a:pathLst>
              </a:custGeom>
              <a:noFill/>
              <a:ln w="25400">
                <a:solidFill>
                  <a:schemeClr val="dk1"/>
                </a:solidFill>
              </a:ln>
            </p:spPr>
          </p:sp>
        </p:grpSp>
        <p:grpSp>
          <p:nvGrpSpPr>
            <p:cNvPr id="30" name="Group 30"/>
            <p:cNvGrpSpPr/>
            <p:nvPr/>
          </p:nvGrpSpPr>
          <p:grpSpPr>
            <a:xfrm>
              <a:off x="7924800" y="3403600"/>
              <a:ext cx="228599" cy="203199"/>
              <a:chOff x="7924800" y="3403600"/>
              <a:chExt cx="228599" cy="203199"/>
            </a:xfrm>
          </p:grpSpPr>
          <p:sp>
            <p:nvSpPr>
              <p:cNvPr id="27" name="Freeform 27"/>
              <p:cNvSpPr/>
              <p:nvPr/>
            </p:nvSpPr>
            <p:spPr>
              <a:xfrm>
                <a:off x="7988300" y="3467100"/>
                <a:ext cx="38100" cy="76200"/>
              </a:xfrm>
              <a:custGeom>
                <a:avLst/>
                <a:gdLst/>
                <a:ahLst/>
                <a:cxnLst/>
                <a:rect l="l" t="t" r="r" b="b"/>
                <a:pathLst>
                  <a:path w="38100" h="76200">
                    <a:moveTo>
                      <a:pt x="0" y="0"/>
                    </a:moveTo>
                    <a:lnTo>
                      <a:pt x="38100" y="38100"/>
                    </a:lnTo>
                    <a:lnTo>
                      <a:pt x="0" y="76200"/>
                    </a:lnTo>
                  </a:path>
                </a:pathLst>
              </a:custGeom>
              <a:noFill/>
              <a:ln w="25400">
                <a:solidFill>
                  <a:schemeClr val="dk1"/>
                </a:solidFill>
              </a:ln>
            </p:spPr>
          </p:sp>
          <p:sp>
            <p:nvSpPr>
              <p:cNvPr id="28" name="Freeform 28"/>
              <p:cNvSpPr/>
              <p:nvPr/>
            </p:nvSpPr>
            <p:spPr>
              <a:xfrm>
                <a:off x="8051800" y="3543300"/>
                <a:ext cx="38100" cy="9525"/>
              </a:xfrm>
              <a:custGeom>
                <a:avLst/>
                <a:gdLst/>
                <a:ahLst/>
                <a:cxnLst/>
                <a:rect l="l" t="t" r="r" b="b"/>
                <a:pathLst>
                  <a:path w="38100" h="9525">
                    <a:moveTo>
                      <a:pt x="0" y="0"/>
                    </a:moveTo>
                    <a:lnTo>
                      <a:pt x="38100" y="0"/>
                    </a:lnTo>
                  </a:path>
                </a:pathLst>
              </a:custGeom>
              <a:noFill/>
              <a:ln w="25400">
                <a:solidFill>
                  <a:schemeClr val="dk1"/>
                </a:solidFill>
              </a:ln>
            </p:spPr>
          </p:sp>
          <p:sp>
            <p:nvSpPr>
              <p:cNvPr id="29" name="Freeform 29"/>
              <p:cNvSpPr/>
              <p:nvPr/>
            </p:nvSpPr>
            <p:spPr>
              <a:xfrm>
                <a:off x="7924800" y="3403600"/>
                <a:ext cx="228599" cy="203199"/>
              </a:xfrm>
              <a:custGeom>
                <a:avLst/>
                <a:gdLst/>
                <a:ahLst/>
                <a:cxnLst/>
                <a:rect l="l" t="t" r="r" b="b"/>
                <a:pathLst>
                  <a:path w="228599" h="203199">
                    <a:moveTo>
                      <a:pt x="0" y="25400"/>
                    </a:moveTo>
                    <a:cubicBezTo>
                      <a:pt x="0" y="11372"/>
                      <a:pt x="11372" y="0"/>
                      <a:pt x="25400" y="0"/>
                    </a:cubicBezTo>
                    <a:lnTo>
                      <a:pt x="203199" y="0"/>
                    </a:lnTo>
                    <a:cubicBezTo>
                      <a:pt x="217227" y="0"/>
                      <a:pt x="228599" y="11372"/>
                      <a:pt x="228599" y="25400"/>
                    </a:cubicBezTo>
                    <a:lnTo>
                      <a:pt x="228599" y="177800"/>
                    </a:lnTo>
                    <a:cubicBezTo>
                      <a:pt x="228599" y="191828"/>
                      <a:pt x="217227" y="203199"/>
                      <a:pt x="203199" y="203199"/>
                    </a:cubicBezTo>
                    <a:lnTo>
                      <a:pt x="25400" y="203199"/>
                    </a:lnTo>
                    <a:cubicBezTo>
                      <a:pt x="11372" y="203199"/>
                      <a:pt x="0" y="191828"/>
                      <a:pt x="0" y="177800"/>
                    </a:cubicBezTo>
                    <a:lnTo>
                      <a:pt x="0" y="25400"/>
                    </a:lnTo>
                  </a:path>
                </a:pathLst>
              </a:custGeom>
              <a:noFill/>
              <a:ln w="25400">
                <a:solidFill>
                  <a:schemeClr val="dk1"/>
                </a:solidFill>
              </a:ln>
            </p:spPr>
          </p:sp>
        </p:grpSp>
        <p:grpSp>
          <p:nvGrpSpPr>
            <p:cNvPr id="33" name="Group 33"/>
            <p:cNvGrpSpPr/>
            <p:nvPr/>
          </p:nvGrpSpPr>
          <p:grpSpPr>
            <a:xfrm>
              <a:off x="10003161" y="3390900"/>
              <a:ext cx="248008" cy="228599"/>
              <a:chOff x="10003161" y="3390900"/>
              <a:chExt cx="248008" cy="228599"/>
            </a:xfrm>
          </p:grpSpPr>
          <p:sp>
            <p:nvSpPr>
              <p:cNvPr id="31" name="Freeform 31"/>
              <p:cNvSpPr/>
              <p:nvPr/>
            </p:nvSpPr>
            <p:spPr>
              <a:xfrm>
                <a:off x="10003161" y="3390900"/>
                <a:ext cx="248008" cy="226644"/>
              </a:xfrm>
              <a:custGeom>
                <a:avLst/>
                <a:gdLst/>
                <a:ahLst/>
                <a:cxnLst/>
                <a:rect l="l" t="t" r="r" b="b"/>
                <a:pathLst>
                  <a:path w="248008" h="226644">
                    <a:moveTo>
                      <a:pt x="124581" y="226644"/>
                    </a:moveTo>
                    <a:cubicBezTo>
                      <a:pt x="45021" y="201982"/>
                      <a:pt x="0" y="118013"/>
                      <a:pt x="23489" y="38100"/>
                    </a:cubicBezTo>
                    <a:cubicBezTo>
                      <a:pt x="63056" y="39910"/>
                      <a:pt x="101774" y="26245"/>
                      <a:pt x="131439" y="0"/>
                    </a:cubicBezTo>
                    <a:cubicBezTo>
                      <a:pt x="161104" y="26245"/>
                      <a:pt x="199822" y="39910"/>
                      <a:pt x="239389" y="38100"/>
                    </a:cubicBezTo>
                    <a:cubicBezTo>
                      <a:pt x="248008" y="67426"/>
                      <a:pt x="247610" y="98665"/>
                      <a:pt x="238246" y="127762"/>
                    </a:cubicBezTo>
                  </a:path>
                </a:pathLst>
              </a:custGeom>
              <a:noFill/>
              <a:ln w="25400">
                <a:solidFill>
                  <a:schemeClr val="dk1"/>
                </a:solidFill>
              </a:ln>
            </p:spPr>
          </p:sp>
          <p:sp>
            <p:nvSpPr>
              <p:cNvPr id="32" name="Freeform 32"/>
              <p:cNvSpPr/>
              <p:nvPr/>
            </p:nvSpPr>
            <p:spPr>
              <a:xfrm>
                <a:off x="10172700" y="3568699"/>
                <a:ext cx="76200" cy="50800"/>
              </a:xfrm>
              <a:custGeom>
                <a:avLst/>
                <a:gdLst/>
                <a:ahLst/>
                <a:cxnLst/>
                <a:rect l="l" t="t" r="r" b="b"/>
                <a:pathLst>
                  <a:path w="76200" h="50800">
                    <a:moveTo>
                      <a:pt x="0" y="25400"/>
                    </a:moveTo>
                    <a:lnTo>
                      <a:pt x="25400" y="50800"/>
                    </a:lnTo>
                    <a:lnTo>
                      <a:pt x="76200" y="0"/>
                    </a:lnTo>
                  </a:path>
                </a:pathLst>
              </a:custGeom>
              <a:noFill/>
              <a:ln w="25400">
                <a:solidFill>
                  <a:schemeClr val="dk1"/>
                </a:solidFill>
              </a:ln>
            </p:spPr>
          </p:sp>
        </p:grpSp>
      </p:grpSp>
      <p:grpSp>
        <p:nvGrpSpPr>
          <p:cNvPr id="45" name="Group 45"/>
          <p:cNvGrpSpPr/>
          <p:nvPr/>
        </p:nvGrpSpPr>
        <p:grpSpPr>
          <a:xfrm>
            <a:off x="975038" y="4543425"/>
            <a:ext cx="10096000" cy="495681"/>
            <a:chOff x="975038" y="4543425"/>
            <a:chExt cx="10096000" cy="495681"/>
          </a:xfrm>
        </p:grpSpPr>
        <p:sp>
          <p:nvSpPr>
            <p:cNvPr id="35" name="TextBox 35"/>
            <p:cNvSpPr txBox="1"/>
            <p:nvPr/>
          </p:nvSpPr>
          <p:spPr>
            <a:xfrm>
              <a:off x="975038" y="4543425"/>
              <a:ext cx="1555125" cy="293370"/>
            </a:xfrm>
            <a:prstGeom prst="rect">
              <a:avLst/>
            </a:prstGeom>
            <a:noFill/>
            <a:ln>
              <a:noFill/>
            </a:ln>
          </p:spPr>
          <p:txBody>
            <a:bodyPr wrap="none" lIns="0" tIns="0" rIns="0" bIns="0" anchor="t" anchorCtr="0">
              <a:spAutoFit/>
            </a:bodyPr>
            <a:lstStyle/>
            <a:p>
              <a:pPr algn="ctr"/>
              <a:r>
                <a:rPr lang="en" sz="1500" b="1" dirty="0">
                  <a:solidFill>
                    <a:schemeClr val="dk1"/>
                  </a:solidFill>
                  <a:latin typeface="+mn-lt"/>
                  <a:ea typeface="+mn-ea"/>
                  <a:cs typeface="+mn-cs"/>
                </a:rPr>
                <a:t>Ticket Created</a:t>
              </a:r>
            </a:p>
          </p:txBody>
        </p:sp>
        <p:sp>
          <p:nvSpPr>
            <p:cNvPr id="36" name="TextBox 36"/>
            <p:cNvSpPr txBox="1"/>
            <p:nvPr/>
          </p:nvSpPr>
          <p:spPr>
            <a:xfrm>
              <a:off x="1042416" y="4804410"/>
              <a:ext cx="1420368"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NEW · UNASSIGNED</a:t>
              </a:r>
            </a:p>
          </p:txBody>
        </p:sp>
        <p:sp>
          <p:nvSpPr>
            <p:cNvPr id="37" name="TextBox 37"/>
            <p:cNvSpPr txBox="1"/>
            <p:nvPr/>
          </p:nvSpPr>
          <p:spPr>
            <a:xfrm>
              <a:off x="2941908" y="4543425"/>
              <a:ext cx="1812385" cy="293370"/>
            </a:xfrm>
            <a:prstGeom prst="rect">
              <a:avLst/>
            </a:prstGeom>
            <a:noFill/>
            <a:ln>
              <a:noFill/>
            </a:ln>
          </p:spPr>
          <p:txBody>
            <a:bodyPr wrap="none" lIns="0" tIns="0" rIns="0" bIns="0" anchor="t" anchorCtr="0">
              <a:spAutoFit/>
            </a:bodyPr>
            <a:lstStyle/>
            <a:p>
              <a:pPr algn="ctr"/>
              <a:r>
                <a:rPr lang="en" sz="1500" b="1" dirty="0">
                  <a:solidFill>
                    <a:schemeClr val="dk1"/>
                  </a:solidFill>
                  <a:latin typeface="+mn-lt"/>
                  <a:ea typeface="+mn-ea"/>
                  <a:cs typeface="+mn-cs"/>
                </a:rPr>
                <a:t>AI Router Assigns</a:t>
              </a:r>
            </a:p>
          </p:txBody>
        </p:sp>
        <p:sp>
          <p:nvSpPr>
            <p:cNvPr id="38" name="TextBox 38"/>
            <p:cNvSpPr txBox="1"/>
            <p:nvPr/>
          </p:nvSpPr>
          <p:spPr>
            <a:xfrm>
              <a:off x="3199867" y="4804410"/>
              <a:ext cx="1296467"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≥85% confidence</a:t>
              </a:r>
            </a:p>
          </p:txBody>
        </p:sp>
        <p:sp>
          <p:nvSpPr>
            <p:cNvPr id="39" name="TextBox 39"/>
            <p:cNvSpPr txBox="1"/>
            <p:nvPr/>
          </p:nvSpPr>
          <p:spPr>
            <a:xfrm>
              <a:off x="5070729" y="4543425"/>
              <a:ext cx="1745742" cy="293370"/>
            </a:xfrm>
            <a:prstGeom prst="rect">
              <a:avLst/>
            </a:prstGeom>
            <a:noFill/>
            <a:ln>
              <a:noFill/>
            </a:ln>
          </p:spPr>
          <p:txBody>
            <a:bodyPr wrap="none" lIns="0" tIns="0" rIns="0" bIns="0" anchor="t" anchorCtr="0">
              <a:spAutoFit/>
            </a:bodyPr>
            <a:lstStyle/>
            <a:p>
              <a:pPr algn="ctr"/>
              <a:r>
                <a:rPr lang="en" sz="1500" b="1" dirty="0">
                  <a:solidFill>
                    <a:schemeClr val="dk1"/>
                  </a:solidFill>
                  <a:latin typeface="+mn-lt"/>
                  <a:ea typeface="+mn-ea"/>
                  <a:cs typeface="+mn-cs"/>
                </a:rPr>
                <a:t>Daemon Polls RAG</a:t>
              </a:r>
            </a:p>
          </p:txBody>
        </p:sp>
        <p:sp>
          <p:nvSpPr>
            <p:cNvPr id="40" name="TextBox 40"/>
            <p:cNvSpPr txBox="1"/>
            <p:nvPr/>
          </p:nvSpPr>
          <p:spPr>
            <a:xfrm>
              <a:off x="5267096" y="4804410"/>
              <a:ext cx="1353007"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every 15 seconds</a:t>
              </a:r>
            </a:p>
          </p:txBody>
        </p:sp>
        <p:sp>
          <p:nvSpPr>
            <p:cNvPr id="41" name="TextBox 41"/>
            <p:cNvSpPr txBox="1"/>
            <p:nvPr/>
          </p:nvSpPr>
          <p:spPr>
            <a:xfrm>
              <a:off x="6996304" y="4543425"/>
              <a:ext cx="2085593" cy="293370"/>
            </a:xfrm>
            <a:prstGeom prst="rect">
              <a:avLst/>
            </a:prstGeom>
            <a:noFill/>
            <a:ln>
              <a:noFill/>
            </a:ln>
          </p:spPr>
          <p:txBody>
            <a:bodyPr wrap="none" lIns="0" tIns="0" rIns="0" bIns="0" anchor="t" anchorCtr="0">
              <a:spAutoFit/>
            </a:bodyPr>
            <a:lstStyle/>
            <a:p>
              <a:pPr algn="ctr"/>
              <a:r>
                <a:rPr lang="en" sz="1500" b="1" dirty="0">
                  <a:solidFill>
                    <a:schemeClr val="dk1"/>
                  </a:solidFill>
                  <a:latin typeface="+mn-lt"/>
                  <a:ea typeface="+mn-ea"/>
                  <a:cs typeface="+mn-cs"/>
                </a:rPr>
                <a:t>Execute or Escalate</a:t>
              </a:r>
            </a:p>
          </p:txBody>
        </p:sp>
        <p:sp>
          <p:nvSpPr>
            <p:cNvPr id="42" name="TextBox 42"/>
            <p:cNvSpPr txBox="1"/>
            <p:nvPr/>
          </p:nvSpPr>
          <p:spPr>
            <a:xfrm>
              <a:off x="7200386" y="4804410"/>
              <a:ext cx="1677429"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SOP run, or approval</a:t>
              </a:r>
            </a:p>
          </p:txBody>
        </p:sp>
        <p:sp>
          <p:nvSpPr>
            <p:cNvPr id="43" name="TextBox 43"/>
            <p:cNvSpPr txBox="1"/>
            <p:nvPr/>
          </p:nvSpPr>
          <p:spPr>
            <a:xfrm>
              <a:off x="9203045" y="4543425"/>
              <a:ext cx="1863111" cy="293370"/>
            </a:xfrm>
            <a:prstGeom prst="rect">
              <a:avLst/>
            </a:prstGeom>
            <a:noFill/>
            <a:ln>
              <a:noFill/>
            </a:ln>
          </p:spPr>
          <p:txBody>
            <a:bodyPr wrap="none" lIns="0" tIns="0" rIns="0" bIns="0" anchor="t" anchorCtr="0">
              <a:spAutoFit/>
            </a:bodyPr>
            <a:lstStyle/>
            <a:p>
              <a:pPr algn="ctr"/>
              <a:r>
                <a:rPr lang="en" sz="1500" b="1" dirty="0">
                  <a:solidFill>
                    <a:schemeClr val="dk1"/>
                  </a:solidFill>
                  <a:latin typeface="+mn-lt"/>
                  <a:ea typeface="+mn-ea"/>
                  <a:cs typeface="+mn-cs"/>
                </a:rPr>
                <a:t>Verified &amp; Indexed</a:t>
              </a:r>
            </a:p>
          </p:txBody>
        </p:sp>
        <p:sp>
          <p:nvSpPr>
            <p:cNvPr id="44" name="TextBox 44"/>
            <p:cNvSpPr txBox="1"/>
            <p:nvPr/>
          </p:nvSpPr>
          <p:spPr>
            <a:xfrm>
              <a:off x="9198162" y="4804410"/>
              <a:ext cx="1872876" cy="234696"/>
            </a:xfrm>
            <a:prstGeom prst="rect">
              <a:avLst/>
            </a:prstGeom>
            <a:noFill/>
            <a:ln>
              <a:noFill/>
            </a:ln>
          </p:spPr>
          <p:txBody>
            <a:bodyPr wrap="none" lIns="0" tIns="0" rIns="0" bIns="0" anchor="t" anchorCtr="0">
              <a:spAutoFit/>
            </a:bodyPr>
            <a:lstStyle/>
            <a:p>
              <a:pPr algn="ctr"/>
              <a:r>
                <a:rPr lang="en" sz="1200" dirty="0">
                  <a:solidFill>
                    <a:schemeClr val="accent2"/>
                  </a:solidFill>
                  <a:latin typeface="Consolas"/>
                  <a:ea typeface="Consolas"/>
                  <a:cs typeface="Consolas"/>
                </a:rPr>
                <a:t>proof before RESOLVED</a:t>
              </a:r>
            </a:p>
          </p:txBody>
        </p:sp>
      </p:grpSp>
      <p:grpSp>
        <p:nvGrpSpPr>
          <p:cNvPr id="47" name="Group 47"/>
          <p:cNvGrpSpPr/>
          <p:nvPr/>
        </p:nvGrpSpPr>
        <p:grpSpPr>
          <a:xfrm>
            <a:off x="600456" y="5425440"/>
            <a:ext cx="7356348" cy="637794"/>
            <a:chOff x="600456" y="5425440"/>
            <a:chExt cx="7356348" cy="637794"/>
          </a:xfrm>
        </p:grpSpPr>
        <p:sp>
          <p:nvSpPr>
            <p:cNvPr id="46" name="TextBox 46"/>
            <p:cNvSpPr txBox="1"/>
            <p:nvPr/>
          </p:nvSpPr>
          <p:spPr>
            <a:xfrm>
              <a:off x="600456" y="5425440"/>
              <a:ext cx="7356348" cy="637794"/>
            </a:xfrm>
            <a:prstGeom prst="rect">
              <a:avLst/>
            </a:prstGeom>
            <a:noFill/>
            <a:ln>
              <a:noFill/>
            </a:ln>
          </p:spPr>
          <p:txBody>
            <a:bodyPr wrap="none" lIns="0" tIns="0" rIns="0" bIns="0" anchor="t" anchorCtr="0">
              <a:spAutoFit/>
            </a:bodyPr>
            <a:lstStyle/>
            <a:p>
              <a:pPr algn="l">
                <a:lnSpc>
                  <a:spcPts val="2250"/>
                </a:lnSpc>
              </a:pPr>
              <a:r>
                <a:rPr lang="en" sz="1800" dirty="0">
                  <a:solidFill>
                    <a:schemeClr val="accent5"/>
                  </a:solidFill>
                  <a:latin typeface="+mn-lt"/>
                  <a:ea typeface="+mn-ea"/>
                  <a:cs typeface="+mn-cs"/>
                </a:rPr>
                <a:t>A RAG hit runs the parameterized SOP directly; a RAG miss opens a</a:t>
              </a:r>
              <a:br/>
              <a:r>
                <a:rPr lang="en" sz="1800" b="1" dirty="0">
                  <a:solidFill>
                    <a:schemeClr val="accent3"/>
                  </a:solidFill>
                  <a:latin typeface="+mn-lt"/>
                  <a:ea typeface="+mn-ea"/>
                  <a:cs typeface="+mn-cs"/>
                </a:rPr>
                <a:t>PENDING</a:t>
              </a:r>
              <a:r>
                <a:rPr lang="en" sz="1800" dirty="0">
                  <a:solidFill>
                    <a:schemeClr val="accent5"/>
                  </a:solidFill>
                  <a:latin typeface="+mn-lt"/>
                  <a:ea typeface="+mn-ea"/>
                  <a:cs typeface="+mn-cs"/>
                </a:rPr>
                <a:t xml:space="preserve"> approval card instead of guessing.</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785921"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03 · THE PLATFORM IN ACTION</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P07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7924679" cy="883729"/>
            <a:chOff x="590550" y="1223010"/>
            <a:chExt cx="7924679" cy="883729"/>
          </a:xfrm>
        </p:grpSpPr>
        <p:sp>
          <p:nvSpPr>
            <p:cNvPr id="7" name="TextBox 7"/>
            <p:cNvSpPr txBox="1"/>
            <p:nvPr/>
          </p:nvSpPr>
          <p:spPr>
            <a:xfrm>
              <a:off x="590550" y="1223010"/>
              <a:ext cx="7535401"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The Core Helpdesk Console</a:t>
              </a:r>
            </a:p>
          </p:txBody>
        </p:sp>
        <p:sp>
          <p:nvSpPr>
            <p:cNvPr id="8" name="TextBox 8"/>
            <p:cNvSpPr txBox="1"/>
            <p:nvPr/>
          </p:nvSpPr>
          <p:spPr>
            <a:xfrm>
              <a:off x="601218" y="1784032"/>
              <a:ext cx="7914011"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A full Next.js ITIL service-management portal underneath the autonomy.</a:t>
              </a:r>
            </a:p>
          </p:txBody>
        </p:sp>
      </p:grpSp>
      <p:grpSp>
        <p:nvGrpSpPr>
          <p:cNvPr id="13" name="Group 13"/>
          <p:cNvGrpSpPr/>
          <p:nvPr/>
        </p:nvGrpSpPr>
        <p:grpSpPr>
          <a:xfrm>
            <a:off x="609600" y="2247900"/>
            <a:ext cx="10972800" cy="2762250"/>
            <a:chOff x="609600" y="2247900"/>
            <a:chExt cx="10972800" cy="2762250"/>
          </a:xfrm>
        </p:grpSpPr>
        <p:sp>
          <p:nvSpPr>
            <p:cNvPr id="10" name="Rectangle 10"/>
            <p:cNvSpPr/>
            <p:nvPr/>
          </p:nvSpPr>
          <p:spPr>
            <a:xfrm>
              <a:off x="609600" y="2247900"/>
              <a:ext cx="10972800" cy="2762250"/>
            </a:xfrm>
            <a:prstGeom prst="roundRect">
              <a:avLst>
                <a:gd name="adj" fmla="val 5517"/>
              </a:avLst>
            </a:prstGeom>
            <a:solidFill>
              <a:schemeClr val="lt2"/>
            </a:solidFill>
            <a:ln w="9525">
              <a:solidFill>
                <a:schemeClr val="accent6"/>
              </a:solidFill>
            </a:ln>
            <a:effectLst>
              <a:outerShdw blurRad="228600" dist="57150" dir="5400000" algn="ctr" rotWithShape="0">
                <a:srgbClr val="000000">
                  <a:alpha val="33750"/>
                </a:srgbClr>
              </a:outerShdw>
            </a:effectLst>
          </p:spPr>
        </p:sp>
        <p:pic>
          <p:nvPicPr>
            <p:cNvPr id="11" name="Image 11"/>
            <p:cNvPicPr>
              <a:picLocks noChangeAspect="1"/>
            </p:cNvPicPr>
            <p:nvPr/>
          </p:nvPicPr>
          <p:blipFill>
            <a:blip r:embed="rId2"/>
            <a:stretch>
              <a:fillRect/>
            </a:stretch>
          </p:blipFill>
          <p:spPr>
            <a:xfrm>
              <a:off x="3638550" y="2476500"/>
              <a:ext cx="4914900" cy="2305050"/>
            </a:xfrm>
            <a:prstGeom prst="rect">
              <a:avLst/>
            </a:prstGeom>
          </p:spPr>
        </p:pic>
        <p:sp>
          <p:nvSpPr>
            <p:cNvPr id="12" name="TextBox 12"/>
            <p:cNvSpPr txBox="1"/>
            <p:nvPr/>
          </p:nvSpPr>
          <p:spPr>
            <a:xfrm>
              <a:off x="8254940" y="4728210"/>
              <a:ext cx="3104956"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Consolas"/>
                  <a:ea typeface="Consolas"/>
                  <a:cs typeface="Consolas"/>
                </a:rPr>
                <a:t>Core Helpdesk — ITIL incident dashboard</a:t>
              </a:r>
            </a:p>
          </p:txBody>
        </p:sp>
      </p:grpSp>
      <p:grpSp>
        <p:nvGrpSpPr>
          <p:cNvPr id="38" name="Group 38"/>
          <p:cNvGrpSpPr/>
          <p:nvPr/>
        </p:nvGrpSpPr>
        <p:grpSpPr>
          <a:xfrm>
            <a:off x="603504" y="5143500"/>
            <a:ext cx="10547430" cy="771906"/>
            <a:chOff x="603504" y="5143500"/>
            <a:chExt cx="10547430" cy="771906"/>
          </a:xfrm>
        </p:grpSpPr>
        <p:grpSp>
          <p:nvGrpSpPr>
            <p:cNvPr id="17" name="Group 17"/>
            <p:cNvGrpSpPr/>
            <p:nvPr/>
          </p:nvGrpSpPr>
          <p:grpSpPr>
            <a:xfrm>
              <a:off x="603504" y="5156200"/>
              <a:ext cx="2429374" cy="759206"/>
              <a:chOff x="603504" y="5156200"/>
              <a:chExt cx="2429374" cy="759206"/>
            </a:xfrm>
          </p:grpSpPr>
          <p:sp>
            <p:nvSpPr>
              <p:cNvPr id="14" name="Freeform 14"/>
              <p:cNvSpPr/>
              <p:nvPr/>
            </p:nvSpPr>
            <p:spPr>
              <a:xfrm>
                <a:off x="647700" y="5156200"/>
                <a:ext cx="228599" cy="203199"/>
              </a:xfrm>
              <a:custGeom>
                <a:avLst/>
                <a:gdLst/>
                <a:ahLst/>
                <a:cxnLst/>
                <a:rect l="l" t="t" r="r" b="b"/>
                <a:pathLst>
                  <a:path w="228599" h="203199">
                    <a:moveTo>
                      <a:pt x="0" y="101600"/>
                    </a:moveTo>
                    <a:lnTo>
                      <a:pt x="50800" y="101600"/>
                    </a:lnTo>
                    <a:lnTo>
                      <a:pt x="88900" y="203199"/>
                    </a:lnTo>
                    <a:lnTo>
                      <a:pt x="139700" y="0"/>
                    </a:lnTo>
                    <a:lnTo>
                      <a:pt x="177800" y="101600"/>
                    </a:lnTo>
                    <a:lnTo>
                      <a:pt x="228599" y="101600"/>
                    </a:lnTo>
                  </a:path>
                </a:pathLst>
              </a:custGeom>
              <a:noFill/>
              <a:ln w="25400">
                <a:solidFill>
                  <a:schemeClr val="accent1"/>
                </a:solidFill>
              </a:ln>
            </p:spPr>
          </p:sp>
          <p:sp>
            <p:nvSpPr>
              <p:cNvPr id="15" name="TextBox 15"/>
              <p:cNvSpPr txBox="1"/>
              <p:nvPr/>
            </p:nvSpPr>
            <p:spPr>
              <a:xfrm>
                <a:off x="1002411" y="5161121"/>
                <a:ext cx="2030467" cy="278702"/>
              </a:xfrm>
              <a:prstGeom prst="rect">
                <a:avLst/>
              </a:prstGeom>
              <a:noFill/>
              <a:ln>
                <a:noFill/>
              </a:ln>
            </p:spPr>
            <p:txBody>
              <a:bodyPr wrap="none" lIns="0" tIns="0" rIns="0" bIns="0" anchor="t" anchorCtr="0">
                <a:spAutoFit/>
              </a:bodyPr>
              <a:lstStyle/>
              <a:p>
                <a:pPr algn="l"/>
                <a:r>
                  <a:rPr lang="en" sz="1420" b="1" dirty="0">
                    <a:solidFill>
                      <a:schemeClr val="dk1"/>
                    </a:solidFill>
                    <a:latin typeface="+mn-lt"/>
                    <a:ea typeface="+mn-ea"/>
                    <a:cs typeface="+mn-cs"/>
                  </a:rPr>
                  <a:t>Live Incident Stream</a:t>
                </a:r>
              </a:p>
            </p:txBody>
          </p:sp>
          <p:sp>
            <p:nvSpPr>
              <p:cNvPr id="16" name="TextBox 16"/>
              <p:cNvSpPr txBox="1"/>
              <p:nvPr/>
            </p:nvSpPr>
            <p:spPr>
              <a:xfrm>
                <a:off x="603504" y="5490210"/>
                <a:ext cx="215341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Priority, state, department</a:t>
                </a:r>
                <a:br/>
                <a:r>
                  <a:rPr lang="en" sz="1200" dirty="0">
                    <a:solidFill>
                      <a:schemeClr val="accent5"/>
                    </a:solidFill>
                    <a:latin typeface="+mn-lt"/>
                    <a:ea typeface="+mn-ea"/>
                    <a:cs typeface="+mn-cs"/>
                  </a:rPr>
                  <a:t>at a glance</a:t>
                </a:r>
              </a:p>
            </p:txBody>
          </p:sp>
        </p:grpSp>
        <p:grpSp>
          <p:nvGrpSpPr>
            <p:cNvPr id="24" name="Group 24"/>
            <p:cNvGrpSpPr/>
            <p:nvPr/>
          </p:nvGrpSpPr>
          <p:grpSpPr>
            <a:xfrm>
              <a:off x="3403854" y="5143500"/>
              <a:ext cx="2083732" cy="771906"/>
              <a:chOff x="3403854" y="5143500"/>
              <a:chExt cx="2083732" cy="771906"/>
            </a:xfrm>
          </p:grpSpPr>
          <p:grpSp>
            <p:nvGrpSpPr>
              <p:cNvPr id="21" name="Group 21"/>
              <p:cNvGrpSpPr/>
              <p:nvPr/>
            </p:nvGrpSpPr>
            <p:grpSpPr>
              <a:xfrm>
                <a:off x="3448050" y="5143500"/>
                <a:ext cx="228599" cy="228599"/>
                <a:chOff x="3448050" y="5143500"/>
                <a:chExt cx="228599" cy="228599"/>
              </a:xfrm>
            </p:grpSpPr>
            <p:sp>
              <p:nvSpPr>
                <p:cNvPr id="18" name="Freeform 18"/>
                <p:cNvSpPr/>
                <p:nvPr/>
              </p:nvSpPr>
              <p:spPr>
                <a:xfrm>
                  <a:off x="3448050" y="5321299"/>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1"/>
                  </a:solidFill>
                </a:ln>
              </p:spPr>
            </p:sp>
            <p:sp>
              <p:nvSpPr>
                <p:cNvPr id="19" name="Freeform 19"/>
                <p:cNvSpPr/>
                <p:nvPr/>
              </p:nvSpPr>
              <p:spPr>
                <a:xfrm>
                  <a:off x="3625849" y="5143500"/>
                  <a:ext cx="50800" cy="50800"/>
                </a:xfrm>
                <a:custGeom>
                  <a:avLst/>
                  <a:gdLst/>
                  <a:ahLst/>
                  <a:cxnLst/>
                  <a:rect l="l" t="t" r="r" b="b"/>
                  <a:pathLst>
                    <a:path w="50800" h="50800">
                      <a:moveTo>
                        <a:pt x="25400" y="50800"/>
                      </a:moveTo>
                      <a:cubicBezTo>
                        <a:pt x="39428" y="50800"/>
                        <a:pt x="50800" y="39428"/>
                        <a:pt x="50800" y="25400"/>
                      </a:cubicBezTo>
                      <a:cubicBezTo>
                        <a:pt x="50800" y="11372"/>
                        <a:pt x="39428" y="0"/>
                        <a:pt x="25400" y="0"/>
                      </a:cubicBezTo>
                      <a:cubicBezTo>
                        <a:pt x="11372" y="0"/>
                        <a:pt x="0" y="11372"/>
                        <a:pt x="0" y="25400"/>
                      </a:cubicBezTo>
                      <a:cubicBezTo>
                        <a:pt x="0" y="39428"/>
                        <a:pt x="11372" y="50800"/>
                        <a:pt x="25400" y="50800"/>
                      </a:cubicBezTo>
                    </a:path>
                  </a:pathLst>
                </a:custGeom>
                <a:noFill/>
                <a:ln w="25400">
                  <a:solidFill>
                    <a:schemeClr val="accent1"/>
                  </a:solidFill>
                </a:ln>
              </p:spPr>
            </p:sp>
            <p:sp>
              <p:nvSpPr>
                <p:cNvPr id="20" name="Freeform 20"/>
                <p:cNvSpPr/>
                <p:nvPr/>
              </p:nvSpPr>
              <p:spPr>
                <a:xfrm>
                  <a:off x="3473450" y="5168900"/>
                  <a:ext cx="190500" cy="177800"/>
                </a:xfrm>
                <a:custGeom>
                  <a:avLst/>
                  <a:gdLst/>
                  <a:ahLst/>
                  <a:cxnLst/>
                  <a:rect l="l" t="t" r="r" b="b"/>
                  <a:pathLst>
                    <a:path w="190500" h="177800">
                      <a:moveTo>
                        <a:pt x="76200" y="177800"/>
                      </a:moveTo>
                      <a:lnTo>
                        <a:pt x="146050" y="177800"/>
                      </a:lnTo>
                      <a:cubicBezTo>
                        <a:pt x="170599" y="177800"/>
                        <a:pt x="190500" y="157899"/>
                        <a:pt x="190500" y="133350"/>
                      </a:cubicBezTo>
                      <a:cubicBezTo>
                        <a:pt x="190500" y="108801"/>
                        <a:pt x="170599" y="88900"/>
                        <a:pt x="146050" y="88900"/>
                      </a:cubicBezTo>
                      <a:lnTo>
                        <a:pt x="44450" y="88900"/>
                      </a:lnTo>
                      <a:cubicBezTo>
                        <a:pt x="19901" y="88900"/>
                        <a:pt x="0" y="68999"/>
                        <a:pt x="0" y="44450"/>
                      </a:cubicBezTo>
                      <a:cubicBezTo>
                        <a:pt x="0" y="19901"/>
                        <a:pt x="19901" y="0"/>
                        <a:pt x="44450" y="0"/>
                      </a:cubicBezTo>
                      <a:lnTo>
                        <a:pt x="101600" y="0"/>
                      </a:lnTo>
                    </a:path>
                  </a:pathLst>
                </a:custGeom>
                <a:noFill/>
                <a:ln w="25400">
                  <a:solidFill>
                    <a:schemeClr val="accent1"/>
                  </a:solidFill>
                </a:ln>
              </p:spPr>
            </p:sp>
          </p:grpSp>
          <p:sp>
            <p:nvSpPr>
              <p:cNvPr id="22" name="TextBox 22"/>
              <p:cNvSpPr txBox="1"/>
              <p:nvPr/>
            </p:nvSpPr>
            <p:spPr>
              <a:xfrm>
                <a:off x="3802761" y="5161121"/>
                <a:ext cx="1684825" cy="278702"/>
              </a:xfrm>
              <a:prstGeom prst="rect">
                <a:avLst/>
              </a:prstGeom>
              <a:noFill/>
              <a:ln>
                <a:noFill/>
              </a:ln>
            </p:spPr>
            <p:txBody>
              <a:bodyPr wrap="none" lIns="0" tIns="0" rIns="0" bIns="0" anchor="t" anchorCtr="0">
                <a:spAutoFit/>
              </a:bodyPr>
              <a:lstStyle/>
              <a:p>
                <a:pPr algn="l"/>
                <a:r>
                  <a:rPr lang="en" sz="1420" b="1" dirty="0">
                    <a:solidFill>
                      <a:schemeClr val="dk1"/>
                    </a:solidFill>
                    <a:latin typeface="+mn-lt"/>
                    <a:ea typeface="+mn-ea"/>
                    <a:cs typeface="+mn-cs"/>
                  </a:rPr>
                  <a:t>Impact × Urgency</a:t>
                </a:r>
              </a:p>
            </p:txBody>
          </p:sp>
          <p:sp>
            <p:nvSpPr>
              <p:cNvPr id="23" name="TextBox 23"/>
              <p:cNvSpPr txBox="1"/>
              <p:nvPr/>
            </p:nvSpPr>
            <p:spPr>
              <a:xfrm>
                <a:off x="3403854" y="5490210"/>
                <a:ext cx="178765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ITIL matrix drives P1–P4</a:t>
                </a:r>
                <a:br/>
                <a:r>
                  <a:rPr lang="en" sz="1200" dirty="0">
                    <a:solidFill>
                      <a:schemeClr val="accent5"/>
                    </a:solidFill>
                    <a:latin typeface="+mn-lt"/>
                    <a:ea typeface="+mn-ea"/>
                    <a:cs typeface="+mn-cs"/>
                  </a:rPr>
                  <a:t>priority automatically</a:t>
                </a:r>
              </a:p>
            </p:txBody>
          </p:sp>
        </p:grpSp>
        <p:grpSp>
          <p:nvGrpSpPr>
            <p:cNvPr id="30" name="Group 30"/>
            <p:cNvGrpSpPr/>
            <p:nvPr/>
          </p:nvGrpSpPr>
          <p:grpSpPr>
            <a:xfrm>
              <a:off x="6204204" y="5143500"/>
              <a:ext cx="1985772" cy="771906"/>
              <a:chOff x="6204204" y="5143500"/>
              <a:chExt cx="1985772" cy="771906"/>
            </a:xfrm>
          </p:grpSpPr>
          <p:grpSp>
            <p:nvGrpSpPr>
              <p:cNvPr id="27" name="Group 27"/>
              <p:cNvGrpSpPr/>
              <p:nvPr/>
            </p:nvGrpSpPr>
            <p:grpSpPr>
              <a:xfrm>
                <a:off x="6231261" y="5143500"/>
                <a:ext cx="248008" cy="228599"/>
                <a:chOff x="6231261" y="5143500"/>
                <a:chExt cx="248008" cy="228599"/>
              </a:xfrm>
            </p:grpSpPr>
            <p:sp>
              <p:nvSpPr>
                <p:cNvPr id="25" name="Freeform 25"/>
                <p:cNvSpPr/>
                <p:nvPr/>
              </p:nvSpPr>
              <p:spPr>
                <a:xfrm>
                  <a:off x="6231261" y="5143500"/>
                  <a:ext cx="248008" cy="226644"/>
                </a:xfrm>
                <a:custGeom>
                  <a:avLst/>
                  <a:gdLst/>
                  <a:ahLst/>
                  <a:cxnLst/>
                  <a:rect l="l" t="t" r="r" b="b"/>
                  <a:pathLst>
                    <a:path w="248008" h="226644">
                      <a:moveTo>
                        <a:pt x="124581" y="226644"/>
                      </a:moveTo>
                      <a:cubicBezTo>
                        <a:pt x="45021" y="201982"/>
                        <a:pt x="0" y="118013"/>
                        <a:pt x="23489" y="38100"/>
                      </a:cubicBezTo>
                      <a:cubicBezTo>
                        <a:pt x="63056" y="39910"/>
                        <a:pt x="101774" y="26245"/>
                        <a:pt x="131439" y="0"/>
                      </a:cubicBezTo>
                      <a:cubicBezTo>
                        <a:pt x="161104" y="26245"/>
                        <a:pt x="199822" y="39910"/>
                        <a:pt x="239389" y="38100"/>
                      </a:cubicBezTo>
                      <a:cubicBezTo>
                        <a:pt x="248008" y="67426"/>
                        <a:pt x="247610" y="98665"/>
                        <a:pt x="238246" y="127762"/>
                      </a:cubicBezTo>
                    </a:path>
                  </a:pathLst>
                </a:custGeom>
                <a:noFill/>
                <a:ln w="25400">
                  <a:solidFill>
                    <a:schemeClr val="accent1"/>
                  </a:solidFill>
                </a:ln>
              </p:spPr>
            </p:sp>
            <p:sp>
              <p:nvSpPr>
                <p:cNvPr id="26" name="Freeform 26"/>
                <p:cNvSpPr/>
                <p:nvPr/>
              </p:nvSpPr>
              <p:spPr>
                <a:xfrm>
                  <a:off x="6400800" y="5321299"/>
                  <a:ext cx="76200" cy="50800"/>
                </a:xfrm>
                <a:custGeom>
                  <a:avLst/>
                  <a:gdLst/>
                  <a:ahLst/>
                  <a:cxnLst/>
                  <a:rect l="l" t="t" r="r" b="b"/>
                  <a:pathLst>
                    <a:path w="76200" h="50800">
                      <a:moveTo>
                        <a:pt x="0" y="25400"/>
                      </a:moveTo>
                      <a:lnTo>
                        <a:pt x="25400" y="50800"/>
                      </a:lnTo>
                      <a:lnTo>
                        <a:pt x="76200" y="0"/>
                      </a:lnTo>
                    </a:path>
                  </a:pathLst>
                </a:custGeom>
                <a:noFill/>
                <a:ln w="25400">
                  <a:solidFill>
                    <a:schemeClr val="accent1"/>
                  </a:solidFill>
                </a:ln>
              </p:spPr>
            </p:sp>
          </p:grpSp>
          <p:sp>
            <p:nvSpPr>
              <p:cNvPr id="28" name="TextBox 28"/>
              <p:cNvSpPr txBox="1"/>
              <p:nvPr/>
            </p:nvSpPr>
            <p:spPr>
              <a:xfrm>
                <a:off x="6603111" y="5161121"/>
                <a:ext cx="1474610" cy="278702"/>
              </a:xfrm>
              <a:prstGeom prst="rect">
                <a:avLst/>
              </a:prstGeom>
              <a:noFill/>
              <a:ln>
                <a:noFill/>
              </a:ln>
            </p:spPr>
            <p:txBody>
              <a:bodyPr wrap="none" lIns="0" tIns="0" rIns="0" bIns="0" anchor="t" anchorCtr="0">
                <a:spAutoFit/>
              </a:bodyPr>
              <a:lstStyle/>
              <a:p>
                <a:pPr algn="l"/>
                <a:r>
                  <a:rPr lang="en" sz="1420" b="1" dirty="0">
                    <a:solidFill>
                      <a:schemeClr val="dk1"/>
                    </a:solidFill>
                    <a:latin typeface="+mn-lt"/>
                    <a:ea typeface="+mn-ea"/>
                    <a:cs typeface="+mn-cs"/>
                  </a:rPr>
                  <a:t>SLA Compliance</a:t>
                </a:r>
              </a:p>
            </p:txBody>
          </p:sp>
          <p:sp>
            <p:nvSpPr>
              <p:cNvPr id="29" name="TextBox 29"/>
              <p:cNvSpPr txBox="1"/>
              <p:nvPr/>
            </p:nvSpPr>
            <p:spPr>
              <a:xfrm>
                <a:off x="6204204" y="5490210"/>
                <a:ext cx="198577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Target compliance tracked</a:t>
                </a:r>
                <a:br/>
                <a:r>
                  <a:rPr lang="en" sz="1200" dirty="0">
                    <a:solidFill>
                      <a:schemeClr val="accent5"/>
                    </a:solidFill>
                    <a:latin typeface="+mn-lt"/>
                    <a:ea typeface="+mn-ea"/>
                    <a:cs typeface="+mn-cs"/>
                  </a:rPr>
                  <a:t>per priority tier, live</a:t>
                </a:r>
              </a:p>
            </p:txBody>
          </p:sp>
        </p:grpSp>
        <p:grpSp>
          <p:nvGrpSpPr>
            <p:cNvPr id="37" name="Group 37"/>
            <p:cNvGrpSpPr/>
            <p:nvPr/>
          </p:nvGrpSpPr>
          <p:grpSpPr>
            <a:xfrm>
              <a:off x="9004554" y="5143500"/>
              <a:ext cx="2146380" cy="771906"/>
              <a:chOff x="9004554" y="5143500"/>
              <a:chExt cx="2146380" cy="771906"/>
            </a:xfrm>
          </p:grpSpPr>
          <p:grpSp>
            <p:nvGrpSpPr>
              <p:cNvPr id="34" name="Group 34"/>
              <p:cNvGrpSpPr/>
              <p:nvPr/>
            </p:nvGrpSpPr>
            <p:grpSpPr>
              <a:xfrm>
                <a:off x="9061450" y="5143500"/>
                <a:ext cx="203199" cy="228600"/>
                <a:chOff x="9061450" y="5143500"/>
                <a:chExt cx="203199" cy="228600"/>
              </a:xfrm>
            </p:grpSpPr>
            <p:sp>
              <p:nvSpPr>
                <p:cNvPr id="31" name="Freeform 31"/>
                <p:cNvSpPr/>
                <p:nvPr/>
              </p:nvSpPr>
              <p:spPr>
                <a:xfrm>
                  <a:off x="9061450" y="5143500"/>
                  <a:ext cx="203199" cy="76200"/>
                </a:xfrm>
                <a:custGeom>
                  <a:avLst/>
                  <a:gdLst/>
                  <a:ahLst/>
                  <a:cxnLst/>
                  <a:rect l="l" t="t" r="r" b="b"/>
                  <a:pathLst>
                    <a:path w="203199" h="76200">
                      <a:moveTo>
                        <a:pt x="0" y="38100"/>
                      </a:moveTo>
                      <a:cubicBezTo>
                        <a:pt x="0" y="59142"/>
                        <a:pt x="45488" y="76200"/>
                        <a:pt x="101600" y="76200"/>
                      </a:cubicBezTo>
                      <a:cubicBezTo>
                        <a:pt x="157712" y="76200"/>
                        <a:pt x="203199" y="59142"/>
                        <a:pt x="203199" y="38100"/>
                      </a:cubicBezTo>
                      <a:cubicBezTo>
                        <a:pt x="203199" y="17058"/>
                        <a:pt x="157712" y="0"/>
                        <a:pt x="101600" y="0"/>
                      </a:cubicBezTo>
                      <a:cubicBezTo>
                        <a:pt x="45488" y="0"/>
                        <a:pt x="0" y="17058"/>
                        <a:pt x="0" y="38100"/>
                      </a:cubicBezTo>
                    </a:path>
                  </a:pathLst>
                </a:custGeom>
                <a:noFill/>
                <a:ln w="25400">
                  <a:solidFill>
                    <a:schemeClr val="accent1"/>
                  </a:solidFill>
                </a:ln>
              </p:spPr>
            </p:sp>
            <p:sp>
              <p:nvSpPr>
                <p:cNvPr id="32" name="Freeform 32"/>
                <p:cNvSpPr/>
                <p:nvPr/>
              </p:nvSpPr>
              <p:spPr>
                <a:xfrm>
                  <a:off x="9061450" y="5181600"/>
                  <a:ext cx="203199" cy="114300"/>
                </a:xfrm>
                <a:custGeom>
                  <a:avLst/>
                  <a:gdLst/>
                  <a:ahLst/>
                  <a:cxnLst/>
                  <a:rect l="l" t="t" r="r" b="b"/>
                  <a:pathLst>
                    <a:path w="203199" h="114300">
                      <a:moveTo>
                        <a:pt x="0" y="0"/>
                      </a:moveTo>
                      <a:lnTo>
                        <a:pt x="0" y="76200"/>
                      </a:lnTo>
                      <a:cubicBezTo>
                        <a:pt x="0" y="97242"/>
                        <a:pt x="45488" y="114300"/>
                        <a:pt x="101600" y="114300"/>
                      </a:cubicBezTo>
                      <a:cubicBezTo>
                        <a:pt x="157712" y="114300"/>
                        <a:pt x="203199" y="97242"/>
                        <a:pt x="203199" y="76200"/>
                      </a:cubicBezTo>
                      <a:lnTo>
                        <a:pt x="203199" y="0"/>
                      </a:lnTo>
                    </a:path>
                  </a:pathLst>
                </a:custGeom>
                <a:noFill/>
                <a:ln w="25400">
                  <a:solidFill>
                    <a:schemeClr val="accent1"/>
                  </a:solidFill>
                </a:ln>
              </p:spPr>
            </p:sp>
            <p:sp>
              <p:nvSpPr>
                <p:cNvPr id="33" name="Freeform 33"/>
                <p:cNvSpPr/>
                <p:nvPr/>
              </p:nvSpPr>
              <p:spPr>
                <a:xfrm>
                  <a:off x="9061450" y="5257800"/>
                  <a:ext cx="203199" cy="114300"/>
                </a:xfrm>
                <a:custGeom>
                  <a:avLst/>
                  <a:gdLst/>
                  <a:ahLst/>
                  <a:cxnLst/>
                  <a:rect l="l" t="t" r="r" b="b"/>
                  <a:pathLst>
                    <a:path w="203199" h="114300">
                      <a:moveTo>
                        <a:pt x="0" y="0"/>
                      </a:moveTo>
                      <a:lnTo>
                        <a:pt x="0" y="76200"/>
                      </a:lnTo>
                      <a:cubicBezTo>
                        <a:pt x="0" y="97242"/>
                        <a:pt x="45488" y="114300"/>
                        <a:pt x="101600" y="114300"/>
                      </a:cubicBezTo>
                      <a:cubicBezTo>
                        <a:pt x="157712" y="114300"/>
                        <a:pt x="203199" y="97242"/>
                        <a:pt x="203199" y="76200"/>
                      </a:cubicBezTo>
                      <a:lnTo>
                        <a:pt x="203199" y="0"/>
                      </a:lnTo>
                    </a:path>
                  </a:pathLst>
                </a:custGeom>
                <a:noFill/>
                <a:ln w="25400">
                  <a:solidFill>
                    <a:schemeClr val="accent1"/>
                  </a:solidFill>
                </a:ln>
              </p:spPr>
            </p:sp>
          </p:grpSp>
          <p:sp>
            <p:nvSpPr>
              <p:cNvPr id="35" name="TextBox 35"/>
              <p:cNvSpPr txBox="1"/>
              <p:nvPr/>
            </p:nvSpPr>
            <p:spPr>
              <a:xfrm>
                <a:off x="9403461" y="5161121"/>
                <a:ext cx="1747473" cy="278702"/>
              </a:xfrm>
              <a:prstGeom prst="rect">
                <a:avLst/>
              </a:prstGeom>
              <a:noFill/>
              <a:ln>
                <a:noFill/>
              </a:ln>
            </p:spPr>
            <p:txBody>
              <a:bodyPr wrap="none" lIns="0" tIns="0" rIns="0" bIns="0" anchor="t" anchorCtr="0">
                <a:spAutoFit/>
              </a:bodyPr>
              <a:lstStyle/>
              <a:p>
                <a:pPr algn="l"/>
                <a:r>
                  <a:rPr lang="en" sz="1420" b="1" dirty="0">
                    <a:solidFill>
                      <a:schemeClr val="dk1"/>
                    </a:solidFill>
                    <a:latin typeface="+mn-lt"/>
                    <a:ea typeface="+mn-ea"/>
                    <a:cs typeface="+mn-cs"/>
                  </a:rPr>
                  <a:t>CMDB &amp; Knowledge</a:t>
                </a:r>
              </a:p>
            </p:txBody>
          </p:sp>
          <p:sp>
            <p:nvSpPr>
              <p:cNvPr id="36" name="TextBox 36"/>
              <p:cNvSpPr txBox="1"/>
              <p:nvPr/>
            </p:nvSpPr>
            <p:spPr>
              <a:xfrm>
                <a:off x="9004554" y="5490210"/>
                <a:ext cx="202387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Assets, service catalog,</a:t>
                </a:r>
                <a:br/>
                <a:r>
                  <a:rPr lang="en" sz="1200" dirty="0">
                    <a:solidFill>
                      <a:schemeClr val="accent5"/>
                    </a:solidFill>
                    <a:latin typeface="+mn-lt"/>
                    <a:ea typeface="+mn-ea"/>
                    <a:cs typeface="+mn-cs"/>
                  </a:rPr>
                  <a:t>workflow studio, one place</a:t>
                </a:r>
              </a:p>
            </p:txBody>
          </p:sp>
        </p:gr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785921"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03 · THE PLATFORM IN ACTION</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P08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7962360" cy="883729"/>
            <a:chOff x="590550" y="1223010"/>
            <a:chExt cx="7962360" cy="883729"/>
          </a:xfrm>
        </p:grpSpPr>
        <p:sp>
          <p:nvSpPr>
            <p:cNvPr id="7" name="TextBox 7"/>
            <p:cNvSpPr txBox="1"/>
            <p:nvPr/>
          </p:nvSpPr>
          <p:spPr>
            <a:xfrm>
              <a:off x="590550" y="1223010"/>
              <a:ext cx="7962360"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Precedent-Grounded Triage</a:t>
              </a:r>
            </a:p>
          </p:txBody>
        </p:sp>
        <p:sp>
          <p:nvSpPr>
            <p:cNvPr id="8" name="TextBox 8"/>
            <p:cNvSpPr txBox="1"/>
            <p:nvPr/>
          </p:nvSpPr>
          <p:spPr>
            <a:xfrm>
              <a:off x="601218" y="1784032"/>
              <a:ext cx="7365624"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Sub-second search across real precedent, not a static rules table.</a:t>
              </a:r>
            </a:p>
          </p:txBody>
        </p:sp>
      </p:grpSp>
      <p:grpSp>
        <p:nvGrpSpPr>
          <p:cNvPr id="13" name="Group 13"/>
          <p:cNvGrpSpPr/>
          <p:nvPr/>
        </p:nvGrpSpPr>
        <p:grpSpPr>
          <a:xfrm>
            <a:off x="609600" y="2247900"/>
            <a:ext cx="7543800" cy="4000500"/>
            <a:chOff x="609600" y="2247900"/>
            <a:chExt cx="7543800" cy="4000500"/>
          </a:xfrm>
        </p:grpSpPr>
        <p:sp>
          <p:nvSpPr>
            <p:cNvPr id="10" name="Rectangle 10"/>
            <p:cNvSpPr/>
            <p:nvPr/>
          </p:nvSpPr>
          <p:spPr>
            <a:xfrm>
              <a:off x="609600" y="2247900"/>
              <a:ext cx="7543800" cy="4000500"/>
            </a:xfrm>
            <a:prstGeom prst="roundRect">
              <a:avLst>
                <a:gd name="adj" fmla="val 3810"/>
              </a:avLst>
            </a:prstGeom>
            <a:solidFill>
              <a:schemeClr val="lt2"/>
            </a:solidFill>
            <a:ln w="9525">
              <a:solidFill>
                <a:schemeClr val="accent6"/>
              </a:solidFill>
            </a:ln>
            <a:effectLst>
              <a:outerShdw blurRad="228600" dist="57150" dir="5400000" algn="ctr" rotWithShape="0">
                <a:srgbClr val="000000">
                  <a:alpha val="33750"/>
                </a:srgbClr>
              </a:outerShdw>
            </a:effectLst>
          </p:spPr>
        </p:sp>
        <p:pic>
          <p:nvPicPr>
            <p:cNvPr id="11" name="Image 11"/>
            <p:cNvPicPr>
              <a:picLocks noChangeAspect="1"/>
            </p:cNvPicPr>
            <p:nvPr/>
          </p:nvPicPr>
          <p:blipFill>
            <a:blip r:embed="rId2"/>
            <a:stretch>
              <a:fillRect/>
            </a:stretch>
          </p:blipFill>
          <p:spPr>
            <a:xfrm>
              <a:off x="1231900" y="2476500"/>
              <a:ext cx="6299200" cy="3543300"/>
            </a:xfrm>
            <a:prstGeom prst="rect">
              <a:avLst/>
            </a:prstGeom>
          </p:spPr>
        </p:pic>
        <p:sp>
          <p:nvSpPr>
            <p:cNvPr id="12" name="TextBox 12"/>
            <p:cNvSpPr txBox="1"/>
            <p:nvPr/>
          </p:nvSpPr>
          <p:spPr>
            <a:xfrm>
              <a:off x="5077753" y="6004560"/>
              <a:ext cx="2853143"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Consolas"/>
                  <a:ea typeface="Consolas"/>
                  <a:cs typeface="Consolas"/>
                </a:rPr>
                <a:t>Autonomous AI Router — live capture</a:t>
              </a:r>
            </a:p>
          </p:txBody>
        </p:sp>
      </p:grpSp>
      <p:grpSp>
        <p:nvGrpSpPr>
          <p:cNvPr id="47" name="Group 47"/>
          <p:cNvGrpSpPr/>
          <p:nvPr/>
        </p:nvGrpSpPr>
        <p:grpSpPr>
          <a:xfrm>
            <a:off x="8565356" y="2286000"/>
            <a:ext cx="2921794" cy="3483578"/>
            <a:chOff x="8565356" y="2286000"/>
            <a:chExt cx="2921794" cy="3483578"/>
          </a:xfrm>
        </p:grpSpPr>
        <p:grpSp>
          <p:nvGrpSpPr>
            <p:cNvPr id="21" name="Group 21"/>
            <p:cNvGrpSpPr/>
            <p:nvPr/>
          </p:nvGrpSpPr>
          <p:grpSpPr>
            <a:xfrm>
              <a:off x="8629650" y="2286000"/>
              <a:ext cx="2857500" cy="533400"/>
              <a:chOff x="8629650" y="2286000"/>
              <a:chExt cx="2857500" cy="533400"/>
            </a:xfrm>
          </p:grpSpPr>
          <p:sp>
            <p:nvSpPr>
              <p:cNvPr id="14" name="Rectangle 14"/>
              <p:cNvSpPr/>
              <p:nvPr/>
            </p:nvSpPr>
            <p:spPr>
              <a:xfrm>
                <a:off x="8629650" y="2286000"/>
                <a:ext cx="2857500" cy="533400"/>
              </a:xfrm>
              <a:prstGeom prst="roundRect">
                <a:avLst>
                  <a:gd name="adj" fmla="val 21429"/>
                </a:avLst>
              </a:prstGeom>
              <a:solidFill>
                <a:schemeClr val="lt2"/>
              </a:solidFill>
              <a:ln w="9525">
                <a:solidFill>
                  <a:schemeClr val="accent6"/>
                </a:solidFill>
              </a:ln>
            </p:spPr>
          </p:sp>
          <p:grpSp>
            <p:nvGrpSpPr>
              <p:cNvPr id="18" name="Group 18"/>
              <p:cNvGrpSpPr/>
              <p:nvPr/>
            </p:nvGrpSpPr>
            <p:grpSpPr>
              <a:xfrm>
                <a:off x="8807450" y="2452688"/>
                <a:ext cx="177801" cy="200025"/>
                <a:chOff x="8807450" y="2452688"/>
                <a:chExt cx="177801" cy="200025"/>
              </a:xfrm>
            </p:grpSpPr>
            <p:sp>
              <p:nvSpPr>
                <p:cNvPr id="15" name="Freeform 15"/>
                <p:cNvSpPr/>
                <p:nvPr/>
              </p:nvSpPr>
              <p:spPr>
                <a:xfrm>
                  <a:off x="8807450" y="2452688"/>
                  <a:ext cx="177801" cy="66675"/>
                </a:xfrm>
                <a:custGeom>
                  <a:avLst/>
                  <a:gdLst/>
                  <a:ahLst/>
                  <a:cxnLst/>
                  <a:rect l="l" t="t" r="r" b="b"/>
                  <a:pathLst>
                    <a:path w="177801" h="66675">
                      <a:moveTo>
                        <a:pt x="0" y="33338"/>
                      </a:moveTo>
                      <a:cubicBezTo>
                        <a:pt x="0" y="51749"/>
                        <a:pt x="39802" y="66675"/>
                        <a:pt x="88900" y="66675"/>
                      </a:cubicBezTo>
                      <a:cubicBezTo>
                        <a:pt x="137999" y="66675"/>
                        <a:pt x="177801" y="51749"/>
                        <a:pt x="177801" y="33338"/>
                      </a:cubicBezTo>
                      <a:cubicBezTo>
                        <a:pt x="177801" y="14926"/>
                        <a:pt x="137999" y="0"/>
                        <a:pt x="88900" y="0"/>
                      </a:cubicBezTo>
                      <a:cubicBezTo>
                        <a:pt x="39802" y="0"/>
                        <a:pt x="0" y="14926"/>
                        <a:pt x="0" y="33338"/>
                      </a:cubicBezTo>
                    </a:path>
                  </a:pathLst>
                </a:custGeom>
                <a:noFill/>
                <a:ln w="22225">
                  <a:solidFill>
                    <a:schemeClr val="accent1"/>
                  </a:solidFill>
                </a:ln>
              </p:spPr>
            </p:sp>
            <p:sp>
              <p:nvSpPr>
                <p:cNvPr id="16" name="Freeform 16"/>
                <p:cNvSpPr/>
                <p:nvPr/>
              </p:nvSpPr>
              <p:spPr>
                <a:xfrm>
                  <a:off x="8807450" y="2486025"/>
                  <a:ext cx="177801" cy="100013"/>
                </a:xfrm>
                <a:custGeom>
                  <a:avLst/>
                  <a:gdLst/>
                  <a:ahLst/>
                  <a:cxnLst/>
                  <a:rect l="l" t="t" r="r" b="b"/>
                  <a:pathLst>
                    <a:path w="177801" h="100013">
                      <a:moveTo>
                        <a:pt x="0" y="0"/>
                      </a:moveTo>
                      <a:lnTo>
                        <a:pt x="0" y="66675"/>
                      </a:lnTo>
                      <a:cubicBezTo>
                        <a:pt x="0" y="85087"/>
                        <a:pt x="39802" y="100013"/>
                        <a:pt x="88900" y="100013"/>
                      </a:cubicBezTo>
                      <a:cubicBezTo>
                        <a:pt x="137999" y="100013"/>
                        <a:pt x="177801" y="85087"/>
                        <a:pt x="177801" y="66675"/>
                      </a:cubicBezTo>
                      <a:lnTo>
                        <a:pt x="177801" y="0"/>
                      </a:lnTo>
                    </a:path>
                  </a:pathLst>
                </a:custGeom>
                <a:noFill/>
                <a:ln w="22225">
                  <a:solidFill>
                    <a:schemeClr val="accent1"/>
                  </a:solidFill>
                </a:ln>
              </p:spPr>
            </p:sp>
            <p:sp>
              <p:nvSpPr>
                <p:cNvPr id="17" name="Freeform 17"/>
                <p:cNvSpPr/>
                <p:nvPr/>
              </p:nvSpPr>
              <p:spPr>
                <a:xfrm>
                  <a:off x="8807450" y="2552700"/>
                  <a:ext cx="177801" cy="100013"/>
                </a:xfrm>
                <a:custGeom>
                  <a:avLst/>
                  <a:gdLst/>
                  <a:ahLst/>
                  <a:cxnLst/>
                  <a:rect l="l" t="t" r="r" b="b"/>
                  <a:pathLst>
                    <a:path w="177801" h="100013">
                      <a:moveTo>
                        <a:pt x="0" y="0"/>
                      </a:moveTo>
                      <a:lnTo>
                        <a:pt x="0" y="66675"/>
                      </a:lnTo>
                      <a:cubicBezTo>
                        <a:pt x="0" y="85087"/>
                        <a:pt x="39802" y="100013"/>
                        <a:pt x="88900" y="100013"/>
                      </a:cubicBezTo>
                      <a:cubicBezTo>
                        <a:pt x="137999" y="100013"/>
                        <a:pt x="177801" y="85087"/>
                        <a:pt x="177801" y="66675"/>
                      </a:cubicBezTo>
                      <a:lnTo>
                        <a:pt x="177801" y="0"/>
                      </a:lnTo>
                    </a:path>
                  </a:pathLst>
                </a:custGeom>
                <a:noFill/>
                <a:ln w="22225">
                  <a:solidFill>
                    <a:schemeClr val="accent1"/>
                  </a:solidFill>
                </a:ln>
              </p:spPr>
            </p:sp>
          </p:grpSp>
          <p:sp>
            <p:nvSpPr>
              <p:cNvPr id="19" name="TextBox 19"/>
              <p:cNvSpPr txBox="1"/>
              <p:nvPr/>
            </p:nvSpPr>
            <p:spPr>
              <a:xfrm>
                <a:off x="9118854" y="2404110"/>
                <a:ext cx="1564482"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1,187+ Precedents</a:t>
                </a:r>
              </a:p>
            </p:txBody>
          </p:sp>
          <p:sp>
            <p:nvSpPr>
              <p:cNvPr id="20" name="TextBox 20"/>
              <p:cNvSpPr txBox="1"/>
              <p:nvPr/>
            </p:nvSpPr>
            <p:spPr>
              <a:xfrm>
                <a:off x="9118854" y="2575560"/>
                <a:ext cx="1922316"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+ 218 SRE execution logs</a:t>
                </a:r>
              </a:p>
            </p:txBody>
          </p:sp>
        </p:grpSp>
        <p:sp>
          <p:nvSpPr>
            <p:cNvPr id="22" name="Line 22"/>
            <p:cNvSpPr/>
            <p:nvPr/>
          </p:nvSpPr>
          <p:spPr>
            <a:xfrm>
              <a:off x="10058400" y="2838450"/>
              <a:ext cx="1" cy="228600"/>
            </a:xfrm>
            <a:prstGeom prst="line">
              <a:avLst/>
            </a:prstGeom>
            <a:noFill/>
            <a:ln w="19050">
              <a:solidFill>
                <a:schemeClr val="accent1"/>
              </a:solidFill>
              <a:tailEnd type="triangle" w="lg" len="lg"/>
            </a:ln>
          </p:spPr>
        </p:sp>
        <p:grpSp>
          <p:nvGrpSpPr>
            <p:cNvPr id="30" name="Group 30"/>
            <p:cNvGrpSpPr/>
            <p:nvPr/>
          </p:nvGrpSpPr>
          <p:grpSpPr>
            <a:xfrm>
              <a:off x="8629650" y="3105150"/>
              <a:ext cx="2857500" cy="533400"/>
              <a:chOff x="8629650" y="3105150"/>
              <a:chExt cx="2857500" cy="533400"/>
            </a:xfrm>
          </p:grpSpPr>
          <p:sp>
            <p:nvSpPr>
              <p:cNvPr id="23" name="Rectangle 23"/>
              <p:cNvSpPr/>
              <p:nvPr/>
            </p:nvSpPr>
            <p:spPr>
              <a:xfrm>
                <a:off x="8629650" y="3105150"/>
                <a:ext cx="2857500" cy="533400"/>
              </a:xfrm>
              <a:prstGeom prst="roundRect">
                <a:avLst>
                  <a:gd name="adj" fmla="val 21429"/>
                </a:avLst>
              </a:prstGeom>
              <a:solidFill>
                <a:schemeClr val="lt2"/>
              </a:solidFill>
              <a:ln w="9525">
                <a:solidFill>
                  <a:schemeClr val="accent1">
                    <a:alpha val="50000"/>
                  </a:schemeClr>
                </a:solidFill>
              </a:ln>
            </p:spPr>
          </p:sp>
          <p:grpSp>
            <p:nvGrpSpPr>
              <p:cNvPr id="27" name="Group 27"/>
              <p:cNvGrpSpPr/>
              <p:nvPr/>
            </p:nvGrpSpPr>
            <p:grpSpPr>
              <a:xfrm>
                <a:off x="8796338" y="3271838"/>
                <a:ext cx="200025" cy="200025"/>
                <a:chOff x="8796338" y="3271838"/>
                <a:chExt cx="200025" cy="200025"/>
              </a:xfrm>
            </p:grpSpPr>
            <p:sp>
              <p:nvSpPr>
                <p:cNvPr id="24" name="Freeform 24"/>
                <p:cNvSpPr/>
                <p:nvPr/>
              </p:nvSpPr>
              <p:spPr>
                <a:xfrm>
                  <a:off x="8796338" y="3427413"/>
                  <a:ext cx="44450" cy="44450"/>
                </a:xfrm>
                <a:custGeom>
                  <a:avLst/>
                  <a:gdLst/>
                  <a:ahLst/>
                  <a:cxnLst/>
                  <a:rect l="l" t="t" r="r" b="b"/>
                  <a:pathLst>
                    <a:path w="44450" h="44450">
                      <a:moveTo>
                        <a:pt x="0" y="22225"/>
                      </a:moveTo>
                      <a:cubicBezTo>
                        <a:pt x="0" y="34500"/>
                        <a:pt x="9950" y="44450"/>
                        <a:pt x="22225" y="44450"/>
                      </a:cubicBezTo>
                      <a:cubicBezTo>
                        <a:pt x="34500" y="44450"/>
                        <a:pt x="44450" y="34500"/>
                        <a:pt x="44450" y="22225"/>
                      </a:cubicBezTo>
                      <a:cubicBezTo>
                        <a:pt x="44450" y="9950"/>
                        <a:pt x="34500" y="0"/>
                        <a:pt x="22225" y="0"/>
                      </a:cubicBezTo>
                      <a:cubicBezTo>
                        <a:pt x="9950" y="0"/>
                        <a:pt x="0" y="9950"/>
                        <a:pt x="0" y="22225"/>
                      </a:cubicBezTo>
                    </a:path>
                  </a:pathLst>
                </a:custGeom>
                <a:noFill/>
                <a:ln w="22225">
                  <a:solidFill>
                    <a:schemeClr val="accent2"/>
                  </a:solidFill>
                </a:ln>
              </p:spPr>
            </p:sp>
            <p:sp>
              <p:nvSpPr>
                <p:cNvPr id="25" name="Freeform 25"/>
                <p:cNvSpPr/>
                <p:nvPr/>
              </p:nvSpPr>
              <p:spPr>
                <a:xfrm>
                  <a:off x="8951913" y="3271838"/>
                  <a:ext cx="44450" cy="44450"/>
                </a:xfrm>
                <a:custGeom>
                  <a:avLst/>
                  <a:gdLst/>
                  <a:ahLst/>
                  <a:cxnLst/>
                  <a:rect l="l" t="t" r="r" b="b"/>
                  <a:pathLst>
                    <a:path w="44450" h="44450">
                      <a:moveTo>
                        <a:pt x="22225" y="44450"/>
                      </a:moveTo>
                      <a:cubicBezTo>
                        <a:pt x="34500" y="44450"/>
                        <a:pt x="44450" y="34500"/>
                        <a:pt x="44450" y="22225"/>
                      </a:cubicBezTo>
                      <a:cubicBezTo>
                        <a:pt x="44450" y="9950"/>
                        <a:pt x="34500" y="0"/>
                        <a:pt x="22225" y="0"/>
                      </a:cubicBezTo>
                      <a:cubicBezTo>
                        <a:pt x="9950" y="0"/>
                        <a:pt x="0" y="9950"/>
                        <a:pt x="0" y="22225"/>
                      </a:cubicBezTo>
                      <a:cubicBezTo>
                        <a:pt x="0" y="34500"/>
                        <a:pt x="9950" y="44450"/>
                        <a:pt x="22225" y="44450"/>
                      </a:cubicBezTo>
                    </a:path>
                  </a:pathLst>
                </a:custGeom>
                <a:noFill/>
                <a:ln w="22225">
                  <a:solidFill>
                    <a:schemeClr val="accent2"/>
                  </a:solidFill>
                </a:ln>
              </p:spPr>
            </p:sp>
            <p:sp>
              <p:nvSpPr>
                <p:cNvPr id="26" name="Freeform 26"/>
                <p:cNvSpPr/>
                <p:nvPr/>
              </p:nvSpPr>
              <p:spPr>
                <a:xfrm>
                  <a:off x="8818563" y="3294063"/>
                  <a:ext cx="166688" cy="155575"/>
                </a:xfrm>
                <a:custGeom>
                  <a:avLst/>
                  <a:gdLst/>
                  <a:ahLst/>
                  <a:cxnLst/>
                  <a:rect l="l" t="t" r="r" b="b"/>
                  <a:pathLst>
                    <a:path w="166688" h="155575">
                      <a:moveTo>
                        <a:pt x="66675" y="155575"/>
                      </a:moveTo>
                      <a:lnTo>
                        <a:pt x="127794" y="155575"/>
                      </a:lnTo>
                      <a:cubicBezTo>
                        <a:pt x="149275" y="155575"/>
                        <a:pt x="166688" y="138162"/>
                        <a:pt x="166688" y="116682"/>
                      </a:cubicBezTo>
                      <a:cubicBezTo>
                        <a:pt x="166688" y="95201"/>
                        <a:pt x="149275" y="77788"/>
                        <a:pt x="127794" y="77788"/>
                      </a:cubicBezTo>
                      <a:lnTo>
                        <a:pt x="38894" y="77788"/>
                      </a:lnTo>
                      <a:cubicBezTo>
                        <a:pt x="17413" y="77788"/>
                        <a:pt x="0" y="60374"/>
                        <a:pt x="0" y="38894"/>
                      </a:cubicBezTo>
                      <a:cubicBezTo>
                        <a:pt x="0" y="17413"/>
                        <a:pt x="17413" y="0"/>
                        <a:pt x="38894" y="0"/>
                      </a:cubicBezTo>
                      <a:lnTo>
                        <a:pt x="88900" y="0"/>
                      </a:lnTo>
                    </a:path>
                  </a:pathLst>
                </a:custGeom>
                <a:noFill/>
                <a:ln w="22225">
                  <a:solidFill>
                    <a:schemeClr val="accent2"/>
                  </a:solidFill>
                </a:ln>
              </p:spPr>
            </p:sp>
          </p:grpSp>
          <p:sp>
            <p:nvSpPr>
              <p:cNvPr id="28" name="TextBox 28"/>
              <p:cNvSpPr txBox="1"/>
              <p:nvPr/>
            </p:nvSpPr>
            <p:spPr>
              <a:xfrm>
                <a:off x="9118854" y="3223260"/>
                <a:ext cx="1345223"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Routing Decision</a:t>
                </a:r>
              </a:p>
            </p:txBody>
          </p:sp>
          <p:sp>
            <p:nvSpPr>
              <p:cNvPr id="29" name="TextBox 29"/>
              <p:cNvSpPr txBox="1"/>
              <p:nvPr/>
            </p:nvSpPr>
            <p:spPr>
              <a:xfrm>
                <a:off x="9118854" y="3394710"/>
                <a:ext cx="1849795"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Nemotron 3.5 Lightning</a:t>
                </a:r>
              </a:p>
            </p:txBody>
          </p:sp>
        </p:grpSp>
        <p:grpSp>
          <p:nvGrpSpPr>
            <p:cNvPr id="36" name="Group 36"/>
            <p:cNvGrpSpPr/>
            <p:nvPr/>
          </p:nvGrpSpPr>
          <p:grpSpPr>
            <a:xfrm>
              <a:off x="8596312" y="3936206"/>
              <a:ext cx="2354771" cy="499872"/>
              <a:chOff x="8596312" y="3936206"/>
              <a:chExt cx="2354771" cy="499872"/>
            </a:xfrm>
          </p:grpSpPr>
          <p:grpSp>
            <p:nvGrpSpPr>
              <p:cNvPr id="34" name="Group 34"/>
              <p:cNvGrpSpPr/>
              <p:nvPr/>
            </p:nvGrpSpPr>
            <p:grpSpPr>
              <a:xfrm>
                <a:off x="8596312" y="3936206"/>
                <a:ext cx="154781" cy="185737"/>
                <a:chOff x="8596312" y="3936206"/>
                <a:chExt cx="154781" cy="185737"/>
              </a:xfrm>
            </p:grpSpPr>
            <p:sp>
              <p:nvSpPr>
                <p:cNvPr id="31" name="Freeform 31"/>
                <p:cNvSpPr/>
                <p:nvPr/>
              </p:nvSpPr>
              <p:spPr>
                <a:xfrm>
                  <a:off x="8616950" y="3936206"/>
                  <a:ext cx="82550" cy="82550"/>
                </a:xfrm>
                <a:custGeom>
                  <a:avLst/>
                  <a:gdLst/>
                  <a:ahLst/>
                  <a:cxnLst/>
                  <a:rect l="l" t="t" r="r" b="b"/>
                  <a:pathLst>
                    <a:path w="82550" h="82550">
                      <a:moveTo>
                        <a:pt x="0" y="41275"/>
                      </a:moveTo>
                      <a:cubicBezTo>
                        <a:pt x="0" y="64070"/>
                        <a:pt x="18479" y="82550"/>
                        <a:pt x="41275" y="82550"/>
                      </a:cubicBezTo>
                      <a:cubicBezTo>
                        <a:pt x="64070" y="82550"/>
                        <a:pt x="82550" y="64070"/>
                        <a:pt x="82550" y="41275"/>
                      </a:cubicBezTo>
                      <a:cubicBezTo>
                        <a:pt x="82550" y="18479"/>
                        <a:pt x="64070" y="0"/>
                        <a:pt x="41275" y="0"/>
                      </a:cubicBezTo>
                      <a:cubicBezTo>
                        <a:pt x="18479" y="0"/>
                        <a:pt x="0" y="18479"/>
                        <a:pt x="0" y="41275"/>
                      </a:cubicBezTo>
                    </a:path>
                  </a:pathLst>
                </a:custGeom>
                <a:noFill/>
                <a:ln w="20637">
                  <a:solidFill>
                    <a:schemeClr val="accent2"/>
                  </a:solidFill>
                </a:ln>
              </p:spPr>
            </p:sp>
            <p:sp>
              <p:nvSpPr>
                <p:cNvPr id="32" name="Freeform 32"/>
                <p:cNvSpPr/>
                <p:nvPr/>
              </p:nvSpPr>
              <p:spPr>
                <a:xfrm>
                  <a:off x="8596312" y="4060031"/>
                  <a:ext cx="82550" cy="61912"/>
                </a:xfrm>
                <a:custGeom>
                  <a:avLst/>
                  <a:gdLst/>
                  <a:ahLst/>
                  <a:cxnLst/>
                  <a:rect l="l" t="t" r="r" b="b"/>
                  <a:pathLst>
                    <a:path w="82550" h="61912">
                      <a:moveTo>
                        <a:pt x="0" y="61912"/>
                      </a:moveTo>
                      <a:lnTo>
                        <a:pt x="0" y="41275"/>
                      </a:lnTo>
                      <a:cubicBezTo>
                        <a:pt x="0" y="18479"/>
                        <a:pt x="18479" y="0"/>
                        <a:pt x="41275" y="0"/>
                      </a:cubicBezTo>
                      <a:lnTo>
                        <a:pt x="82550" y="0"/>
                      </a:lnTo>
                    </a:path>
                  </a:pathLst>
                </a:custGeom>
                <a:noFill/>
                <a:ln w="20637">
                  <a:solidFill>
                    <a:schemeClr val="accent2"/>
                  </a:solidFill>
                </a:ln>
              </p:spPr>
            </p:sp>
            <p:sp>
              <p:nvSpPr>
                <p:cNvPr id="33" name="Freeform 33"/>
                <p:cNvSpPr/>
                <p:nvPr/>
              </p:nvSpPr>
              <p:spPr>
                <a:xfrm>
                  <a:off x="8689181" y="4080668"/>
                  <a:ext cx="61912" cy="41275"/>
                </a:xfrm>
                <a:custGeom>
                  <a:avLst/>
                  <a:gdLst/>
                  <a:ahLst/>
                  <a:cxnLst/>
                  <a:rect l="l" t="t" r="r" b="b"/>
                  <a:pathLst>
                    <a:path w="61912" h="41275">
                      <a:moveTo>
                        <a:pt x="0" y="20637"/>
                      </a:moveTo>
                      <a:lnTo>
                        <a:pt x="20637" y="41275"/>
                      </a:lnTo>
                      <a:lnTo>
                        <a:pt x="61912" y="0"/>
                      </a:lnTo>
                    </a:path>
                  </a:pathLst>
                </a:custGeom>
                <a:noFill/>
                <a:ln w="20637">
                  <a:solidFill>
                    <a:schemeClr val="accent2"/>
                  </a:solidFill>
                </a:ln>
              </p:spPr>
            </p:sp>
          </p:grpSp>
          <p:sp>
            <p:nvSpPr>
              <p:cNvPr id="35" name="TextBox 35"/>
              <p:cNvSpPr txBox="1"/>
              <p:nvPr/>
            </p:nvSpPr>
            <p:spPr>
              <a:xfrm>
                <a:off x="8889873" y="3958114"/>
                <a:ext cx="2061210" cy="477964"/>
              </a:xfrm>
              <a:prstGeom prst="rect">
                <a:avLst/>
              </a:prstGeom>
              <a:noFill/>
              <a:ln>
                <a:noFill/>
              </a:ln>
            </p:spPr>
            <p:txBody>
              <a:bodyPr wrap="none" lIns="0" tIns="0" rIns="0" bIns="0" anchor="t" anchorCtr="0">
                <a:spAutoFit/>
              </a:bodyPr>
              <a:lstStyle/>
              <a:p>
                <a:pPr algn="l">
                  <a:lnSpc>
                    <a:spcPts val="1800"/>
                  </a:lnSpc>
                </a:pPr>
                <a:r>
                  <a:rPr lang="en" sz="1280" dirty="0">
                    <a:solidFill>
                      <a:schemeClr val="dk1"/>
                    </a:solidFill>
                    <a:latin typeface="+mn-lt"/>
                    <a:ea typeface="+mn-ea"/>
                    <a:cs typeface="+mn-cs"/>
                  </a:rPr>
                  <a:t xml:space="preserve">At </a:t>
                </a:r>
                <a:r>
                  <a:rPr lang="en" sz="1280" b="1" dirty="0">
                    <a:solidFill>
                      <a:schemeClr val="accent2"/>
                    </a:solidFill>
                    <a:latin typeface="+mn-lt"/>
                    <a:ea typeface="+mn-ea"/>
                    <a:cs typeface="+mn-cs"/>
                  </a:rPr>
                  <a:t>≥85%</a:t>
                </a:r>
                <a:r>
                  <a:rPr lang="en" sz="1280" dirty="0">
                    <a:solidFill>
                      <a:schemeClr val="dk1"/>
                    </a:solidFill>
                    <a:latin typeface="+mn-lt"/>
                    <a:ea typeface="+mn-ea"/>
                    <a:cs typeface="+mn-cs"/>
                  </a:rPr>
                  <a:t>, auto-assigns</a:t>
                </a:r>
                <a:br/>
                <a:r>
                  <a:rPr lang="en" sz="1280" dirty="0">
                    <a:solidFill>
                      <a:schemeClr val="dk1"/>
                    </a:solidFill>
                    <a:latin typeface="+mn-lt"/>
                    <a:ea typeface="+mn-ea"/>
                    <a:cs typeface="+mn-cs"/>
                  </a:rPr>
                  <a:t>and moves to IN_PROGRESS</a:t>
                </a:r>
              </a:p>
            </p:txBody>
          </p:sp>
        </p:grpSp>
        <p:grpSp>
          <p:nvGrpSpPr>
            <p:cNvPr id="43" name="Group 43"/>
            <p:cNvGrpSpPr/>
            <p:nvPr/>
          </p:nvGrpSpPr>
          <p:grpSpPr>
            <a:xfrm>
              <a:off x="8565356" y="4623594"/>
              <a:ext cx="2458879" cy="479234"/>
              <a:chOff x="8565356" y="4623594"/>
              <a:chExt cx="2458879" cy="479234"/>
            </a:xfrm>
          </p:grpSpPr>
          <p:grpSp>
            <p:nvGrpSpPr>
              <p:cNvPr id="41" name="Group 41"/>
              <p:cNvGrpSpPr/>
              <p:nvPr/>
            </p:nvGrpSpPr>
            <p:grpSpPr>
              <a:xfrm>
                <a:off x="8565356" y="4623594"/>
                <a:ext cx="185737" cy="144462"/>
                <a:chOff x="8565356" y="4623594"/>
                <a:chExt cx="185737" cy="144462"/>
              </a:xfrm>
            </p:grpSpPr>
            <p:sp>
              <p:nvSpPr>
                <p:cNvPr id="37" name="Freeform 37"/>
                <p:cNvSpPr/>
                <p:nvPr/>
              </p:nvSpPr>
              <p:spPr>
                <a:xfrm>
                  <a:off x="8689181" y="4623594"/>
                  <a:ext cx="9525" cy="20637"/>
                </a:xfrm>
                <a:custGeom>
                  <a:avLst/>
                  <a:gdLst/>
                  <a:ahLst/>
                  <a:cxnLst/>
                  <a:rect l="l" t="t" r="r" b="b"/>
                  <a:pathLst>
                    <a:path w="9525" h="20637">
                      <a:moveTo>
                        <a:pt x="0" y="0"/>
                      </a:moveTo>
                      <a:lnTo>
                        <a:pt x="0" y="20637"/>
                      </a:lnTo>
                    </a:path>
                  </a:pathLst>
                </a:custGeom>
                <a:noFill/>
                <a:ln w="20637">
                  <a:solidFill>
                    <a:schemeClr val="accent3"/>
                  </a:solidFill>
                </a:ln>
              </p:spPr>
            </p:sp>
            <p:sp>
              <p:nvSpPr>
                <p:cNvPr id="38" name="Freeform 38"/>
                <p:cNvSpPr/>
                <p:nvPr/>
              </p:nvSpPr>
              <p:spPr>
                <a:xfrm>
                  <a:off x="8689181" y="4685506"/>
                  <a:ext cx="9525" cy="20637"/>
                </a:xfrm>
                <a:custGeom>
                  <a:avLst/>
                  <a:gdLst/>
                  <a:ahLst/>
                  <a:cxnLst/>
                  <a:rect l="l" t="t" r="r" b="b"/>
                  <a:pathLst>
                    <a:path w="9525" h="20637">
                      <a:moveTo>
                        <a:pt x="0" y="0"/>
                      </a:moveTo>
                      <a:lnTo>
                        <a:pt x="0" y="20637"/>
                      </a:lnTo>
                    </a:path>
                  </a:pathLst>
                </a:custGeom>
                <a:noFill/>
                <a:ln w="20637">
                  <a:solidFill>
                    <a:schemeClr val="accent3"/>
                  </a:solidFill>
                </a:ln>
              </p:spPr>
            </p:sp>
            <p:sp>
              <p:nvSpPr>
                <p:cNvPr id="39" name="Freeform 39"/>
                <p:cNvSpPr/>
                <p:nvPr/>
              </p:nvSpPr>
              <p:spPr>
                <a:xfrm>
                  <a:off x="8689181" y="4747418"/>
                  <a:ext cx="9525" cy="20637"/>
                </a:xfrm>
                <a:custGeom>
                  <a:avLst/>
                  <a:gdLst/>
                  <a:ahLst/>
                  <a:cxnLst/>
                  <a:rect l="l" t="t" r="r" b="b"/>
                  <a:pathLst>
                    <a:path w="9525" h="20637">
                      <a:moveTo>
                        <a:pt x="0" y="0"/>
                      </a:moveTo>
                      <a:lnTo>
                        <a:pt x="0" y="20637"/>
                      </a:lnTo>
                    </a:path>
                  </a:pathLst>
                </a:custGeom>
                <a:noFill/>
                <a:ln w="20637">
                  <a:solidFill>
                    <a:schemeClr val="accent3"/>
                  </a:solidFill>
                </a:ln>
              </p:spPr>
            </p:sp>
            <p:sp>
              <p:nvSpPr>
                <p:cNvPr id="40" name="Freeform 40"/>
                <p:cNvSpPr/>
                <p:nvPr/>
              </p:nvSpPr>
              <p:spPr>
                <a:xfrm>
                  <a:off x="8565356" y="4623594"/>
                  <a:ext cx="185737" cy="144462"/>
                </a:xfrm>
                <a:custGeom>
                  <a:avLst/>
                  <a:gdLst/>
                  <a:ahLst/>
                  <a:cxnLst/>
                  <a:rect l="l" t="t" r="r" b="b"/>
                  <a:pathLst>
                    <a:path w="185737" h="144462">
                      <a:moveTo>
                        <a:pt x="20637" y="0"/>
                      </a:moveTo>
                      <a:lnTo>
                        <a:pt x="165099" y="0"/>
                      </a:lnTo>
                      <a:cubicBezTo>
                        <a:pt x="176497" y="0"/>
                        <a:pt x="185737" y="9240"/>
                        <a:pt x="185737" y="20637"/>
                      </a:cubicBezTo>
                      <a:lnTo>
                        <a:pt x="185737" y="51594"/>
                      </a:lnTo>
                      <a:cubicBezTo>
                        <a:pt x="174339" y="51594"/>
                        <a:pt x="165099" y="60833"/>
                        <a:pt x="165099" y="72231"/>
                      </a:cubicBezTo>
                      <a:cubicBezTo>
                        <a:pt x="165099" y="83629"/>
                        <a:pt x="174339" y="92868"/>
                        <a:pt x="185737" y="92868"/>
                      </a:cubicBezTo>
                      <a:lnTo>
                        <a:pt x="185737" y="123825"/>
                      </a:lnTo>
                      <a:cubicBezTo>
                        <a:pt x="185737" y="135222"/>
                        <a:pt x="176497" y="144462"/>
                        <a:pt x="165099" y="144462"/>
                      </a:cubicBezTo>
                      <a:lnTo>
                        <a:pt x="20637" y="144462"/>
                      </a:lnTo>
                      <a:cubicBezTo>
                        <a:pt x="9240" y="144462"/>
                        <a:pt x="0" y="135222"/>
                        <a:pt x="0" y="123825"/>
                      </a:cubicBezTo>
                      <a:lnTo>
                        <a:pt x="0" y="92868"/>
                      </a:lnTo>
                      <a:cubicBezTo>
                        <a:pt x="11398" y="92868"/>
                        <a:pt x="20637" y="83629"/>
                        <a:pt x="20637" y="72231"/>
                      </a:cubicBezTo>
                      <a:cubicBezTo>
                        <a:pt x="20637" y="60833"/>
                        <a:pt x="11398" y="51594"/>
                        <a:pt x="0" y="51594"/>
                      </a:cubicBezTo>
                      <a:lnTo>
                        <a:pt x="0" y="20637"/>
                      </a:lnTo>
                      <a:cubicBezTo>
                        <a:pt x="0" y="9240"/>
                        <a:pt x="9240" y="0"/>
                        <a:pt x="20637" y="0"/>
                      </a:cubicBezTo>
                    </a:path>
                  </a:pathLst>
                </a:custGeom>
                <a:noFill/>
                <a:ln w="20637">
                  <a:solidFill>
                    <a:schemeClr val="accent3"/>
                  </a:solidFill>
                </a:ln>
              </p:spPr>
            </p:sp>
          </p:grpSp>
          <p:sp>
            <p:nvSpPr>
              <p:cNvPr id="42" name="TextBox 42"/>
              <p:cNvSpPr txBox="1"/>
              <p:nvPr/>
            </p:nvSpPr>
            <p:spPr>
              <a:xfrm>
                <a:off x="8889873" y="4624864"/>
                <a:ext cx="2134362" cy="477964"/>
              </a:xfrm>
              <a:prstGeom prst="rect">
                <a:avLst/>
              </a:prstGeom>
              <a:noFill/>
              <a:ln>
                <a:noFill/>
              </a:ln>
            </p:spPr>
            <p:txBody>
              <a:bodyPr wrap="none" lIns="0" tIns="0" rIns="0" bIns="0" anchor="t" anchorCtr="0">
                <a:spAutoFit/>
              </a:bodyPr>
              <a:lstStyle/>
              <a:p>
                <a:pPr algn="l">
                  <a:lnSpc>
                    <a:spcPts val="1800"/>
                  </a:lnSpc>
                </a:pPr>
                <a:r>
                  <a:rPr lang="en" sz="1280" dirty="0">
                    <a:solidFill>
                      <a:schemeClr val="dk1"/>
                    </a:solidFill>
                    <a:latin typeface="+mn-lt"/>
                    <a:ea typeface="+mn-ea"/>
                    <a:cs typeface="+mn-cs"/>
                  </a:rPr>
                  <a:t>Below threshold stays</a:t>
                </a:r>
                <a:br/>
                <a:r>
                  <a:rPr lang="en" sz="1280" dirty="0">
                    <a:solidFill>
                      <a:schemeClr val="dk1"/>
                    </a:solidFill>
                    <a:latin typeface="+mn-lt"/>
                    <a:ea typeface="+mn-ea"/>
                    <a:cs typeface="+mn-cs"/>
                  </a:rPr>
                  <a:t>UNASSIGNED — never a guess</a:t>
                </a:r>
              </a:p>
            </p:txBody>
          </p:sp>
        </p:grpSp>
        <p:grpSp>
          <p:nvGrpSpPr>
            <p:cNvPr id="46" name="Group 46"/>
            <p:cNvGrpSpPr/>
            <p:nvPr/>
          </p:nvGrpSpPr>
          <p:grpSpPr>
            <a:xfrm>
              <a:off x="8565356" y="5280025"/>
              <a:ext cx="2629567" cy="489553"/>
              <a:chOff x="8565356" y="5280025"/>
              <a:chExt cx="2629567" cy="489553"/>
            </a:xfrm>
          </p:grpSpPr>
          <p:sp>
            <p:nvSpPr>
              <p:cNvPr id="44" name="Freeform 44"/>
              <p:cNvSpPr/>
              <p:nvPr/>
            </p:nvSpPr>
            <p:spPr>
              <a:xfrm>
                <a:off x="8565356" y="5280025"/>
                <a:ext cx="185737" cy="165099"/>
              </a:xfrm>
              <a:custGeom>
                <a:avLst/>
                <a:gdLst/>
                <a:ahLst/>
                <a:cxnLst/>
                <a:rect l="l" t="t" r="r" b="b"/>
                <a:pathLst>
                  <a:path w="185737" h="165099">
                    <a:moveTo>
                      <a:pt x="0" y="82550"/>
                    </a:moveTo>
                    <a:lnTo>
                      <a:pt x="41275" y="82550"/>
                    </a:lnTo>
                    <a:lnTo>
                      <a:pt x="72231" y="165099"/>
                    </a:lnTo>
                    <a:lnTo>
                      <a:pt x="113506" y="0"/>
                    </a:lnTo>
                    <a:lnTo>
                      <a:pt x="144462" y="82550"/>
                    </a:lnTo>
                    <a:lnTo>
                      <a:pt x="185737" y="82550"/>
                    </a:lnTo>
                  </a:path>
                </a:pathLst>
              </a:custGeom>
              <a:noFill/>
              <a:ln w="20637">
                <a:solidFill>
                  <a:schemeClr val="accent1"/>
                </a:solidFill>
              </a:ln>
            </p:spPr>
          </p:sp>
          <p:sp>
            <p:nvSpPr>
              <p:cNvPr id="45" name="TextBox 45"/>
              <p:cNvSpPr txBox="1"/>
              <p:nvPr/>
            </p:nvSpPr>
            <p:spPr>
              <a:xfrm>
                <a:off x="8889873" y="5291614"/>
                <a:ext cx="2305050" cy="477964"/>
              </a:xfrm>
              <a:prstGeom prst="rect">
                <a:avLst/>
              </a:prstGeom>
              <a:noFill/>
              <a:ln>
                <a:noFill/>
              </a:ln>
            </p:spPr>
            <p:txBody>
              <a:bodyPr wrap="none" lIns="0" tIns="0" rIns="0" bIns="0" anchor="t" anchorCtr="0">
                <a:spAutoFit/>
              </a:bodyPr>
              <a:lstStyle/>
              <a:p>
                <a:pPr algn="l">
                  <a:lnSpc>
                    <a:spcPts val="1800"/>
                  </a:lnSpc>
                </a:pPr>
                <a:r>
                  <a:rPr lang="en" sz="1280" dirty="0">
                    <a:solidFill>
                      <a:schemeClr val="dk1"/>
                    </a:solidFill>
                    <a:latin typeface="+mn-lt"/>
                    <a:ea typeface="+mn-ea"/>
                    <a:cs typeface="+mn-cs"/>
                  </a:rPr>
                  <a:t>Continuous background scan,</a:t>
                </a:r>
                <a:br/>
                <a:r>
                  <a:rPr lang="en" sz="1280" dirty="0">
                    <a:solidFill>
                      <a:schemeClr val="dk1"/>
                    </a:solidFill>
                    <a:latin typeface="+mn-lt"/>
                    <a:ea typeface="+mn-ea"/>
                    <a:cs typeface="+mn-cs"/>
                  </a:rPr>
                  <a:t>no manual trigger required</a:t>
                </a:r>
              </a:p>
            </p:txBody>
          </p:sp>
        </p:gr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785921"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03 · THE PLATFORM IN ACTION</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P09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9227417" cy="883729"/>
            <a:chOff x="590550" y="1223010"/>
            <a:chExt cx="9227417" cy="883729"/>
          </a:xfrm>
        </p:grpSpPr>
        <p:sp>
          <p:nvSpPr>
            <p:cNvPr id="7" name="TextBox 7"/>
            <p:cNvSpPr txBox="1"/>
            <p:nvPr/>
          </p:nvSpPr>
          <p:spPr>
            <a:xfrm>
              <a:off x="590550" y="1223010"/>
              <a:ext cx="9227417"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Hybrid Dense + Lexical Retrieval</a:t>
              </a:r>
            </a:p>
          </p:txBody>
        </p:sp>
        <p:sp>
          <p:nvSpPr>
            <p:cNvPr id="8" name="TextBox 8"/>
            <p:cNvSpPr txBox="1"/>
            <p:nvPr/>
          </p:nvSpPr>
          <p:spPr>
            <a:xfrm>
              <a:off x="601218" y="1784032"/>
              <a:ext cx="6833350"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Finds the right SOP even when wording never matches exactly.</a:t>
              </a:r>
            </a:p>
          </p:txBody>
        </p:sp>
      </p:grpSp>
      <p:grpSp>
        <p:nvGrpSpPr>
          <p:cNvPr id="35" name="Group 35"/>
          <p:cNvGrpSpPr/>
          <p:nvPr/>
        </p:nvGrpSpPr>
        <p:grpSpPr>
          <a:xfrm>
            <a:off x="627941" y="2438400"/>
            <a:ext cx="2924884" cy="3312128"/>
            <a:chOff x="627941" y="2438400"/>
            <a:chExt cx="2924884" cy="3312128"/>
          </a:xfrm>
        </p:grpSpPr>
        <p:grpSp>
          <p:nvGrpSpPr>
            <p:cNvPr id="18" name="Group 18"/>
            <p:cNvGrpSpPr/>
            <p:nvPr/>
          </p:nvGrpSpPr>
          <p:grpSpPr>
            <a:xfrm>
              <a:off x="695325" y="2438400"/>
              <a:ext cx="2857500" cy="1409700"/>
              <a:chOff x="695325" y="2438400"/>
              <a:chExt cx="2857500" cy="1409700"/>
            </a:xfrm>
          </p:grpSpPr>
          <p:sp>
            <p:nvSpPr>
              <p:cNvPr id="10" name="Ellipse 10"/>
              <p:cNvSpPr/>
              <p:nvPr/>
            </p:nvSpPr>
            <p:spPr>
              <a:xfrm>
                <a:off x="695325" y="2438400"/>
                <a:ext cx="1809750" cy="1409700"/>
              </a:xfrm>
              <a:prstGeom prst="ellipse">
                <a:avLst/>
              </a:prstGeom>
              <a:solidFill>
                <a:schemeClr val="accent1">
                  <a:alpha val="28000"/>
                </a:schemeClr>
              </a:solidFill>
              <a:ln w="14288">
                <a:solidFill>
                  <a:schemeClr val="accent1"/>
                </a:solidFill>
              </a:ln>
            </p:spPr>
          </p:sp>
          <p:sp>
            <p:nvSpPr>
              <p:cNvPr id="11" name="Ellipse 11"/>
              <p:cNvSpPr/>
              <p:nvPr/>
            </p:nvSpPr>
            <p:spPr>
              <a:xfrm>
                <a:off x="1743075" y="2438400"/>
                <a:ext cx="1809750" cy="1409700"/>
              </a:xfrm>
              <a:prstGeom prst="ellipse">
                <a:avLst/>
              </a:prstGeom>
              <a:solidFill>
                <a:schemeClr val="accent2">
                  <a:alpha val="28000"/>
                </a:schemeClr>
              </a:solidFill>
              <a:ln w="14288">
                <a:solidFill>
                  <a:schemeClr val="accent2"/>
                </a:solidFill>
              </a:ln>
            </p:spPr>
          </p:sp>
          <p:sp>
            <p:nvSpPr>
              <p:cNvPr id="12" name="TextBox 12"/>
              <p:cNvSpPr txBox="1"/>
              <p:nvPr/>
            </p:nvSpPr>
            <p:spPr>
              <a:xfrm>
                <a:off x="961129" y="2957989"/>
                <a:ext cx="516142" cy="249364"/>
              </a:xfrm>
              <a:prstGeom prst="rect">
                <a:avLst/>
              </a:prstGeom>
              <a:noFill/>
              <a:ln>
                <a:noFill/>
              </a:ln>
            </p:spPr>
            <p:txBody>
              <a:bodyPr wrap="none" lIns="0" tIns="0" rIns="0" bIns="0" anchor="t" anchorCtr="0">
                <a:spAutoFit/>
              </a:bodyPr>
              <a:lstStyle/>
              <a:p>
                <a:pPr algn="ctr"/>
                <a:r>
                  <a:rPr lang="en" sz="1280" b="1" dirty="0">
                    <a:solidFill>
                      <a:schemeClr val="dk1"/>
                    </a:solidFill>
                    <a:latin typeface="+mn-lt"/>
                    <a:ea typeface="+mn-ea"/>
                    <a:cs typeface="+mn-cs"/>
                  </a:rPr>
                  <a:t>Dense</a:t>
                </a:r>
              </a:p>
            </p:txBody>
          </p:sp>
          <p:sp>
            <p:nvSpPr>
              <p:cNvPr id="13" name="TextBox 13"/>
              <p:cNvSpPr txBox="1"/>
              <p:nvPr/>
            </p:nvSpPr>
            <p:spPr>
              <a:xfrm>
                <a:off x="931469" y="3156585"/>
                <a:ext cx="575462"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4096-D</a:t>
                </a:r>
              </a:p>
            </p:txBody>
          </p:sp>
          <p:sp>
            <p:nvSpPr>
              <p:cNvPr id="14" name="TextBox 14"/>
              <p:cNvSpPr txBox="1"/>
              <p:nvPr/>
            </p:nvSpPr>
            <p:spPr>
              <a:xfrm>
                <a:off x="2716966" y="2957989"/>
                <a:ext cx="623968" cy="249364"/>
              </a:xfrm>
              <a:prstGeom prst="rect">
                <a:avLst/>
              </a:prstGeom>
              <a:noFill/>
              <a:ln>
                <a:noFill/>
              </a:ln>
            </p:spPr>
            <p:txBody>
              <a:bodyPr wrap="none" lIns="0" tIns="0" rIns="0" bIns="0" anchor="t" anchorCtr="0">
                <a:spAutoFit/>
              </a:bodyPr>
              <a:lstStyle/>
              <a:p>
                <a:pPr algn="ctr"/>
                <a:r>
                  <a:rPr lang="en" sz="1280" b="1" dirty="0">
                    <a:solidFill>
                      <a:schemeClr val="dk1"/>
                    </a:solidFill>
                    <a:latin typeface="+mn-lt"/>
                    <a:ea typeface="+mn-ea"/>
                    <a:cs typeface="+mn-cs"/>
                  </a:rPr>
                  <a:t>Lexical</a:t>
                </a:r>
              </a:p>
            </p:txBody>
          </p:sp>
          <p:sp>
            <p:nvSpPr>
              <p:cNvPr id="15" name="TextBox 15"/>
              <p:cNvSpPr txBox="1"/>
              <p:nvPr/>
            </p:nvSpPr>
            <p:spPr>
              <a:xfrm>
                <a:off x="2818028" y="3156585"/>
                <a:ext cx="421843"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BM25</a:t>
                </a:r>
              </a:p>
            </p:txBody>
          </p:sp>
          <p:sp>
            <p:nvSpPr>
              <p:cNvPr id="16" name="TextBox 16"/>
              <p:cNvSpPr txBox="1"/>
              <p:nvPr/>
            </p:nvSpPr>
            <p:spPr>
              <a:xfrm>
                <a:off x="1970121" y="3042285"/>
                <a:ext cx="307909" cy="234696"/>
              </a:xfrm>
              <a:prstGeom prst="rect">
                <a:avLst/>
              </a:prstGeom>
              <a:noFill/>
              <a:ln>
                <a:noFill/>
              </a:ln>
            </p:spPr>
            <p:txBody>
              <a:bodyPr wrap="none" lIns="0" tIns="0" rIns="0" bIns="0" anchor="t" anchorCtr="0">
                <a:spAutoFit/>
              </a:bodyPr>
              <a:lstStyle/>
              <a:p>
                <a:pPr algn="ctr"/>
                <a:r>
                  <a:rPr lang="en" sz="1200" b="1" dirty="0">
                    <a:solidFill>
                      <a:srgbClr val="0B0F1A"/>
                    </a:solidFill>
                    <a:latin typeface="Consolas"/>
                    <a:ea typeface="Consolas"/>
                    <a:cs typeface="Consolas"/>
                  </a:rPr>
                  <a:t>RRF</a:t>
                </a:r>
              </a:p>
            </p:txBody>
          </p:sp>
          <p:sp>
            <p:nvSpPr>
              <p:cNvPr id="17" name="TextBox 17"/>
              <p:cNvSpPr txBox="1"/>
              <p:nvPr/>
            </p:nvSpPr>
            <p:spPr>
              <a:xfrm>
                <a:off x="1693926" y="3194685"/>
                <a:ext cx="860298" cy="234696"/>
              </a:xfrm>
              <a:prstGeom prst="rect">
                <a:avLst/>
              </a:prstGeom>
              <a:noFill/>
              <a:ln>
                <a:noFill/>
              </a:ln>
            </p:spPr>
            <p:txBody>
              <a:bodyPr wrap="none" lIns="0" tIns="0" rIns="0" bIns="0" anchor="t" anchorCtr="0">
                <a:spAutoFit/>
              </a:bodyPr>
              <a:lstStyle/>
              <a:p>
                <a:pPr algn="ctr"/>
                <a:r>
                  <a:rPr lang="en" sz="1200" dirty="0">
                    <a:solidFill>
                      <a:srgbClr val="0B0F1A"/>
                    </a:solidFill>
                    <a:latin typeface="+mn-lt"/>
                    <a:ea typeface="+mn-ea"/>
                    <a:cs typeface="+mn-cs"/>
                  </a:rPr>
                  <a:t>fused rank</a:t>
                </a:r>
              </a:p>
            </p:txBody>
          </p:sp>
        </p:grpSp>
        <p:grpSp>
          <p:nvGrpSpPr>
            <p:cNvPr id="24" name="Group 24"/>
            <p:cNvGrpSpPr/>
            <p:nvPr/>
          </p:nvGrpSpPr>
          <p:grpSpPr>
            <a:xfrm>
              <a:off x="654050" y="4148138"/>
              <a:ext cx="1965833" cy="497490"/>
              <a:chOff x="654050" y="4148138"/>
              <a:chExt cx="1965833" cy="497490"/>
            </a:xfrm>
          </p:grpSpPr>
          <p:grpSp>
            <p:nvGrpSpPr>
              <p:cNvPr id="22" name="Group 22"/>
              <p:cNvGrpSpPr/>
              <p:nvPr/>
            </p:nvGrpSpPr>
            <p:grpSpPr>
              <a:xfrm>
                <a:off x="654050" y="4148138"/>
                <a:ext cx="177801" cy="200025"/>
                <a:chOff x="654050" y="4148138"/>
                <a:chExt cx="177801" cy="200025"/>
              </a:xfrm>
            </p:grpSpPr>
            <p:sp>
              <p:nvSpPr>
                <p:cNvPr id="19" name="Freeform 19"/>
                <p:cNvSpPr/>
                <p:nvPr/>
              </p:nvSpPr>
              <p:spPr>
                <a:xfrm>
                  <a:off x="654050" y="4148138"/>
                  <a:ext cx="177801" cy="66675"/>
                </a:xfrm>
                <a:custGeom>
                  <a:avLst/>
                  <a:gdLst/>
                  <a:ahLst/>
                  <a:cxnLst/>
                  <a:rect l="l" t="t" r="r" b="b"/>
                  <a:pathLst>
                    <a:path w="177801" h="66675">
                      <a:moveTo>
                        <a:pt x="0" y="33338"/>
                      </a:moveTo>
                      <a:cubicBezTo>
                        <a:pt x="0" y="51749"/>
                        <a:pt x="39802" y="66675"/>
                        <a:pt x="88900" y="66675"/>
                      </a:cubicBezTo>
                      <a:cubicBezTo>
                        <a:pt x="137999" y="66675"/>
                        <a:pt x="177801" y="51749"/>
                        <a:pt x="177801" y="33338"/>
                      </a:cubicBezTo>
                      <a:cubicBezTo>
                        <a:pt x="177801" y="14926"/>
                        <a:pt x="137999" y="0"/>
                        <a:pt x="88900" y="0"/>
                      </a:cubicBezTo>
                      <a:cubicBezTo>
                        <a:pt x="39802" y="0"/>
                        <a:pt x="0" y="14926"/>
                        <a:pt x="0" y="33338"/>
                      </a:cubicBezTo>
                    </a:path>
                  </a:pathLst>
                </a:custGeom>
                <a:noFill/>
                <a:ln w="22225">
                  <a:solidFill>
                    <a:schemeClr val="accent1"/>
                  </a:solidFill>
                </a:ln>
              </p:spPr>
            </p:sp>
            <p:sp>
              <p:nvSpPr>
                <p:cNvPr id="20" name="Freeform 20"/>
                <p:cNvSpPr/>
                <p:nvPr/>
              </p:nvSpPr>
              <p:spPr>
                <a:xfrm>
                  <a:off x="654050" y="4181475"/>
                  <a:ext cx="177801" cy="100013"/>
                </a:xfrm>
                <a:custGeom>
                  <a:avLst/>
                  <a:gdLst/>
                  <a:ahLst/>
                  <a:cxnLst/>
                  <a:rect l="l" t="t" r="r" b="b"/>
                  <a:pathLst>
                    <a:path w="177801" h="100013">
                      <a:moveTo>
                        <a:pt x="0" y="0"/>
                      </a:moveTo>
                      <a:lnTo>
                        <a:pt x="0" y="66675"/>
                      </a:lnTo>
                      <a:cubicBezTo>
                        <a:pt x="0" y="85087"/>
                        <a:pt x="39802" y="100013"/>
                        <a:pt x="88900" y="100013"/>
                      </a:cubicBezTo>
                      <a:cubicBezTo>
                        <a:pt x="137999" y="100013"/>
                        <a:pt x="177801" y="85087"/>
                        <a:pt x="177801" y="66675"/>
                      </a:cubicBezTo>
                      <a:lnTo>
                        <a:pt x="177801" y="0"/>
                      </a:lnTo>
                    </a:path>
                  </a:pathLst>
                </a:custGeom>
                <a:noFill/>
                <a:ln w="22225">
                  <a:solidFill>
                    <a:schemeClr val="accent1"/>
                  </a:solidFill>
                </a:ln>
              </p:spPr>
            </p:sp>
            <p:sp>
              <p:nvSpPr>
                <p:cNvPr id="21" name="Freeform 21"/>
                <p:cNvSpPr/>
                <p:nvPr/>
              </p:nvSpPr>
              <p:spPr>
                <a:xfrm>
                  <a:off x="654050" y="4248150"/>
                  <a:ext cx="177801" cy="100013"/>
                </a:xfrm>
                <a:custGeom>
                  <a:avLst/>
                  <a:gdLst/>
                  <a:ahLst/>
                  <a:cxnLst/>
                  <a:rect l="l" t="t" r="r" b="b"/>
                  <a:pathLst>
                    <a:path w="177801" h="100013">
                      <a:moveTo>
                        <a:pt x="0" y="0"/>
                      </a:moveTo>
                      <a:lnTo>
                        <a:pt x="0" y="66675"/>
                      </a:lnTo>
                      <a:cubicBezTo>
                        <a:pt x="0" y="85087"/>
                        <a:pt x="39802" y="100013"/>
                        <a:pt x="88900" y="100013"/>
                      </a:cubicBezTo>
                      <a:cubicBezTo>
                        <a:pt x="137999" y="100013"/>
                        <a:pt x="177801" y="85087"/>
                        <a:pt x="177801" y="66675"/>
                      </a:cubicBezTo>
                      <a:lnTo>
                        <a:pt x="177801" y="0"/>
                      </a:lnTo>
                    </a:path>
                  </a:pathLst>
                </a:custGeom>
                <a:noFill/>
                <a:ln w="22225">
                  <a:solidFill>
                    <a:schemeClr val="accent1"/>
                  </a:solidFill>
                </a:ln>
              </p:spPr>
            </p:sp>
          </p:grpSp>
          <p:sp>
            <p:nvSpPr>
              <p:cNvPr id="23" name="TextBox 23"/>
              <p:cNvSpPr txBox="1"/>
              <p:nvPr/>
            </p:nvSpPr>
            <p:spPr>
              <a:xfrm>
                <a:off x="965073" y="4167664"/>
                <a:ext cx="1654810" cy="477964"/>
              </a:xfrm>
              <a:prstGeom prst="rect">
                <a:avLst/>
              </a:prstGeom>
              <a:noFill/>
              <a:ln>
                <a:noFill/>
              </a:ln>
            </p:spPr>
            <p:txBody>
              <a:bodyPr wrap="none" lIns="0" tIns="0" rIns="0" bIns="0" anchor="t" anchorCtr="0">
                <a:spAutoFit/>
              </a:bodyPr>
              <a:lstStyle/>
              <a:p>
                <a:pPr algn="l">
                  <a:lnSpc>
                    <a:spcPts val="1800"/>
                  </a:lnSpc>
                </a:pPr>
                <a:r>
                  <a:rPr lang="en" sz="1280" dirty="0">
                    <a:solidFill>
                      <a:schemeClr val="dk1"/>
                    </a:solidFill>
                    <a:latin typeface="+mn-lt"/>
                    <a:ea typeface="+mn-ea"/>
                    <a:cs typeface="+mn-cs"/>
                  </a:rPr>
                  <a:t>nv-embed-v1 in</a:t>
                </a:r>
                <a:br/>
                <a:r>
                  <a:rPr lang="en" sz="1280" dirty="0">
                    <a:solidFill>
                      <a:schemeClr val="dk1"/>
                    </a:solidFill>
                    <a:latin typeface="+mn-lt"/>
                    <a:ea typeface="+mn-ea"/>
                    <a:cs typeface="+mn-cs"/>
                  </a:rPr>
                  <a:t>ChromaDB, 4096 dims</a:t>
                </a:r>
              </a:p>
            </p:txBody>
          </p:sp>
        </p:grpSp>
        <p:grpSp>
          <p:nvGrpSpPr>
            <p:cNvPr id="29" name="Group 29"/>
            <p:cNvGrpSpPr/>
            <p:nvPr/>
          </p:nvGrpSpPr>
          <p:grpSpPr>
            <a:xfrm>
              <a:off x="642938" y="4700588"/>
              <a:ext cx="2326449" cy="497490"/>
              <a:chOff x="642938" y="4700588"/>
              <a:chExt cx="2326449" cy="497490"/>
            </a:xfrm>
          </p:grpSpPr>
          <p:grpSp>
            <p:nvGrpSpPr>
              <p:cNvPr id="27" name="Group 27"/>
              <p:cNvGrpSpPr/>
              <p:nvPr/>
            </p:nvGrpSpPr>
            <p:grpSpPr>
              <a:xfrm>
                <a:off x="642938" y="4700588"/>
                <a:ext cx="200025" cy="200025"/>
                <a:chOff x="642938" y="4700588"/>
                <a:chExt cx="200025" cy="200025"/>
              </a:xfrm>
            </p:grpSpPr>
            <p:sp>
              <p:nvSpPr>
                <p:cNvPr id="25" name="Freeform 25"/>
                <p:cNvSpPr/>
                <p:nvPr/>
              </p:nvSpPr>
              <p:spPr>
                <a:xfrm>
                  <a:off x="642938" y="4700588"/>
                  <a:ext cx="155575" cy="155575"/>
                </a:xfrm>
                <a:custGeom>
                  <a:avLst/>
                  <a:gdLst/>
                  <a:ahLst/>
                  <a:cxnLst/>
                  <a:rect l="l" t="t" r="r" b="b"/>
                  <a:pathLst>
                    <a:path w="155575" h="155575">
                      <a:moveTo>
                        <a:pt x="0" y="77788"/>
                      </a:moveTo>
                      <a:cubicBezTo>
                        <a:pt x="0" y="120749"/>
                        <a:pt x="34827" y="155575"/>
                        <a:pt x="77788" y="155575"/>
                      </a:cubicBezTo>
                      <a:cubicBezTo>
                        <a:pt x="120749" y="155575"/>
                        <a:pt x="155575" y="120749"/>
                        <a:pt x="155575" y="77788"/>
                      </a:cubicBezTo>
                      <a:cubicBezTo>
                        <a:pt x="155575" y="34827"/>
                        <a:pt x="120749" y="0"/>
                        <a:pt x="77788" y="0"/>
                      </a:cubicBezTo>
                      <a:cubicBezTo>
                        <a:pt x="34827" y="0"/>
                        <a:pt x="0" y="34827"/>
                        <a:pt x="0" y="77788"/>
                      </a:cubicBezTo>
                    </a:path>
                  </a:pathLst>
                </a:custGeom>
                <a:noFill/>
                <a:ln w="22225">
                  <a:solidFill>
                    <a:schemeClr val="accent2"/>
                  </a:solidFill>
                </a:ln>
              </p:spPr>
            </p:sp>
            <p:sp>
              <p:nvSpPr>
                <p:cNvPr id="26" name="Freeform 26"/>
                <p:cNvSpPr/>
                <p:nvPr/>
              </p:nvSpPr>
              <p:spPr>
                <a:xfrm>
                  <a:off x="776288" y="4833938"/>
                  <a:ext cx="66675" cy="66675"/>
                </a:xfrm>
                <a:custGeom>
                  <a:avLst/>
                  <a:gdLst/>
                  <a:ahLst/>
                  <a:cxnLst/>
                  <a:rect l="l" t="t" r="r" b="b"/>
                  <a:pathLst>
                    <a:path w="66675" h="66675">
                      <a:moveTo>
                        <a:pt x="66675" y="66675"/>
                      </a:moveTo>
                      <a:lnTo>
                        <a:pt x="0" y="0"/>
                      </a:lnTo>
                    </a:path>
                  </a:pathLst>
                </a:custGeom>
                <a:noFill/>
                <a:ln w="22225">
                  <a:solidFill>
                    <a:schemeClr val="accent2"/>
                  </a:solidFill>
                </a:ln>
              </p:spPr>
            </p:sp>
          </p:grpSp>
          <p:sp>
            <p:nvSpPr>
              <p:cNvPr id="28" name="TextBox 28"/>
              <p:cNvSpPr txBox="1"/>
              <p:nvPr/>
            </p:nvSpPr>
            <p:spPr>
              <a:xfrm>
                <a:off x="965073" y="4720114"/>
                <a:ext cx="2004314" cy="477964"/>
              </a:xfrm>
              <a:prstGeom prst="rect">
                <a:avLst/>
              </a:prstGeom>
              <a:noFill/>
              <a:ln>
                <a:noFill/>
              </a:ln>
            </p:spPr>
            <p:txBody>
              <a:bodyPr wrap="none" lIns="0" tIns="0" rIns="0" bIns="0" anchor="t" anchorCtr="0">
                <a:spAutoFit/>
              </a:bodyPr>
              <a:lstStyle/>
              <a:p>
                <a:pPr algn="l">
                  <a:lnSpc>
                    <a:spcPts val="1800"/>
                  </a:lnSpc>
                </a:pPr>
                <a:r>
                  <a:rPr lang="en" sz="1280" dirty="0">
                    <a:solidFill>
                      <a:schemeClr val="dk1"/>
                    </a:solidFill>
                    <a:latin typeface="+mn-lt"/>
                    <a:ea typeface="+mn-ea"/>
                    <a:cs typeface="+mn-cs"/>
                  </a:rPr>
                  <a:t>BM25Okapi keyword</a:t>
                </a:r>
                <a:br/>
                <a:r>
                  <a:rPr lang="en" sz="1280" dirty="0">
                    <a:solidFill>
                      <a:schemeClr val="dk1"/>
                    </a:solidFill>
                    <a:latin typeface="+mn-lt"/>
                    <a:ea typeface="+mn-ea"/>
                    <a:cs typeface="+mn-cs"/>
                  </a:rPr>
                  <a:t>search, parallel to dense</a:t>
                </a:r>
              </a:p>
            </p:txBody>
          </p:sp>
        </p:grpSp>
        <p:grpSp>
          <p:nvGrpSpPr>
            <p:cNvPr id="34" name="Group 34"/>
            <p:cNvGrpSpPr/>
            <p:nvPr/>
          </p:nvGrpSpPr>
          <p:grpSpPr>
            <a:xfrm>
              <a:off x="627941" y="5253038"/>
              <a:ext cx="2365830" cy="497490"/>
              <a:chOff x="627941" y="5253038"/>
              <a:chExt cx="2365830" cy="497490"/>
            </a:xfrm>
          </p:grpSpPr>
          <p:grpSp>
            <p:nvGrpSpPr>
              <p:cNvPr id="32" name="Group 32"/>
              <p:cNvGrpSpPr/>
              <p:nvPr/>
            </p:nvGrpSpPr>
            <p:grpSpPr>
              <a:xfrm>
                <a:off x="627941" y="5253038"/>
                <a:ext cx="217008" cy="200025"/>
                <a:chOff x="627941" y="5253038"/>
                <a:chExt cx="217008" cy="200025"/>
              </a:xfrm>
            </p:grpSpPr>
            <p:sp>
              <p:nvSpPr>
                <p:cNvPr id="30" name="Freeform 30"/>
                <p:cNvSpPr/>
                <p:nvPr/>
              </p:nvSpPr>
              <p:spPr>
                <a:xfrm>
                  <a:off x="627941" y="5253038"/>
                  <a:ext cx="217008" cy="198314"/>
                </a:xfrm>
                <a:custGeom>
                  <a:avLst/>
                  <a:gdLst/>
                  <a:ahLst/>
                  <a:cxnLst/>
                  <a:rect l="l" t="t" r="r" b="b"/>
                  <a:pathLst>
                    <a:path w="217008" h="198314">
                      <a:moveTo>
                        <a:pt x="109009" y="198314"/>
                      </a:moveTo>
                      <a:cubicBezTo>
                        <a:pt x="39394" y="176735"/>
                        <a:pt x="0" y="103262"/>
                        <a:pt x="20553" y="33338"/>
                      </a:cubicBezTo>
                      <a:cubicBezTo>
                        <a:pt x="55175" y="34922"/>
                        <a:pt x="89053" y="22965"/>
                        <a:pt x="115010" y="0"/>
                      </a:cubicBezTo>
                      <a:cubicBezTo>
                        <a:pt x="140967" y="22965"/>
                        <a:pt x="174845" y="34922"/>
                        <a:pt x="209466" y="33338"/>
                      </a:cubicBezTo>
                      <a:cubicBezTo>
                        <a:pt x="217008" y="58998"/>
                        <a:pt x="216660" y="86333"/>
                        <a:pt x="208466" y="111792"/>
                      </a:cubicBezTo>
                    </a:path>
                  </a:pathLst>
                </a:custGeom>
                <a:noFill/>
                <a:ln w="22225">
                  <a:solidFill>
                    <a:schemeClr val="accent3"/>
                  </a:solidFill>
                </a:ln>
              </p:spPr>
            </p:sp>
            <p:sp>
              <p:nvSpPr>
                <p:cNvPr id="31" name="Freeform 31"/>
                <p:cNvSpPr/>
                <p:nvPr/>
              </p:nvSpPr>
              <p:spPr>
                <a:xfrm>
                  <a:off x="776288" y="5408613"/>
                  <a:ext cx="66675" cy="44450"/>
                </a:xfrm>
                <a:custGeom>
                  <a:avLst/>
                  <a:gdLst/>
                  <a:ahLst/>
                  <a:cxnLst/>
                  <a:rect l="l" t="t" r="r" b="b"/>
                  <a:pathLst>
                    <a:path w="66675" h="44450">
                      <a:moveTo>
                        <a:pt x="0" y="22225"/>
                      </a:moveTo>
                      <a:lnTo>
                        <a:pt x="22225" y="44450"/>
                      </a:lnTo>
                      <a:lnTo>
                        <a:pt x="66675" y="0"/>
                      </a:lnTo>
                    </a:path>
                  </a:pathLst>
                </a:custGeom>
                <a:noFill/>
                <a:ln w="22225">
                  <a:solidFill>
                    <a:schemeClr val="accent3"/>
                  </a:solidFill>
                </a:ln>
              </p:spPr>
            </p:sp>
          </p:grpSp>
          <p:sp>
            <p:nvSpPr>
              <p:cNvPr id="33" name="TextBox 33"/>
              <p:cNvSpPr txBox="1"/>
              <p:nvPr/>
            </p:nvSpPr>
            <p:spPr>
              <a:xfrm>
                <a:off x="965073" y="5272564"/>
                <a:ext cx="2028698" cy="477964"/>
              </a:xfrm>
              <a:prstGeom prst="rect">
                <a:avLst/>
              </a:prstGeom>
              <a:noFill/>
              <a:ln>
                <a:noFill/>
              </a:ln>
            </p:spPr>
            <p:txBody>
              <a:bodyPr wrap="none" lIns="0" tIns="0" rIns="0" bIns="0" anchor="t" anchorCtr="0">
                <a:spAutoFit/>
              </a:bodyPr>
              <a:lstStyle/>
              <a:p>
                <a:pPr algn="l">
                  <a:lnSpc>
                    <a:spcPts val="1800"/>
                  </a:lnSpc>
                </a:pPr>
                <a:r>
                  <a:rPr lang="en" sz="1280" dirty="0">
                    <a:solidFill>
                      <a:schemeClr val="dk1"/>
                    </a:solidFill>
                    <a:latin typeface="+mn-lt"/>
                    <a:ea typeface="+mn-ea"/>
                    <a:cs typeface="+mn-cs"/>
                  </a:rPr>
                  <a:t xml:space="preserve">LLM </a:t>
                </a:r>
                <a:r>
                  <a:rPr lang="en" sz="1280" b="1" dirty="0">
                    <a:solidFill>
                      <a:schemeClr val="accent3"/>
                    </a:solidFill>
                    <a:latin typeface="+mn-lt"/>
                    <a:ea typeface="+mn-ea"/>
                    <a:cs typeface="+mn-cs"/>
                  </a:rPr>
                  <a:t>RAG Judge</a:t>
                </a:r>
                <a:r>
                  <a:rPr lang="en" sz="1280" dirty="0">
                    <a:solidFill>
                      <a:schemeClr val="dk1"/>
                    </a:solidFill>
                    <a:latin typeface="+mn-lt"/>
                    <a:ea typeface="+mn-ea"/>
                    <a:cs typeface="+mn-cs"/>
                  </a:rPr>
                  <a:t xml:space="preserve"> verifies</a:t>
                </a:r>
                <a:br/>
                <a:r>
                  <a:rPr lang="en" sz="1280" dirty="0">
                    <a:solidFill>
                      <a:schemeClr val="dk1"/>
                    </a:solidFill>
                    <a:latin typeface="+mn-lt"/>
                    <a:ea typeface="+mn-ea"/>
                    <a:cs typeface="+mn-cs"/>
                  </a:rPr>
                  <a:t>the top match before use</a:t>
                </a:r>
              </a:p>
            </p:txBody>
          </p:sp>
        </p:grpSp>
      </p:grpSp>
      <p:grpSp>
        <p:nvGrpSpPr>
          <p:cNvPr id="39" name="Group 39"/>
          <p:cNvGrpSpPr/>
          <p:nvPr/>
        </p:nvGrpSpPr>
        <p:grpSpPr>
          <a:xfrm>
            <a:off x="4038600" y="2247900"/>
            <a:ext cx="7543800" cy="4000500"/>
            <a:chOff x="4038600" y="2247900"/>
            <a:chExt cx="7543800" cy="4000500"/>
          </a:xfrm>
        </p:grpSpPr>
        <p:sp>
          <p:nvSpPr>
            <p:cNvPr id="36" name="Rectangle 36"/>
            <p:cNvSpPr/>
            <p:nvPr/>
          </p:nvSpPr>
          <p:spPr>
            <a:xfrm>
              <a:off x="4038600" y="2247900"/>
              <a:ext cx="7543800" cy="4000500"/>
            </a:xfrm>
            <a:prstGeom prst="roundRect">
              <a:avLst>
                <a:gd name="adj" fmla="val 3810"/>
              </a:avLst>
            </a:prstGeom>
            <a:solidFill>
              <a:schemeClr val="lt2"/>
            </a:solidFill>
            <a:ln w="9525">
              <a:solidFill>
                <a:schemeClr val="accent6"/>
              </a:solidFill>
            </a:ln>
            <a:effectLst>
              <a:outerShdw blurRad="228600" dist="57150" dir="5400000" algn="ctr" rotWithShape="0">
                <a:srgbClr val="000000">
                  <a:alpha val="33750"/>
                </a:srgbClr>
              </a:outerShdw>
            </a:effectLst>
          </p:spPr>
        </p:sp>
        <p:pic>
          <p:nvPicPr>
            <p:cNvPr id="37" name="Image 37"/>
            <p:cNvPicPr>
              <a:picLocks noChangeAspect="1"/>
            </p:cNvPicPr>
            <p:nvPr/>
          </p:nvPicPr>
          <p:blipFill>
            <a:blip r:embed="rId2"/>
            <a:stretch>
              <a:fillRect/>
            </a:stretch>
          </p:blipFill>
          <p:spPr>
            <a:xfrm>
              <a:off x="4660900" y="2476500"/>
              <a:ext cx="6299200" cy="3543300"/>
            </a:xfrm>
            <a:prstGeom prst="rect">
              <a:avLst/>
            </a:prstGeom>
          </p:spPr>
        </p:pic>
        <p:sp>
          <p:nvSpPr>
            <p:cNvPr id="38" name="TextBox 38"/>
            <p:cNvSpPr txBox="1"/>
            <p:nvPr/>
          </p:nvSpPr>
          <p:spPr>
            <a:xfrm>
              <a:off x="8733089" y="6004560"/>
              <a:ext cx="2626807"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Consolas"/>
                  <a:ea typeface="Consolas"/>
                  <a:cs typeface="Consolas"/>
                </a:rPr>
                <a:t>3D vector universe — live capture</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785921"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03 · THE PLATFORM IN ACTION</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P10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9147078" cy="954024"/>
            <a:chOff x="590550" y="1223010"/>
            <a:chExt cx="9147078" cy="954024"/>
          </a:xfrm>
        </p:grpSpPr>
        <p:sp>
          <p:nvSpPr>
            <p:cNvPr id="7" name="TextBox 7"/>
            <p:cNvSpPr txBox="1"/>
            <p:nvPr/>
          </p:nvSpPr>
          <p:spPr>
            <a:xfrm>
              <a:off x="590550" y="1223010"/>
              <a:ext cx="9147078"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Diagnose. Remediate. Prove It.</a:t>
              </a:r>
            </a:p>
          </p:txBody>
        </p:sp>
        <p:sp>
          <p:nvSpPr>
            <p:cNvPr id="8" name="TextBox 8"/>
            <p:cNvSpPr txBox="1"/>
            <p:nvPr/>
          </p:nvSpPr>
          <p:spPr>
            <a:xfrm>
              <a:off x="600456" y="1824990"/>
              <a:ext cx="7289354" cy="352044"/>
            </a:xfrm>
            <a:prstGeom prst="rect">
              <a:avLst/>
            </a:prstGeom>
            <a:noFill/>
            <a:ln>
              <a:noFill/>
            </a:ln>
          </p:spPr>
          <p:txBody>
            <a:bodyPr wrap="none" lIns="0" tIns="0" rIns="0" bIns="0" anchor="t" anchorCtr="0">
              <a:spAutoFit/>
            </a:bodyPr>
            <a:lstStyle/>
            <a:p>
              <a:pPr algn="l"/>
              <a:r>
                <a:rPr lang="en" sz="1800" dirty="0">
                  <a:solidFill>
                    <a:schemeClr val="accent5"/>
                  </a:solidFill>
                  <a:latin typeface="+mn-lt"/>
                  <a:ea typeface="+mn-ea"/>
                  <a:cs typeface="+mn-cs"/>
                </a:rPr>
                <a:t>A live SSH ReAct loop — remediation is never trusted on faith.</a:t>
              </a:r>
            </a:p>
          </p:txBody>
        </p:sp>
      </p:grpSp>
      <p:grpSp>
        <p:nvGrpSpPr>
          <p:cNvPr id="26" name="Group 26"/>
          <p:cNvGrpSpPr/>
          <p:nvPr/>
        </p:nvGrpSpPr>
        <p:grpSpPr>
          <a:xfrm>
            <a:off x="609600" y="3048000"/>
            <a:ext cx="10972800" cy="1524000"/>
            <a:chOff x="609600" y="3048000"/>
            <a:chExt cx="10972800" cy="1524000"/>
          </a:xfrm>
        </p:grpSpPr>
        <p:sp>
          <p:nvSpPr>
            <p:cNvPr id="10" name="Freeform 10"/>
            <p:cNvSpPr/>
            <p:nvPr/>
          </p:nvSpPr>
          <p:spPr>
            <a:xfrm>
              <a:off x="609600" y="3048000"/>
              <a:ext cx="3810000" cy="1524000"/>
            </a:xfrm>
            <a:prstGeom prst="chevron">
              <a:avLst/>
            </a:prstGeom>
            <a:solidFill>
              <a:srgbClr val="312E81"/>
            </a:solidFill>
            <a:ln>
              <a:noFill/>
            </a:ln>
          </p:spPr>
        </p:sp>
        <p:sp>
          <p:nvSpPr>
            <p:cNvPr id="11" name="Freeform 11"/>
            <p:cNvSpPr/>
            <p:nvPr/>
          </p:nvSpPr>
          <p:spPr>
            <a:xfrm>
              <a:off x="4191000" y="3048000"/>
              <a:ext cx="3810000" cy="1524000"/>
            </a:xfrm>
            <a:prstGeom prst="chevron">
              <a:avLst/>
            </a:prstGeom>
            <a:solidFill>
              <a:srgbClr val="4338CA"/>
            </a:solidFill>
            <a:ln>
              <a:noFill/>
            </a:ln>
          </p:spPr>
        </p:sp>
        <p:sp>
          <p:nvSpPr>
            <p:cNvPr id="12" name="Freeform 12"/>
            <p:cNvSpPr/>
            <p:nvPr/>
          </p:nvSpPr>
          <p:spPr>
            <a:xfrm>
              <a:off x="7772400" y="3048000"/>
              <a:ext cx="3810000" cy="1524000"/>
            </a:xfrm>
            <a:prstGeom prst="chevron">
              <a:avLst/>
            </a:prstGeom>
            <a:solidFill>
              <a:schemeClr val="accent2"/>
            </a:solidFill>
            <a:ln>
              <a:noFill/>
            </a:ln>
          </p:spPr>
        </p:sp>
        <p:grpSp>
          <p:nvGrpSpPr>
            <p:cNvPr id="15" name="Group 15"/>
            <p:cNvGrpSpPr/>
            <p:nvPr/>
          </p:nvGrpSpPr>
          <p:grpSpPr>
            <a:xfrm>
              <a:off x="2181225" y="3476625"/>
              <a:ext cx="285750" cy="285750"/>
              <a:chOff x="2181225" y="3476625"/>
              <a:chExt cx="285750" cy="285750"/>
            </a:xfrm>
          </p:grpSpPr>
          <p:sp>
            <p:nvSpPr>
              <p:cNvPr id="13" name="Freeform 13"/>
              <p:cNvSpPr/>
              <p:nvPr/>
            </p:nvSpPr>
            <p:spPr>
              <a:xfrm>
                <a:off x="2181225" y="3476625"/>
                <a:ext cx="222250" cy="222250"/>
              </a:xfrm>
              <a:custGeom>
                <a:avLst/>
                <a:gdLst/>
                <a:ahLst/>
                <a:cxnLst/>
                <a:rect l="l" t="t" r="r" b="b"/>
                <a:pathLst>
                  <a:path w="222250" h="222250">
                    <a:moveTo>
                      <a:pt x="0" y="111125"/>
                    </a:moveTo>
                    <a:cubicBezTo>
                      <a:pt x="0" y="172498"/>
                      <a:pt x="49752" y="222250"/>
                      <a:pt x="111125" y="222250"/>
                    </a:cubicBezTo>
                    <a:cubicBezTo>
                      <a:pt x="172498" y="222250"/>
                      <a:pt x="222250" y="172498"/>
                      <a:pt x="222250" y="111125"/>
                    </a:cubicBezTo>
                    <a:cubicBezTo>
                      <a:pt x="222250" y="49752"/>
                      <a:pt x="172498" y="0"/>
                      <a:pt x="111125" y="0"/>
                    </a:cubicBezTo>
                    <a:cubicBezTo>
                      <a:pt x="49752" y="0"/>
                      <a:pt x="0" y="49752"/>
                      <a:pt x="0" y="111125"/>
                    </a:cubicBezTo>
                  </a:path>
                </a:pathLst>
              </a:custGeom>
              <a:noFill/>
              <a:ln w="31750">
                <a:solidFill>
                  <a:schemeClr val="dk1"/>
                </a:solidFill>
              </a:ln>
            </p:spPr>
          </p:sp>
          <p:sp>
            <p:nvSpPr>
              <p:cNvPr id="14" name="Freeform 14"/>
              <p:cNvSpPr/>
              <p:nvPr/>
            </p:nvSpPr>
            <p:spPr>
              <a:xfrm>
                <a:off x="2371725" y="3667125"/>
                <a:ext cx="95250" cy="95250"/>
              </a:xfrm>
              <a:custGeom>
                <a:avLst/>
                <a:gdLst/>
                <a:ahLst/>
                <a:cxnLst/>
                <a:rect l="l" t="t" r="r" b="b"/>
                <a:pathLst>
                  <a:path w="95250" h="95250">
                    <a:moveTo>
                      <a:pt x="95250" y="95250"/>
                    </a:moveTo>
                    <a:lnTo>
                      <a:pt x="0" y="0"/>
                    </a:lnTo>
                  </a:path>
                </a:pathLst>
              </a:custGeom>
              <a:noFill/>
              <a:ln w="31750">
                <a:solidFill>
                  <a:schemeClr val="dk1"/>
                </a:solidFill>
              </a:ln>
            </p:spPr>
          </p:sp>
        </p:grpSp>
        <p:sp>
          <p:nvSpPr>
            <p:cNvPr id="16" name="TextBox 16"/>
            <p:cNvSpPr txBox="1"/>
            <p:nvPr/>
          </p:nvSpPr>
          <p:spPr>
            <a:xfrm>
              <a:off x="2248205" y="3870960"/>
              <a:ext cx="532790" cy="234696"/>
            </a:xfrm>
            <a:prstGeom prst="rect">
              <a:avLst/>
            </a:prstGeom>
            <a:noFill/>
            <a:ln>
              <a:noFill/>
            </a:ln>
          </p:spPr>
          <p:txBody>
            <a:bodyPr wrap="none" lIns="0" tIns="0" rIns="0" bIns="0" anchor="t" anchorCtr="0">
              <a:spAutoFit/>
            </a:bodyPr>
            <a:lstStyle/>
            <a:p>
              <a:pPr algn="ctr"/>
              <a:r>
                <a:rPr lang="en" sz="1200" dirty="0">
                  <a:solidFill>
                    <a:srgbClr val="C7D2FE"/>
                  </a:solidFill>
                  <a:latin typeface="Consolas"/>
                  <a:ea typeface="Consolas"/>
                  <a:cs typeface="Consolas"/>
                </a:rPr>
                <a:t>STEP 1</a:t>
              </a:r>
            </a:p>
          </p:txBody>
        </p:sp>
        <p:grpSp>
          <p:nvGrpSpPr>
            <p:cNvPr id="20" name="Group 20"/>
            <p:cNvGrpSpPr/>
            <p:nvPr/>
          </p:nvGrpSpPr>
          <p:grpSpPr>
            <a:xfrm>
              <a:off x="5762625" y="3492500"/>
              <a:ext cx="285751" cy="254001"/>
              <a:chOff x="5762625" y="3492500"/>
              <a:chExt cx="285751" cy="254001"/>
            </a:xfrm>
          </p:grpSpPr>
          <p:sp>
            <p:nvSpPr>
              <p:cNvPr id="17" name="Freeform 17"/>
              <p:cNvSpPr/>
              <p:nvPr/>
            </p:nvSpPr>
            <p:spPr>
              <a:xfrm>
                <a:off x="5842000" y="3571875"/>
                <a:ext cx="47625" cy="95250"/>
              </a:xfrm>
              <a:custGeom>
                <a:avLst/>
                <a:gdLst/>
                <a:ahLst/>
                <a:cxnLst/>
                <a:rect l="l" t="t" r="r" b="b"/>
                <a:pathLst>
                  <a:path w="47625" h="95250">
                    <a:moveTo>
                      <a:pt x="0" y="0"/>
                    </a:moveTo>
                    <a:lnTo>
                      <a:pt x="47625" y="47625"/>
                    </a:lnTo>
                    <a:lnTo>
                      <a:pt x="0" y="95250"/>
                    </a:lnTo>
                  </a:path>
                </a:pathLst>
              </a:custGeom>
              <a:noFill/>
              <a:ln w="31750">
                <a:solidFill>
                  <a:schemeClr val="dk1"/>
                </a:solidFill>
              </a:ln>
            </p:spPr>
          </p:sp>
          <p:sp>
            <p:nvSpPr>
              <p:cNvPr id="18" name="Freeform 18"/>
              <p:cNvSpPr/>
              <p:nvPr/>
            </p:nvSpPr>
            <p:spPr>
              <a:xfrm>
                <a:off x="5921375" y="3667125"/>
                <a:ext cx="47625" cy="9525"/>
              </a:xfrm>
              <a:custGeom>
                <a:avLst/>
                <a:gdLst/>
                <a:ahLst/>
                <a:cxnLst/>
                <a:rect l="l" t="t" r="r" b="b"/>
                <a:pathLst>
                  <a:path w="47625" h="9525">
                    <a:moveTo>
                      <a:pt x="0" y="0"/>
                    </a:moveTo>
                    <a:lnTo>
                      <a:pt x="47625" y="0"/>
                    </a:lnTo>
                  </a:path>
                </a:pathLst>
              </a:custGeom>
              <a:noFill/>
              <a:ln w="31750">
                <a:solidFill>
                  <a:schemeClr val="dk1"/>
                </a:solidFill>
              </a:ln>
            </p:spPr>
          </p:sp>
          <p:sp>
            <p:nvSpPr>
              <p:cNvPr id="19" name="Freeform 19"/>
              <p:cNvSpPr/>
              <p:nvPr/>
            </p:nvSpPr>
            <p:spPr>
              <a:xfrm>
                <a:off x="5762625" y="3492500"/>
                <a:ext cx="285751" cy="254001"/>
              </a:xfrm>
              <a:custGeom>
                <a:avLst/>
                <a:gdLst/>
                <a:ahLst/>
                <a:cxnLst/>
                <a:rect l="l" t="t" r="r" b="b"/>
                <a:pathLst>
                  <a:path w="285751" h="254001">
                    <a:moveTo>
                      <a:pt x="0" y="31750"/>
                    </a:moveTo>
                    <a:cubicBezTo>
                      <a:pt x="0" y="14215"/>
                      <a:pt x="14215" y="0"/>
                      <a:pt x="31750" y="0"/>
                    </a:cubicBezTo>
                    <a:lnTo>
                      <a:pt x="254001" y="0"/>
                    </a:lnTo>
                    <a:cubicBezTo>
                      <a:pt x="271536" y="0"/>
                      <a:pt x="285751" y="14215"/>
                      <a:pt x="285751" y="31750"/>
                    </a:cubicBezTo>
                    <a:lnTo>
                      <a:pt x="285751" y="222250"/>
                    </a:lnTo>
                    <a:cubicBezTo>
                      <a:pt x="285751" y="239786"/>
                      <a:pt x="271536" y="254001"/>
                      <a:pt x="254001" y="254001"/>
                    </a:cubicBezTo>
                    <a:lnTo>
                      <a:pt x="31750" y="254001"/>
                    </a:lnTo>
                    <a:cubicBezTo>
                      <a:pt x="14215" y="254001"/>
                      <a:pt x="0" y="239786"/>
                      <a:pt x="0" y="222250"/>
                    </a:cubicBezTo>
                    <a:lnTo>
                      <a:pt x="0" y="31750"/>
                    </a:lnTo>
                  </a:path>
                </a:pathLst>
              </a:custGeom>
              <a:noFill/>
              <a:ln w="31750">
                <a:solidFill>
                  <a:schemeClr val="dk1"/>
                </a:solidFill>
              </a:ln>
            </p:spPr>
          </p:sp>
        </p:grpSp>
        <p:sp>
          <p:nvSpPr>
            <p:cNvPr id="21" name="TextBox 21"/>
            <p:cNvSpPr txBox="1"/>
            <p:nvPr/>
          </p:nvSpPr>
          <p:spPr>
            <a:xfrm>
              <a:off x="5829605" y="3870960"/>
              <a:ext cx="532790" cy="234696"/>
            </a:xfrm>
            <a:prstGeom prst="rect">
              <a:avLst/>
            </a:prstGeom>
            <a:noFill/>
            <a:ln>
              <a:noFill/>
            </a:ln>
          </p:spPr>
          <p:txBody>
            <a:bodyPr wrap="none" lIns="0" tIns="0" rIns="0" bIns="0" anchor="t" anchorCtr="0">
              <a:spAutoFit/>
            </a:bodyPr>
            <a:lstStyle/>
            <a:p>
              <a:pPr algn="ctr"/>
              <a:r>
                <a:rPr lang="en" sz="1200" dirty="0">
                  <a:solidFill>
                    <a:srgbClr val="C7D2FE"/>
                  </a:solidFill>
                  <a:latin typeface="Consolas"/>
                  <a:ea typeface="Consolas"/>
                  <a:cs typeface="Consolas"/>
                </a:rPr>
                <a:t>STEP 2</a:t>
              </a:r>
            </a:p>
          </p:txBody>
        </p:sp>
        <p:grpSp>
          <p:nvGrpSpPr>
            <p:cNvPr id="24" name="Group 24"/>
            <p:cNvGrpSpPr/>
            <p:nvPr/>
          </p:nvGrpSpPr>
          <p:grpSpPr>
            <a:xfrm>
              <a:off x="9513101" y="3476625"/>
              <a:ext cx="310011" cy="285751"/>
              <a:chOff x="9513101" y="3476625"/>
              <a:chExt cx="310011" cy="285751"/>
            </a:xfrm>
          </p:grpSpPr>
          <p:sp>
            <p:nvSpPr>
              <p:cNvPr id="22" name="Freeform 22"/>
              <p:cNvSpPr/>
              <p:nvPr/>
            </p:nvSpPr>
            <p:spPr>
              <a:xfrm>
                <a:off x="9513101" y="3476625"/>
                <a:ext cx="310011" cy="283306"/>
              </a:xfrm>
              <a:custGeom>
                <a:avLst/>
                <a:gdLst/>
                <a:ahLst/>
                <a:cxnLst/>
                <a:rect l="l" t="t" r="r" b="b"/>
                <a:pathLst>
                  <a:path w="310011" h="283306">
                    <a:moveTo>
                      <a:pt x="155727" y="283306"/>
                    </a:moveTo>
                    <a:cubicBezTo>
                      <a:pt x="56277" y="252479"/>
                      <a:pt x="0" y="147517"/>
                      <a:pt x="29362" y="47625"/>
                    </a:cubicBezTo>
                    <a:cubicBezTo>
                      <a:pt x="78821" y="49888"/>
                      <a:pt x="127218" y="32807"/>
                      <a:pt x="164299" y="0"/>
                    </a:cubicBezTo>
                    <a:cubicBezTo>
                      <a:pt x="201381" y="32807"/>
                      <a:pt x="249778" y="49888"/>
                      <a:pt x="299237" y="47625"/>
                    </a:cubicBezTo>
                    <a:cubicBezTo>
                      <a:pt x="310011" y="84282"/>
                      <a:pt x="309513" y="123332"/>
                      <a:pt x="297808" y="159703"/>
                    </a:cubicBezTo>
                  </a:path>
                </a:pathLst>
              </a:custGeom>
              <a:noFill/>
              <a:ln w="31750">
                <a:solidFill>
                  <a:srgbClr val="0B0F1A"/>
                </a:solidFill>
              </a:ln>
            </p:spPr>
          </p:sp>
          <p:sp>
            <p:nvSpPr>
              <p:cNvPr id="23" name="Freeform 23"/>
              <p:cNvSpPr/>
              <p:nvPr/>
            </p:nvSpPr>
            <p:spPr>
              <a:xfrm>
                <a:off x="9725025" y="3698876"/>
                <a:ext cx="95250" cy="63500"/>
              </a:xfrm>
              <a:custGeom>
                <a:avLst/>
                <a:gdLst/>
                <a:ahLst/>
                <a:cxnLst/>
                <a:rect l="l" t="t" r="r" b="b"/>
                <a:pathLst>
                  <a:path w="95250" h="63500">
                    <a:moveTo>
                      <a:pt x="0" y="31750"/>
                    </a:moveTo>
                    <a:lnTo>
                      <a:pt x="31750" y="63500"/>
                    </a:lnTo>
                    <a:lnTo>
                      <a:pt x="95250" y="0"/>
                    </a:lnTo>
                  </a:path>
                </a:pathLst>
              </a:custGeom>
              <a:noFill/>
              <a:ln w="31750">
                <a:solidFill>
                  <a:srgbClr val="0B0F1A"/>
                </a:solidFill>
              </a:ln>
            </p:spPr>
          </p:sp>
        </p:grpSp>
        <p:sp>
          <p:nvSpPr>
            <p:cNvPr id="25" name="TextBox 25"/>
            <p:cNvSpPr txBox="1"/>
            <p:nvPr/>
          </p:nvSpPr>
          <p:spPr>
            <a:xfrm>
              <a:off x="9411005" y="3870960"/>
              <a:ext cx="532790" cy="234696"/>
            </a:xfrm>
            <a:prstGeom prst="rect">
              <a:avLst/>
            </a:prstGeom>
            <a:noFill/>
            <a:ln>
              <a:noFill/>
            </a:ln>
          </p:spPr>
          <p:txBody>
            <a:bodyPr wrap="none" lIns="0" tIns="0" rIns="0" bIns="0" anchor="t" anchorCtr="0">
              <a:spAutoFit/>
            </a:bodyPr>
            <a:lstStyle/>
            <a:p>
              <a:pPr algn="ctr"/>
              <a:r>
                <a:rPr lang="en" sz="1200" dirty="0">
                  <a:solidFill>
                    <a:srgbClr val="0B0F1A"/>
                  </a:solidFill>
                  <a:latin typeface="Consolas"/>
                  <a:ea typeface="Consolas"/>
                  <a:cs typeface="Consolas"/>
                </a:rPr>
                <a:t>STEP 3</a:t>
              </a:r>
            </a:p>
          </p:txBody>
        </p:sp>
      </p:grpSp>
      <p:grpSp>
        <p:nvGrpSpPr>
          <p:cNvPr id="33" name="Group 33"/>
          <p:cNvGrpSpPr/>
          <p:nvPr/>
        </p:nvGrpSpPr>
        <p:grpSpPr>
          <a:xfrm>
            <a:off x="1411224" y="4892040"/>
            <a:ext cx="9447276" cy="756666"/>
            <a:chOff x="1411224" y="4892040"/>
            <a:chExt cx="9447276" cy="756666"/>
          </a:xfrm>
        </p:grpSpPr>
        <p:sp>
          <p:nvSpPr>
            <p:cNvPr id="27" name="TextBox 27"/>
            <p:cNvSpPr txBox="1"/>
            <p:nvPr/>
          </p:nvSpPr>
          <p:spPr>
            <a:xfrm>
              <a:off x="1973775" y="4892040"/>
              <a:ext cx="1081651" cy="352044"/>
            </a:xfrm>
            <a:prstGeom prst="rect">
              <a:avLst/>
            </a:prstGeom>
            <a:noFill/>
            <a:ln>
              <a:noFill/>
            </a:ln>
          </p:spPr>
          <p:txBody>
            <a:bodyPr wrap="none" lIns="0" tIns="0" rIns="0" bIns="0" anchor="t" anchorCtr="0">
              <a:spAutoFit/>
            </a:bodyPr>
            <a:lstStyle/>
            <a:p>
              <a:pPr algn="ctr"/>
              <a:r>
                <a:rPr lang="en" sz="1800" b="1" dirty="0">
                  <a:solidFill>
                    <a:schemeClr val="dk1"/>
                  </a:solidFill>
                  <a:latin typeface="+mn-lt"/>
                  <a:ea typeface="+mn-ea"/>
                  <a:cs typeface="+mn-cs"/>
                </a:rPr>
                <a:t>Diagnose</a:t>
              </a:r>
            </a:p>
          </p:txBody>
        </p:sp>
        <p:sp>
          <p:nvSpPr>
            <p:cNvPr id="28" name="TextBox 28"/>
            <p:cNvSpPr txBox="1"/>
            <p:nvPr/>
          </p:nvSpPr>
          <p:spPr>
            <a:xfrm>
              <a:off x="1411224" y="5223510"/>
              <a:ext cx="2206752" cy="425196"/>
            </a:xfrm>
            <a:prstGeom prst="rect">
              <a:avLst/>
            </a:prstGeom>
            <a:noFill/>
            <a:ln>
              <a:noFill/>
            </a:ln>
          </p:spPr>
          <p:txBody>
            <a:bodyPr wrap="none" lIns="0" tIns="0" rIns="0" bIns="0" anchor="t" anchorCtr="0">
              <a:spAutoFit/>
            </a:bodyPr>
            <a:lstStyle/>
            <a:p>
              <a:pPr algn="ctr">
                <a:lnSpc>
                  <a:spcPts val="1500"/>
                </a:lnSpc>
              </a:pPr>
              <a:r>
                <a:rPr lang="en" sz="1200" dirty="0">
                  <a:solidFill>
                    <a:schemeClr val="accent5"/>
                  </a:solidFill>
                  <a:latin typeface="+mn-lt"/>
                  <a:ea typeface="+mn-ea"/>
                  <a:cs typeface="+mn-cs"/>
                </a:rPr>
                <a:t>Read-only telemetry:</a:t>
              </a:r>
              <a:br/>
              <a:r>
                <a:rPr lang="en" sz="1200" dirty="0">
                  <a:solidFill>
                    <a:schemeClr val="accent5"/>
                  </a:solidFill>
                  <a:latin typeface="+mn-lt"/>
                  <a:ea typeface="+mn-ea"/>
                  <a:cs typeface="+mn-cs"/>
                </a:rPr>
                <a:t>systemctl, ps, ss, journalctl</a:t>
              </a:r>
            </a:p>
          </p:txBody>
        </p:sp>
        <p:sp>
          <p:nvSpPr>
            <p:cNvPr id="29" name="TextBox 29"/>
            <p:cNvSpPr txBox="1"/>
            <p:nvPr/>
          </p:nvSpPr>
          <p:spPr>
            <a:xfrm>
              <a:off x="5459578" y="4892040"/>
              <a:ext cx="1272845" cy="352044"/>
            </a:xfrm>
            <a:prstGeom prst="rect">
              <a:avLst/>
            </a:prstGeom>
            <a:noFill/>
            <a:ln>
              <a:noFill/>
            </a:ln>
          </p:spPr>
          <p:txBody>
            <a:bodyPr wrap="none" lIns="0" tIns="0" rIns="0" bIns="0" anchor="t" anchorCtr="0">
              <a:spAutoFit/>
            </a:bodyPr>
            <a:lstStyle/>
            <a:p>
              <a:pPr algn="ctr"/>
              <a:r>
                <a:rPr lang="en" sz="1800" b="1" dirty="0">
                  <a:solidFill>
                    <a:schemeClr val="dk1"/>
                  </a:solidFill>
                  <a:latin typeface="+mn-lt"/>
                  <a:ea typeface="+mn-ea"/>
                  <a:cs typeface="+mn-cs"/>
                </a:rPr>
                <a:t>Remediate</a:t>
              </a:r>
            </a:p>
          </p:txBody>
        </p:sp>
        <p:sp>
          <p:nvSpPr>
            <p:cNvPr id="30" name="TextBox 30"/>
            <p:cNvSpPr txBox="1"/>
            <p:nvPr/>
          </p:nvSpPr>
          <p:spPr>
            <a:xfrm>
              <a:off x="4946904" y="5223510"/>
              <a:ext cx="2298192" cy="425196"/>
            </a:xfrm>
            <a:prstGeom prst="rect">
              <a:avLst/>
            </a:prstGeom>
            <a:noFill/>
            <a:ln>
              <a:noFill/>
            </a:ln>
          </p:spPr>
          <p:txBody>
            <a:bodyPr wrap="none" lIns="0" tIns="0" rIns="0" bIns="0" anchor="t" anchorCtr="0">
              <a:spAutoFit/>
            </a:bodyPr>
            <a:lstStyle/>
            <a:p>
              <a:pPr algn="ctr">
                <a:lnSpc>
                  <a:spcPts val="1500"/>
                </a:lnSpc>
              </a:pPr>
              <a:r>
                <a:rPr lang="en" sz="1200" dirty="0">
                  <a:solidFill>
                    <a:schemeClr val="accent5"/>
                  </a:solidFill>
                  <a:latin typeface="+mn-lt"/>
                  <a:ea typeface="+mn-ea"/>
                  <a:cs typeface="+mn-cs"/>
                </a:rPr>
                <a:t>Parameterized SOP over SSH,</a:t>
              </a:r>
              <a:br/>
              <a:r>
                <a:rPr lang="en" sz="1200" dirty="0">
                  <a:solidFill>
                    <a:schemeClr val="accent5"/>
                  </a:solidFill>
                  <a:latin typeface="+mn-lt"/>
                  <a:ea typeface="+mn-ea"/>
                  <a:cs typeface="+mn-cs"/>
                </a:rPr>
                <a:t>10-second stabilization pauses</a:t>
              </a:r>
            </a:p>
          </p:txBody>
        </p:sp>
        <p:sp>
          <p:nvSpPr>
            <p:cNvPr id="31" name="TextBox 31"/>
            <p:cNvSpPr txBox="1"/>
            <p:nvPr/>
          </p:nvSpPr>
          <p:spPr>
            <a:xfrm>
              <a:off x="9276587" y="4892040"/>
              <a:ext cx="801626" cy="352044"/>
            </a:xfrm>
            <a:prstGeom prst="rect">
              <a:avLst/>
            </a:prstGeom>
            <a:noFill/>
            <a:ln>
              <a:noFill/>
            </a:ln>
          </p:spPr>
          <p:txBody>
            <a:bodyPr wrap="none" lIns="0" tIns="0" rIns="0" bIns="0" anchor="t" anchorCtr="0">
              <a:spAutoFit/>
            </a:bodyPr>
            <a:lstStyle/>
            <a:p>
              <a:pPr algn="ctr"/>
              <a:r>
                <a:rPr lang="en" sz="1800" b="1" dirty="0">
                  <a:solidFill>
                    <a:schemeClr val="dk1"/>
                  </a:solidFill>
                  <a:latin typeface="+mn-lt"/>
                  <a:ea typeface="+mn-ea"/>
                  <a:cs typeface="+mn-cs"/>
                </a:rPr>
                <a:t>Verify</a:t>
              </a:r>
            </a:p>
          </p:txBody>
        </p:sp>
        <p:sp>
          <p:nvSpPr>
            <p:cNvPr id="32" name="TextBox 32"/>
            <p:cNvSpPr txBox="1"/>
            <p:nvPr/>
          </p:nvSpPr>
          <p:spPr>
            <a:xfrm>
              <a:off x="8496300" y="5223510"/>
              <a:ext cx="2362200" cy="425196"/>
            </a:xfrm>
            <a:prstGeom prst="rect">
              <a:avLst/>
            </a:prstGeom>
            <a:noFill/>
            <a:ln>
              <a:noFill/>
            </a:ln>
          </p:spPr>
          <p:txBody>
            <a:bodyPr wrap="none" lIns="0" tIns="0" rIns="0" bIns="0" anchor="t" anchorCtr="0">
              <a:spAutoFit/>
            </a:bodyPr>
            <a:lstStyle/>
            <a:p>
              <a:pPr algn="ctr">
                <a:lnSpc>
                  <a:spcPts val="1500"/>
                </a:lnSpc>
              </a:pPr>
              <a:r>
                <a:rPr lang="en" sz="1200" dirty="0">
                  <a:solidFill>
                    <a:schemeClr val="accent5"/>
                  </a:solidFill>
                  <a:latin typeface="+mn-lt"/>
                  <a:ea typeface="+mn-ea"/>
                  <a:cs typeface="+mn-cs"/>
                </a:rPr>
                <a:t xml:space="preserve">The </a:t>
              </a:r>
              <a:r>
                <a:rPr lang="en" sz="1200" b="1" dirty="0">
                  <a:solidFill>
                    <a:schemeClr val="accent2"/>
                  </a:solidFill>
                  <a:latin typeface="+mn-lt"/>
                  <a:ea typeface="+mn-ea"/>
                  <a:cs typeface="+mn-cs"/>
                </a:rPr>
                <a:t>Proof-of-Fix Guard</a:t>
              </a:r>
              <a:r>
                <a:rPr lang="en" sz="1200" dirty="0">
                  <a:solidFill>
                    <a:schemeClr val="accent5"/>
                  </a:solidFill>
                  <a:latin typeface="+mn-lt"/>
                  <a:ea typeface="+mn-ea"/>
                  <a:cs typeface="+mn-cs"/>
                </a:rPr>
                <a:t xml:space="preserve"> checks</a:t>
              </a:r>
              <a:br/>
              <a:r>
                <a:rPr lang="en" sz="1200" dirty="0">
                  <a:solidFill>
                    <a:schemeClr val="accent5"/>
                  </a:solidFill>
                  <a:latin typeface="+mn-lt"/>
                  <a:ea typeface="+mn-ea"/>
                  <a:cs typeface="+mn-cs"/>
                </a:rPr>
                <a:t>real in-guest stdout/stderr</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345332"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04 · TRUST &amp; GOVERNANCE</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P11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7276524" cy="883729"/>
            <a:chOff x="590550" y="1223010"/>
            <a:chExt cx="7276524" cy="883729"/>
          </a:xfrm>
        </p:grpSpPr>
        <p:sp>
          <p:nvSpPr>
            <p:cNvPr id="7" name="TextBox 7"/>
            <p:cNvSpPr txBox="1"/>
            <p:nvPr/>
          </p:nvSpPr>
          <p:spPr>
            <a:xfrm>
              <a:off x="590550" y="1223010"/>
              <a:ext cx="7178993"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Every Novel Action Waits</a:t>
              </a:r>
            </a:p>
          </p:txBody>
        </p:sp>
        <p:sp>
          <p:nvSpPr>
            <p:cNvPr id="8" name="TextBox 8"/>
            <p:cNvSpPr txBox="1"/>
            <p:nvPr/>
          </p:nvSpPr>
          <p:spPr>
            <a:xfrm>
              <a:off x="601218" y="1784032"/>
              <a:ext cx="7265856"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No matching precedent: the platform proposes a plan, then stops.</a:t>
              </a:r>
            </a:p>
          </p:txBody>
        </p:sp>
      </p:grpSp>
      <p:grpSp>
        <p:nvGrpSpPr>
          <p:cNvPr id="13" name="Group 13"/>
          <p:cNvGrpSpPr/>
          <p:nvPr/>
        </p:nvGrpSpPr>
        <p:grpSpPr>
          <a:xfrm>
            <a:off x="609600" y="2247900"/>
            <a:ext cx="7543800" cy="4000500"/>
            <a:chOff x="609600" y="2247900"/>
            <a:chExt cx="7543800" cy="4000500"/>
          </a:xfrm>
        </p:grpSpPr>
        <p:sp>
          <p:nvSpPr>
            <p:cNvPr id="10" name="Rectangle 10"/>
            <p:cNvSpPr/>
            <p:nvPr/>
          </p:nvSpPr>
          <p:spPr>
            <a:xfrm>
              <a:off x="609600" y="2247900"/>
              <a:ext cx="7543800" cy="4000500"/>
            </a:xfrm>
            <a:prstGeom prst="roundRect">
              <a:avLst>
                <a:gd name="adj" fmla="val 3810"/>
              </a:avLst>
            </a:prstGeom>
            <a:solidFill>
              <a:schemeClr val="lt2"/>
            </a:solidFill>
            <a:ln w="9525">
              <a:solidFill>
                <a:schemeClr val="accent6"/>
              </a:solidFill>
            </a:ln>
            <a:effectLst>
              <a:outerShdw blurRad="228600" dist="57150" dir="5400000" algn="ctr" rotWithShape="0">
                <a:srgbClr val="000000">
                  <a:alpha val="33750"/>
                </a:srgbClr>
              </a:outerShdw>
            </a:effectLst>
          </p:spPr>
        </p:sp>
        <p:pic>
          <p:nvPicPr>
            <p:cNvPr id="11" name="Image 11"/>
            <p:cNvPicPr>
              <a:picLocks noChangeAspect="1"/>
            </p:cNvPicPr>
            <p:nvPr/>
          </p:nvPicPr>
          <p:blipFill>
            <a:blip r:embed="rId2"/>
            <a:stretch>
              <a:fillRect/>
            </a:stretch>
          </p:blipFill>
          <p:spPr>
            <a:xfrm>
              <a:off x="1231900" y="2476500"/>
              <a:ext cx="6299200" cy="3543300"/>
            </a:xfrm>
            <a:prstGeom prst="rect">
              <a:avLst/>
            </a:prstGeom>
          </p:spPr>
        </p:pic>
        <p:sp>
          <p:nvSpPr>
            <p:cNvPr id="12" name="TextBox 12"/>
            <p:cNvSpPr txBox="1"/>
            <p:nvPr/>
          </p:nvSpPr>
          <p:spPr>
            <a:xfrm>
              <a:off x="5619369" y="6004560"/>
              <a:ext cx="2311527"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Consolas"/>
                  <a:ea typeface="Consolas"/>
                  <a:cs typeface="Consolas"/>
                </a:rPr>
                <a:t>Approval queue — live capture</a:t>
              </a:r>
            </a:p>
          </p:txBody>
        </p:sp>
      </p:grpSp>
      <p:grpSp>
        <p:nvGrpSpPr>
          <p:cNvPr id="41" name="Group 41"/>
          <p:cNvGrpSpPr/>
          <p:nvPr/>
        </p:nvGrpSpPr>
        <p:grpSpPr>
          <a:xfrm>
            <a:off x="8534400" y="2286000"/>
            <a:ext cx="2952750" cy="2873978"/>
            <a:chOff x="8534400" y="2286000"/>
            <a:chExt cx="2952750" cy="2873978"/>
          </a:xfrm>
        </p:grpSpPr>
        <p:grpSp>
          <p:nvGrpSpPr>
            <p:cNvPr id="21" name="Group 21"/>
            <p:cNvGrpSpPr/>
            <p:nvPr/>
          </p:nvGrpSpPr>
          <p:grpSpPr>
            <a:xfrm>
              <a:off x="8629650" y="2286000"/>
              <a:ext cx="2857500" cy="505206"/>
              <a:chOff x="8629650" y="2286000"/>
              <a:chExt cx="2857500" cy="505206"/>
            </a:xfrm>
          </p:grpSpPr>
          <p:sp>
            <p:nvSpPr>
              <p:cNvPr id="14" name="Rectangle 14"/>
              <p:cNvSpPr/>
              <p:nvPr/>
            </p:nvSpPr>
            <p:spPr>
              <a:xfrm>
                <a:off x="8629650" y="2286000"/>
                <a:ext cx="2857500" cy="495300"/>
              </a:xfrm>
              <a:prstGeom prst="roundRect">
                <a:avLst>
                  <a:gd name="adj" fmla="val 23077"/>
                </a:avLst>
              </a:prstGeom>
              <a:solidFill>
                <a:schemeClr val="lt2"/>
              </a:solidFill>
              <a:ln w="9525">
                <a:solidFill>
                  <a:schemeClr val="accent3">
                    <a:alpha val="60000"/>
                  </a:schemeClr>
                </a:solidFill>
              </a:ln>
            </p:spPr>
          </p:sp>
          <p:grpSp>
            <p:nvGrpSpPr>
              <p:cNvPr id="18" name="Group 18"/>
              <p:cNvGrpSpPr/>
              <p:nvPr/>
            </p:nvGrpSpPr>
            <p:grpSpPr>
              <a:xfrm>
                <a:off x="8824912" y="2440781"/>
                <a:ext cx="154781" cy="185737"/>
                <a:chOff x="8824912" y="2440781"/>
                <a:chExt cx="154781" cy="185737"/>
              </a:xfrm>
            </p:grpSpPr>
            <p:sp>
              <p:nvSpPr>
                <p:cNvPr id="15" name="Freeform 15"/>
                <p:cNvSpPr/>
                <p:nvPr/>
              </p:nvSpPr>
              <p:spPr>
                <a:xfrm>
                  <a:off x="8845550" y="2440781"/>
                  <a:ext cx="82550" cy="82550"/>
                </a:xfrm>
                <a:custGeom>
                  <a:avLst/>
                  <a:gdLst/>
                  <a:ahLst/>
                  <a:cxnLst/>
                  <a:rect l="l" t="t" r="r" b="b"/>
                  <a:pathLst>
                    <a:path w="82550" h="82550">
                      <a:moveTo>
                        <a:pt x="0" y="41275"/>
                      </a:moveTo>
                      <a:cubicBezTo>
                        <a:pt x="0" y="64070"/>
                        <a:pt x="18479" y="82550"/>
                        <a:pt x="41275" y="82550"/>
                      </a:cubicBezTo>
                      <a:cubicBezTo>
                        <a:pt x="64070" y="82550"/>
                        <a:pt x="82550" y="64070"/>
                        <a:pt x="82550" y="41275"/>
                      </a:cubicBezTo>
                      <a:cubicBezTo>
                        <a:pt x="82550" y="18479"/>
                        <a:pt x="64070" y="0"/>
                        <a:pt x="41275" y="0"/>
                      </a:cubicBezTo>
                      <a:cubicBezTo>
                        <a:pt x="18479" y="0"/>
                        <a:pt x="0" y="18479"/>
                        <a:pt x="0" y="41275"/>
                      </a:cubicBezTo>
                    </a:path>
                  </a:pathLst>
                </a:custGeom>
                <a:noFill/>
                <a:ln w="20637">
                  <a:solidFill>
                    <a:schemeClr val="accent3"/>
                  </a:solidFill>
                </a:ln>
              </p:spPr>
            </p:sp>
            <p:sp>
              <p:nvSpPr>
                <p:cNvPr id="16" name="Freeform 16"/>
                <p:cNvSpPr/>
                <p:nvPr/>
              </p:nvSpPr>
              <p:spPr>
                <a:xfrm>
                  <a:off x="8824912" y="2564606"/>
                  <a:ext cx="82550" cy="61912"/>
                </a:xfrm>
                <a:custGeom>
                  <a:avLst/>
                  <a:gdLst/>
                  <a:ahLst/>
                  <a:cxnLst/>
                  <a:rect l="l" t="t" r="r" b="b"/>
                  <a:pathLst>
                    <a:path w="82550" h="61912">
                      <a:moveTo>
                        <a:pt x="0" y="61912"/>
                      </a:moveTo>
                      <a:lnTo>
                        <a:pt x="0" y="41275"/>
                      </a:lnTo>
                      <a:cubicBezTo>
                        <a:pt x="0" y="18479"/>
                        <a:pt x="18479" y="0"/>
                        <a:pt x="41275" y="0"/>
                      </a:cubicBezTo>
                      <a:lnTo>
                        <a:pt x="82550" y="0"/>
                      </a:lnTo>
                    </a:path>
                  </a:pathLst>
                </a:custGeom>
                <a:noFill/>
                <a:ln w="20637">
                  <a:solidFill>
                    <a:schemeClr val="accent3"/>
                  </a:solidFill>
                </a:ln>
              </p:spPr>
            </p:sp>
            <p:sp>
              <p:nvSpPr>
                <p:cNvPr id="17" name="Freeform 17"/>
                <p:cNvSpPr/>
                <p:nvPr/>
              </p:nvSpPr>
              <p:spPr>
                <a:xfrm>
                  <a:off x="8917781" y="2585243"/>
                  <a:ext cx="61912" cy="41275"/>
                </a:xfrm>
                <a:custGeom>
                  <a:avLst/>
                  <a:gdLst/>
                  <a:ahLst/>
                  <a:cxnLst/>
                  <a:rect l="l" t="t" r="r" b="b"/>
                  <a:pathLst>
                    <a:path w="61912" h="41275">
                      <a:moveTo>
                        <a:pt x="0" y="20637"/>
                      </a:moveTo>
                      <a:lnTo>
                        <a:pt x="20637" y="41275"/>
                      </a:lnTo>
                      <a:lnTo>
                        <a:pt x="61912" y="0"/>
                      </a:lnTo>
                    </a:path>
                  </a:pathLst>
                </a:custGeom>
                <a:noFill/>
                <a:ln w="20637">
                  <a:solidFill>
                    <a:schemeClr val="accent3"/>
                  </a:solidFill>
                </a:ln>
              </p:spPr>
            </p:sp>
          </p:grpSp>
          <p:sp>
            <p:nvSpPr>
              <p:cNvPr id="19" name="TextBox 19"/>
              <p:cNvSpPr txBox="1"/>
              <p:nvPr/>
            </p:nvSpPr>
            <p:spPr>
              <a:xfrm>
                <a:off x="9080754" y="2385060"/>
                <a:ext cx="1836260" cy="234696"/>
              </a:xfrm>
              <a:prstGeom prst="rect">
                <a:avLst/>
              </a:prstGeom>
              <a:noFill/>
              <a:ln>
                <a:noFill/>
              </a:ln>
            </p:spPr>
            <p:txBody>
              <a:bodyPr wrap="none" lIns="0" tIns="0" rIns="0" bIns="0" anchor="t" anchorCtr="0">
                <a:spAutoFit/>
              </a:bodyPr>
              <a:lstStyle/>
              <a:p>
                <a:pPr algn="l"/>
                <a:r>
                  <a:rPr lang="en" sz="1200" b="1" dirty="0">
                    <a:solidFill>
                      <a:schemeClr val="accent3"/>
                    </a:solidFill>
                    <a:latin typeface="+mn-lt"/>
                    <a:ea typeface="+mn-ea"/>
                    <a:cs typeface="+mn-cs"/>
                  </a:rPr>
                  <a:t>PENDING</a:t>
                </a:r>
                <a:r>
                  <a:rPr lang="en" sz="1200" b="1" dirty="0">
                    <a:solidFill>
                      <a:schemeClr val="dk1"/>
                    </a:solidFill>
                    <a:latin typeface="+mn-lt"/>
                    <a:ea typeface="+mn-ea"/>
                    <a:cs typeface="+mn-cs"/>
                  </a:rPr>
                  <a:t xml:space="preserve"> approval card</a:t>
                </a:r>
              </a:p>
            </p:txBody>
          </p:sp>
          <p:sp>
            <p:nvSpPr>
              <p:cNvPr id="20" name="TextBox 20"/>
              <p:cNvSpPr txBox="1"/>
              <p:nvPr/>
            </p:nvSpPr>
            <p:spPr>
              <a:xfrm>
                <a:off x="9080754" y="2556510"/>
                <a:ext cx="2039678"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SOP + diagnostic evidence</a:t>
                </a:r>
              </a:p>
            </p:txBody>
          </p:sp>
        </p:grpSp>
        <p:sp>
          <p:nvSpPr>
            <p:cNvPr id="22" name="Freeform 22"/>
            <p:cNvSpPr/>
            <p:nvPr/>
          </p:nvSpPr>
          <p:spPr>
            <a:xfrm>
              <a:off x="9296400" y="2781300"/>
              <a:ext cx="1524000" cy="285750"/>
            </a:xfrm>
            <a:custGeom>
              <a:avLst/>
              <a:gdLst/>
              <a:ahLst/>
              <a:cxnLst/>
              <a:rect l="l" t="t" r="r" b="b"/>
              <a:pathLst>
                <a:path w="1524000" h="285750">
                  <a:moveTo>
                    <a:pt x="762000" y="0"/>
                  </a:moveTo>
                  <a:lnTo>
                    <a:pt x="0" y="285750"/>
                  </a:lnTo>
                  <a:moveTo>
                    <a:pt x="762000" y="0"/>
                  </a:moveTo>
                  <a:lnTo>
                    <a:pt x="1524000" y="285750"/>
                  </a:lnTo>
                </a:path>
              </a:pathLst>
            </a:custGeom>
            <a:noFill/>
            <a:ln w="19050">
              <a:solidFill>
                <a:schemeClr val="accent6"/>
              </a:solidFill>
            </a:ln>
          </p:spPr>
        </p:sp>
        <p:grpSp>
          <p:nvGrpSpPr>
            <p:cNvPr id="26" name="Group 26"/>
            <p:cNvGrpSpPr/>
            <p:nvPr/>
          </p:nvGrpSpPr>
          <p:grpSpPr>
            <a:xfrm>
              <a:off x="8629650" y="3105150"/>
              <a:ext cx="1333500" cy="533400"/>
              <a:chOff x="8629650" y="3105150"/>
              <a:chExt cx="1333500" cy="533400"/>
            </a:xfrm>
          </p:grpSpPr>
          <p:sp>
            <p:nvSpPr>
              <p:cNvPr id="23" name="Rectangle 23"/>
              <p:cNvSpPr/>
              <p:nvPr/>
            </p:nvSpPr>
            <p:spPr>
              <a:xfrm>
                <a:off x="8629650" y="3105150"/>
                <a:ext cx="1333500" cy="533400"/>
              </a:xfrm>
              <a:prstGeom prst="roundRect">
                <a:avLst>
                  <a:gd name="adj" fmla="val 17857"/>
                </a:avLst>
              </a:prstGeom>
              <a:solidFill>
                <a:schemeClr val="lt2"/>
              </a:solidFill>
              <a:ln w="9525">
                <a:solidFill>
                  <a:schemeClr val="accent2">
                    <a:alpha val="60000"/>
                  </a:schemeClr>
                </a:solidFill>
              </a:ln>
            </p:spPr>
          </p:sp>
          <p:sp>
            <p:nvSpPr>
              <p:cNvPr id="24" name="TextBox 24"/>
              <p:cNvSpPr txBox="1"/>
              <p:nvPr/>
            </p:nvSpPr>
            <p:spPr>
              <a:xfrm>
                <a:off x="8961143" y="3204210"/>
                <a:ext cx="670514" cy="234696"/>
              </a:xfrm>
              <a:prstGeom prst="rect">
                <a:avLst/>
              </a:prstGeom>
              <a:noFill/>
              <a:ln>
                <a:noFill/>
              </a:ln>
            </p:spPr>
            <p:txBody>
              <a:bodyPr wrap="none" lIns="0" tIns="0" rIns="0" bIns="0" anchor="t" anchorCtr="0">
                <a:spAutoFit/>
              </a:bodyPr>
              <a:lstStyle/>
              <a:p>
                <a:pPr algn="ctr"/>
                <a:r>
                  <a:rPr lang="en" sz="1200" b="1" dirty="0">
                    <a:solidFill>
                      <a:schemeClr val="accent2"/>
                    </a:solidFill>
                    <a:latin typeface="+mn-lt"/>
                    <a:ea typeface="+mn-ea"/>
                    <a:cs typeface="+mn-cs"/>
                  </a:rPr>
                  <a:t>Approve</a:t>
                </a:r>
              </a:p>
            </p:txBody>
          </p:sp>
          <p:sp>
            <p:nvSpPr>
              <p:cNvPr id="25" name="TextBox 25"/>
              <p:cNvSpPr txBox="1"/>
              <p:nvPr/>
            </p:nvSpPr>
            <p:spPr>
              <a:xfrm>
                <a:off x="8640089" y="3375660"/>
                <a:ext cx="1312621"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 execution runs</a:t>
                </a:r>
              </a:p>
            </p:txBody>
          </p:sp>
        </p:grpSp>
        <p:grpSp>
          <p:nvGrpSpPr>
            <p:cNvPr id="30" name="Group 30"/>
            <p:cNvGrpSpPr/>
            <p:nvPr/>
          </p:nvGrpSpPr>
          <p:grpSpPr>
            <a:xfrm>
              <a:off x="10153650" y="3105150"/>
              <a:ext cx="1333500" cy="533400"/>
              <a:chOff x="10153650" y="3105150"/>
              <a:chExt cx="1333500" cy="533400"/>
            </a:xfrm>
          </p:grpSpPr>
          <p:sp>
            <p:nvSpPr>
              <p:cNvPr id="27" name="Rectangle 27"/>
              <p:cNvSpPr/>
              <p:nvPr/>
            </p:nvSpPr>
            <p:spPr>
              <a:xfrm>
                <a:off x="10153650" y="3105150"/>
                <a:ext cx="1333500" cy="533400"/>
              </a:xfrm>
              <a:prstGeom prst="roundRect">
                <a:avLst>
                  <a:gd name="adj" fmla="val 17857"/>
                </a:avLst>
              </a:prstGeom>
              <a:solidFill>
                <a:schemeClr val="lt2"/>
              </a:solidFill>
              <a:ln w="9525">
                <a:solidFill>
                  <a:srgbClr val="F43F5E">
                    <a:alpha val="60000"/>
                  </a:srgbClr>
                </a:solidFill>
              </a:ln>
            </p:spPr>
          </p:sp>
          <p:sp>
            <p:nvSpPr>
              <p:cNvPr id="28" name="TextBox 28"/>
              <p:cNvSpPr txBox="1"/>
              <p:nvPr/>
            </p:nvSpPr>
            <p:spPr>
              <a:xfrm>
                <a:off x="10553191" y="3204210"/>
                <a:ext cx="534417" cy="234696"/>
              </a:xfrm>
              <a:prstGeom prst="rect">
                <a:avLst/>
              </a:prstGeom>
              <a:noFill/>
              <a:ln>
                <a:noFill/>
              </a:ln>
            </p:spPr>
            <p:txBody>
              <a:bodyPr wrap="none" lIns="0" tIns="0" rIns="0" bIns="0" anchor="t" anchorCtr="0">
                <a:spAutoFit/>
              </a:bodyPr>
              <a:lstStyle/>
              <a:p>
                <a:pPr algn="ctr"/>
                <a:r>
                  <a:rPr lang="en" sz="1200" b="1" dirty="0">
                    <a:solidFill>
                      <a:srgbClr val="F43F5E"/>
                    </a:solidFill>
                    <a:latin typeface="+mn-lt"/>
                    <a:ea typeface="+mn-ea"/>
                    <a:cs typeface="+mn-cs"/>
                  </a:rPr>
                  <a:t>Reject</a:t>
                </a:r>
              </a:p>
            </p:txBody>
          </p:sp>
          <p:sp>
            <p:nvSpPr>
              <p:cNvPr id="29" name="TextBox 29"/>
              <p:cNvSpPr txBox="1"/>
              <p:nvPr/>
            </p:nvSpPr>
            <p:spPr>
              <a:xfrm>
                <a:off x="10228707" y="3375660"/>
                <a:ext cx="1183386"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 ticket locked</a:t>
                </a:r>
              </a:p>
            </p:txBody>
          </p:sp>
        </p:grpSp>
        <p:grpSp>
          <p:nvGrpSpPr>
            <p:cNvPr id="37" name="Group 37"/>
            <p:cNvGrpSpPr/>
            <p:nvPr/>
          </p:nvGrpSpPr>
          <p:grpSpPr>
            <a:xfrm>
              <a:off x="8565356" y="4013994"/>
              <a:ext cx="2363375" cy="479234"/>
              <a:chOff x="8565356" y="4013994"/>
              <a:chExt cx="2363375" cy="479234"/>
            </a:xfrm>
          </p:grpSpPr>
          <p:grpSp>
            <p:nvGrpSpPr>
              <p:cNvPr id="35" name="Group 35"/>
              <p:cNvGrpSpPr/>
              <p:nvPr/>
            </p:nvGrpSpPr>
            <p:grpSpPr>
              <a:xfrm>
                <a:off x="8565356" y="4013994"/>
                <a:ext cx="185737" cy="144462"/>
                <a:chOff x="8565356" y="4013994"/>
                <a:chExt cx="185737" cy="144462"/>
              </a:xfrm>
            </p:grpSpPr>
            <p:sp>
              <p:nvSpPr>
                <p:cNvPr id="31" name="Freeform 31"/>
                <p:cNvSpPr/>
                <p:nvPr/>
              </p:nvSpPr>
              <p:spPr>
                <a:xfrm>
                  <a:off x="8689181" y="4013994"/>
                  <a:ext cx="9525" cy="20637"/>
                </a:xfrm>
                <a:custGeom>
                  <a:avLst/>
                  <a:gdLst/>
                  <a:ahLst/>
                  <a:cxnLst/>
                  <a:rect l="l" t="t" r="r" b="b"/>
                  <a:pathLst>
                    <a:path w="9525" h="20637">
                      <a:moveTo>
                        <a:pt x="0" y="0"/>
                      </a:moveTo>
                      <a:lnTo>
                        <a:pt x="0" y="20637"/>
                      </a:lnTo>
                    </a:path>
                  </a:pathLst>
                </a:custGeom>
                <a:noFill/>
                <a:ln w="20637">
                  <a:solidFill>
                    <a:schemeClr val="accent1"/>
                  </a:solidFill>
                </a:ln>
              </p:spPr>
            </p:sp>
            <p:sp>
              <p:nvSpPr>
                <p:cNvPr id="32" name="Freeform 32"/>
                <p:cNvSpPr/>
                <p:nvPr/>
              </p:nvSpPr>
              <p:spPr>
                <a:xfrm>
                  <a:off x="8689181" y="4075906"/>
                  <a:ext cx="9525" cy="20637"/>
                </a:xfrm>
                <a:custGeom>
                  <a:avLst/>
                  <a:gdLst/>
                  <a:ahLst/>
                  <a:cxnLst/>
                  <a:rect l="l" t="t" r="r" b="b"/>
                  <a:pathLst>
                    <a:path w="9525" h="20637">
                      <a:moveTo>
                        <a:pt x="0" y="0"/>
                      </a:moveTo>
                      <a:lnTo>
                        <a:pt x="0" y="20637"/>
                      </a:lnTo>
                    </a:path>
                  </a:pathLst>
                </a:custGeom>
                <a:noFill/>
                <a:ln w="20637">
                  <a:solidFill>
                    <a:schemeClr val="accent1"/>
                  </a:solidFill>
                </a:ln>
              </p:spPr>
            </p:sp>
            <p:sp>
              <p:nvSpPr>
                <p:cNvPr id="33" name="Freeform 33"/>
                <p:cNvSpPr/>
                <p:nvPr/>
              </p:nvSpPr>
              <p:spPr>
                <a:xfrm>
                  <a:off x="8689181" y="4137818"/>
                  <a:ext cx="9525" cy="20637"/>
                </a:xfrm>
                <a:custGeom>
                  <a:avLst/>
                  <a:gdLst/>
                  <a:ahLst/>
                  <a:cxnLst/>
                  <a:rect l="l" t="t" r="r" b="b"/>
                  <a:pathLst>
                    <a:path w="9525" h="20637">
                      <a:moveTo>
                        <a:pt x="0" y="0"/>
                      </a:moveTo>
                      <a:lnTo>
                        <a:pt x="0" y="20637"/>
                      </a:lnTo>
                    </a:path>
                  </a:pathLst>
                </a:custGeom>
                <a:noFill/>
                <a:ln w="20637">
                  <a:solidFill>
                    <a:schemeClr val="accent1"/>
                  </a:solidFill>
                </a:ln>
              </p:spPr>
            </p:sp>
            <p:sp>
              <p:nvSpPr>
                <p:cNvPr id="34" name="Freeform 34"/>
                <p:cNvSpPr/>
                <p:nvPr/>
              </p:nvSpPr>
              <p:spPr>
                <a:xfrm>
                  <a:off x="8565356" y="4013994"/>
                  <a:ext cx="185737" cy="144462"/>
                </a:xfrm>
                <a:custGeom>
                  <a:avLst/>
                  <a:gdLst/>
                  <a:ahLst/>
                  <a:cxnLst/>
                  <a:rect l="l" t="t" r="r" b="b"/>
                  <a:pathLst>
                    <a:path w="185737" h="144462">
                      <a:moveTo>
                        <a:pt x="20637" y="0"/>
                      </a:moveTo>
                      <a:lnTo>
                        <a:pt x="165099" y="0"/>
                      </a:lnTo>
                      <a:cubicBezTo>
                        <a:pt x="176497" y="0"/>
                        <a:pt x="185737" y="9240"/>
                        <a:pt x="185737" y="20637"/>
                      </a:cubicBezTo>
                      <a:lnTo>
                        <a:pt x="185737" y="51594"/>
                      </a:lnTo>
                      <a:cubicBezTo>
                        <a:pt x="174339" y="51594"/>
                        <a:pt x="165099" y="60833"/>
                        <a:pt x="165099" y="72231"/>
                      </a:cubicBezTo>
                      <a:cubicBezTo>
                        <a:pt x="165099" y="83629"/>
                        <a:pt x="174339" y="92868"/>
                        <a:pt x="185737" y="92868"/>
                      </a:cubicBezTo>
                      <a:lnTo>
                        <a:pt x="185737" y="123825"/>
                      </a:lnTo>
                      <a:cubicBezTo>
                        <a:pt x="185737" y="135222"/>
                        <a:pt x="176497" y="144462"/>
                        <a:pt x="165099" y="144462"/>
                      </a:cubicBezTo>
                      <a:lnTo>
                        <a:pt x="20637" y="144462"/>
                      </a:lnTo>
                      <a:cubicBezTo>
                        <a:pt x="9240" y="144462"/>
                        <a:pt x="0" y="135222"/>
                        <a:pt x="0" y="123825"/>
                      </a:cubicBezTo>
                      <a:lnTo>
                        <a:pt x="0" y="92868"/>
                      </a:lnTo>
                      <a:cubicBezTo>
                        <a:pt x="11398" y="92868"/>
                        <a:pt x="20637" y="83629"/>
                        <a:pt x="20637" y="72231"/>
                      </a:cubicBezTo>
                      <a:cubicBezTo>
                        <a:pt x="20637" y="60833"/>
                        <a:pt x="11398" y="51594"/>
                        <a:pt x="0" y="51594"/>
                      </a:cubicBezTo>
                      <a:lnTo>
                        <a:pt x="0" y="20637"/>
                      </a:lnTo>
                      <a:cubicBezTo>
                        <a:pt x="0" y="9240"/>
                        <a:pt x="9240" y="0"/>
                        <a:pt x="20637" y="0"/>
                      </a:cubicBezTo>
                    </a:path>
                  </a:pathLst>
                </a:custGeom>
                <a:noFill/>
                <a:ln w="20637">
                  <a:solidFill>
                    <a:schemeClr val="accent1"/>
                  </a:solidFill>
                </a:ln>
              </p:spPr>
            </p:sp>
          </p:grpSp>
          <p:sp>
            <p:nvSpPr>
              <p:cNvPr id="36" name="TextBox 36"/>
              <p:cNvSpPr txBox="1"/>
              <p:nvPr/>
            </p:nvSpPr>
            <p:spPr>
              <a:xfrm>
                <a:off x="8889873" y="4015264"/>
                <a:ext cx="2038858" cy="477964"/>
              </a:xfrm>
              <a:prstGeom prst="rect">
                <a:avLst/>
              </a:prstGeom>
              <a:noFill/>
              <a:ln>
                <a:noFill/>
              </a:ln>
            </p:spPr>
            <p:txBody>
              <a:bodyPr wrap="none" lIns="0" tIns="0" rIns="0" bIns="0" anchor="t" anchorCtr="0">
                <a:spAutoFit/>
              </a:bodyPr>
              <a:lstStyle/>
              <a:p>
                <a:pPr algn="l">
                  <a:lnSpc>
                    <a:spcPts val="1800"/>
                  </a:lnSpc>
                </a:pPr>
                <a:r>
                  <a:rPr lang="en" sz="1280" dirty="0">
                    <a:solidFill>
                      <a:schemeClr val="dk1"/>
                    </a:solidFill>
                    <a:latin typeface="+mn-lt"/>
                    <a:ea typeface="+mn-ea"/>
                    <a:cs typeface="+mn-cs"/>
                  </a:rPr>
                  <a:t xml:space="preserve">Ticket moves to </a:t>
                </a:r>
                <a:r>
                  <a:rPr lang="en" sz="1280" b="1" dirty="0">
                    <a:solidFill>
                      <a:schemeClr val="accent3"/>
                    </a:solidFill>
                    <a:latin typeface="+mn-lt"/>
                    <a:ea typeface="+mn-ea"/>
                    <a:cs typeface="+mn-cs"/>
                  </a:rPr>
                  <a:t>ON_HOLD</a:t>
                </a:r>
                <a:br/>
                <a:r>
                  <a:rPr lang="en" sz="1280" dirty="0">
                    <a:solidFill>
                      <a:schemeClr val="dk1"/>
                    </a:solidFill>
                    <a:latin typeface="+mn-lt"/>
                    <a:ea typeface="+mn-ea"/>
                    <a:cs typeface="+mn-cs"/>
                  </a:rPr>
                  <a:t>until an operator decides</a:t>
                </a:r>
              </a:p>
            </p:txBody>
          </p:sp>
        </p:grpSp>
        <p:grpSp>
          <p:nvGrpSpPr>
            <p:cNvPr id="40" name="Group 40"/>
            <p:cNvGrpSpPr/>
            <p:nvPr/>
          </p:nvGrpSpPr>
          <p:grpSpPr>
            <a:xfrm>
              <a:off x="8534400" y="4629150"/>
              <a:ext cx="2798699" cy="530828"/>
              <a:chOff x="8534400" y="4629150"/>
              <a:chExt cx="2798699" cy="530828"/>
            </a:xfrm>
          </p:grpSpPr>
          <p:sp>
            <p:nvSpPr>
              <p:cNvPr id="38" name="Freeform 38"/>
              <p:cNvSpPr/>
              <p:nvPr/>
            </p:nvSpPr>
            <p:spPr>
              <a:xfrm>
                <a:off x="8534400" y="4629150"/>
                <a:ext cx="247649" cy="247649"/>
              </a:xfrm>
              <a:custGeom>
                <a:avLst/>
                <a:gdLst/>
                <a:ahLst/>
                <a:cxnLst/>
                <a:rect l="l" t="t" r="r" b="b"/>
                <a:pathLst>
                  <a:path w="247649" h="247649">
                    <a:moveTo>
                      <a:pt x="52027" y="156483"/>
                    </a:moveTo>
                    <a:cubicBezTo>
                      <a:pt x="51999" y="170838"/>
                      <a:pt x="40378" y="182472"/>
                      <a:pt x="26024" y="182517"/>
                    </a:cubicBezTo>
                    <a:cubicBezTo>
                      <a:pt x="11661" y="182483"/>
                      <a:pt x="28" y="170846"/>
                      <a:pt x="0" y="156483"/>
                    </a:cubicBezTo>
                    <a:cubicBezTo>
                      <a:pt x="40" y="142131"/>
                      <a:pt x="11671" y="130509"/>
                      <a:pt x="26024" y="130480"/>
                    </a:cubicBezTo>
                    <a:lnTo>
                      <a:pt x="52027" y="130480"/>
                    </a:lnTo>
                    <a:lnTo>
                      <a:pt x="52027" y="156483"/>
                    </a:lnTo>
                    <a:close/>
                    <a:moveTo>
                      <a:pt x="65142" y="156483"/>
                    </a:moveTo>
                    <a:cubicBezTo>
                      <a:pt x="65182" y="142135"/>
                      <a:pt x="76807" y="130514"/>
                      <a:pt x="91156" y="130480"/>
                    </a:cubicBezTo>
                    <a:cubicBezTo>
                      <a:pt x="105504" y="130514"/>
                      <a:pt x="117129" y="142135"/>
                      <a:pt x="117169" y="156483"/>
                    </a:cubicBezTo>
                    <a:lnTo>
                      <a:pt x="117169" y="221625"/>
                    </a:lnTo>
                    <a:cubicBezTo>
                      <a:pt x="117135" y="235980"/>
                      <a:pt x="105510" y="247610"/>
                      <a:pt x="91156" y="247649"/>
                    </a:cubicBezTo>
                    <a:cubicBezTo>
                      <a:pt x="76801" y="247610"/>
                      <a:pt x="65176" y="235980"/>
                      <a:pt x="65142" y="221625"/>
                    </a:cubicBezTo>
                    <a:lnTo>
                      <a:pt x="65142" y="156483"/>
                    </a:lnTo>
                    <a:close/>
                    <a:moveTo>
                      <a:pt x="91156" y="52027"/>
                    </a:moveTo>
                    <a:cubicBezTo>
                      <a:pt x="76809" y="51987"/>
                      <a:pt x="65187" y="40370"/>
                      <a:pt x="65142" y="26024"/>
                    </a:cubicBezTo>
                    <a:cubicBezTo>
                      <a:pt x="65176" y="11669"/>
                      <a:pt x="76801" y="40"/>
                      <a:pt x="91156" y="0"/>
                    </a:cubicBezTo>
                    <a:cubicBezTo>
                      <a:pt x="105510" y="40"/>
                      <a:pt x="117135" y="11669"/>
                      <a:pt x="117169" y="26024"/>
                    </a:cubicBezTo>
                    <a:lnTo>
                      <a:pt x="117169" y="52027"/>
                    </a:lnTo>
                    <a:lnTo>
                      <a:pt x="91156" y="52027"/>
                    </a:lnTo>
                    <a:close/>
                    <a:moveTo>
                      <a:pt x="91156" y="65142"/>
                    </a:moveTo>
                    <a:cubicBezTo>
                      <a:pt x="105506" y="65182"/>
                      <a:pt x="117129" y="76805"/>
                      <a:pt x="117169" y="91156"/>
                    </a:cubicBezTo>
                    <a:cubicBezTo>
                      <a:pt x="117129" y="105506"/>
                      <a:pt x="105506" y="117129"/>
                      <a:pt x="91156" y="117169"/>
                    </a:cubicBezTo>
                    <a:lnTo>
                      <a:pt x="26024" y="117169"/>
                    </a:lnTo>
                    <a:cubicBezTo>
                      <a:pt x="11669" y="117135"/>
                      <a:pt x="40" y="105510"/>
                      <a:pt x="0" y="91156"/>
                    </a:cubicBezTo>
                    <a:cubicBezTo>
                      <a:pt x="40" y="76801"/>
                      <a:pt x="11669" y="65176"/>
                      <a:pt x="26024" y="65142"/>
                    </a:cubicBezTo>
                    <a:lnTo>
                      <a:pt x="91156" y="65142"/>
                    </a:lnTo>
                    <a:close/>
                    <a:moveTo>
                      <a:pt x="195602" y="91156"/>
                    </a:moveTo>
                    <a:cubicBezTo>
                      <a:pt x="195641" y="76801"/>
                      <a:pt x="207271" y="65176"/>
                      <a:pt x="221625" y="65142"/>
                    </a:cubicBezTo>
                    <a:cubicBezTo>
                      <a:pt x="235980" y="65176"/>
                      <a:pt x="247610" y="76801"/>
                      <a:pt x="247649" y="91156"/>
                    </a:cubicBezTo>
                    <a:cubicBezTo>
                      <a:pt x="247610" y="105510"/>
                      <a:pt x="235980" y="117135"/>
                      <a:pt x="221625" y="117169"/>
                    </a:cubicBezTo>
                    <a:lnTo>
                      <a:pt x="195602" y="117169"/>
                    </a:lnTo>
                    <a:lnTo>
                      <a:pt x="195602" y="91156"/>
                    </a:lnTo>
                    <a:close/>
                    <a:moveTo>
                      <a:pt x="182517" y="91156"/>
                    </a:moveTo>
                    <a:cubicBezTo>
                      <a:pt x="182478" y="105514"/>
                      <a:pt x="170842" y="117141"/>
                      <a:pt x="156483" y="117169"/>
                    </a:cubicBezTo>
                    <a:cubicBezTo>
                      <a:pt x="142135" y="117129"/>
                      <a:pt x="130514" y="105504"/>
                      <a:pt x="130480" y="91156"/>
                    </a:cubicBezTo>
                    <a:lnTo>
                      <a:pt x="130480" y="26024"/>
                    </a:lnTo>
                    <a:cubicBezTo>
                      <a:pt x="130509" y="11671"/>
                      <a:pt x="142131" y="40"/>
                      <a:pt x="156483" y="0"/>
                    </a:cubicBezTo>
                    <a:cubicBezTo>
                      <a:pt x="170846" y="28"/>
                      <a:pt x="182483" y="11661"/>
                      <a:pt x="182517" y="26024"/>
                    </a:cubicBezTo>
                    <a:lnTo>
                      <a:pt x="182517" y="91156"/>
                    </a:lnTo>
                    <a:close/>
                    <a:moveTo>
                      <a:pt x="156483" y="195602"/>
                    </a:moveTo>
                    <a:cubicBezTo>
                      <a:pt x="170846" y="195630"/>
                      <a:pt x="182483" y="207263"/>
                      <a:pt x="182517" y="221625"/>
                    </a:cubicBezTo>
                    <a:cubicBezTo>
                      <a:pt x="182483" y="235988"/>
                      <a:pt x="170846" y="247621"/>
                      <a:pt x="156483" y="247649"/>
                    </a:cubicBezTo>
                    <a:cubicBezTo>
                      <a:pt x="142131" y="247610"/>
                      <a:pt x="130509" y="235978"/>
                      <a:pt x="130480" y="221625"/>
                    </a:cubicBezTo>
                    <a:lnTo>
                      <a:pt x="130480" y="195602"/>
                    </a:lnTo>
                    <a:lnTo>
                      <a:pt x="156483" y="195602"/>
                    </a:lnTo>
                    <a:close/>
                    <a:moveTo>
                      <a:pt x="156483" y="182517"/>
                    </a:moveTo>
                    <a:cubicBezTo>
                      <a:pt x="142127" y="182478"/>
                      <a:pt x="130503" y="170840"/>
                      <a:pt x="130480" y="156483"/>
                    </a:cubicBezTo>
                    <a:cubicBezTo>
                      <a:pt x="130514" y="142136"/>
                      <a:pt x="142136" y="130514"/>
                      <a:pt x="156483" y="130480"/>
                    </a:cubicBezTo>
                    <a:lnTo>
                      <a:pt x="221625" y="130480"/>
                    </a:lnTo>
                    <a:cubicBezTo>
                      <a:pt x="235978" y="130509"/>
                      <a:pt x="247610" y="142131"/>
                      <a:pt x="247649" y="156483"/>
                    </a:cubicBezTo>
                    <a:cubicBezTo>
                      <a:pt x="247621" y="170846"/>
                      <a:pt x="235988" y="182483"/>
                      <a:pt x="221625" y="182517"/>
                    </a:cubicBezTo>
                    <a:lnTo>
                      <a:pt x="156483" y="182517"/>
                    </a:lnTo>
                    <a:close/>
                  </a:path>
                </a:pathLst>
              </a:custGeom>
              <a:solidFill>
                <a:schemeClr val="accent1"/>
              </a:solidFill>
              <a:ln>
                <a:noFill/>
              </a:ln>
            </p:spPr>
          </p:sp>
          <p:sp>
            <p:nvSpPr>
              <p:cNvPr id="39" name="TextBox 39"/>
              <p:cNvSpPr txBox="1"/>
              <p:nvPr/>
            </p:nvSpPr>
            <p:spPr>
              <a:xfrm>
                <a:off x="8889873" y="4682014"/>
                <a:ext cx="2443226" cy="477964"/>
              </a:xfrm>
              <a:prstGeom prst="rect">
                <a:avLst/>
              </a:prstGeom>
              <a:noFill/>
              <a:ln>
                <a:noFill/>
              </a:ln>
            </p:spPr>
            <p:txBody>
              <a:bodyPr wrap="none" lIns="0" tIns="0" rIns="0" bIns="0" anchor="t" anchorCtr="0">
                <a:spAutoFit/>
              </a:bodyPr>
              <a:lstStyle/>
              <a:p>
                <a:pPr algn="l">
                  <a:lnSpc>
                    <a:spcPts val="1800"/>
                  </a:lnSpc>
                </a:pPr>
                <a:r>
                  <a:rPr lang="en" sz="1280" dirty="0">
                    <a:solidFill>
                      <a:schemeClr val="dk1"/>
                    </a:solidFill>
                    <a:latin typeface="+mn-lt"/>
                    <a:ea typeface="+mn-ea"/>
                    <a:cs typeface="+mn-cs"/>
                  </a:rPr>
                  <a:t>Same flow mirrored to</a:t>
                </a:r>
                <a:br/>
                <a:r>
                  <a:rPr lang="en" sz="1280" dirty="0">
                    <a:solidFill>
                      <a:schemeClr val="dk1"/>
                    </a:solidFill>
                    <a:latin typeface="+mn-lt"/>
                    <a:ea typeface="+mn-ea"/>
                    <a:cs typeface="+mn-cs"/>
                  </a:rPr>
                  <a:t>Slack for on-the-go operators</a:t>
                </a:r>
              </a:p>
            </p:txBody>
          </p:sp>
        </p:gr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345332"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04 · TRUST &amp; GOVERNANCE</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P12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9616542" cy="883729"/>
            <a:chOff x="590550" y="1223010"/>
            <a:chExt cx="9616542" cy="883729"/>
          </a:xfrm>
        </p:grpSpPr>
        <p:sp>
          <p:nvSpPr>
            <p:cNvPr id="7" name="TextBox 7"/>
            <p:cNvSpPr txBox="1"/>
            <p:nvPr/>
          </p:nvSpPr>
          <p:spPr>
            <a:xfrm>
              <a:off x="590550" y="1223010"/>
              <a:ext cx="9616542"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Nothing Executes Off the Record</a:t>
              </a:r>
            </a:p>
          </p:txBody>
        </p:sp>
        <p:sp>
          <p:nvSpPr>
            <p:cNvPr id="8" name="TextBox 8"/>
            <p:cNvSpPr txBox="1"/>
            <p:nvPr/>
          </p:nvSpPr>
          <p:spPr>
            <a:xfrm>
              <a:off x="601218" y="1784032"/>
              <a:ext cx="6932167"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Every autonomous action is a full, inspectable execution trace.</a:t>
              </a:r>
            </a:p>
          </p:txBody>
        </p:sp>
      </p:grpSp>
      <p:grpSp>
        <p:nvGrpSpPr>
          <p:cNvPr id="39" name="Group 39"/>
          <p:cNvGrpSpPr/>
          <p:nvPr/>
        </p:nvGrpSpPr>
        <p:grpSpPr>
          <a:xfrm>
            <a:off x="609600" y="2247900"/>
            <a:ext cx="3238500" cy="4000500"/>
            <a:chOff x="609600" y="2247900"/>
            <a:chExt cx="3238500" cy="4000500"/>
          </a:xfrm>
        </p:grpSpPr>
        <p:sp>
          <p:nvSpPr>
            <p:cNvPr id="10" name="Rectangle 10"/>
            <p:cNvSpPr/>
            <p:nvPr/>
          </p:nvSpPr>
          <p:spPr>
            <a:xfrm>
              <a:off x="609600" y="2247900"/>
              <a:ext cx="3238500" cy="4000500"/>
            </a:xfrm>
            <a:prstGeom prst="roundRect">
              <a:avLst>
                <a:gd name="adj" fmla="val 4706"/>
              </a:avLst>
            </a:prstGeom>
            <a:noFill/>
            <a:ln w="14288">
              <a:solidFill>
                <a:schemeClr val="accent6"/>
              </a:solidFill>
            </a:ln>
          </p:spPr>
        </p:sp>
        <p:sp>
          <p:nvSpPr>
            <p:cNvPr id="11" name="TextBox 11"/>
            <p:cNvSpPr txBox="1"/>
            <p:nvPr/>
          </p:nvSpPr>
          <p:spPr>
            <a:xfrm>
              <a:off x="813054" y="2404110"/>
              <a:ext cx="1710538" cy="234696"/>
            </a:xfrm>
            <a:prstGeom prst="rect">
              <a:avLst/>
            </a:prstGeom>
            <a:noFill/>
            <a:ln>
              <a:noFill/>
            </a:ln>
          </p:spPr>
          <p:txBody>
            <a:bodyPr wrap="none" lIns="0" tIns="0" rIns="0" bIns="0" anchor="t" anchorCtr="0">
              <a:spAutoFit/>
            </a:bodyPr>
            <a:lstStyle/>
            <a:p>
              <a:pPr algn="l"/>
              <a:r>
                <a:rPr lang="en" sz="1200" spc="112" dirty="0">
                  <a:solidFill>
                    <a:schemeClr val="accent1"/>
                  </a:solidFill>
                  <a:latin typeface="Consolas"/>
                  <a:ea typeface="Consolas"/>
                  <a:cs typeface="Consolas"/>
                </a:rPr>
                <a:t>TRUST GUARANTEES</a:t>
              </a:r>
            </a:p>
          </p:txBody>
        </p:sp>
        <p:sp>
          <p:nvSpPr>
            <p:cNvPr id="12" name="Line 12"/>
            <p:cNvSpPr/>
            <p:nvPr/>
          </p:nvSpPr>
          <p:spPr>
            <a:xfrm>
              <a:off x="819150" y="2647950"/>
              <a:ext cx="2819400" cy="9525"/>
            </a:xfrm>
            <a:custGeom>
              <a:avLst/>
              <a:gdLst/>
              <a:ahLst/>
              <a:cxnLst/>
              <a:rect l="l" t="t" r="r" b="b"/>
              <a:pathLst>
                <a:path w="2819400" h="9525">
                  <a:moveTo>
                    <a:pt x="0" y="0"/>
                  </a:moveTo>
                  <a:lnTo>
                    <a:pt x="2819400" y="0"/>
                  </a:lnTo>
                </a:path>
              </a:pathLst>
            </a:custGeom>
            <a:noFill/>
            <a:ln w="9525">
              <a:solidFill>
                <a:schemeClr val="accent6"/>
              </a:solidFill>
            </a:ln>
          </p:spPr>
        </p:sp>
        <p:grpSp>
          <p:nvGrpSpPr>
            <p:cNvPr id="18" name="Group 18"/>
            <p:cNvGrpSpPr/>
            <p:nvPr/>
          </p:nvGrpSpPr>
          <p:grpSpPr>
            <a:xfrm>
              <a:off x="812673" y="2853456"/>
              <a:ext cx="2345690" cy="715848"/>
              <a:chOff x="812673" y="2853456"/>
              <a:chExt cx="2345690" cy="715848"/>
            </a:xfrm>
          </p:grpSpPr>
          <p:grpSp>
            <p:nvGrpSpPr>
              <p:cNvPr id="15" name="Group 15"/>
              <p:cNvGrpSpPr/>
              <p:nvPr/>
            </p:nvGrpSpPr>
            <p:grpSpPr>
              <a:xfrm>
                <a:off x="855464" y="2853456"/>
                <a:ext cx="219694" cy="224739"/>
                <a:chOff x="855464" y="2853456"/>
                <a:chExt cx="219694" cy="224739"/>
              </a:xfrm>
            </p:grpSpPr>
            <p:sp>
              <p:nvSpPr>
                <p:cNvPr id="13" name="Freeform 13"/>
                <p:cNvSpPr/>
                <p:nvPr/>
              </p:nvSpPr>
              <p:spPr>
                <a:xfrm>
                  <a:off x="962025" y="2914650"/>
                  <a:ext cx="23812" cy="71438"/>
                </a:xfrm>
                <a:custGeom>
                  <a:avLst/>
                  <a:gdLst/>
                  <a:ahLst/>
                  <a:cxnLst/>
                  <a:rect l="l" t="t" r="r" b="b"/>
                  <a:pathLst>
                    <a:path w="23812" h="71438">
                      <a:moveTo>
                        <a:pt x="0" y="0"/>
                      </a:moveTo>
                      <a:lnTo>
                        <a:pt x="0" y="47625"/>
                      </a:lnTo>
                      <a:lnTo>
                        <a:pt x="23812" y="71438"/>
                      </a:lnTo>
                    </a:path>
                  </a:pathLst>
                </a:custGeom>
                <a:noFill/>
                <a:ln w="23812">
                  <a:solidFill>
                    <a:schemeClr val="accent2"/>
                  </a:solidFill>
                </a:ln>
              </p:spPr>
            </p:sp>
            <p:sp>
              <p:nvSpPr>
                <p:cNvPr id="14" name="Freeform 14"/>
                <p:cNvSpPr/>
                <p:nvPr/>
              </p:nvSpPr>
              <p:spPr>
                <a:xfrm>
                  <a:off x="855464" y="2853456"/>
                  <a:ext cx="219694" cy="224739"/>
                </a:xfrm>
                <a:custGeom>
                  <a:avLst/>
                  <a:gdLst/>
                  <a:ahLst/>
                  <a:cxnLst/>
                  <a:rect l="l" t="t" r="r" b="b"/>
                  <a:pathLst>
                    <a:path w="219694" h="224739">
                      <a:moveTo>
                        <a:pt x="0" y="96913"/>
                      </a:moveTo>
                      <a:cubicBezTo>
                        <a:pt x="5524" y="42685"/>
                        <a:pt x="50876" y="1245"/>
                        <a:pt x="105381" y="623"/>
                      </a:cubicBezTo>
                      <a:cubicBezTo>
                        <a:pt x="159885" y="0"/>
                        <a:pt x="206172" y="40393"/>
                        <a:pt x="212933" y="94481"/>
                      </a:cubicBezTo>
                      <a:cubicBezTo>
                        <a:pt x="219694" y="148568"/>
                        <a:pt x="184774" y="199112"/>
                        <a:pt x="131794" y="211925"/>
                      </a:cubicBezTo>
                      <a:cubicBezTo>
                        <a:pt x="78813" y="224739"/>
                        <a:pt x="24655" y="195737"/>
                        <a:pt x="5953" y="144538"/>
                      </a:cubicBezTo>
                      <a:moveTo>
                        <a:pt x="0" y="204069"/>
                      </a:moveTo>
                      <a:lnTo>
                        <a:pt x="0" y="144538"/>
                      </a:lnTo>
                      <a:lnTo>
                        <a:pt x="59531" y="144538"/>
                      </a:lnTo>
                    </a:path>
                  </a:pathLst>
                </a:custGeom>
                <a:noFill/>
                <a:ln w="23812">
                  <a:solidFill>
                    <a:schemeClr val="accent2"/>
                  </a:solidFill>
                </a:ln>
              </p:spPr>
            </p:sp>
          </p:grpSp>
          <p:sp>
            <p:nvSpPr>
              <p:cNvPr id="16" name="TextBox 16"/>
              <p:cNvSpPr txBox="1"/>
              <p:nvPr/>
            </p:nvSpPr>
            <p:spPr>
              <a:xfrm>
                <a:off x="1212342" y="2883218"/>
                <a:ext cx="1438109"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Complete Trace</a:t>
                </a:r>
              </a:p>
            </p:txBody>
          </p:sp>
          <p:sp>
            <p:nvSpPr>
              <p:cNvPr id="17" name="TextBox 17"/>
              <p:cNvSpPr txBox="1"/>
              <p:nvPr/>
            </p:nvSpPr>
            <p:spPr>
              <a:xfrm>
                <a:off x="812673" y="3119914"/>
                <a:ext cx="2345690"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Stored separately from the</a:t>
                </a:r>
                <a:br/>
                <a:r>
                  <a:rPr lang="en" sz="1280" dirty="0">
                    <a:solidFill>
                      <a:schemeClr val="accent5"/>
                    </a:solidFill>
                    <a:latin typeface="+mn-lt"/>
                    <a:ea typeface="+mn-ea"/>
                    <a:cs typeface="+mn-cs"/>
                  </a:rPr>
                  <a:t>core ticket system of record</a:t>
                </a:r>
              </a:p>
            </p:txBody>
          </p:sp>
        </p:grpSp>
        <p:grpSp>
          <p:nvGrpSpPr>
            <p:cNvPr id="25" name="Group 25"/>
            <p:cNvGrpSpPr/>
            <p:nvPr/>
          </p:nvGrpSpPr>
          <p:grpSpPr>
            <a:xfrm>
              <a:off x="812673" y="3693319"/>
              <a:ext cx="2540762" cy="714185"/>
              <a:chOff x="812673" y="3693319"/>
              <a:chExt cx="2540762" cy="714185"/>
            </a:xfrm>
          </p:grpSpPr>
          <p:grpSp>
            <p:nvGrpSpPr>
              <p:cNvPr id="22" name="Group 22"/>
              <p:cNvGrpSpPr/>
              <p:nvPr/>
            </p:nvGrpSpPr>
            <p:grpSpPr>
              <a:xfrm>
                <a:off x="854869" y="3693319"/>
                <a:ext cx="214312" cy="214312"/>
                <a:chOff x="854869" y="3693319"/>
                <a:chExt cx="214312" cy="214312"/>
              </a:xfrm>
            </p:grpSpPr>
            <p:sp>
              <p:nvSpPr>
                <p:cNvPr id="19" name="Freeform 19"/>
                <p:cNvSpPr/>
                <p:nvPr/>
              </p:nvSpPr>
              <p:spPr>
                <a:xfrm>
                  <a:off x="854869" y="3860006"/>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chemeClr val="accent1"/>
                  </a:solidFill>
                </a:ln>
              </p:spPr>
            </p:sp>
            <p:sp>
              <p:nvSpPr>
                <p:cNvPr id="20" name="Freeform 20"/>
                <p:cNvSpPr/>
                <p:nvPr/>
              </p:nvSpPr>
              <p:spPr>
                <a:xfrm>
                  <a:off x="1021556" y="3693319"/>
                  <a:ext cx="47625" cy="47625"/>
                </a:xfrm>
                <a:custGeom>
                  <a:avLst/>
                  <a:gdLst/>
                  <a:ahLst/>
                  <a:cxnLst/>
                  <a:rect l="l" t="t" r="r" b="b"/>
                  <a:pathLst>
                    <a:path w="47625" h="47625">
                      <a:moveTo>
                        <a:pt x="23812" y="47625"/>
                      </a:moveTo>
                      <a:cubicBezTo>
                        <a:pt x="36964" y="47625"/>
                        <a:pt x="47625" y="36964"/>
                        <a:pt x="47625" y="23812"/>
                      </a:cubicBezTo>
                      <a:cubicBezTo>
                        <a:pt x="47625" y="10661"/>
                        <a:pt x="36964" y="0"/>
                        <a:pt x="23812" y="0"/>
                      </a:cubicBezTo>
                      <a:cubicBezTo>
                        <a:pt x="10661" y="0"/>
                        <a:pt x="0" y="10661"/>
                        <a:pt x="0" y="23812"/>
                      </a:cubicBezTo>
                      <a:cubicBezTo>
                        <a:pt x="0" y="36964"/>
                        <a:pt x="10661" y="47625"/>
                        <a:pt x="23812" y="47625"/>
                      </a:cubicBezTo>
                    </a:path>
                  </a:pathLst>
                </a:custGeom>
                <a:noFill/>
                <a:ln w="23812">
                  <a:solidFill>
                    <a:schemeClr val="accent1"/>
                  </a:solidFill>
                </a:ln>
              </p:spPr>
            </p:sp>
            <p:sp>
              <p:nvSpPr>
                <p:cNvPr id="21" name="Freeform 21"/>
                <p:cNvSpPr/>
                <p:nvPr/>
              </p:nvSpPr>
              <p:spPr>
                <a:xfrm>
                  <a:off x="878681" y="3717131"/>
                  <a:ext cx="178594" cy="166688"/>
                </a:xfrm>
                <a:custGeom>
                  <a:avLst/>
                  <a:gdLst/>
                  <a:ahLst/>
                  <a:cxnLst/>
                  <a:rect l="l" t="t" r="r" b="b"/>
                  <a:pathLst>
                    <a:path w="178594" h="166688">
                      <a:moveTo>
                        <a:pt x="71438" y="166688"/>
                      </a:moveTo>
                      <a:lnTo>
                        <a:pt x="136922" y="166688"/>
                      </a:lnTo>
                      <a:cubicBezTo>
                        <a:pt x="159937" y="166688"/>
                        <a:pt x="178594" y="148030"/>
                        <a:pt x="178594" y="125016"/>
                      </a:cubicBezTo>
                      <a:cubicBezTo>
                        <a:pt x="178594" y="102001"/>
                        <a:pt x="159937" y="83344"/>
                        <a:pt x="136922" y="83344"/>
                      </a:cubicBezTo>
                      <a:lnTo>
                        <a:pt x="41672" y="83344"/>
                      </a:lnTo>
                      <a:cubicBezTo>
                        <a:pt x="18657" y="83344"/>
                        <a:pt x="0" y="64687"/>
                        <a:pt x="0" y="41672"/>
                      </a:cubicBezTo>
                      <a:cubicBezTo>
                        <a:pt x="0" y="18657"/>
                        <a:pt x="18657" y="0"/>
                        <a:pt x="41672" y="0"/>
                      </a:cubicBezTo>
                      <a:lnTo>
                        <a:pt x="95250" y="0"/>
                      </a:lnTo>
                    </a:path>
                  </a:pathLst>
                </a:custGeom>
                <a:noFill/>
                <a:ln w="23812">
                  <a:solidFill>
                    <a:schemeClr val="accent1"/>
                  </a:solidFill>
                </a:ln>
              </p:spPr>
            </p:sp>
          </p:grpSp>
          <p:sp>
            <p:nvSpPr>
              <p:cNvPr id="23" name="TextBox 23"/>
              <p:cNvSpPr txBox="1"/>
              <p:nvPr/>
            </p:nvSpPr>
            <p:spPr>
              <a:xfrm>
                <a:off x="1212342" y="3721418"/>
                <a:ext cx="1398758"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Linked Timeline</a:t>
                </a:r>
              </a:p>
            </p:txBody>
          </p:sp>
          <p:sp>
            <p:nvSpPr>
              <p:cNvPr id="24" name="TextBox 24"/>
              <p:cNvSpPr txBox="1"/>
              <p:nvPr/>
            </p:nvSpPr>
            <p:spPr>
              <a:xfrm>
                <a:off x="812673" y="3958114"/>
                <a:ext cx="2540762"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Diagnosis, approval, execution,</a:t>
                </a:r>
                <a:br/>
                <a:r>
                  <a:rPr lang="en" sz="1280" dirty="0">
                    <a:solidFill>
                      <a:schemeClr val="accent5"/>
                    </a:solidFill>
                    <a:latin typeface="+mn-lt"/>
                    <a:ea typeface="+mn-ea"/>
                    <a:cs typeface="+mn-cs"/>
                  </a:rPr>
                  <a:t>and verification, connected</a:t>
                </a:r>
              </a:p>
            </p:txBody>
          </p:sp>
        </p:grpSp>
        <p:grpSp>
          <p:nvGrpSpPr>
            <p:cNvPr id="32" name="Group 32"/>
            <p:cNvGrpSpPr/>
            <p:nvPr/>
          </p:nvGrpSpPr>
          <p:grpSpPr>
            <a:xfrm>
              <a:off x="812673" y="4531519"/>
              <a:ext cx="1955546" cy="714185"/>
              <a:chOff x="812673" y="4531519"/>
              <a:chExt cx="1955546" cy="714185"/>
            </a:xfrm>
          </p:grpSpPr>
          <p:grpSp>
            <p:nvGrpSpPr>
              <p:cNvPr id="29" name="Group 29"/>
              <p:cNvGrpSpPr/>
              <p:nvPr/>
            </p:nvGrpSpPr>
            <p:grpSpPr>
              <a:xfrm>
                <a:off x="866775" y="4531519"/>
                <a:ext cx="190500" cy="214312"/>
                <a:chOff x="866775" y="4531519"/>
                <a:chExt cx="190500" cy="214312"/>
              </a:xfrm>
            </p:grpSpPr>
            <p:sp>
              <p:nvSpPr>
                <p:cNvPr id="26" name="Freeform 26"/>
                <p:cNvSpPr/>
                <p:nvPr/>
              </p:nvSpPr>
              <p:spPr>
                <a:xfrm>
                  <a:off x="866775" y="4531519"/>
                  <a:ext cx="190500" cy="71438"/>
                </a:xfrm>
                <a:custGeom>
                  <a:avLst/>
                  <a:gdLst/>
                  <a:ahLst/>
                  <a:cxnLst/>
                  <a:rect l="l" t="t" r="r" b="b"/>
                  <a:pathLst>
                    <a:path w="190500" h="71438">
                      <a:moveTo>
                        <a:pt x="0" y="35719"/>
                      </a:moveTo>
                      <a:cubicBezTo>
                        <a:pt x="0" y="55446"/>
                        <a:pt x="42645" y="71438"/>
                        <a:pt x="95250" y="71438"/>
                      </a:cubicBezTo>
                      <a:cubicBezTo>
                        <a:pt x="147855" y="71438"/>
                        <a:pt x="190500" y="55446"/>
                        <a:pt x="190500" y="35719"/>
                      </a:cubicBezTo>
                      <a:cubicBezTo>
                        <a:pt x="190500" y="15992"/>
                        <a:pt x="147855" y="0"/>
                        <a:pt x="95250" y="0"/>
                      </a:cubicBezTo>
                      <a:cubicBezTo>
                        <a:pt x="42645" y="0"/>
                        <a:pt x="0" y="15992"/>
                        <a:pt x="0" y="35719"/>
                      </a:cubicBezTo>
                    </a:path>
                  </a:pathLst>
                </a:custGeom>
                <a:noFill/>
                <a:ln w="23812">
                  <a:solidFill>
                    <a:schemeClr val="accent1"/>
                  </a:solidFill>
                </a:ln>
              </p:spPr>
            </p:sp>
            <p:sp>
              <p:nvSpPr>
                <p:cNvPr id="27" name="Freeform 27"/>
                <p:cNvSpPr/>
                <p:nvPr/>
              </p:nvSpPr>
              <p:spPr>
                <a:xfrm>
                  <a:off x="866775" y="4567238"/>
                  <a:ext cx="190500" cy="107156"/>
                </a:xfrm>
                <a:custGeom>
                  <a:avLst/>
                  <a:gdLst/>
                  <a:ahLst/>
                  <a:cxnLst/>
                  <a:rect l="l" t="t" r="r" b="b"/>
                  <a:pathLst>
                    <a:path w="190500" h="107156">
                      <a:moveTo>
                        <a:pt x="0" y="0"/>
                      </a:moveTo>
                      <a:lnTo>
                        <a:pt x="0" y="71438"/>
                      </a:lnTo>
                      <a:cubicBezTo>
                        <a:pt x="0" y="91164"/>
                        <a:pt x="42645" y="107156"/>
                        <a:pt x="95250" y="107156"/>
                      </a:cubicBezTo>
                      <a:cubicBezTo>
                        <a:pt x="147855" y="107156"/>
                        <a:pt x="190500" y="91164"/>
                        <a:pt x="190500" y="71438"/>
                      </a:cubicBezTo>
                      <a:lnTo>
                        <a:pt x="190500" y="0"/>
                      </a:lnTo>
                    </a:path>
                  </a:pathLst>
                </a:custGeom>
                <a:noFill/>
                <a:ln w="23812">
                  <a:solidFill>
                    <a:schemeClr val="accent1"/>
                  </a:solidFill>
                </a:ln>
              </p:spPr>
            </p:sp>
            <p:sp>
              <p:nvSpPr>
                <p:cNvPr id="28" name="Freeform 28"/>
                <p:cNvSpPr/>
                <p:nvPr/>
              </p:nvSpPr>
              <p:spPr>
                <a:xfrm>
                  <a:off x="866775" y="4638675"/>
                  <a:ext cx="190500" cy="107156"/>
                </a:xfrm>
                <a:custGeom>
                  <a:avLst/>
                  <a:gdLst/>
                  <a:ahLst/>
                  <a:cxnLst/>
                  <a:rect l="l" t="t" r="r" b="b"/>
                  <a:pathLst>
                    <a:path w="190500" h="107156">
                      <a:moveTo>
                        <a:pt x="0" y="0"/>
                      </a:moveTo>
                      <a:lnTo>
                        <a:pt x="0" y="71438"/>
                      </a:lnTo>
                      <a:cubicBezTo>
                        <a:pt x="0" y="91164"/>
                        <a:pt x="42645" y="107156"/>
                        <a:pt x="95250" y="107156"/>
                      </a:cubicBezTo>
                      <a:cubicBezTo>
                        <a:pt x="147855" y="107156"/>
                        <a:pt x="190500" y="91164"/>
                        <a:pt x="190500" y="71438"/>
                      </a:cubicBezTo>
                      <a:lnTo>
                        <a:pt x="190500" y="0"/>
                      </a:lnTo>
                    </a:path>
                  </a:pathLst>
                </a:custGeom>
                <a:noFill/>
                <a:ln w="23812">
                  <a:solidFill>
                    <a:schemeClr val="accent1"/>
                  </a:solidFill>
                </a:ln>
              </p:spPr>
            </p:sp>
          </p:grpSp>
          <p:sp>
            <p:nvSpPr>
              <p:cNvPr id="30" name="TextBox 30"/>
              <p:cNvSpPr txBox="1"/>
              <p:nvPr/>
            </p:nvSpPr>
            <p:spPr>
              <a:xfrm>
                <a:off x="1212342" y="4559618"/>
                <a:ext cx="1552651"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Feeds Precedent</a:t>
                </a:r>
              </a:p>
            </p:txBody>
          </p:sp>
          <p:sp>
            <p:nvSpPr>
              <p:cNvPr id="31" name="TextBox 31"/>
              <p:cNvSpPr txBox="1"/>
              <p:nvPr/>
            </p:nvSpPr>
            <p:spPr>
              <a:xfrm>
                <a:off x="812673" y="4796314"/>
                <a:ext cx="1955546"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Historical traces ground</a:t>
                </a:r>
                <a:br/>
                <a:r>
                  <a:rPr lang="en" sz="1280" dirty="0">
                    <a:solidFill>
                      <a:schemeClr val="accent5"/>
                    </a:solidFill>
                    <a:latin typeface="+mn-lt"/>
                    <a:ea typeface="+mn-ea"/>
                    <a:cs typeface="+mn-cs"/>
                  </a:rPr>
                  <a:t>future triage decisions</a:t>
                </a:r>
              </a:p>
            </p:txBody>
          </p:sp>
        </p:grpSp>
        <p:grpSp>
          <p:nvGrpSpPr>
            <p:cNvPr id="38" name="Group 38"/>
            <p:cNvGrpSpPr/>
            <p:nvPr/>
          </p:nvGrpSpPr>
          <p:grpSpPr>
            <a:xfrm>
              <a:off x="812673" y="5369719"/>
              <a:ext cx="2075690" cy="714185"/>
              <a:chOff x="812673" y="5369719"/>
              <a:chExt cx="2075690" cy="714185"/>
            </a:xfrm>
          </p:grpSpPr>
          <p:grpSp>
            <p:nvGrpSpPr>
              <p:cNvPr id="35" name="Group 35"/>
              <p:cNvGrpSpPr/>
              <p:nvPr/>
            </p:nvGrpSpPr>
            <p:grpSpPr>
              <a:xfrm>
                <a:off x="838801" y="5369719"/>
                <a:ext cx="232508" cy="214312"/>
                <a:chOff x="838801" y="5369719"/>
                <a:chExt cx="232508" cy="214312"/>
              </a:xfrm>
            </p:grpSpPr>
            <p:sp>
              <p:nvSpPr>
                <p:cNvPr id="33" name="Freeform 33"/>
                <p:cNvSpPr/>
                <p:nvPr/>
              </p:nvSpPr>
              <p:spPr>
                <a:xfrm>
                  <a:off x="838801" y="5369719"/>
                  <a:ext cx="232508" cy="212479"/>
                </a:xfrm>
                <a:custGeom>
                  <a:avLst/>
                  <a:gdLst/>
                  <a:ahLst/>
                  <a:cxnLst/>
                  <a:rect l="l" t="t" r="r" b="b"/>
                  <a:pathLst>
                    <a:path w="232508" h="212479">
                      <a:moveTo>
                        <a:pt x="116795" y="212479"/>
                      </a:moveTo>
                      <a:cubicBezTo>
                        <a:pt x="42208" y="189358"/>
                        <a:pt x="0" y="110638"/>
                        <a:pt x="22021" y="35719"/>
                      </a:cubicBezTo>
                      <a:cubicBezTo>
                        <a:pt x="59115" y="37416"/>
                        <a:pt x="95413" y="24605"/>
                        <a:pt x="123224" y="0"/>
                      </a:cubicBezTo>
                      <a:cubicBezTo>
                        <a:pt x="151035" y="24605"/>
                        <a:pt x="187333" y="37416"/>
                        <a:pt x="224427" y="35719"/>
                      </a:cubicBezTo>
                      <a:cubicBezTo>
                        <a:pt x="232508" y="63212"/>
                        <a:pt x="232135" y="92499"/>
                        <a:pt x="223356" y="119777"/>
                      </a:cubicBezTo>
                    </a:path>
                  </a:pathLst>
                </a:custGeom>
                <a:noFill/>
                <a:ln w="23812">
                  <a:solidFill>
                    <a:schemeClr val="accent3"/>
                  </a:solidFill>
                </a:ln>
              </p:spPr>
            </p:sp>
            <p:sp>
              <p:nvSpPr>
                <p:cNvPr id="34" name="Freeform 34"/>
                <p:cNvSpPr/>
                <p:nvPr/>
              </p:nvSpPr>
              <p:spPr>
                <a:xfrm>
                  <a:off x="997744" y="5536406"/>
                  <a:ext cx="71438" cy="47625"/>
                </a:xfrm>
                <a:custGeom>
                  <a:avLst/>
                  <a:gdLst/>
                  <a:ahLst/>
                  <a:cxnLst/>
                  <a:rect l="l" t="t" r="r" b="b"/>
                  <a:pathLst>
                    <a:path w="71438" h="47625">
                      <a:moveTo>
                        <a:pt x="0" y="23812"/>
                      </a:moveTo>
                      <a:lnTo>
                        <a:pt x="23812" y="47625"/>
                      </a:lnTo>
                      <a:lnTo>
                        <a:pt x="71438" y="0"/>
                      </a:lnTo>
                    </a:path>
                  </a:pathLst>
                </a:custGeom>
                <a:noFill/>
                <a:ln w="23812">
                  <a:solidFill>
                    <a:schemeClr val="accent3"/>
                  </a:solidFill>
                </a:ln>
              </p:spPr>
            </p:sp>
          </p:grpSp>
          <p:sp>
            <p:nvSpPr>
              <p:cNvPr id="36" name="TextBox 36"/>
              <p:cNvSpPr txBox="1"/>
              <p:nvPr/>
            </p:nvSpPr>
            <p:spPr>
              <a:xfrm>
                <a:off x="1212342" y="5397818"/>
                <a:ext cx="1676021"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Isolated by Design</a:t>
                </a:r>
              </a:p>
            </p:txBody>
          </p:sp>
          <p:sp>
            <p:nvSpPr>
              <p:cNvPr id="37" name="TextBox 37"/>
              <p:cNvSpPr txBox="1"/>
              <p:nvPr/>
            </p:nvSpPr>
            <p:spPr>
              <a:xfrm>
                <a:off x="812673" y="5634514"/>
                <a:ext cx="1947418"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 xml:space="preserve">DB </a:t>
                </a:r>
                <a:r>
                  <a:rPr lang="en" sz="1280" dirty="0">
                    <a:solidFill>
                      <a:schemeClr val="accent3"/>
                    </a:solidFill>
                    <a:latin typeface="Consolas"/>
                    <a:ea typeface="Consolas"/>
                    <a:cs typeface="Consolas"/>
                  </a:rPr>
                  <a:t>agentic_sre_db</a:t>
                </a:r>
                <a:r>
                  <a:rPr lang="en" sz="1280" dirty="0">
                    <a:solidFill>
                      <a:schemeClr val="accent5"/>
                    </a:solidFill>
                    <a:latin typeface="+mn-lt"/>
                    <a:ea typeface="+mn-ea"/>
                    <a:cs typeface="+mn-cs"/>
                  </a:rPr>
                  <a:t xml:space="preserve"> stays</a:t>
                </a:r>
                <a:br/>
                <a:r>
                  <a:rPr lang="en" sz="1280" dirty="0">
                    <a:solidFill>
                      <a:schemeClr val="accent5"/>
                    </a:solidFill>
                    <a:latin typeface="+mn-lt"/>
                    <a:ea typeface="+mn-ea"/>
                    <a:cs typeface="+mn-cs"/>
                  </a:rPr>
                  <a:t>architecturally apart</a:t>
                </a:r>
              </a:p>
            </p:txBody>
          </p:sp>
        </p:grpSp>
      </p:grpSp>
      <p:grpSp>
        <p:nvGrpSpPr>
          <p:cNvPr id="43" name="Group 43"/>
          <p:cNvGrpSpPr/>
          <p:nvPr/>
        </p:nvGrpSpPr>
        <p:grpSpPr>
          <a:xfrm>
            <a:off x="4038600" y="2247900"/>
            <a:ext cx="7543800" cy="4000500"/>
            <a:chOff x="4038600" y="2247900"/>
            <a:chExt cx="7543800" cy="4000500"/>
          </a:xfrm>
        </p:grpSpPr>
        <p:sp>
          <p:nvSpPr>
            <p:cNvPr id="40" name="Rectangle 40"/>
            <p:cNvSpPr/>
            <p:nvPr/>
          </p:nvSpPr>
          <p:spPr>
            <a:xfrm>
              <a:off x="4038600" y="2247900"/>
              <a:ext cx="7543800" cy="4000500"/>
            </a:xfrm>
            <a:prstGeom prst="roundRect">
              <a:avLst>
                <a:gd name="adj" fmla="val 3810"/>
              </a:avLst>
            </a:prstGeom>
            <a:solidFill>
              <a:schemeClr val="lt2"/>
            </a:solidFill>
            <a:ln w="9525">
              <a:solidFill>
                <a:schemeClr val="accent6"/>
              </a:solidFill>
            </a:ln>
            <a:effectLst>
              <a:outerShdw blurRad="228600" dist="57150" dir="5400000" algn="ctr" rotWithShape="0">
                <a:srgbClr val="000000">
                  <a:alpha val="33750"/>
                </a:srgbClr>
              </a:outerShdw>
            </a:effectLst>
          </p:spPr>
        </p:sp>
        <p:pic>
          <p:nvPicPr>
            <p:cNvPr id="41" name="Image 41"/>
            <p:cNvPicPr>
              <a:picLocks noChangeAspect="1"/>
            </p:cNvPicPr>
            <p:nvPr/>
          </p:nvPicPr>
          <p:blipFill>
            <a:blip r:embed="rId2"/>
            <a:stretch>
              <a:fillRect/>
            </a:stretch>
          </p:blipFill>
          <p:spPr>
            <a:xfrm>
              <a:off x="4660900" y="2476500"/>
              <a:ext cx="6299200" cy="3543300"/>
            </a:xfrm>
            <a:prstGeom prst="rect">
              <a:avLst/>
            </a:prstGeom>
          </p:spPr>
        </p:pic>
        <p:sp>
          <p:nvSpPr>
            <p:cNvPr id="42" name="TextBox 42"/>
            <p:cNvSpPr txBox="1"/>
            <p:nvPr/>
          </p:nvSpPr>
          <p:spPr>
            <a:xfrm>
              <a:off x="8232481" y="6004560"/>
              <a:ext cx="3127415"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Consolas"/>
                  <a:ea typeface="Consolas"/>
                  <a:cs typeface="Consolas"/>
                </a:rPr>
                <a:t>Execution &amp; audit history — live capture</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345332"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04 · TRUST &amp; GOVERNANCE</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P13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7955250" cy="883729"/>
            <a:chOff x="590550" y="1223010"/>
            <a:chExt cx="7955250" cy="883729"/>
          </a:xfrm>
        </p:grpSpPr>
        <p:sp>
          <p:nvSpPr>
            <p:cNvPr id="7" name="TextBox 7"/>
            <p:cNvSpPr txBox="1"/>
            <p:nvPr/>
          </p:nvSpPr>
          <p:spPr>
            <a:xfrm>
              <a:off x="590550" y="1223010"/>
              <a:ext cx="7955250"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Fleet-Wide Telemetry, Live</a:t>
              </a:r>
            </a:p>
          </p:txBody>
        </p:sp>
        <p:sp>
          <p:nvSpPr>
            <p:cNvPr id="8" name="TextBox 8"/>
            <p:cNvSpPr txBox="1"/>
            <p:nvPr/>
          </p:nvSpPr>
          <p:spPr>
            <a:xfrm>
              <a:off x="601218" y="1784032"/>
              <a:ext cx="6469974"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SLA compliance and remediation pace, watched in real time.</a:t>
              </a:r>
            </a:p>
          </p:txBody>
        </p:sp>
      </p:grpSp>
      <p:grpSp>
        <p:nvGrpSpPr>
          <p:cNvPr id="13" name="Group 13"/>
          <p:cNvGrpSpPr/>
          <p:nvPr/>
        </p:nvGrpSpPr>
        <p:grpSpPr>
          <a:xfrm>
            <a:off x="609600" y="2247900"/>
            <a:ext cx="7543800" cy="4000500"/>
            <a:chOff x="609600" y="2247900"/>
            <a:chExt cx="7543800" cy="4000500"/>
          </a:xfrm>
        </p:grpSpPr>
        <p:sp>
          <p:nvSpPr>
            <p:cNvPr id="10" name="Rectangle 10"/>
            <p:cNvSpPr/>
            <p:nvPr/>
          </p:nvSpPr>
          <p:spPr>
            <a:xfrm>
              <a:off x="609600" y="2247900"/>
              <a:ext cx="7543800" cy="4000500"/>
            </a:xfrm>
            <a:prstGeom prst="roundRect">
              <a:avLst>
                <a:gd name="adj" fmla="val 3810"/>
              </a:avLst>
            </a:prstGeom>
            <a:solidFill>
              <a:schemeClr val="lt2"/>
            </a:solidFill>
            <a:ln w="9525">
              <a:solidFill>
                <a:schemeClr val="accent6"/>
              </a:solidFill>
            </a:ln>
            <a:effectLst>
              <a:outerShdw blurRad="228600" dist="57150" dir="5400000" algn="ctr" rotWithShape="0">
                <a:srgbClr val="000000">
                  <a:alpha val="33750"/>
                </a:srgbClr>
              </a:outerShdw>
            </a:effectLst>
          </p:spPr>
        </p:sp>
        <p:pic>
          <p:nvPicPr>
            <p:cNvPr id="11" name="Image 11"/>
            <p:cNvPicPr>
              <a:picLocks noChangeAspect="1"/>
            </p:cNvPicPr>
            <p:nvPr/>
          </p:nvPicPr>
          <p:blipFill>
            <a:blip r:embed="rId2"/>
            <a:stretch>
              <a:fillRect/>
            </a:stretch>
          </p:blipFill>
          <p:spPr>
            <a:xfrm>
              <a:off x="1231900" y="2476500"/>
              <a:ext cx="6299200" cy="3543300"/>
            </a:xfrm>
            <a:prstGeom prst="rect">
              <a:avLst/>
            </a:prstGeom>
          </p:spPr>
        </p:pic>
        <p:sp>
          <p:nvSpPr>
            <p:cNvPr id="12" name="TextBox 12"/>
            <p:cNvSpPr txBox="1"/>
            <p:nvPr/>
          </p:nvSpPr>
          <p:spPr>
            <a:xfrm>
              <a:off x="5708428" y="6004560"/>
              <a:ext cx="2222468"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Consolas"/>
                  <a:ea typeface="Consolas"/>
                  <a:cs typeface="Consolas"/>
                </a:rPr>
                <a:t>Fleet timeline — live capture</a:t>
              </a:r>
            </a:p>
          </p:txBody>
        </p:sp>
      </p:grpSp>
      <p:grpSp>
        <p:nvGrpSpPr>
          <p:cNvPr id="44" name="Group 44"/>
          <p:cNvGrpSpPr/>
          <p:nvPr/>
        </p:nvGrpSpPr>
        <p:grpSpPr>
          <a:xfrm>
            <a:off x="8343900" y="2247900"/>
            <a:ext cx="3238500" cy="4000500"/>
            <a:chOff x="8343900" y="2247900"/>
            <a:chExt cx="3238500" cy="4000500"/>
          </a:xfrm>
        </p:grpSpPr>
        <p:sp>
          <p:nvSpPr>
            <p:cNvPr id="14" name="Rectangle 14"/>
            <p:cNvSpPr/>
            <p:nvPr/>
          </p:nvSpPr>
          <p:spPr>
            <a:xfrm>
              <a:off x="8343900" y="2247900"/>
              <a:ext cx="3238500" cy="4000500"/>
            </a:xfrm>
            <a:prstGeom prst="roundRect">
              <a:avLst>
                <a:gd name="adj" fmla="val 4706"/>
              </a:avLst>
            </a:prstGeom>
            <a:noFill/>
            <a:ln w="14288">
              <a:solidFill>
                <a:schemeClr val="accent6"/>
              </a:solidFill>
            </a:ln>
          </p:spPr>
        </p:sp>
        <p:sp>
          <p:nvSpPr>
            <p:cNvPr id="15" name="TextBox 15"/>
            <p:cNvSpPr txBox="1"/>
            <p:nvPr/>
          </p:nvSpPr>
          <p:spPr>
            <a:xfrm>
              <a:off x="8547354" y="2404110"/>
              <a:ext cx="1592194" cy="234696"/>
            </a:xfrm>
            <a:prstGeom prst="rect">
              <a:avLst/>
            </a:prstGeom>
            <a:noFill/>
            <a:ln>
              <a:noFill/>
            </a:ln>
          </p:spPr>
          <p:txBody>
            <a:bodyPr wrap="none" lIns="0" tIns="0" rIns="0" bIns="0" anchor="t" anchorCtr="0">
              <a:spAutoFit/>
            </a:bodyPr>
            <a:lstStyle/>
            <a:p>
              <a:pPr algn="l"/>
              <a:r>
                <a:rPr lang="en" sz="1200" spc="112" dirty="0">
                  <a:solidFill>
                    <a:schemeClr val="accent1"/>
                  </a:solidFill>
                  <a:latin typeface="Consolas"/>
                  <a:ea typeface="Consolas"/>
                  <a:cs typeface="Consolas"/>
                </a:rPr>
                <a:t>SLA &amp; TELEMETRY</a:t>
              </a:r>
            </a:p>
          </p:txBody>
        </p:sp>
        <p:sp>
          <p:nvSpPr>
            <p:cNvPr id="16" name="Line 16"/>
            <p:cNvSpPr/>
            <p:nvPr/>
          </p:nvSpPr>
          <p:spPr>
            <a:xfrm>
              <a:off x="8553450" y="2647950"/>
              <a:ext cx="2819400" cy="9525"/>
            </a:xfrm>
            <a:custGeom>
              <a:avLst/>
              <a:gdLst/>
              <a:ahLst/>
              <a:cxnLst/>
              <a:rect l="l" t="t" r="r" b="b"/>
              <a:pathLst>
                <a:path w="2819400" h="9525">
                  <a:moveTo>
                    <a:pt x="0" y="0"/>
                  </a:moveTo>
                  <a:lnTo>
                    <a:pt x="2819400" y="0"/>
                  </a:lnTo>
                </a:path>
              </a:pathLst>
            </a:custGeom>
            <a:noFill/>
            <a:ln w="9525">
              <a:solidFill>
                <a:schemeClr val="accent6"/>
              </a:solidFill>
            </a:ln>
          </p:spPr>
        </p:sp>
        <p:grpSp>
          <p:nvGrpSpPr>
            <p:cNvPr id="20" name="Group 20"/>
            <p:cNvGrpSpPr/>
            <p:nvPr/>
          </p:nvGrpSpPr>
          <p:grpSpPr>
            <a:xfrm>
              <a:off x="8546973" y="2867025"/>
              <a:ext cx="2223770" cy="702279"/>
              <a:chOff x="8546973" y="2867025"/>
              <a:chExt cx="2223770" cy="702279"/>
            </a:xfrm>
          </p:grpSpPr>
          <p:sp>
            <p:nvSpPr>
              <p:cNvPr id="17" name="Freeform 17"/>
              <p:cNvSpPr/>
              <p:nvPr/>
            </p:nvSpPr>
            <p:spPr>
              <a:xfrm>
                <a:off x="8589169" y="2867025"/>
                <a:ext cx="214312" cy="190500"/>
              </a:xfrm>
              <a:custGeom>
                <a:avLst/>
                <a:gdLst/>
                <a:ahLst/>
                <a:cxnLst/>
                <a:rect l="l" t="t" r="r" b="b"/>
                <a:pathLst>
                  <a:path w="214312" h="190500">
                    <a:moveTo>
                      <a:pt x="0" y="95250"/>
                    </a:moveTo>
                    <a:lnTo>
                      <a:pt x="47625" y="95250"/>
                    </a:lnTo>
                    <a:lnTo>
                      <a:pt x="83344" y="190500"/>
                    </a:lnTo>
                    <a:lnTo>
                      <a:pt x="130969" y="0"/>
                    </a:lnTo>
                    <a:lnTo>
                      <a:pt x="166688" y="95250"/>
                    </a:lnTo>
                    <a:lnTo>
                      <a:pt x="214312" y="95250"/>
                    </a:lnTo>
                  </a:path>
                </a:pathLst>
              </a:custGeom>
              <a:noFill/>
              <a:ln w="23812">
                <a:solidFill>
                  <a:schemeClr val="accent2"/>
                </a:solidFill>
              </a:ln>
            </p:spPr>
          </p:sp>
          <p:sp>
            <p:nvSpPr>
              <p:cNvPr id="18" name="TextBox 18"/>
              <p:cNvSpPr txBox="1"/>
              <p:nvPr/>
            </p:nvSpPr>
            <p:spPr>
              <a:xfrm>
                <a:off x="8946642" y="2883218"/>
                <a:ext cx="1188723"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Live Timeline</a:t>
                </a:r>
              </a:p>
            </p:txBody>
          </p:sp>
          <p:sp>
            <p:nvSpPr>
              <p:cNvPr id="19" name="TextBox 19"/>
              <p:cNvSpPr txBox="1"/>
              <p:nvPr/>
            </p:nvSpPr>
            <p:spPr>
              <a:xfrm>
                <a:off x="8546973" y="3119914"/>
                <a:ext cx="2223770"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Every active and recent SRE</a:t>
                </a:r>
                <a:br/>
                <a:r>
                  <a:rPr lang="en" sz="1280" dirty="0">
                    <a:solidFill>
                      <a:schemeClr val="accent5"/>
                    </a:solidFill>
                    <a:latin typeface="+mn-lt"/>
                    <a:ea typeface="+mn-ea"/>
                    <a:cs typeface="+mn-cs"/>
                  </a:rPr>
                  <a:t>execution across the fleet</a:t>
                </a:r>
              </a:p>
            </p:txBody>
          </p:sp>
        </p:grpSp>
        <p:grpSp>
          <p:nvGrpSpPr>
            <p:cNvPr id="26" name="Group 26"/>
            <p:cNvGrpSpPr/>
            <p:nvPr/>
          </p:nvGrpSpPr>
          <p:grpSpPr>
            <a:xfrm>
              <a:off x="8546973" y="3721418"/>
              <a:ext cx="2118106" cy="686086"/>
              <a:chOff x="8546973" y="3721418"/>
              <a:chExt cx="2118106" cy="686086"/>
            </a:xfrm>
          </p:grpSpPr>
          <p:grpSp>
            <p:nvGrpSpPr>
              <p:cNvPr id="23" name="Group 23"/>
              <p:cNvGrpSpPr/>
              <p:nvPr/>
            </p:nvGrpSpPr>
            <p:grpSpPr>
              <a:xfrm>
                <a:off x="8601075" y="3729038"/>
                <a:ext cx="190500" cy="164306"/>
                <a:chOff x="8601075" y="3729038"/>
                <a:chExt cx="190500" cy="164306"/>
              </a:xfrm>
            </p:grpSpPr>
            <p:sp>
              <p:nvSpPr>
                <p:cNvPr id="21" name="Freeform 21"/>
                <p:cNvSpPr/>
                <p:nvPr/>
              </p:nvSpPr>
              <p:spPr>
                <a:xfrm>
                  <a:off x="8601075" y="3883819"/>
                  <a:ext cx="190500" cy="9525"/>
                </a:xfrm>
                <a:custGeom>
                  <a:avLst/>
                  <a:gdLst/>
                  <a:ahLst/>
                  <a:cxnLst/>
                  <a:rect l="l" t="t" r="r" b="b"/>
                  <a:pathLst>
                    <a:path w="190500" h="9525">
                      <a:moveTo>
                        <a:pt x="0" y="0"/>
                      </a:moveTo>
                      <a:lnTo>
                        <a:pt x="190500" y="0"/>
                      </a:lnTo>
                    </a:path>
                  </a:pathLst>
                </a:custGeom>
                <a:noFill/>
                <a:ln w="23812">
                  <a:solidFill>
                    <a:schemeClr val="accent1"/>
                  </a:solidFill>
                </a:ln>
              </p:spPr>
            </p:sp>
            <p:sp>
              <p:nvSpPr>
                <p:cNvPr id="22" name="Freeform 22"/>
                <p:cNvSpPr/>
                <p:nvPr/>
              </p:nvSpPr>
              <p:spPr>
                <a:xfrm>
                  <a:off x="8601075" y="3729038"/>
                  <a:ext cx="190500" cy="107156"/>
                </a:xfrm>
                <a:custGeom>
                  <a:avLst/>
                  <a:gdLst/>
                  <a:ahLst/>
                  <a:cxnLst/>
                  <a:rect l="l" t="t" r="r" b="b"/>
                  <a:pathLst>
                    <a:path w="190500" h="107156">
                      <a:moveTo>
                        <a:pt x="0" y="107156"/>
                      </a:moveTo>
                      <a:lnTo>
                        <a:pt x="47625" y="35719"/>
                      </a:lnTo>
                      <a:lnTo>
                        <a:pt x="95250" y="59531"/>
                      </a:lnTo>
                      <a:lnTo>
                        <a:pt x="142875" y="0"/>
                      </a:lnTo>
                      <a:lnTo>
                        <a:pt x="190500" y="47625"/>
                      </a:lnTo>
                    </a:path>
                  </a:pathLst>
                </a:custGeom>
                <a:noFill/>
                <a:ln w="23812">
                  <a:solidFill>
                    <a:schemeClr val="accent1"/>
                  </a:solidFill>
                </a:ln>
              </p:spPr>
            </p:sp>
          </p:grpSp>
          <p:sp>
            <p:nvSpPr>
              <p:cNvPr id="24" name="TextBox 24"/>
              <p:cNvSpPr txBox="1"/>
              <p:nvPr/>
            </p:nvSpPr>
            <p:spPr>
              <a:xfrm>
                <a:off x="8946642" y="3721418"/>
                <a:ext cx="1201701"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SLA Tracking</a:t>
                </a:r>
              </a:p>
            </p:txBody>
          </p:sp>
          <p:sp>
            <p:nvSpPr>
              <p:cNvPr id="25" name="TextBox 25"/>
              <p:cNvSpPr txBox="1"/>
              <p:nvPr/>
            </p:nvSpPr>
            <p:spPr>
              <a:xfrm>
                <a:off x="8546973" y="3958114"/>
                <a:ext cx="2118106"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Response-time tracking at</a:t>
                </a:r>
                <a:br/>
                <a:r>
                  <a:rPr lang="en" sz="1280" dirty="0">
                    <a:solidFill>
                      <a:schemeClr val="accent5"/>
                    </a:solidFill>
                    <a:latin typeface="+mn-lt"/>
                    <a:ea typeface="+mn-ea"/>
                    <a:cs typeface="+mn-cs"/>
                  </a:rPr>
                  <a:t>the mission-control layer</a:t>
                </a:r>
              </a:p>
            </p:txBody>
          </p:sp>
        </p:grpSp>
        <p:grpSp>
          <p:nvGrpSpPr>
            <p:cNvPr id="36" name="Group 36"/>
            <p:cNvGrpSpPr/>
            <p:nvPr/>
          </p:nvGrpSpPr>
          <p:grpSpPr>
            <a:xfrm>
              <a:off x="8546973" y="4531519"/>
              <a:ext cx="2191258" cy="714185"/>
              <a:chOff x="8546973" y="4531519"/>
              <a:chExt cx="2191258" cy="714185"/>
            </a:xfrm>
          </p:grpSpPr>
          <p:grpSp>
            <p:nvGrpSpPr>
              <p:cNvPr id="33" name="Group 33"/>
              <p:cNvGrpSpPr/>
              <p:nvPr/>
            </p:nvGrpSpPr>
            <p:grpSpPr>
              <a:xfrm>
                <a:off x="8589169" y="4531519"/>
                <a:ext cx="214313" cy="214313"/>
                <a:chOff x="8589169" y="4531519"/>
                <a:chExt cx="214313" cy="214313"/>
              </a:xfrm>
            </p:grpSpPr>
            <p:sp>
              <p:nvSpPr>
                <p:cNvPr id="27" name="Freeform 27"/>
                <p:cNvSpPr/>
                <p:nvPr/>
              </p:nvSpPr>
              <p:spPr>
                <a:xfrm>
                  <a:off x="8603637" y="4638675"/>
                  <a:ext cx="92688" cy="92688"/>
                </a:xfrm>
                <a:custGeom>
                  <a:avLst/>
                  <a:gdLst/>
                  <a:ahLst/>
                  <a:cxnLst/>
                  <a:rect l="l" t="t" r="r" b="b"/>
                  <a:pathLst>
                    <a:path w="92688" h="92688">
                      <a:moveTo>
                        <a:pt x="33157" y="0"/>
                      </a:moveTo>
                      <a:lnTo>
                        <a:pt x="92688" y="59531"/>
                      </a:lnTo>
                      <a:lnTo>
                        <a:pt x="74829" y="77391"/>
                      </a:lnTo>
                      <a:cubicBezTo>
                        <a:pt x="64254" y="88315"/>
                        <a:pt x="48611" y="92688"/>
                        <a:pt x="33904" y="88833"/>
                      </a:cubicBezTo>
                      <a:cubicBezTo>
                        <a:pt x="19197" y="84977"/>
                        <a:pt x="7711" y="73492"/>
                        <a:pt x="3856" y="58784"/>
                      </a:cubicBezTo>
                      <a:cubicBezTo>
                        <a:pt x="0" y="44077"/>
                        <a:pt x="4374" y="28434"/>
                        <a:pt x="15298" y="17859"/>
                      </a:cubicBezTo>
                      <a:lnTo>
                        <a:pt x="33157" y="0"/>
                      </a:lnTo>
                    </a:path>
                  </a:pathLst>
                </a:custGeom>
                <a:noFill/>
                <a:ln w="23812">
                  <a:solidFill>
                    <a:schemeClr val="accent1"/>
                  </a:solidFill>
                </a:ln>
              </p:spPr>
            </p:sp>
            <p:sp>
              <p:nvSpPr>
                <p:cNvPr id="28" name="Freeform 28"/>
                <p:cNvSpPr/>
                <p:nvPr/>
              </p:nvSpPr>
              <p:spPr>
                <a:xfrm>
                  <a:off x="8696325" y="4545987"/>
                  <a:ext cx="92688" cy="92688"/>
                </a:xfrm>
                <a:custGeom>
                  <a:avLst/>
                  <a:gdLst/>
                  <a:ahLst/>
                  <a:cxnLst/>
                  <a:rect l="l" t="t" r="r" b="b"/>
                  <a:pathLst>
                    <a:path w="92688" h="92688">
                      <a:moveTo>
                        <a:pt x="59531" y="92688"/>
                      </a:moveTo>
                      <a:lnTo>
                        <a:pt x="0" y="33157"/>
                      </a:lnTo>
                      <a:lnTo>
                        <a:pt x="17859" y="15298"/>
                      </a:lnTo>
                      <a:cubicBezTo>
                        <a:pt x="28434" y="4374"/>
                        <a:pt x="44077" y="0"/>
                        <a:pt x="58784" y="3856"/>
                      </a:cubicBezTo>
                      <a:cubicBezTo>
                        <a:pt x="73492" y="7711"/>
                        <a:pt x="84977" y="19197"/>
                        <a:pt x="88833" y="33904"/>
                      </a:cubicBezTo>
                      <a:cubicBezTo>
                        <a:pt x="92688" y="48611"/>
                        <a:pt x="88315" y="64254"/>
                        <a:pt x="77391" y="74829"/>
                      </a:cubicBezTo>
                      <a:lnTo>
                        <a:pt x="59531" y="92688"/>
                      </a:lnTo>
                    </a:path>
                  </a:pathLst>
                </a:custGeom>
                <a:noFill/>
                <a:ln w="23812">
                  <a:solidFill>
                    <a:schemeClr val="accent1"/>
                  </a:solidFill>
                </a:ln>
              </p:spPr>
            </p:sp>
            <p:sp>
              <p:nvSpPr>
                <p:cNvPr id="29" name="Freeform 29"/>
                <p:cNvSpPr/>
                <p:nvPr/>
              </p:nvSpPr>
              <p:spPr>
                <a:xfrm>
                  <a:off x="8589169" y="4716066"/>
                  <a:ext cx="29766" cy="29766"/>
                </a:xfrm>
                <a:custGeom>
                  <a:avLst/>
                  <a:gdLst/>
                  <a:ahLst/>
                  <a:cxnLst/>
                  <a:rect l="l" t="t" r="r" b="b"/>
                  <a:pathLst>
                    <a:path w="29766" h="29766">
                      <a:moveTo>
                        <a:pt x="0" y="29766"/>
                      </a:moveTo>
                      <a:lnTo>
                        <a:pt x="29766" y="0"/>
                      </a:lnTo>
                    </a:path>
                  </a:pathLst>
                </a:custGeom>
                <a:noFill/>
                <a:ln w="23812">
                  <a:solidFill>
                    <a:schemeClr val="accent1"/>
                  </a:solidFill>
                </a:ln>
              </p:spPr>
            </p:sp>
            <p:sp>
              <p:nvSpPr>
                <p:cNvPr id="30" name="Freeform 30"/>
                <p:cNvSpPr/>
                <p:nvPr/>
              </p:nvSpPr>
              <p:spPr>
                <a:xfrm>
                  <a:off x="8773716" y="4531519"/>
                  <a:ext cx="29766" cy="29766"/>
                </a:xfrm>
                <a:custGeom>
                  <a:avLst/>
                  <a:gdLst/>
                  <a:ahLst/>
                  <a:cxnLst/>
                  <a:rect l="l" t="t" r="r" b="b"/>
                  <a:pathLst>
                    <a:path w="29766" h="29766">
                      <a:moveTo>
                        <a:pt x="0" y="29766"/>
                      </a:moveTo>
                      <a:lnTo>
                        <a:pt x="29766" y="0"/>
                      </a:lnTo>
                    </a:path>
                  </a:pathLst>
                </a:custGeom>
                <a:noFill/>
                <a:ln w="23812">
                  <a:solidFill>
                    <a:schemeClr val="accent1"/>
                  </a:solidFill>
                </a:ln>
              </p:spPr>
            </p:sp>
            <p:sp>
              <p:nvSpPr>
                <p:cNvPr id="31" name="Freeform 31"/>
                <p:cNvSpPr/>
                <p:nvPr/>
              </p:nvSpPr>
              <p:spPr>
                <a:xfrm>
                  <a:off x="8648700" y="4626769"/>
                  <a:ext cx="23812" cy="23812"/>
                </a:xfrm>
                <a:custGeom>
                  <a:avLst/>
                  <a:gdLst/>
                  <a:ahLst/>
                  <a:cxnLst/>
                  <a:rect l="l" t="t" r="r" b="b"/>
                  <a:pathLst>
                    <a:path w="23812" h="23812">
                      <a:moveTo>
                        <a:pt x="23812" y="0"/>
                      </a:moveTo>
                      <a:lnTo>
                        <a:pt x="0" y="23812"/>
                      </a:lnTo>
                    </a:path>
                  </a:pathLst>
                </a:custGeom>
                <a:noFill/>
                <a:ln w="23812">
                  <a:solidFill>
                    <a:schemeClr val="accent1"/>
                  </a:solidFill>
                </a:ln>
              </p:spPr>
            </p:sp>
            <p:sp>
              <p:nvSpPr>
                <p:cNvPr id="32" name="Freeform 32"/>
                <p:cNvSpPr/>
                <p:nvPr/>
              </p:nvSpPr>
              <p:spPr>
                <a:xfrm>
                  <a:off x="8684419" y="4662488"/>
                  <a:ext cx="23812" cy="23812"/>
                </a:xfrm>
                <a:custGeom>
                  <a:avLst/>
                  <a:gdLst/>
                  <a:ahLst/>
                  <a:cxnLst/>
                  <a:rect l="l" t="t" r="r" b="b"/>
                  <a:pathLst>
                    <a:path w="23812" h="23812">
                      <a:moveTo>
                        <a:pt x="23812" y="0"/>
                      </a:moveTo>
                      <a:lnTo>
                        <a:pt x="0" y="23812"/>
                      </a:lnTo>
                    </a:path>
                  </a:pathLst>
                </a:custGeom>
                <a:noFill/>
                <a:ln w="23812">
                  <a:solidFill>
                    <a:schemeClr val="accent1"/>
                  </a:solidFill>
                </a:ln>
              </p:spPr>
            </p:sp>
          </p:grpSp>
          <p:sp>
            <p:nvSpPr>
              <p:cNvPr id="34" name="TextBox 34"/>
              <p:cNvSpPr txBox="1"/>
              <p:nvPr/>
            </p:nvSpPr>
            <p:spPr>
              <a:xfrm>
                <a:off x="8946642" y="4559618"/>
                <a:ext cx="1724567"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Asset &amp; Host-Lock</a:t>
                </a:r>
              </a:p>
            </p:txBody>
          </p:sp>
          <p:sp>
            <p:nvSpPr>
              <p:cNvPr id="35" name="TextBox 35"/>
              <p:cNvSpPr txBox="1"/>
              <p:nvPr/>
            </p:nvSpPr>
            <p:spPr>
              <a:xfrm>
                <a:off x="8546973" y="4796314"/>
                <a:ext cx="2191258"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State visible per target CI,</a:t>
                </a:r>
                <a:br/>
                <a:r>
                  <a:rPr lang="en" sz="1280" dirty="0">
                    <a:solidFill>
                      <a:schemeClr val="accent5"/>
                    </a:solidFill>
                    <a:latin typeface="+mn-lt"/>
                    <a:ea typeface="+mn-ea"/>
                    <a:cs typeface="+mn-cs"/>
                  </a:rPr>
                  <a:t>not buried in raw logs</a:t>
                </a:r>
              </a:p>
            </p:txBody>
          </p:sp>
        </p:grpSp>
        <p:grpSp>
          <p:nvGrpSpPr>
            <p:cNvPr id="43" name="Group 43"/>
            <p:cNvGrpSpPr/>
            <p:nvPr/>
          </p:nvGrpSpPr>
          <p:grpSpPr>
            <a:xfrm>
              <a:off x="8546973" y="5369719"/>
              <a:ext cx="2273229" cy="714185"/>
              <a:chOff x="8546973" y="5369719"/>
              <a:chExt cx="2273229" cy="714185"/>
            </a:xfrm>
          </p:grpSpPr>
          <p:grpSp>
            <p:nvGrpSpPr>
              <p:cNvPr id="40" name="Group 40"/>
              <p:cNvGrpSpPr/>
              <p:nvPr/>
            </p:nvGrpSpPr>
            <p:grpSpPr>
              <a:xfrm>
                <a:off x="8589169" y="5369719"/>
                <a:ext cx="214312" cy="214312"/>
                <a:chOff x="8589169" y="5369719"/>
                <a:chExt cx="214312" cy="214312"/>
              </a:xfrm>
            </p:grpSpPr>
            <p:sp>
              <p:nvSpPr>
                <p:cNvPr id="37" name="Freeform 37"/>
                <p:cNvSpPr/>
                <p:nvPr/>
              </p:nvSpPr>
              <p:spPr>
                <a:xfrm>
                  <a:off x="8589169" y="5536406"/>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chemeClr val="accent3"/>
                  </a:solidFill>
                </a:ln>
              </p:spPr>
            </p:sp>
            <p:sp>
              <p:nvSpPr>
                <p:cNvPr id="38" name="Freeform 38"/>
                <p:cNvSpPr/>
                <p:nvPr/>
              </p:nvSpPr>
              <p:spPr>
                <a:xfrm>
                  <a:off x="8755856" y="5369719"/>
                  <a:ext cx="47625" cy="47625"/>
                </a:xfrm>
                <a:custGeom>
                  <a:avLst/>
                  <a:gdLst/>
                  <a:ahLst/>
                  <a:cxnLst/>
                  <a:rect l="l" t="t" r="r" b="b"/>
                  <a:pathLst>
                    <a:path w="47625" h="47625">
                      <a:moveTo>
                        <a:pt x="23812" y="47625"/>
                      </a:moveTo>
                      <a:cubicBezTo>
                        <a:pt x="36964" y="47625"/>
                        <a:pt x="47625" y="36964"/>
                        <a:pt x="47625" y="23812"/>
                      </a:cubicBezTo>
                      <a:cubicBezTo>
                        <a:pt x="47625" y="10661"/>
                        <a:pt x="36964" y="0"/>
                        <a:pt x="23812" y="0"/>
                      </a:cubicBezTo>
                      <a:cubicBezTo>
                        <a:pt x="10661" y="0"/>
                        <a:pt x="0" y="10661"/>
                        <a:pt x="0" y="23812"/>
                      </a:cubicBezTo>
                      <a:cubicBezTo>
                        <a:pt x="0" y="36964"/>
                        <a:pt x="10661" y="47625"/>
                        <a:pt x="23812" y="47625"/>
                      </a:cubicBezTo>
                    </a:path>
                  </a:pathLst>
                </a:custGeom>
                <a:noFill/>
                <a:ln w="23812">
                  <a:solidFill>
                    <a:schemeClr val="accent3"/>
                  </a:solidFill>
                </a:ln>
              </p:spPr>
            </p:sp>
            <p:sp>
              <p:nvSpPr>
                <p:cNvPr id="39" name="Freeform 39"/>
                <p:cNvSpPr/>
                <p:nvPr/>
              </p:nvSpPr>
              <p:spPr>
                <a:xfrm>
                  <a:off x="8612981" y="5393531"/>
                  <a:ext cx="178594" cy="166688"/>
                </a:xfrm>
                <a:custGeom>
                  <a:avLst/>
                  <a:gdLst/>
                  <a:ahLst/>
                  <a:cxnLst/>
                  <a:rect l="l" t="t" r="r" b="b"/>
                  <a:pathLst>
                    <a:path w="178594" h="166688">
                      <a:moveTo>
                        <a:pt x="71438" y="166688"/>
                      </a:moveTo>
                      <a:lnTo>
                        <a:pt x="136922" y="166688"/>
                      </a:lnTo>
                      <a:cubicBezTo>
                        <a:pt x="159937" y="166688"/>
                        <a:pt x="178594" y="148030"/>
                        <a:pt x="178594" y="125016"/>
                      </a:cubicBezTo>
                      <a:cubicBezTo>
                        <a:pt x="178594" y="102001"/>
                        <a:pt x="159937" y="83344"/>
                        <a:pt x="136922" y="83344"/>
                      </a:cubicBezTo>
                      <a:lnTo>
                        <a:pt x="41672" y="83344"/>
                      </a:lnTo>
                      <a:cubicBezTo>
                        <a:pt x="18657" y="83344"/>
                        <a:pt x="0" y="64687"/>
                        <a:pt x="0" y="41672"/>
                      </a:cubicBezTo>
                      <a:cubicBezTo>
                        <a:pt x="0" y="18657"/>
                        <a:pt x="18657" y="0"/>
                        <a:pt x="41672" y="0"/>
                      </a:cubicBezTo>
                      <a:lnTo>
                        <a:pt x="95250" y="0"/>
                      </a:lnTo>
                    </a:path>
                  </a:pathLst>
                </a:custGeom>
                <a:noFill/>
                <a:ln w="23812">
                  <a:solidFill>
                    <a:schemeClr val="accent3"/>
                  </a:solidFill>
                </a:ln>
              </p:spPr>
            </p:sp>
          </p:grpSp>
          <p:sp>
            <p:nvSpPr>
              <p:cNvPr id="41" name="TextBox 41"/>
              <p:cNvSpPr txBox="1"/>
              <p:nvPr/>
            </p:nvSpPr>
            <p:spPr>
              <a:xfrm>
                <a:off x="8946642" y="5397818"/>
                <a:ext cx="1873560"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Obvious Next Action</a:t>
                </a:r>
              </a:p>
            </p:txBody>
          </p:sp>
          <p:sp>
            <p:nvSpPr>
              <p:cNvPr id="42" name="TextBox 42"/>
              <p:cNvSpPr txBox="1"/>
              <p:nvPr/>
            </p:nvSpPr>
            <p:spPr>
              <a:xfrm>
                <a:off x="8546973" y="5634514"/>
                <a:ext cx="2004314"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Designed so operators</a:t>
                </a:r>
                <a:br/>
                <a:r>
                  <a:rPr lang="en" sz="1280" dirty="0">
                    <a:solidFill>
                      <a:schemeClr val="accent5"/>
                    </a:solidFill>
                    <a:latin typeface="+mn-lt"/>
                    <a:ea typeface="+mn-ea"/>
                    <a:cs typeface="+mn-cs"/>
                  </a:rPr>
                  <a:t>always know what’s next</a:t>
                </a:r>
              </a:p>
            </p:txBody>
          </p:sp>
        </p:gr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345332"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04 · TRUST &amp; GOVERNANCE</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P14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9164105" cy="883729"/>
            <a:chOff x="590550" y="1223010"/>
            <a:chExt cx="9164105" cy="883729"/>
          </a:xfrm>
        </p:grpSpPr>
        <p:sp>
          <p:nvSpPr>
            <p:cNvPr id="7" name="TextBox 7"/>
            <p:cNvSpPr txBox="1"/>
            <p:nvPr/>
          </p:nvSpPr>
          <p:spPr>
            <a:xfrm>
              <a:off x="590550" y="1223010"/>
              <a:ext cx="9164105"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Every Fix Teaches the Next One</a:t>
              </a:r>
            </a:p>
          </p:txBody>
        </p:sp>
        <p:sp>
          <p:nvSpPr>
            <p:cNvPr id="8" name="TextBox 8"/>
            <p:cNvSpPr txBox="1"/>
            <p:nvPr/>
          </p:nvSpPr>
          <p:spPr>
            <a:xfrm>
              <a:off x="601218" y="1784032"/>
              <a:ext cx="4855535"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Zero-touch resolution compounds over time.</a:t>
              </a:r>
            </a:p>
          </p:txBody>
        </p:sp>
      </p:grpSp>
      <p:grpSp>
        <p:nvGrpSpPr>
          <p:cNvPr id="43" name="Group 43"/>
          <p:cNvGrpSpPr/>
          <p:nvPr/>
        </p:nvGrpSpPr>
        <p:grpSpPr>
          <a:xfrm>
            <a:off x="609600" y="2247900"/>
            <a:ext cx="3238500" cy="4000500"/>
            <a:chOff x="609600" y="2247900"/>
            <a:chExt cx="3238500" cy="4000500"/>
          </a:xfrm>
        </p:grpSpPr>
        <p:sp>
          <p:nvSpPr>
            <p:cNvPr id="10" name="Rectangle 10"/>
            <p:cNvSpPr/>
            <p:nvPr/>
          </p:nvSpPr>
          <p:spPr>
            <a:xfrm>
              <a:off x="609600" y="2247900"/>
              <a:ext cx="3238500" cy="4000500"/>
            </a:xfrm>
            <a:prstGeom prst="roundRect">
              <a:avLst>
                <a:gd name="adj" fmla="val 4706"/>
              </a:avLst>
            </a:prstGeom>
            <a:noFill/>
            <a:ln w="14288">
              <a:solidFill>
                <a:schemeClr val="accent6"/>
              </a:solidFill>
            </a:ln>
          </p:spPr>
        </p:sp>
        <p:sp>
          <p:nvSpPr>
            <p:cNvPr id="11" name="TextBox 11"/>
            <p:cNvSpPr txBox="1"/>
            <p:nvPr/>
          </p:nvSpPr>
          <p:spPr>
            <a:xfrm>
              <a:off x="813054" y="2404110"/>
              <a:ext cx="1516522" cy="234696"/>
            </a:xfrm>
            <a:prstGeom prst="rect">
              <a:avLst/>
            </a:prstGeom>
            <a:noFill/>
            <a:ln>
              <a:noFill/>
            </a:ln>
          </p:spPr>
          <p:txBody>
            <a:bodyPr wrap="none" lIns="0" tIns="0" rIns="0" bIns="0" anchor="t" anchorCtr="0">
              <a:spAutoFit/>
            </a:bodyPr>
            <a:lstStyle/>
            <a:p>
              <a:pPr algn="l"/>
              <a:r>
                <a:rPr lang="en" sz="1200" spc="112" dirty="0">
                  <a:solidFill>
                    <a:schemeClr val="accent1"/>
                  </a:solidFill>
                  <a:latin typeface="Consolas"/>
                  <a:ea typeface="Consolas"/>
                  <a:cs typeface="Consolas"/>
                </a:rPr>
                <a:t>SYNTHESIS LOOP</a:t>
              </a:r>
            </a:p>
          </p:txBody>
        </p:sp>
        <p:sp>
          <p:nvSpPr>
            <p:cNvPr id="12" name="Line 12"/>
            <p:cNvSpPr/>
            <p:nvPr/>
          </p:nvSpPr>
          <p:spPr>
            <a:xfrm>
              <a:off x="819150" y="2647950"/>
              <a:ext cx="2819400" cy="9525"/>
            </a:xfrm>
            <a:custGeom>
              <a:avLst/>
              <a:gdLst/>
              <a:ahLst/>
              <a:cxnLst/>
              <a:rect l="l" t="t" r="r" b="b"/>
              <a:pathLst>
                <a:path w="2819400" h="9525">
                  <a:moveTo>
                    <a:pt x="0" y="0"/>
                  </a:moveTo>
                  <a:lnTo>
                    <a:pt x="2819400" y="0"/>
                  </a:lnTo>
                </a:path>
              </a:pathLst>
            </a:custGeom>
            <a:noFill/>
            <a:ln w="9525">
              <a:solidFill>
                <a:schemeClr val="accent6"/>
              </a:solidFill>
            </a:ln>
          </p:spPr>
        </p:sp>
        <p:sp>
          <p:nvSpPr>
            <p:cNvPr id="13" name="Rectangle 13"/>
            <p:cNvSpPr/>
            <p:nvPr/>
          </p:nvSpPr>
          <p:spPr>
            <a:xfrm>
              <a:off x="819150" y="2819400"/>
              <a:ext cx="2838450" cy="457200"/>
            </a:xfrm>
            <a:prstGeom prst="roundRect">
              <a:avLst>
                <a:gd name="adj" fmla="val 20833"/>
              </a:avLst>
            </a:prstGeom>
            <a:solidFill>
              <a:schemeClr val="lt2"/>
            </a:solidFill>
            <a:ln w="9525">
              <a:solidFill>
                <a:schemeClr val="accent6"/>
              </a:solidFill>
            </a:ln>
          </p:spPr>
        </p:sp>
        <p:grpSp>
          <p:nvGrpSpPr>
            <p:cNvPr id="16" name="Group 16"/>
            <p:cNvGrpSpPr/>
            <p:nvPr/>
          </p:nvGrpSpPr>
          <p:grpSpPr>
            <a:xfrm>
              <a:off x="949171" y="2962275"/>
              <a:ext cx="186006" cy="171450"/>
              <a:chOff x="949171" y="2962275"/>
              <a:chExt cx="186006" cy="171450"/>
            </a:xfrm>
          </p:grpSpPr>
          <p:sp>
            <p:nvSpPr>
              <p:cNvPr id="14" name="Freeform 14"/>
              <p:cNvSpPr/>
              <p:nvPr/>
            </p:nvSpPr>
            <p:spPr>
              <a:xfrm>
                <a:off x="949171" y="2962275"/>
                <a:ext cx="186006" cy="169983"/>
              </a:xfrm>
              <a:custGeom>
                <a:avLst/>
                <a:gdLst/>
                <a:ahLst/>
                <a:cxnLst/>
                <a:rect l="l" t="t" r="r" b="b"/>
                <a:pathLst>
                  <a:path w="186006" h="169983">
                    <a:moveTo>
                      <a:pt x="93436" y="169983"/>
                    </a:moveTo>
                    <a:cubicBezTo>
                      <a:pt x="33766" y="151487"/>
                      <a:pt x="0" y="88510"/>
                      <a:pt x="17617" y="28575"/>
                    </a:cubicBezTo>
                    <a:cubicBezTo>
                      <a:pt x="47292" y="29933"/>
                      <a:pt x="76331" y="19684"/>
                      <a:pt x="98579" y="0"/>
                    </a:cubicBezTo>
                    <a:cubicBezTo>
                      <a:pt x="120828" y="19684"/>
                      <a:pt x="149867" y="29933"/>
                      <a:pt x="179542" y="28575"/>
                    </a:cubicBezTo>
                    <a:cubicBezTo>
                      <a:pt x="186006" y="50569"/>
                      <a:pt x="185708" y="73999"/>
                      <a:pt x="178685" y="95822"/>
                    </a:cubicBezTo>
                  </a:path>
                </a:pathLst>
              </a:custGeom>
              <a:noFill/>
              <a:ln w="19050">
                <a:solidFill>
                  <a:schemeClr val="accent2"/>
                </a:solidFill>
              </a:ln>
            </p:spPr>
          </p:sp>
          <p:sp>
            <p:nvSpPr>
              <p:cNvPr id="15" name="Freeform 15"/>
              <p:cNvSpPr/>
              <p:nvPr/>
            </p:nvSpPr>
            <p:spPr>
              <a:xfrm>
                <a:off x="1076325" y="3095625"/>
                <a:ext cx="57150" cy="38100"/>
              </a:xfrm>
              <a:custGeom>
                <a:avLst/>
                <a:gdLst/>
                <a:ahLst/>
                <a:cxnLst/>
                <a:rect l="l" t="t" r="r" b="b"/>
                <a:pathLst>
                  <a:path w="57150" h="38100">
                    <a:moveTo>
                      <a:pt x="0" y="19050"/>
                    </a:moveTo>
                    <a:lnTo>
                      <a:pt x="19050" y="38100"/>
                    </a:lnTo>
                    <a:lnTo>
                      <a:pt x="57150" y="0"/>
                    </a:lnTo>
                  </a:path>
                </a:pathLst>
              </a:custGeom>
              <a:noFill/>
              <a:ln w="19050">
                <a:solidFill>
                  <a:schemeClr val="accent2"/>
                </a:solidFill>
              </a:ln>
            </p:spPr>
          </p:sp>
        </p:grpSp>
        <p:sp>
          <p:nvSpPr>
            <p:cNvPr id="17" name="TextBox 17"/>
            <p:cNvSpPr txBox="1"/>
            <p:nvPr/>
          </p:nvSpPr>
          <p:spPr>
            <a:xfrm>
              <a:off x="1251204" y="2975610"/>
              <a:ext cx="971846"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Verified Fix</a:t>
              </a:r>
            </a:p>
          </p:txBody>
        </p:sp>
        <p:sp>
          <p:nvSpPr>
            <p:cNvPr id="18" name="Line 18"/>
            <p:cNvSpPr/>
            <p:nvPr/>
          </p:nvSpPr>
          <p:spPr>
            <a:xfrm>
              <a:off x="2238375" y="3276600"/>
              <a:ext cx="1" cy="171450"/>
            </a:xfrm>
            <a:prstGeom prst="line">
              <a:avLst/>
            </a:prstGeom>
            <a:noFill/>
            <a:ln w="19050">
              <a:solidFill>
                <a:schemeClr val="accent1"/>
              </a:solidFill>
              <a:tailEnd type="triangle" w="lg" len="lg"/>
            </a:ln>
          </p:spPr>
        </p:sp>
        <p:sp>
          <p:nvSpPr>
            <p:cNvPr id="19" name="Rectangle 19"/>
            <p:cNvSpPr/>
            <p:nvPr/>
          </p:nvSpPr>
          <p:spPr>
            <a:xfrm>
              <a:off x="819150" y="3486150"/>
              <a:ext cx="2838450" cy="457200"/>
            </a:xfrm>
            <a:prstGeom prst="roundRect">
              <a:avLst>
                <a:gd name="adj" fmla="val 20833"/>
              </a:avLst>
            </a:prstGeom>
            <a:solidFill>
              <a:schemeClr val="lt2"/>
            </a:solidFill>
            <a:ln w="9525">
              <a:solidFill>
                <a:schemeClr val="accent6"/>
              </a:solidFill>
            </a:ln>
          </p:spPr>
        </p:sp>
        <p:grpSp>
          <p:nvGrpSpPr>
            <p:cNvPr id="23" name="Group 23"/>
            <p:cNvGrpSpPr/>
            <p:nvPr/>
          </p:nvGrpSpPr>
          <p:grpSpPr>
            <a:xfrm>
              <a:off x="981075" y="3638550"/>
              <a:ext cx="133350" cy="152400"/>
              <a:chOff x="981075" y="3638550"/>
              <a:chExt cx="133350" cy="152400"/>
            </a:xfrm>
          </p:grpSpPr>
          <p:sp>
            <p:nvSpPr>
              <p:cNvPr id="20" name="Freeform 20"/>
              <p:cNvSpPr/>
              <p:nvPr/>
            </p:nvSpPr>
            <p:spPr>
              <a:xfrm>
                <a:off x="981075" y="3638550"/>
                <a:ext cx="133350" cy="152400"/>
              </a:xfrm>
              <a:custGeom>
                <a:avLst/>
                <a:gdLst/>
                <a:ahLst/>
                <a:cxnLst/>
                <a:rect l="l" t="t" r="r" b="b"/>
                <a:pathLst>
                  <a:path w="133350" h="152400">
                    <a:moveTo>
                      <a:pt x="133350" y="0"/>
                    </a:moveTo>
                    <a:lnTo>
                      <a:pt x="133350" y="152400"/>
                    </a:lnTo>
                    <a:lnTo>
                      <a:pt x="19050" y="152400"/>
                    </a:lnTo>
                    <a:cubicBezTo>
                      <a:pt x="8529" y="152400"/>
                      <a:pt x="0" y="143871"/>
                      <a:pt x="0" y="133350"/>
                    </a:cubicBezTo>
                    <a:lnTo>
                      <a:pt x="0" y="19050"/>
                    </a:lnTo>
                    <a:cubicBezTo>
                      <a:pt x="0" y="8529"/>
                      <a:pt x="8529" y="0"/>
                      <a:pt x="19050" y="0"/>
                    </a:cubicBezTo>
                    <a:lnTo>
                      <a:pt x="133350" y="0"/>
                    </a:lnTo>
                  </a:path>
                </a:pathLst>
              </a:custGeom>
              <a:noFill/>
              <a:ln w="19050">
                <a:solidFill>
                  <a:schemeClr val="accent1"/>
                </a:solidFill>
              </a:ln>
            </p:spPr>
          </p:sp>
          <p:sp>
            <p:nvSpPr>
              <p:cNvPr id="21" name="Freeform 21"/>
              <p:cNvSpPr/>
              <p:nvPr/>
            </p:nvSpPr>
            <p:spPr>
              <a:xfrm>
                <a:off x="981075" y="3752850"/>
                <a:ext cx="133350" cy="19050"/>
              </a:xfrm>
              <a:custGeom>
                <a:avLst/>
                <a:gdLst/>
                <a:ahLst/>
                <a:cxnLst/>
                <a:rect l="l" t="t" r="r" b="b"/>
                <a:pathLst>
                  <a:path w="133350" h="19050">
                    <a:moveTo>
                      <a:pt x="133350" y="0"/>
                    </a:moveTo>
                    <a:lnTo>
                      <a:pt x="19050" y="0"/>
                    </a:lnTo>
                    <a:cubicBezTo>
                      <a:pt x="8529" y="0"/>
                      <a:pt x="0" y="8529"/>
                      <a:pt x="0" y="19050"/>
                    </a:cubicBezTo>
                  </a:path>
                </a:pathLst>
              </a:custGeom>
              <a:noFill/>
              <a:ln w="19050">
                <a:solidFill>
                  <a:schemeClr val="accent1"/>
                </a:solidFill>
              </a:ln>
            </p:spPr>
          </p:sp>
          <p:sp>
            <p:nvSpPr>
              <p:cNvPr id="22" name="Freeform 22"/>
              <p:cNvSpPr/>
              <p:nvPr/>
            </p:nvSpPr>
            <p:spPr>
              <a:xfrm>
                <a:off x="1019175" y="3676650"/>
                <a:ext cx="57150" cy="9525"/>
              </a:xfrm>
              <a:custGeom>
                <a:avLst/>
                <a:gdLst/>
                <a:ahLst/>
                <a:cxnLst/>
                <a:rect l="l" t="t" r="r" b="b"/>
                <a:pathLst>
                  <a:path w="57150" h="9525">
                    <a:moveTo>
                      <a:pt x="0" y="0"/>
                    </a:moveTo>
                    <a:lnTo>
                      <a:pt x="57150" y="0"/>
                    </a:lnTo>
                  </a:path>
                </a:pathLst>
              </a:custGeom>
              <a:noFill/>
              <a:ln w="19050">
                <a:solidFill>
                  <a:schemeClr val="accent1"/>
                </a:solidFill>
              </a:ln>
            </p:spPr>
          </p:sp>
        </p:grpSp>
        <p:sp>
          <p:nvSpPr>
            <p:cNvPr id="24" name="TextBox 24"/>
            <p:cNvSpPr txBox="1"/>
            <p:nvPr/>
          </p:nvSpPr>
          <p:spPr>
            <a:xfrm>
              <a:off x="1251204" y="3642360"/>
              <a:ext cx="2271405"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Synthesized as Master SOP</a:t>
              </a:r>
            </a:p>
          </p:txBody>
        </p:sp>
        <p:sp>
          <p:nvSpPr>
            <p:cNvPr id="25" name="Line 25"/>
            <p:cNvSpPr/>
            <p:nvPr/>
          </p:nvSpPr>
          <p:spPr>
            <a:xfrm>
              <a:off x="2238375" y="3943350"/>
              <a:ext cx="1" cy="171450"/>
            </a:xfrm>
            <a:prstGeom prst="line">
              <a:avLst/>
            </a:prstGeom>
            <a:noFill/>
            <a:ln w="19050">
              <a:solidFill>
                <a:schemeClr val="accent1"/>
              </a:solidFill>
              <a:tailEnd type="triangle" w="lg" len="lg"/>
            </a:ln>
          </p:spPr>
        </p:sp>
        <p:sp>
          <p:nvSpPr>
            <p:cNvPr id="26" name="Rectangle 26"/>
            <p:cNvSpPr/>
            <p:nvPr/>
          </p:nvSpPr>
          <p:spPr>
            <a:xfrm>
              <a:off x="819150" y="4152900"/>
              <a:ext cx="2838450" cy="457200"/>
            </a:xfrm>
            <a:prstGeom prst="roundRect">
              <a:avLst>
                <a:gd name="adj" fmla="val 20833"/>
              </a:avLst>
            </a:prstGeom>
            <a:solidFill>
              <a:schemeClr val="lt2"/>
            </a:solidFill>
            <a:ln w="9525">
              <a:solidFill>
                <a:schemeClr val="accent6"/>
              </a:solidFill>
            </a:ln>
          </p:spPr>
        </p:sp>
        <p:grpSp>
          <p:nvGrpSpPr>
            <p:cNvPr id="30" name="Group 30"/>
            <p:cNvGrpSpPr/>
            <p:nvPr/>
          </p:nvGrpSpPr>
          <p:grpSpPr>
            <a:xfrm>
              <a:off x="971550" y="4295775"/>
              <a:ext cx="152400" cy="171450"/>
              <a:chOff x="971550" y="4295775"/>
              <a:chExt cx="152400" cy="171450"/>
            </a:xfrm>
          </p:grpSpPr>
          <p:sp>
            <p:nvSpPr>
              <p:cNvPr id="27" name="Freeform 27"/>
              <p:cNvSpPr/>
              <p:nvPr/>
            </p:nvSpPr>
            <p:spPr>
              <a:xfrm>
                <a:off x="971550" y="4295775"/>
                <a:ext cx="152400" cy="57150"/>
              </a:xfrm>
              <a:custGeom>
                <a:avLst/>
                <a:gdLst/>
                <a:ahLst/>
                <a:cxnLst/>
                <a:rect l="l" t="t" r="r" b="b"/>
                <a:pathLst>
                  <a:path w="152400" h="57150">
                    <a:moveTo>
                      <a:pt x="0" y="28575"/>
                    </a:moveTo>
                    <a:cubicBezTo>
                      <a:pt x="0" y="44357"/>
                      <a:pt x="34116" y="57150"/>
                      <a:pt x="76200" y="57150"/>
                    </a:cubicBezTo>
                    <a:cubicBezTo>
                      <a:pt x="118284" y="57150"/>
                      <a:pt x="152400" y="44357"/>
                      <a:pt x="152400" y="28575"/>
                    </a:cubicBezTo>
                    <a:cubicBezTo>
                      <a:pt x="152400" y="12793"/>
                      <a:pt x="118284" y="0"/>
                      <a:pt x="76200" y="0"/>
                    </a:cubicBezTo>
                    <a:cubicBezTo>
                      <a:pt x="34116" y="0"/>
                      <a:pt x="0" y="12793"/>
                      <a:pt x="0" y="28575"/>
                    </a:cubicBezTo>
                  </a:path>
                </a:pathLst>
              </a:custGeom>
              <a:noFill/>
              <a:ln w="19050">
                <a:solidFill>
                  <a:schemeClr val="accent1"/>
                </a:solidFill>
              </a:ln>
            </p:spPr>
          </p:sp>
          <p:sp>
            <p:nvSpPr>
              <p:cNvPr id="28" name="Freeform 28"/>
              <p:cNvSpPr/>
              <p:nvPr/>
            </p:nvSpPr>
            <p:spPr>
              <a:xfrm>
                <a:off x="971550" y="4324350"/>
                <a:ext cx="152400" cy="85725"/>
              </a:xfrm>
              <a:custGeom>
                <a:avLst/>
                <a:gdLst/>
                <a:ahLst/>
                <a:cxnLst/>
                <a:rect l="l" t="t" r="r" b="b"/>
                <a:pathLst>
                  <a:path w="152400" h="85725">
                    <a:moveTo>
                      <a:pt x="0" y="0"/>
                    </a:moveTo>
                    <a:lnTo>
                      <a:pt x="0" y="57150"/>
                    </a:lnTo>
                    <a:cubicBezTo>
                      <a:pt x="0" y="72932"/>
                      <a:pt x="34116" y="85725"/>
                      <a:pt x="76200" y="85725"/>
                    </a:cubicBezTo>
                    <a:cubicBezTo>
                      <a:pt x="118284" y="85725"/>
                      <a:pt x="152400" y="72932"/>
                      <a:pt x="152400" y="57150"/>
                    </a:cubicBezTo>
                    <a:lnTo>
                      <a:pt x="152400" y="0"/>
                    </a:lnTo>
                  </a:path>
                </a:pathLst>
              </a:custGeom>
              <a:noFill/>
              <a:ln w="19050">
                <a:solidFill>
                  <a:schemeClr val="accent1"/>
                </a:solidFill>
              </a:ln>
            </p:spPr>
          </p:sp>
          <p:sp>
            <p:nvSpPr>
              <p:cNvPr id="29" name="Freeform 29"/>
              <p:cNvSpPr/>
              <p:nvPr/>
            </p:nvSpPr>
            <p:spPr>
              <a:xfrm>
                <a:off x="971550" y="4381500"/>
                <a:ext cx="152400" cy="85725"/>
              </a:xfrm>
              <a:custGeom>
                <a:avLst/>
                <a:gdLst/>
                <a:ahLst/>
                <a:cxnLst/>
                <a:rect l="l" t="t" r="r" b="b"/>
                <a:pathLst>
                  <a:path w="152400" h="85725">
                    <a:moveTo>
                      <a:pt x="0" y="0"/>
                    </a:moveTo>
                    <a:lnTo>
                      <a:pt x="0" y="57150"/>
                    </a:lnTo>
                    <a:cubicBezTo>
                      <a:pt x="0" y="72932"/>
                      <a:pt x="34116" y="85725"/>
                      <a:pt x="76200" y="85725"/>
                    </a:cubicBezTo>
                    <a:cubicBezTo>
                      <a:pt x="118284" y="85725"/>
                      <a:pt x="152400" y="72932"/>
                      <a:pt x="152400" y="57150"/>
                    </a:cubicBezTo>
                    <a:lnTo>
                      <a:pt x="152400" y="0"/>
                    </a:lnTo>
                  </a:path>
                </a:pathLst>
              </a:custGeom>
              <a:noFill/>
              <a:ln w="19050">
                <a:solidFill>
                  <a:schemeClr val="accent1"/>
                </a:solidFill>
              </a:ln>
            </p:spPr>
          </p:sp>
        </p:grpSp>
        <p:sp>
          <p:nvSpPr>
            <p:cNvPr id="31" name="TextBox 31"/>
            <p:cNvSpPr txBox="1"/>
            <p:nvPr/>
          </p:nvSpPr>
          <p:spPr>
            <a:xfrm>
              <a:off x="1251204" y="4309110"/>
              <a:ext cx="1670837"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Indexed in ChromaDB</a:t>
              </a:r>
            </a:p>
          </p:txBody>
        </p:sp>
        <p:grpSp>
          <p:nvGrpSpPr>
            <p:cNvPr id="37" name="Group 37"/>
            <p:cNvGrpSpPr/>
            <p:nvPr/>
          </p:nvGrpSpPr>
          <p:grpSpPr>
            <a:xfrm>
              <a:off x="852488" y="4852988"/>
              <a:ext cx="2729191" cy="497490"/>
              <a:chOff x="852488" y="4852988"/>
              <a:chExt cx="2729191" cy="497490"/>
            </a:xfrm>
          </p:grpSpPr>
          <p:grpSp>
            <p:nvGrpSpPr>
              <p:cNvPr id="35" name="Group 35"/>
              <p:cNvGrpSpPr/>
              <p:nvPr/>
            </p:nvGrpSpPr>
            <p:grpSpPr>
              <a:xfrm>
                <a:off x="852488" y="4852988"/>
                <a:ext cx="200025" cy="200025"/>
                <a:chOff x="852488" y="4852988"/>
                <a:chExt cx="200025" cy="200025"/>
              </a:xfrm>
            </p:grpSpPr>
            <p:sp>
              <p:nvSpPr>
                <p:cNvPr id="32" name="Freeform 32"/>
                <p:cNvSpPr/>
                <p:nvPr/>
              </p:nvSpPr>
              <p:spPr>
                <a:xfrm>
                  <a:off x="852488" y="5008563"/>
                  <a:ext cx="44450" cy="44450"/>
                </a:xfrm>
                <a:custGeom>
                  <a:avLst/>
                  <a:gdLst/>
                  <a:ahLst/>
                  <a:cxnLst/>
                  <a:rect l="l" t="t" r="r" b="b"/>
                  <a:pathLst>
                    <a:path w="44450" h="44450">
                      <a:moveTo>
                        <a:pt x="0" y="22225"/>
                      </a:moveTo>
                      <a:cubicBezTo>
                        <a:pt x="0" y="34500"/>
                        <a:pt x="9950" y="44450"/>
                        <a:pt x="22225" y="44450"/>
                      </a:cubicBezTo>
                      <a:cubicBezTo>
                        <a:pt x="34500" y="44450"/>
                        <a:pt x="44450" y="34500"/>
                        <a:pt x="44450" y="22225"/>
                      </a:cubicBezTo>
                      <a:cubicBezTo>
                        <a:pt x="44450" y="9950"/>
                        <a:pt x="34500" y="0"/>
                        <a:pt x="22225" y="0"/>
                      </a:cubicBezTo>
                      <a:cubicBezTo>
                        <a:pt x="9950" y="0"/>
                        <a:pt x="0" y="9950"/>
                        <a:pt x="0" y="22225"/>
                      </a:cubicBezTo>
                    </a:path>
                  </a:pathLst>
                </a:custGeom>
                <a:noFill/>
                <a:ln w="22225">
                  <a:solidFill>
                    <a:schemeClr val="accent3"/>
                  </a:solidFill>
                </a:ln>
              </p:spPr>
            </p:sp>
            <p:sp>
              <p:nvSpPr>
                <p:cNvPr id="33" name="Freeform 33"/>
                <p:cNvSpPr/>
                <p:nvPr/>
              </p:nvSpPr>
              <p:spPr>
                <a:xfrm>
                  <a:off x="1008063" y="4852988"/>
                  <a:ext cx="44450" cy="44450"/>
                </a:xfrm>
                <a:custGeom>
                  <a:avLst/>
                  <a:gdLst/>
                  <a:ahLst/>
                  <a:cxnLst/>
                  <a:rect l="l" t="t" r="r" b="b"/>
                  <a:pathLst>
                    <a:path w="44450" h="44450">
                      <a:moveTo>
                        <a:pt x="22225" y="44450"/>
                      </a:moveTo>
                      <a:cubicBezTo>
                        <a:pt x="34500" y="44450"/>
                        <a:pt x="44450" y="34500"/>
                        <a:pt x="44450" y="22225"/>
                      </a:cubicBezTo>
                      <a:cubicBezTo>
                        <a:pt x="44450" y="9950"/>
                        <a:pt x="34500" y="0"/>
                        <a:pt x="22225" y="0"/>
                      </a:cubicBezTo>
                      <a:cubicBezTo>
                        <a:pt x="9950" y="0"/>
                        <a:pt x="0" y="9950"/>
                        <a:pt x="0" y="22225"/>
                      </a:cubicBezTo>
                      <a:cubicBezTo>
                        <a:pt x="0" y="34500"/>
                        <a:pt x="9950" y="44450"/>
                        <a:pt x="22225" y="44450"/>
                      </a:cubicBezTo>
                    </a:path>
                  </a:pathLst>
                </a:custGeom>
                <a:noFill/>
                <a:ln w="22225">
                  <a:solidFill>
                    <a:schemeClr val="accent3"/>
                  </a:solidFill>
                </a:ln>
              </p:spPr>
            </p:sp>
            <p:sp>
              <p:nvSpPr>
                <p:cNvPr id="34" name="Freeform 34"/>
                <p:cNvSpPr/>
                <p:nvPr/>
              </p:nvSpPr>
              <p:spPr>
                <a:xfrm>
                  <a:off x="874713" y="4875213"/>
                  <a:ext cx="166688" cy="155575"/>
                </a:xfrm>
                <a:custGeom>
                  <a:avLst/>
                  <a:gdLst/>
                  <a:ahLst/>
                  <a:cxnLst/>
                  <a:rect l="l" t="t" r="r" b="b"/>
                  <a:pathLst>
                    <a:path w="166688" h="155575">
                      <a:moveTo>
                        <a:pt x="66675" y="155575"/>
                      </a:moveTo>
                      <a:lnTo>
                        <a:pt x="127794" y="155575"/>
                      </a:lnTo>
                      <a:cubicBezTo>
                        <a:pt x="149275" y="155575"/>
                        <a:pt x="166688" y="138162"/>
                        <a:pt x="166688" y="116682"/>
                      </a:cubicBezTo>
                      <a:cubicBezTo>
                        <a:pt x="166688" y="95201"/>
                        <a:pt x="149275" y="77788"/>
                        <a:pt x="127794" y="77788"/>
                      </a:cubicBezTo>
                      <a:lnTo>
                        <a:pt x="38894" y="77788"/>
                      </a:lnTo>
                      <a:cubicBezTo>
                        <a:pt x="17413" y="77788"/>
                        <a:pt x="0" y="60374"/>
                        <a:pt x="0" y="38894"/>
                      </a:cubicBezTo>
                      <a:cubicBezTo>
                        <a:pt x="0" y="17413"/>
                        <a:pt x="17413" y="0"/>
                        <a:pt x="38894" y="0"/>
                      </a:cubicBezTo>
                      <a:lnTo>
                        <a:pt x="88900" y="0"/>
                      </a:lnTo>
                    </a:path>
                  </a:pathLst>
                </a:custGeom>
                <a:noFill/>
                <a:ln w="22225">
                  <a:solidFill>
                    <a:schemeClr val="accent3"/>
                  </a:solidFill>
                </a:ln>
              </p:spPr>
            </p:sp>
          </p:grpSp>
          <p:sp>
            <p:nvSpPr>
              <p:cNvPr id="36" name="TextBox 36"/>
              <p:cNvSpPr txBox="1"/>
              <p:nvPr/>
            </p:nvSpPr>
            <p:spPr>
              <a:xfrm>
                <a:off x="1174623" y="4872514"/>
                <a:ext cx="2407056" cy="477964"/>
              </a:xfrm>
              <a:prstGeom prst="rect">
                <a:avLst/>
              </a:prstGeom>
              <a:noFill/>
              <a:ln>
                <a:noFill/>
              </a:ln>
            </p:spPr>
            <p:txBody>
              <a:bodyPr wrap="none" lIns="0" tIns="0" rIns="0" bIns="0" anchor="t" anchorCtr="0">
                <a:spAutoFit/>
              </a:bodyPr>
              <a:lstStyle/>
              <a:p>
                <a:pPr algn="l">
                  <a:lnSpc>
                    <a:spcPts val="1800"/>
                  </a:lnSpc>
                </a:pPr>
                <a:r>
                  <a:rPr lang="en" sz="1280" dirty="0">
                    <a:solidFill>
                      <a:schemeClr val="dk1"/>
                    </a:solidFill>
                    <a:latin typeface="+mn-lt"/>
                    <a:ea typeface="+mn-ea"/>
                    <a:cs typeface="+mn-cs"/>
                  </a:rPr>
                  <a:t>Next matching incident</a:t>
                </a:r>
                <a:br/>
                <a:r>
                  <a:rPr lang="en" sz="1280" dirty="0">
                    <a:solidFill>
                      <a:schemeClr val="dk1"/>
                    </a:solidFill>
                    <a:latin typeface="+mn-lt"/>
                    <a:ea typeface="+mn-ea"/>
                    <a:cs typeface="+mn-cs"/>
                  </a:rPr>
                  <a:t xml:space="preserve">becomes an </a:t>
                </a:r>
                <a:r>
                  <a:rPr lang="en" sz="1280" b="1" dirty="0">
                    <a:solidFill>
                      <a:schemeClr val="accent3"/>
                    </a:solidFill>
                    <a:latin typeface="+mn-lt"/>
                    <a:ea typeface="+mn-ea"/>
                    <a:cs typeface="+mn-cs"/>
                  </a:rPr>
                  <a:t>automatic RAG hit</a:t>
                </a:r>
              </a:p>
            </p:txBody>
          </p:sp>
        </p:grpSp>
        <p:grpSp>
          <p:nvGrpSpPr>
            <p:cNvPr id="42" name="Group 42"/>
            <p:cNvGrpSpPr/>
            <p:nvPr/>
          </p:nvGrpSpPr>
          <p:grpSpPr>
            <a:xfrm>
              <a:off x="852488" y="5557838"/>
              <a:ext cx="2277681" cy="497490"/>
              <a:chOff x="852488" y="5557838"/>
              <a:chExt cx="2277681" cy="497490"/>
            </a:xfrm>
          </p:grpSpPr>
          <p:grpSp>
            <p:nvGrpSpPr>
              <p:cNvPr id="40" name="Group 40"/>
              <p:cNvGrpSpPr/>
              <p:nvPr/>
            </p:nvGrpSpPr>
            <p:grpSpPr>
              <a:xfrm>
                <a:off x="852488" y="5557838"/>
                <a:ext cx="200025" cy="200025"/>
                <a:chOff x="852488" y="5557838"/>
                <a:chExt cx="200025" cy="200025"/>
              </a:xfrm>
            </p:grpSpPr>
            <p:sp>
              <p:nvSpPr>
                <p:cNvPr id="38" name="Freeform 38"/>
                <p:cNvSpPr/>
                <p:nvPr/>
              </p:nvSpPr>
              <p:spPr>
                <a:xfrm>
                  <a:off x="852488" y="5557838"/>
                  <a:ext cx="155575" cy="155575"/>
                </a:xfrm>
                <a:custGeom>
                  <a:avLst/>
                  <a:gdLst/>
                  <a:ahLst/>
                  <a:cxnLst/>
                  <a:rect l="l" t="t" r="r" b="b"/>
                  <a:pathLst>
                    <a:path w="155575" h="155575">
                      <a:moveTo>
                        <a:pt x="0" y="77788"/>
                      </a:moveTo>
                      <a:cubicBezTo>
                        <a:pt x="0" y="120749"/>
                        <a:pt x="34827" y="155575"/>
                        <a:pt x="77788" y="155575"/>
                      </a:cubicBezTo>
                      <a:cubicBezTo>
                        <a:pt x="120749" y="155575"/>
                        <a:pt x="155575" y="120749"/>
                        <a:pt x="155575" y="77788"/>
                      </a:cubicBezTo>
                      <a:cubicBezTo>
                        <a:pt x="155575" y="34827"/>
                        <a:pt x="120749" y="0"/>
                        <a:pt x="77788" y="0"/>
                      </a:cubicBezTo>
                      <a:cubicBezTo>
                        <a:pt x="34827" y="0"/>
                        <a:pt x="0" y="34827"/>
                        <a:pt x="0" y="77788"/>
                      </a:cubicBezTo>
                    </a:path>
                  </a:pathLst>
                </a:custGeom>
                <a:noFill/>
                <a:ln w="22225">
                  <a:solidFill>
                    <a:srgbClr val="94A3B8"/>
                  </a:solidFill>
                </a:ln>
              </p:spPr>
            </p:sp>
            <p:sp>
              <p:nvSpPr>
                <p:cNvPr id="39" name="Freeform 39"/>
                <p:cNvSpPr/>
                <p:nvPr/>
              </p:nvSpPr>
              <p:spPr>
                <a:xfrm>
                  <a:off x="985838" y="5691188"/>
                  <a:ext cx="66675" cy="66675"/>
                </a:xfrm>
                <a:custGeom>
                  <a:avLst/>
                  <a:gdLst/>
                  <a:ahLst/>
                  <a:cxnLst/>
                  <a:rect l="l" t="t" r="r" b="b"/>
                  <a:pathLst>
                    <a:path w="66675" h="66675">
                      <a:moveTo>
                        <a:pt x="66675" y="66675"/>
                      </a:moveTo>
                      <a:lnTo>
                        <a:pt x="0" y="0"/>
                      </a:lnTo>
                    </a:path>
                  </a:pathLst>
                </a:custGeom>
                <a:noFill/>
                <a:ln w="22225">
                  <a:solidFill>
                    <a:srgbClr val="94A3B8"/>
                  </a:solidFill>
                </a:ln>
              </p:spPr>
            </p:sp>
          </p:grpSp>
          <p:sp>
            <p:nvSpPr>
              <p:cNvPr id="41" name="TextBox 41"/>
              <p:cNvSpPr txBox="1"/>
              <p:nvPr/>
            </p:nvSpPr>
            <p:spPr>
              <a:xfrm>
                <a:off x="1174623" y="5577364"/>
                <a:ext cx="1955546" cy="477964"/>
              </a:xfrm>
              <a:prstGeom prst="rect">
                <a:avLst/>
              </a:prstGeom>
              <a:noFill/>
              <a:ln>
                <a:noFill/>
              </a:ln>
            </p:spPr>
            <p:txBody>
              <a:bodyPr wrap="none" lIns="0" tIns="0" rIns="0" bIns="0" anchor="t" anchorCtr="0">
                <a:spAutoFit/>
              </a:bodyPr>
              <a:lstStyle/>
              <a:p>
                <a:pPr algn="l">
                  <a:lnSpc>
                    <a:spcPts val="1800"/>
                  </a:lnSpc>
                </a:pPr>
                <a:r>
                  <a:rPr lang="en" sz="1280" dirty="0">
                    <a:solidFill>
                      <a:schemeClr val="dk1"/>
                    </a:solidFill>
                    <a:latin typeface="+mn-lt"/>
                    <a:ea typeface="+mn-ea"/>
                    <a:cs typeface="+mn-cs"/>
                  </a:rPr>
                  <a:t>Built from real, verified</a:t>
                </a:r>
                <a:br/>
                <a:r>
                  <a:rPr lang="en" sz="1280" dirty="0">
                    <a:solidFill>
                      <a:schemeClr val="dk1"/>
                    </a:solidFill>
                    <a:latin typeface="+mn-lt"/>
                    <a:ea typeface="+mn-ea"/>
                    <a:cs typeface="+mn-cs"/>
                  </a:rPr>
                  <a:t>fixes — never guesses</a:t>
                </a:r>
              </a:p>
            </p:txBody>
          </p:sp>
        </p:grpSp>
      </p:grpSp>
      <p:grpSp>
        <p:nvGrpSpPr>
          <p:cNvPr id="47" name="Group 47"/>
          <p:cNvGrpSpPr/>
          <p:nvPr/>
        </p:nvGrpSpPr>
        <p:grpSpPr>
          <a:xfrm>
            <a:off x="4038600" y="2247900"/>
            <a:ext cx="7543800" cy="4000500"/>
            <a:chOff x="4038600" y="2247900"/>
            <a:chExt cx="7543800" cy="4000500"/>
          </a:xfrm>
        </p:grpSpPr>
        <p:sp>
          <p:nvSpPr>
            <p:cNvPr id="44" name="Rectangle 44"/>
            <p:cNvSpPr/>
            <p:nvPr/>
          </p:nvSpPr>
          <p:spPr>
            <a:xfrm>
              <a:off x="4038600" y="2247900"/>
              <a:ext cx="7543800" cy="4000500"/>
            </a:xfrm>
            <a:prstGeom prst="roundRect">
              <a:avLst>
                <a:gd name="adj" fmla="val 3810"/>
              </a:avLst>
            </a:prstGeom>
            <a:solidFill>
              <a:schemeClr val="lt2"/>
            </a:solidFill>
            <a:ln w="9525">
              <a:solidFill>
                <a:schemeClr val="accent6"/>
              </a:solidFill>
            </a:ln>
            <a:effectLst>
              <a:outerShdw blurRad="228600" dist="57150" dir="5400000" algn="ctr" rotWithShape="0">
                <a:srgbClr val="000000">
                  <a:alpha val="33750"/>
                </a:srgbClr>
              </a:outerShdw>
            </a:effectLst>
          </p:spPr>
        </p:sp>
        <p:pic>
          <p:nvPicPr>
            <p:cNvPr id="45" name="Image 45"/>
            <p:cNvPicPr>
              <a:picLocks noChangeAspect="1"/>
            </p:cNvPicPr>
            <p:nvPr/>
          </p:nvPicPr>
          <p:blipFill>
            <a:blip r:embed="rId2"/>
            <a:stretch>
              <a:fillRect/>
            </a:stretch>
          </p:blipFill>
          <p:spPr>
            <a:xfrm>
              <a:off x="4660900" y="2476500"/>
              <a:ext cx="6299200" cy="3543300"/>
            </a:xfrm>
            <a:prstGeom prst="rect">
              <a:avLst/>
            </a:prstGeom>
          </p:spPr>
        </p:pic>
        <p:sp>
          <p:nvSpPr>
            <p:cNvPr id="46" name="TextBox 46"/>
            <p:cNvSpPr txBox="1"/>
            <p:nvPr/>
          </p:nvSpPr>
          <p:spPr>
            <a:xfrm>
              <a:off x="9015984" y="6004560"/>
              <a:ext cx="2343912"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Consolas"/>
                  <a:ea typeface="Consolas"/>
                  <a:cs typeface="Consolas"/>
                </a:rPr>
                <a:t>Knowledge base — live capture</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345332"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04 · TRUST &amp; GOVERNANCE</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P15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6798584" cy="883729"/>
            <a:chOff x="590550" y="1223010"/>
            <a:chExt cx="6798584" cy="883729"/>
          </a:xfrm>
        </p:grpSpPr>
        <p:sp>
          <p:nvSpPr>
            <p:cNvPr id="7" name="TextBox 7"/>
            <p:cNvSpPr txBox="1"/>
            <p:nvPr/>
          </p:nvSpPr>
          <p:spPr>
            <a:xfrm>
              <a:off x="590550" y="1223010"/>
              <a:ext cx="6600160"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Autonomy With a Leash</a:t>
              </a:r>
            </a:p>
          </p:txBody>
        </p:sp>
        <p:sp>
          <p:nvSpPr>
            <p:cNvPr id="8" name="TextBox 8"/>
            <p:cNvSpPr txBox="1"/>
            <p:nvPr/>
          </p:nvSpPr>
          <p:spPr>
            <a:xfrm>
              <a:off x="601218" y="1784032"/>
              <a:ext cx="6787916"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Every autonomous action stays inside a hard safety boundary.</a:t>
              </a:r>
            </a:p>
          </p:txBody>
        </p:sp>
      </p:grpSp>
      <p:grpSp>
        <p:nvGrpSpPr>
          <p:cNvPr id="13" name="Group 13"/>
          <p:cNvGrpSpPr/>
          <p:nvPr/>
        </p:nvGrpSpPr>
        <p:grpSpPr>
          <a:xfrm>
            <a:off x="609600" y="2247900"/>
            <a:ext cx="7543800" cy="4000500"/>
            <a:chOff x="609600" y="2247900"/>
            <a:chExt cx="7543800" cy="4000500"/>
          </a:xfrm>
        </p:grpSpPr>
        <p:sp>
          <p:nvSpPr>
            <p:cNvPr id="10" name="Rectangle 10"/>
            <p:cNvSpPr/>
            <p:nvPr/>
          </p:nvSpPr>
          <p:spPr>
            <a:xfrm>
              <a:off x="609600" y="2247900"/>
              <a:ext cx="7543800" cy="4000500"/>
            </a:xfrm>
            <a:prstGeom prst="roundRect">
              <a:avLst>
                <a:gd name="adj" fmla="val 3810"/>
              </a:avLst>
            </a:prstGeom>
            <a:solidFill>
              <a:schemeClr val="lt2"/>
            </a:solidFill>
            <a:ln w="9525">
              <a:solidFill>
                <a:schemeClr val="accent6"/>
              </a:solidFill>
            </a:ln>
            <a:effectLst>
              <a:outerShdw blurRad="228600" dist="57150" dir="5400000" algn="ctr" rotWithShape="0">
                <a:srgbClr val="000000">
                  <a:alpha val="33750"/>
                </a:srgbClr>
              </a:outerShdw>
            </a:effectLst>
          </p:spPr>
        </p:sp>
        <p:pic>
          <p:nvPicPr>
            <p:cNvPr id="11" name="Image 11"/>
            <p:cNvPicPr>
              <a:picLocks noChangeAspect="1"/>
            </p:cNvPicPr>
            <p:nvPr/>
          </p:nvPicPr>
          <p:blipFill>
            <a:blip r:embed="rId2"/>
            <a:stretch>
              <a:fillRect/>
            </a:stretch>
          </p:blipFill>
          <p:spPr>
            <a:xfrm>
              <a:off x="1231900" y="2476500"/>
              <a:ext cx="6299200" cy="3543300"/>
            </a:xfrm>
            <a:prstGeom prst="rect">
              <a:avLst/>
            </a:prstGeom>
          </p:spPr>
        </p:pic>
        <p:sp>
          <p:nvSpPr>
            <p:cNvPr id="12" name="TextBox 12"/>
            <p:cNvSpPr txBox="1"/>
            <p:nvPr/>
          </p:nvSpPr>
          <p:spPr>
            <a:xfrm>
              <a:off x="4771115" y="6004560"/>
              <a:ext cx="3159781"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Consolas"/>
                  <a:ea typeface="Consolas"/>
                  <a:cs typeface="Consolas"/>
                </a:rPr>
                <a:t>Risk &amp; compliance posture — live capture</a:t>
              </a:r>
            </a:p>
          </p:txBody>
        </p:sp>
      </p:grpSp>
      <p:grpSp>
        <p:nvGrpSpPr>
          <p:cNvPr id="39" name="Group 39"/>
          <p:cNvGrpSpPr/>
          <p:nvPr/>
        </p:nvGrpSpPr>
        <p:grpSpPr>
          <a:xfrm>
            <a:off x="8528304" y="2281238"/>
            <a:ext cx="2348188" cy="3710368"/>
            <a:chOff x="8528304" y="2281238"/>
            <a:chExt cx="2348188" cy="3710368"/>
          </a:xfrm>
        </p:grpSpPr>
        <p:grpSp>
          <p:nvGrpSpPr>
            <p:cNvPr id="19" name="Group 19"/>
            <p:cNvGrpSpPr/>
            <p:nvPr/>
          </p:nvGrpSpPr>
          <p:grpSpPr>
            <a:xfrm>
              <a:off x="8528304" y="2281238"/>
              <a:ext cx="2348188" cy="681418"/>
              <a:chOff x="8528304" y="2281238"/>
              <a:chExt cx="2348188" cy="681418"/>
            </a:xfrm>
          </p:grpSpPr>
          <p:grpSp>
            <p:nvGrpSpPr>
              <p:cNvPr id="16" name="Group 16"/>
              <p:cNvGrpSpPr/>
              <p:nvPr/>
            </p:nvGrpSpPr>
            <p:grpSpPr>
              <a:xfrm>
                <a:off x="8552741" y="2281238"/>
                <a:ext cx="217008" cy="200025"/>
                <a:chOff x="8552741" y="2281238"/>
                <a:chExt cx="217008" cy="200025"/>
              </a:xfrm>
            </p:grpSpPr>
            <p:sp>
              <p:nvSpPr>
                <p:cNvPr id="14" name="Freeform 14"/>
                <p:cNvSpPr/>
                <p:nvPr/>
              </p:nvSpPr>
              <p:spPr>
                <a:xfrm>
                  <a:off x="8552741" y="2281238"/>
                  <a:ext cx="217008" cy="198314"/>
                </a:xfrm>
                <a:custGeom>
                  <a:avLst/>
                  <a:gdLst/>
                  <a:ahLst/>
                  <a:cxnLst/>
                  <a:rect l="l" t="t" r="r" b="b"/>
                  <a:pathLst>
                    <a:path w="217008" h="198314">
                      <a:moveTo>
                        <a:pt x="109009" y="198314"/>
                      </a:moveTo>
                      <a:cubicBezTo>
                        <a:pt x="39394" y="176735"/>
                        <a:pt x="0" y="103262"/>
                        <a:pt x="20553" y="33338"/>
                      </a:cubicBezTo>
                      <a:cubicBezTo>
                        <a:pt x="55175" y="34922"/>
                        <a:pt x="89053" y="22965"/>
                        <a:pt x="115010" y="0"/>
                      </a:cubicBezTo>
                      <a:cubicBezTo>
                        <a:pt x="140967" y="22965"/>
                        <a:pt x="174845" y="34922"/>
                        <a:pt x="209466" y="33338"/>
                      </a:cubicBezTo>
                      <a:cubicBezTo>
                        <a:pt x="217008" y="58998"/>
                        <a:pt x="216660" y="86333"/>
                        <a:pt x="208466" y="111792"/>
                      </a:cubicBezTo>
                    </a:path>
                  </a:pathLst>
                </a:custGeom>
                <a:noFill/>
                <a:ln w="22225">
                  <a:solidFill>
                    <a:srgbClr val="F43F5E"/>
                  </a:solidFill>
                </a:ln>
              </p:spPr>
            </p:sp>
            <p:sp>
              <p:nvSpPr>
                <p:cNvPr id="15" name="Freeform 15"/>
                <p:cNvSpPr/>
                <p:nvPr/>
              </p:nvSpPr>
              <p:spPr>
                <a:xfrm>
                  <a:off x="8701088" y="2436813"/>
                  <a:ext cx="66675" cy="44450"/>
                </a:xfrm>
                <a:custGeom>
                  <a:avLst/>
                  <a:gdLst/>
                  <a:ahLst/>
                  <a:cxnLst/>
                  <a:rect l="l" t="t" r="r" b="b"/>
                  <a:pathLst>
                    <a:path w="66675" h="44450">
                      <a:moveTo>
                        <a:pt x="0" y="22225"/>
                      </a:moveTo>
                      <a:lnTo>
                        <a:pt x="22225" y="44450"/>
                      </a:lnTo>
                      <a:lnTo>
                        <a:pt x="66675" y="0"/>
                      </a:lnTo>
                    </a:path>
                  </a:pathLst>
                </a:custGeom>
                <a:noFill/>
                <a:ln w="22225">
                  <a:solidFill>
                    <a:srgbClr val="F43F5E"/>
                  </a:solidFill>
                </a:ln>
              </p:spPr>
            </p:sp>
          </p:grpSp>
          <p:sp>
            <p:nvSpPr>
              <p:cNvPr id="17" name="TextBox 17"/>
              <p:cNvSpPr txBox="1"/>
              <p:nvPr/>
            </p:nvSpPr>
            <p:spPr>
              <a:xfrm>
                <a:off x="8889873" y="2300764"/>
                <a:ext cx="1986619" cy="249364"/>
              </a:xfrm>
              <a:prstGeom prst="rect">
                <a:avLst/>
              </a:prstGeom>
              <a:noFill/>
              <a:ln>
                <a:noFill/>
              </a:ln>
            </p:spPr>
            <p:txBody>
              <a:bodyPr wrap="none" lIns="0" tIns="0" rIns="0" bIns="0" anchor="t" anchorCtr="0">
                <a:spAutoFit/>
              </a:bodyPr>
              <a:lstStyle/>
              <a:p>
                <a:pPr algn="l"/>
                <a:r>
                  <a:rPr lang="en" sz="1280" b="1" dirty="0">
                    <a:solidFill>
                      <a:schemeClr val="dk1"/>
                    </a:solidFill>
                    <a:latin typeface="+mn-lt"/>
                    <a:ea typeface="+mn-ea"/>
                    <a:cs typeface="+mn-cs"/>
                  </a:rPr>
                  <a:t>Catastrophic Blacklist</a:t>
                </a:r>
              </a:p>
            </p:txBody>
          </p:sp>
          <p:sp>
            <p:nvSpPr>
              <p:cNvPr id="18" name="TextBox 18"/>
              <p:cNvSpPr txBox="1"/>
              <p:nvPr/>
            </p:nvSpPr>
            <p:spPr>
              <a:xfrm>
                <a:off x="8528304" y="2537460"/>
                <a:ext cx="203149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 xml:space="preserve">Blocks </a:t>
                </a:r>
                <a:r>
                  <a:rPr lang="en" sz="1200" dirty="0">
                    <a:solidFill>
                      <a:srgbClr val="F43F5E"/>
                    </a:solidFill>
                    <a:latin typeface="Consolas"/>
                    <a:ea typeface="Consolas"/>
                    <a:cs typeface="Consolas"/>
                  </a:rPr>
                  <a:t>rm -rf /</a:t>
                </a:r>
                <a:r>
                  <a:rPr lang="en" sz="1200" dirty="0">
                    <a:solidFill>
                      <a:schemeClr val="accent5"/>
                    </a:solidFill>
                    <a:latin typeface="+mn-lt"/>
                    <a:ea typeface="+mn-ea"/>
                    <a:cs typeface="+mn-cs"/>
                  </a:rPr>
                  <a:t>, mkfs,</a:t>
                </a:r>
                <a:br/>
                <a:r>
                  <a:rPr lang="en" sz="1200" dirty="0">
                    <a:solidFill>
                      <a:schemeClr val="accent5"/>
                    </a:solidFill>
                    <a:latin typeface="+mn-lt"/>
                    <a:ea typeface="+mn-ea"/>
                    <a:cs typeface="+mn-cs"/>
                  </a:rPr>
                  <a:t>dd if=, fork bombs, reboot</a:t>
                </a:r>
              </a:p>
            </p:txBody>
          </p:sp>
        </p:grpSp>
        <p:grpSp>
          <p:nvGrpSpPr>
            <p:cNvPr id="26" name="Group 26"/>
            <p:cNvGrpSpPr/>
            <p:nvPr/>
          </p:nvGrpSpPr>
          <p:grpSpPr>
            <a:xfrm>
              <a:off x="8528304" y="3302000"/>
              <a:ext cx="2283071" cy="670306"/>
              <a:chOff x="8528304" y="3302000"/>
              <a:chExt cx="2283071" cy="670306"/>
            </a:xfrm>
          </p:grpSpPr>
          <p:grpSp>
            <p:nvGrpSpPr>
              <p:cNvPr id="23" name="Group 23"/>
              <p:cNvGrpSpPr/>
              <p:nvPr/>
            </p:nvGrpSpPr>
            <p:grpSpPr>
              <a:xfrm>
                <a:off x="8567738" y="3302000"/>
                <a:ext cx="200026" cy="177801"/>
                <a:chOff x="8567738" y="3302000"/>
                <a:chExt cx="200026" cy="177801"/>
              </a:xfrm>
            </p:grpSpPr>
            <p:sp>
              <p:nvSpPr>
                <p:cNvPr id="20" name="Freeform 20"/>
                <p:cNvSpPr/>
                <p:nvPr/>
              </p:nvSpPr>
              <p:spPr>
                <a:xfrm>
                  <a:off x="8623300" y="3357563"/>
                  <a:ext cx="33338" cy="66675"/>
                </a:xfrm>
                <a:custGeom>
                  <a:avLst/>
                  <a:gdLst/>
                  <a:ahLst/>
                  <a:cxnLst/>
                  <a:rect l="l" t="t" r="r" b="b"/>
                  <a:pathLst>
                    <a:path w="33338" h="66675">
                      <a:moveTo>
                        <a:pt x="0" y="0"/>
                      </a:moveTo>
                      <a:lnTo>
                        <a:pt x="33338" y="33338"/>
                      </a:lnTo>
                      <a:lnTo>
                        <a:pt x="0" y="66675"/>
                      </a:lnTo>
                    </a:path>
                  </a:pathLst>
                </a:custGeom>
                <a:noFill/>
                <a:ln w="22225">
                  <a:solidFill>
                    <a:schemeClr val="accent3"/>
                  </a:solidFill>
                </a:ln>
              </p:spPr>
            </p:sp>
            <p:sp>
              <p:nvSpPr>
                <p:cNvPr id="21" name="Freeform 21"/>
                <p:cNvSpPr/>
                <p:nvPr/>
              </p:nvSpPr>
              <p:spPr>
                <a:xfrm>
                  <a:off x="8678863" y="3424238"/>
                  <a:ext cx="33338" cy="9525"/>
                </a:xfrm>
                <a:custGeom>
                  <a:avLst/>
                  <a:gdLst/>
                  <a:ahLst/>
                  <a:cxnLst/>
                  <a:rect l="l" t="t" r="r" b="b"/>
                  <a:pathLst>
                    <a:path w="33338" h="9525">
                      <a:moveTo>
                        <a:pt x="0" y="0"/>
                      </a:moveTo>
                      <a:lnTo>
                        <a:pt x="33338" y="0"/>
                      </a:lnTo>
                    </a:path>
                  </a:pathLst>
                </a:custGeom>
                <a:noFill/>
                <a:ln w="22225">
                  <a:solidFill>
                    <a:schemeClr val="accent3"/>
                  </a:solidFill>
                </a:ln>
              </p:spPr>
            </p:sp>
            <p:sp>
              <p:nvSpPr>
                <p:cNvPr id="22" name="Freeform 22"/>
                <p:cNvSpPr/>
                <p:nvPr/>
              </p:nvSpPr>
              <p:spPr>
                <a:xfrm>
                  <a:off x="8567738" y="3302000"/>
                  <a:ext cx="200026" cy="177801"/>
                </a:xfrm>
                <a:custGeom>
                  <a:avLst/>
                  <a:gdLst/>
                  <a:ahLst/>
                  <a:cxnLst/>
                  <a:rect l="l" t="t" r="r" b="b"/>
                  <a:pathLst>
                    <a:path w="200026" h="177801">
                      <a:moveTo>
                        <a:pt x="0" y="22225"/>
                      </a:moveTo>
                      <a:cubicBezTo>
                        <a:pt x="0" y="9950"/>
                        <a:pt x="9950" y="0"/>
                        <a:pt x="22225" y="0"/>
                      </a:cubicBezTo>
                      <a:lnTo>
                        <a:pt x="177801" y="0"/>
                      </a:lnTo>
                      <a:cubicBezTo>
                        <a:pt x="190075" y="0"/>
                        <a:pt x="200026" y="9950"/>
                        <a:pt x="200026" y="22225"/>
                      </a:cubicBezTo>
                      <a:lnTo>
                        <a:pt x="200026" y="155575"/>
                      </a:lnTo>
                      <a:cubicBezTo>
                        <a:pt x="200026" y="167850"/>
                        <a:pt x="190075" y="177801"/>
                        <a:pt x="177801" y="177801"/>
                      </a:cubicBezTo>
                      <a:lnTo>
                        <a:pt x="22225" y="177801"/>
                      </a:lnTo>
                      <a:cubicBezTo>
                        <a:pt x="9950" y="177801"/>
                        <a:pt x="0" y="167850"/>
                        <a:pt x="0" y="155575"/>
                      </a:cubicBezTo>
                      <a:lnTo>
                        <a:pt x="0" y="22225"/>
                      </a:lnTo>
                    </a:path>
                  </a:pathLst>
                </a:custGeom>
                <a:noFill/>
                <a:ln w="22225">
                  <a:solidFill>
                    <a:schemeClr val="accent3"/>
                  </a:solidFill>
                </a:ln>
              </p:spPr>
            </p:sp>
          </p:grpSp>
          <p:sp>
            <p:nvSpPr>
              <p:cNvPr id="24" name="TextBox 24"/>
              <p:cNvSpPr txBox="1"/>
              <p:nvPr/>
            </p:nvSpPr>
            <p:spPr>
              <a:xfrm>
                <a:off x="8889873" y="3310414"/>
                <a:ext cx="1921502" cy="249364"/>
              </a:xfrm>
              <a:prstGeom prst="rect">
                <a:avLst/>
              </a:prstGeom>
              <a:noFill/>
              <a:ln>
                <a:noFill/>
              </a:ln>
            </p:spPr>
            <p:txBody>
              <a:bodyPr wrap="none" lIns="0" tIns="0" rIns="0" bIns="0" anchor="t" anchorCtr="0">
                <a:spAutoFit/>
              </a:bodyPr>
              <a:lstStyle/>
              <a:p>
                <a:pPr algn="l"/>
                <a:r>
                  <a:rPr lang="en" sz="1280" b="1" dirty="0">
                    <a:solidFill>
                      <a:schemeClr val="dk1"/>
                    </a:solidFill>
                    <a:latin typeface="+mn-lt"/>
                    <a:ea typeface="+mn-ea"/>
                    <a:cs typeface="+mn-cs"/>
                  </a:rPr>
                  <a:t>Loop-Aware Validator</a:t>
                </a:r>
              </a:p>
            </p:txBody>
          </p:sp>
          <p:sp>
            <p:nvSpPr>
              <p:cNvPr id="25" name="TextBox 25"/>
              <p:cNvSpPr txBox="1"/>
              <p:nvPr/>
            </p:nvSpPr>
            <p:spPr>
              <a:xfrm>
                <a:off x="8528304" y="3547110"/>
                <a:ext cx="198577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Checks every bash control</a:t>
                </a:r>
                <a:br/>
                <a:r>
                  <a:rPr lang="en" sz="1200" dirty="0">
                    <a:solidFill>
                      <a:schemeClr val="accent5"/>
                    </a:solidFill>
                    <a:latin typeface="+mn-lt"/>
                    <a:ea typeface="+mn-ea"/>
                    <a:cs typeface="+mn-cs"/>
                  </a:rPr>
                  <a:t>structure against the SOP</a:t>
                </a:r>
              </a:p>
            </p:txBody>
          </p:sp>
        </p:grpSp>
        <p:grpSp>
          <p:nvGrpSpPr>
            <p:cNvPr id="32" name="Group 32"/>
            <p:cNvGrpSpPr/>
            <p:nvPr/>
          </p:nvGrpSpPr>
          <p:grpSpPr>
            <a:xfrm>
              <a:off x="8528304" y="4300538"/>
              <a:ext cx="2094512" cy="681418"/>
              <a:chOff x="8528304" y="4300538"/>
              <a:chExt cx="2094512" cy="681418"/>
            </a:xfrm>
          </p:grpSpPr>
          <p:grpSp>
            <p:nvGrpSpPr>
              <p:cNvPr id="29" name="Group 29"/>
              <p:cNvGrpSpPr/>
              <p:nvPr/>
            </p:nvGrpSpPr>
            <p:grpSpPr>
              <a:xfrm>
                <a:off x="8552741" y="4300538"/>
                <a:ext cx="217008" cy="200025"/>
                <a:chOff x="8552741" y="4300538"/>
                <a:chExt cx="217008" cy="200025"/>
              </a:xfrm>
            </p:grpSpPr>
            <p:sp>
              <p:nvSpPr>
                <p:cNvPr id="27" name="Freeform 27"/>
                <p:cNvSpPr/>
                <p:nvPr/>
              </p:nvSpPr>
              <p:spPr>
                <a:xfrm>
                  <a:off x="8552741" y="4300538"/>
                  <a:ext cx="217008" cy="198314"/>
                </a:xfrm>
                <a:custGeom>
                  <a:avLst/>
                  <a:gdLst/>
                  <a:ahLst/>
                  <a:cxnLst/>
                  <a:rect l="l" t="t" r="r" b="b"/>
                  <a:pathLst>
                    <a:path w="217008" h="198314">
                      <a:moveTo>
                        <a:pt x="109009" y="198314"/>
                      </a:moveTo>
                      <a:cubicBezTo>
                        <a:pt x="39394" y="176735"/>
                        <a:pt x="0" y="103262"/>
                        <a:pt x="20553" y="33338"/>
                      </a:cubicBezTo>
                      <a:cubicBezTo>
                        <a:pt x="55175" y="34922"/>
                        <a:pt x="89053" y="22965"/>
                        <a:pt x="115010" y="0"/>
                      </a:cubicBezTo>
                      <a:cubicBezTo>
                        <a:pt x="140967" y="22965"/>
                        <a:pt x="174845" y="34922"/>
                        <a:pt x="209466" y="33338"/>
                      </a:cubicBezTo>
                      <a:cubicBezTo>
                        <a:pt x="217008" y="58998"/>
                        <a:pt x="216660" y="86333"/>
                        <a:pt x="208466" y="111792"/>
                      </a:cubicBezTo>
                    </a:path>
                  </a:pathLst>
                </a:custGeom>
                <a:noFill/>
                <a:ln w="22225">
                  <a:solidFill>
                    <a:schemeClr val="accent2"/>
                  </a:solidFill>
                </a:ln>
              </p:spPr>
            </p:sp>
            <p:sp>
              <p:nvSpPr>
                <p:cNvPr id="28" name="Freeform 28"/>
                <p:cNvSpPr/>
                <p:nvPr/>
              </p:nvSpPr>
              <p:spPr>
                <a:xfrm>
                  <a:off x="8701088" y="4456113"/>
                  <a:ext cx="66675" cy="44450"/>
                </a:xfrm>
                <a:custGeom>
                  <a:avLst/>
                  <a:gdLst/>
                  <a:ahLst/>
                  <a:cxnLst/>
                  <a:rect l="l" t="t" r="r" b="b"/>
                  <a:pathLst>
                    <a:path w="66675" h="44450">
                      <a:moveTo>
                        <a:pt x="0" y="22225"/>
                      </a:moveTo>
                      <a:lnTo>
                        <a:pt x="22225" y="44450"/>
                      </a:lnTo>
                      <a:lnTo>
                        <a:pt x="66675" y="0"/>
                      </a:lnTo>
                    </a:path>
                  </a:pathLst>
                </a:custGeom>
                <a:noFill/>
                <a:ln w="22225">
                  <a:solidFill>
                    <a:schemeClr val="accent2"/>
                  </a:solidFill>
                </a:ln>
              </p:spPr>
            </p:sp>
          </p:grpSp>
          <p:sp>
            <p:nvSpPr>
              <p:cNvPr id="30" name="TextBox 30"/>
              <p:cNvSpPr txBox="1"/>
              <p:nvPr/>
            </p:nvSpPr>
            <p:spPr>
              <a:xfrm>
                <a:off x="8889873" y="4320064"/>
                <a:ext cx="1732943" cy="249364"/>
              </a:xfrm>
              <a:prstGeom prst="rect">
                <a:avLst/>
              </a:prstGeom>
              <a:noFill/>
              <a:ln>
                <a:noFill/>
              </a:ln>
            </p:spPr>
            <p:txBody>
              <a:bodyPr wrap="none" lIns="0" tIns="0" rIns="0" bIns="0" anchor="t" anchorCtr="0">
                <a:spAutoFit/>
              </a:bodyPr>
              <a:lstStyle/>
              <a:p>
                <a:pPr algn="l"/>
                <a:r>
                  <a:rPr lang="en" sz="1280" b="1" dirty="0">
                    <a:solidFill>
                      <a:schemeClr val="dk1"/>
                    </a:solidFill>
                    <a:latin typeface="+mn-lt"/>
                    <a:ea typeface="+mn-ea"/>
                    <a:cs typeface="+mn-cs"/>
                  </a:rPr>
                  <a:t>Proof-of-Fix Guard</a:t>
                </a:r>
              </a:p>
            </p:txBody>
          </p:sp>
          <p:sp>
            <p:nvSpPr>
              <p:cNvPr id="31" name="TextBox 31"/>
              <p:cNvSpPr txBox="1"/>
              <p:nvPr/>
            </p:nvSpPr>
            <p:spPr>
              <a:xfrm>
                <a:off x="8528304" y="4556760"/>
                <a:ext cx="164287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Mandatory — prevents</a:t>
                </a:r>
                <a:br/>
                <a:r>
                  <a:rPr lang="en" sz="1200" dirty="0">
                    <a:solidFill>
                      <a:schemeClr val="accent5"/>
                    </a:solidFill>
                    <a:latin typeface="+mn-lt"/>
                    <a:ea typeface="+mn-ea"/>
                    <a:cs typeface="+mn-cs"/>
                  </a:rPr>
                  <a:t>false resolutions</a:t>
                </a:r>
              </a:p>
            </p:txBody>
          </p:sp>
        </p:grpSp>
        <p:grpSp>
          <p:nvGrpSpPr>
            <p:cNvPr id="38" name="Group 38"/>
            <p:cNvGrpSpPr/>
            <p:nvPr/>
          </p:nvGrpSpPr>
          <p:grpSpPr>
            <a:xfrm>
              <a:off x="8528304" y="5321300"/>
              <a:ext cx="2282132" cy="670306"/>
              <a:chOff x="8528304" y="5321300"/>
              <a:chExt cx="2282132" cy="670306"/>
            </a:xfrm>
          </p:grpSpPr>
          <p:grpSp>
            <p:nvGrpSpPr>
              <p:cNvPr id="35" name="Group 35"/>
              <p:cNvGrpSpPr/>
              <p:nvPr/>
            </p:nvGrpSpPr>
            <p:grpSpPr>
              <a:xfrm>
                <a:off x="8574449" y="5321300"/>
                <a:ext cx="186603" cy="174148"/>
                <a:chOff x="8574449" y="5321300"/>
                <a:chExt cx="186603" cy="174148"/>
              </a:xfrm>
            </p:grpSpPr>
            <p:sp>
              <p:nvSpPr>
                <p:cNvPr id="33" name="Freeform 33"/>
                <p:cNvSpPr/>
                <p:nvPr/>
              </p:nvSpPr>
              <p:spPr>
                <a:xfrm>
                  <a:off x="8574449" y="5343525"/>
                  <a:ext cx="186603" cy="151923"/>
                </a:xfrm>
                <a:custGeom>
                  <a:avLst/>
                  <a:gdLst/>
                  <a:ahLst/>
                  <a:cxnLst/>
                  <a:rect l="l" t="t" r="r" b="b"/>
                  <a:pathLst>
                    <a:path w="186603" h="151923">
                      <a:moveTo>
                        <a:pt x="37739" y="0"/>
                      </a:moveTo>
                      <a:cubicBezTo>
                        <a:pt x="10114" y="23327"/>
                        <a:pt x="0" y="61425"/>
                        <a:pt x="12419" y="95382"/>
                      </a:cubicBezTo>
                      <a:cubicBezTo>
                        <a:pt x="24838" y="129339"/>
                        <a:pt x="57145" y="151923"/>
                        <a:pt x="93302" y="151923"/>
                      </a:cubicBezTo>
                      <a:cubicBezTo>
                        <a:pt x="129458" y="151923"/>
                        <a:pt x="161765" y="129339"/>
                        <a:pt x="174184" y="95382"/>
                      </a:cubicBezTo>
                      <a:cubicBezTo>
                        <a:pt x="186603" y="61425"/>
                        <a:pt x="176490" y="23327"/>
                        <a:pt x="148864" y="0"/>
                      </a:cubicBezTo>
                    </a:path>
                  </a:pathLst>
                </a:custGeom>
                <a:noFill/>
                <a:ln w="22225">
                  <a:solidFill>
                    <a:srgbClr val="F43F5E"/>
                  </a:solidFill>
                </a:ln>
              </p:spPr>
            </p:sp>
            <p:sp>
              <p:nvSpPr>
                <p:cNvPr id="34" name="Freeform 34"/>
                <p:cNvSpPr/>
                <p:nvPr/>
              </p:nvSpPr>
              <p:spPr>
                <a:xfrm>
                  <a:off x="8667750" y="5321300"/>
                  <a:ext cx="9525" cy="88900"/>
                </a:xfrm>
                <a:custGeom>
                  <a:avLst/>
                  <a:gdLst/>
                  <a:ahLst/>
                  <a:cxnLst/>
                  <a:rect l="l" t="t" r="r" b="b"/>
                  <a:pathLst>
                    <a:path w="9525" h="88900">
                      <a:moveTo>
                        <a:pt x="0" y="0"/>
                      </a:moveTo>
                      <a:lnTo>
                        <a:pt x="0" y="88900"/>
                      </a:lnTo>
                    </a:path>
                  </a:pathLst>
                </a:custGeom>
                <a:noFill/>
                <a:ln w="22225">
                  <a:solidFill>
                    <a:srgbClr val="F43F5E"/>
                  </a:solidFill>
                </a:ln>
              </p:spPr>
            </p:sp>
          </p:grpSp>
          <p:sp>
            <p:nvSpPr>
              <p:cNvPr id="36" name="TextBox 36"/>
              <p:cNvSpPr txBox="1"/>
              <p:nvPr/>
            </p:nvSpPr>
            <p:spPr>
              <a:xfrm>
                <a:off x="8889873" y="5329714"/>
                <a:ext cx="1920563" cy="249364"/>
              </a:xfrm>
              <a:prstGeom prst="rect">
                <a:avLst/>
              </a:prstGeom>
              <a:noFill/>
              <a:ln>
                <a:noFill/>
              </a:ln>
            </p:spPr>
            <p:txBody>
              <a:bodyPr wrap="none" lIns="0" tIns="0" rIns="0" bIns="0" anchor="t" anchorCtr="0">
                <a:spAutoFit/>
              </a:bodyPr>
              <a:lstStyle/>
              <a:p>
                <a:pPr algn="l"/>
                <a:r>
                  <a:rPr lang="en" sz="1280" b="1" dirty="0">
                    <a:solidFill>
                      <a:schemeClr val="dk1"/>
                    </a:solidFill>
                    <a:latin typeface="+mn-lt"/>
                    <a:ea typeface="+mn-ea"/>
                    <a:cs typeface="+mn-cs"/>
                  </a:rPr>
                  <a:t>Emergency Kill Switch</a:t>
                </a:r>
              </a:p>
            </p:txBody>
          </p:sp>
          <p:sp>
            <p:nvSpPr>
              <p:cNvPr id="37" name="TextBox 37"/>
              <p:cNvSpPr txBox="1"/>
              <p:nvPr/>
            </p:nvSpPr>
            <p:spPr>
              <a:xfrm>
                <a:off x="8528304" y="5566410"/>
                <a:ext cx="170383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Fleet-wide or per-CI in</a:t>
                </a:r>
                <a:br/>
                <a:r>
                  <a:rPr lang="en" sz="1200" b="1" dirty="0">
                    <a:solidFill>
                      <a:srgbClr val="F43F5E"/>
                    </a:solidFill>
                    <a:latin typeface="+mn-lt"/>
                    <a:ea typeface="+mn-ea"/>
                    <a:cs typeface="+mn-cs"/>
                  </a:rPr>
                  <a:t>under 1.5 seconds</a:t>
                </a:r>
              </a:p>
            </p:txBody>
          </p:sp>
        </p:gr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3345332"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04 · TRUST &amp; GOVERNANCE</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P16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7332900" cy="883729"/>
            <a:chOff x="590550" y="1223010"/>
            <a:chExt cx="7332900" cy="883729"/>
          </a:xfrm>
        </p:grpSpPr>
        <p:sp>
          <p:nvSpPr>
            <p:cNvPr id="7" name="TextBox 7"/>
            <p:cNvSpPr txBox="1"/>
            <p:nvPr/>
          </p:nvSpPr>
          <p:spPr>
            <a:xfrm>
              <a:off x="590550" y="1223010"/>
              <a:ext cx="7332900"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The Receipts, Every Time</a:t>
              </a:r>
            </a:p>
          </p:txBody>
        </p:sp>
        <p:sp>
          <p:nvSpPr>
            <p:cNvPr id="8" name="TextBox 8"/>
            <p:cNvSpPr txBox="1"/>
            <p:nvPr/>
          </p:nvSpPr>
          <p:spPr>
            <a:xfrm>
              <a:off x="601218" y="1784032"/>
              <a:ext cx="7209838"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Every incident carries its complete story, permanently attached.</a:t>
              </a:r>
            </a:p>
          </p:txBody>
        </p:sp>
      </p:grpSp>
      <p:grpSp>
        <p:nvGrpSpPr>
          <p:cNvPr id="44" name="Group 44"/>
          <p:cNvGrpSpPr/>
          <p:nvPr/>
        </p:nvGrpSpPr>
        <p:grpSpPr>
          <a:xfrm>
            <a:off x="609600" y="2247900"/>
            <a:ext cx="3238500" cy="4000500"/>
            <a:chOff x="609600" y="2247900"/>
            <a:chExt cx="3238500" cy="4000500"/>
          </a:xfrm>
        </p:grpSpPr>
        <p:sp>
          <p:nvSpPr>
            <p:cNvPr id="10" name="Rectangle 10"/>
            <p:cNvSpPr/>
            <p:nvPr/>
          </p:nvSpPr>
          <p:spPr>
            <a:xfrm>
              <a:off x="609600" y="2247900"/>
              <a:ext cx="3238500" cy="4000500"/>
            </a:xfrm>
            <a:prstGeom prst="roundRect">
              <a:avLst>
                <a:gd name="adj" fmla="val 4706"/>
              </a:avLst>
            </a:prstGeom>
            <a:noFill/>
            <a:ln w="14288">
              <a:solidFill>
                <a:schemeClr val="accent6"/>
              </a:solidFill>
            </a:ln>
          </p:spPr>
        </p:sp>
        <p:sp>
          <p:nvSpPr>
            <p:cNvPr id="11" name="TextBox 11"/>
            <p:cNvSpPr txBox="1"/>
            <p:nvPr/>
          </p:nvSpPr>
          <p:spPr>
            <a:xfrm>
              <a:off x="813054" y="2404110"/>
              <a:ext cx="1582522" cy="234696"/>
            </a:xfrm>
            <a:prstGeom prst="rect">
              <a:avLst/>
            </a:prstGeom>
            <a:noFill/>
            <a:ln>
              <a:noFill/>
            </a:ln>
          </p:spPr>
          <p:txBody>
            <a:bodyPr wrap="none" lIns="0" tIns="0" rIns="0" bIns="0" anchor="t" anchorCtr="0">
              <a:spAutoFit/>
            </a:bodyPr>
            <a:lstStyle/>
            <a:p>
              <a:pPr algn="l"/>
              <a:r>
                <a:rPr lang="en" sz="1200" spc="112" dirty="0">
                  <a:solidFill>
                    <a:schemeClr val="accent1"/>
                  </a:solidFill>
                  <a:latin typeface="Consolas"/>
                  <a:ea typeface="Consolas"/>
                  <a:cs typeface="Consolas"/>
                </a:rPr>
                <a:t>FULL AUDIT TRAIL</a:t>
              </a:r>
            </a:p>
          </p:txBody>
        </p:sp>
        <p:sp>
          <p:nvSpPr>
            <p:cNvPr id="12" name="Line 12"/>
            <p:cNvSpPr/>
            <p:nvPr/>
          </p:nvSpPr>
          <p:spPr>
            <a:xfrm>
              <a:off x="819150" y="2647950"/>
              <a:ext cx="2819400" cy="9525"/>
            </a:xfrm>
            <a:custGeom>
              <a:avLst/>
              <a:gdLst/>
              <a:ahLst/>
              <a:cxnLst/>
              <a:rect l="l" t="t" r="r" b="b"/>
              <a:pathLst>
                <a:path w="2819400" h="9525">
                  <a:moveTo>
                    <a:pt x="0" y="0"/>
                  </a:moveTo>
                  <a:lnTo>
                    <a:pt x="2819400" y="0"/>
                  </a:lnTo>
                </a:path>
              </a:pathLst>
            </a:custGeom>
            <a:noFill/>
            <a:ln w="9525">
              <a:solidFill>
                <a:schemeClr val="accent6"/>
              </a:solidFill>
            </a:ln>
          </p:spPr>
        </p:sp>
        <p:grpSp>
          <p:nvGrpSpPr>
            <p:cNvPr id="25" name="Group 25"/>
            <p:cNvGrpSpPr/>
            <p:nvPr/>
          </p:nvGrpSpPr>
          <p:grpSpPr>
            <a:xfrm>
              <a:off x="812673" y="2843212"/>
              <a:ext cx="2085594" cy="726092"/>
              <a:chOff x="812673" y="2843212"/>
              <a:chExt cx="2085594" cy="726092"/>
            </a:xfrm>
          </p:grpSpPr>
          <p:grpSp>
            <p:nvGrpSpPr>
              <p:cNvPr id="22" name="Group 22"/>
              <p:cNvGrpSpPr/>
              <p:nvPr/>
            </p:nvGrpSpPr>
            <p:grpSpPr>
              <a:xfrm>
                <a:off x="878681" y="2843212"/>
                <a:ext cx="166688" cy="226219"/>
                <a:chOff x="878681" y="2843212"/>
                <a:chExt cx="166688" cy="226219"/>
              </a:xfrm>
            </p:grpSpPr>
            <p:sp>
              <p:nvSpPr>
                <p:cNvPr id="13" name="Freeform 13"/>
                <p:cNvSpPr/>
                <p:nvPr/>
              </p:nvSpPr>
              <p:spPr>
                <a:xfrm>
                  <a:off x="890588" y="2867025"/>
                  <a:ext cx="142875" cy="95250"/>
                </a:xfrm>
                <a:custGeom>
                  <a:avLst/>
                  <a:gdLst/>
                  <a:ahLst/>
                  <a:cxnLst/>
                  <a:rect l="l" t="t" r="r" b="b"/>
                  <a:pathLst>
                    <a:path w="142875" h="95250">
                      <a:moveTo>
                        <a:pt x="0" y="23812"/>
                      </a:moveTo>
                      <a:cubicBezTo>
                        <a:pt x="0" y="10661"/>
                        <a:pt x="10661" y="0"/>
                        <a:pt x="23812" y="0"/>
                      </a:cubicBezTo>
                      <a:lnTo>
                        <a:pt x="119062" y="0"/>
                      </a:lnTo>
                      <a:cubicBezTo>
                        <a:pt x="132214" y="0"/>
                        <a:pt x="142875" y="10661"/>
                        <a:pt x="142875" y="23812"/>
                      </a:cubicBezTo>
                      <a:lnTo>
                        <a:pt x="142875" y="71438"/>
                      </a:lnTo>
                      <a:cubicBezTo>
                        <a:pt x="142875" y="84589"/>
                        <a:pt x="132214" y="95250"/>
                        <a:pt x="119062" y="95250"/>
                      </a:cubicBezTo>
                      <a:lnTo>
                        <a:pt x="23812" y="95250"/>
                      </a:lnTo>
                      <a:cubicBezTo>
                        <a:pt x="10661" y="95250"/>
                        <a:pt x="0" y="84589"/>
                        <a:pt x="0" y="71438"/>
                      </a:cubicBezTo>
                      <a:lnTo>
                        <a:pt x="0" y="23812"/>
                      </a:lnTo>
                    </a:path>
                  </a:pathLst>
                </a:custGeom>
                <a:noFill/>
                <a:ln w="23812">
                  <a:solidFill>
                    <a:schemeClr val="accent1"/>
                  </a:solidFill>
                </a:ln>
              </p:spPr>
            </p:sp>
            <p:sp>
              <p:nvSpPr>
                <p:cNvPr id="14" name="Freeform 14"/>
                <p:cNvSpPr/>
                <p:nvPr/>
              </p:nvSpPr>
              <p:spPr>
                <a:xfrm>
                  <a:off x="962025" y="2843212"/>
                  <a:ext cx="9525" cy="23812"/>
                </a:xfrm>
                <a:custGeom>
                  <a:avLst/>
                  <a:gdLst/>
                  <a:ahLst/>
                  <a:cxnLst/>
                  <a:rect l="l" t="t" r="r" b="b"/>
                  <a:pathLst>
                    <a:path w="9525" h="23812">
                      <a:moveTo>
                        <a:pt x="0" y="0"/>
                      </a:moveTo>
                      <a:lnTo>
                        <a:pt x="0" y="23812"/>
                      </a:lnTo>
                    </a:path>
                  </a:pathLst>
                </a:custGeom>
                <a:noFill/>
                <a:ln w="23812">
                  <a:solidFill>
                    <a:schemeClr val="accent1"/>
                  </a:solidFill>
                </a:ln>
              </p:spPr>
            </p:sp>
            <p:sp>
              <p:nvSpPr>
                <p:cNvPr id="15" name="Freeform 15"/>
                <p:cNvSpPr/>
                <p:nvPr/>
              </p:nvSpPr>
              <p:spPr>
                <a:xfrm>
                  <a:off x="926306" y="2962275"/>
                  <a:ext cx="9525" cy="107156"/>
                </a:xfrm>
                <a:custGeom>
                  <a:avLst/>
                  <a:gdLst/>
                  <a:ahLst/>
                  <a:cxnLst/>
                  <a:rect l="l" t="t" r="r" b="b"/>
                  <a:pathLst>
                    <a:path w="9525" h="107156">
                      <a:moveTo>
                        <a:pt x="0" y="0"/>
                      </a:moveTo>
                      <a:lnTo>
                        <a:pt x="0" y="107156"/>
                      </a:lnTo>
                    </a:path>
                  </a:pathLst>
                </a:custGeom>
                <a:noFill/>
                <a:ln w="23812">
                  <a:solidFill>
                    <a:schemeClr val="accent1"/>
                  </a:solidFill>
                </a:ln>
              </p:spPr>
            </p:sp>
            <p:sp>
              <p:nvSpPr>
                <p:cNvPr id="16" name="Freeform 16"/>
                <p:cNvSpPr/>
                <p:nvPr/>
              </p:nvSpPr>
              <p:spPr>
                <a:xfrm>
                  <a:off x="997744" y="2962275"/>
                  <a:ext cx="9525" cy="107156"/>
                </a:xfrm>
                <a:custGeom>
                  <a:avLst/>
                  <a:gdLst/>
                  <a:ahLst/>
                  <a:cxnLst/>
                  <a:rect l="l" t="t" r="r" b="b"/>
                  <a:pathLst>
                    <a:path w="9525" h="107156">
                      <a:moveTo>
                        <a:pt x="0" y="0"/>
                      </a:moveTo>
                      <a:lnTo>
                        <a:pt x="0" y="107156"/>
                      </a:lnTo>
                    </a:path>
                  </a:pathLst>
                </a:custGeom>
                <a:noFill/>
                <a:ln w="23812">
                  <a:solidFill>
                    <a:schemeClr val="accent1"/>
                  </a:solidFill>
                </a:ln>
              </p:spPr>
            </p:sp>
            <p:sp>
              <p:nvSpPr>
                <p:cNvPr id="17" name="Freeform 17"/>
                <p:cNvSpPr/>
                <p:nvPr/>
              </p:nvSpPr>
              <p:spPr>
                <a:xfrm>
                  <a:off x="878681" y="2986088"/>
                  <a:ext cx="47625" cy="23812"/>
                </a:xfrm>
                <a:custGeom>
                  <a:avLst/>
                  <a:gdLst/>
                  <a:ahLst/>
                  <a:cxnLst/>
                  <a:rect l="l" t="t" r="r" b="b"/>
                  <a:pathLst>
                    <a:path w="47625" h="23812">
                      <a:moveTo>
                        <a:pt x="0" y="23812"/>
                      </a:moveTo>
                      <a:lnTo>
                        <a:pt x="47625" y="0"/>
                      </a:lnTo>
                    </a:path>
                  </a:pathLst>
                </a:custGeom>
                <a:noFill/>
                <a:ln w="23812">
                  <a:solidFill>
                    <a:schemeClr val="accent1"/>
                  </a:solidFill>
                </a:ln>
              </p:spPr>
            </p:sp>
            <p:sp>
              <p:nvSpPr>
                <p:cNvPr id="18" name="Freeform 18"/>
                <p:cNvSpPr/>
                <p:nvPr/>
              </p:nvSpPr>
              <p:spPr>
                <a:xfrm>
                  <a:off x="997744" y="2986088"/>
                  <a:ext cx="47625" cy="23812"/>
                </a:xfrm>
                <a:custGeom>
                  <a:avLst/>
                  <a:gdLst/>
                  <a:ahLst/>
                  <a:cxnLst/>
                  <a:rect l="l" t="t" r="r" b="b"/>
                  <a:pathLst>
                    <a:path w="47625" h="23812">
                      <a:moveTo>
                        <a:pt x="0" y="0"/>
                      </a:moveTo>
                      <a:lnTo>
                        <a:pt x="47625" y="23812"/>
                      </a:lnTo>
                    </a:path>
                  </a:pathLst>
                </a:custGeom>
                <a:noFill/>
                <a:ln w="23812">
                  <a:solidFill>
                    <a:schemeClr val="accent1"/>
                  </a:solidFill>
                </a:ln>
              </p:spPr>
            </p:sp>
            <p:sp>
              <p:nvSpPr>
                <p:cNvPr id="19" name="Freeform 19"/>
                <p:cNvSpPr/>
                <p:nvPr/>
              </p:nvSpPr>
              <p:spPr>
                <a:xfrm>
                  <a:off x="926306" y="3033712"/>
                  <a:ext cx="71438" cy="9525"/>
                </a:xfrm>
                <a:custGeom>
                  <a:avLst/>
                  <a:gdLst/>
                  <a:ahLst/>
                  <a:cxnLst/>
                  <a:rect l="l" t="t" r="r" b="b"/>
                  <a:pathLst>
                    <a:path w="71438" h="9525">
                      <a:moveTo>
                        <a:pt x="0" y="0"/>
                      </a:moveTo>
                      <a:lnTo>
                        <a:pt x="71438" y="0"/>
                      </a:lnTo>
                    </a:path>
                  </a:pathLst>
                </a:custGeom>
                <a:noFill/>
                <a:ln w="23812">
                  <a:solidFill>
                    <a:schemeClr val="accent1"/>
                  </a:solidFill>
                </a:ln>
              </p:spPr>
            </p:sp>
            <p:sp>
              <p:nvSpPr>
                <p:cNvPr id="20" name="Freeform 20"/>
                <p:cNvSpPr/>
                <p:nvPr/>
              </p:nvSpPr>
              <p:spPr>
                <a:xfrm>
                  <a:off x="938212" y="2914650"/>
                  <a:ext cx="9525" cy="9525"/>
                </a:xfrm>
                <a:custGeom>
                  <a:avLst/>
                  <a:gdLst/>
                  <a:ahLst/>
                  <a:cxnLst/>
                  <a:rect l="l" t="t" r="r" b="b"/>
                  <a:pathLst>
                    <a:path w="9525" h="9525">
                      <a:moveTo>
                        <a:pt x="0" y="0"/>
                      </a:moveTo>
                      <a:lnTo>
                        <a:pt x="0" y="119"/>
                      </a:lnTo>
                    </a:path>
                  </a:pathLst>
                </a:custGeom>
                <a:noFill/>
                <a:ln w="23812">
                  <a:solidFill>
                    <a:schemeClr val="accent1"/>
                  </a:solidFill>
                </a:ln>
              </p:spPr>
            </p:sp>
            <p:sp>
              <p:nvSpPr>
                <p:cNvPr id="21" name="Freeform 21"/>
                <p:cNvSpPr/>
                <p:nvPr/>
              </p:nvSpPr>
              <p:spPr>
                <a:xfrm>
                  <a:off x="985838" y="2914650"/>
                  <a:ext cx="9525" cy="9525"/>
                </a:xfrm>
                <a:custGeom>
                  <a:avLst/>
                  <a:gdLst/>
                  <a:ahLst/>
                  <a:cxnLst/>
                  <a:rect l="l" t="t" r="r" b="b"/>
                  <a:pathLst>
                    <a:path w="9525" h="9525">
                      <a:moveTo>
                        <a:pt x="0" y="0"/>
                      </a:moveTo>
                      <a:lnTo>
                        <a:pt x="0" y="119"/>
                      </a:lnTo>
                    </a:path>
                  </a:pathLst>
                </a:custGeom>
                <a:noFill/>
                <a:ln w="23812">
                  <a:solidFill>
                    <a:schemeClr val="accent1"/>
                  </a:solidFill>
                </a:ln>
              </p:spPr>
            </p:sp>
          </p:grpSp>
          <p:sp>
            <p:nvSpPr>
              <p:cNvPr id="23" name="TextBox 23"/>
              <p:cNvSpPr txBox="1"/>
              <p:nvPr/>
            </p:nvSpPr>
            <p:spPr>
              <a:xfrm>
                <a:off x="1212342" y="2883218"/>
                <a:ext cx="1299077"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AI Work Notes</a:t>
                </a:r>
              </a:p>
            </p:txBody>
          </p:sp>
          <p:sp>
            <p:nvSpPr>
              <p:cNvPr id="24" name="TextBox 24"/>
              <p:cNvSpPr txBox="1"/>
              <p:nvPr/>
            </p:nvSpPr>
            <p:spPr>
              <a:xfrm>
                <a:off x="812673" y="3119914"/>
                <a:ext cx="2085594"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Routing reasoning, target</a:t>
                </a:r>
                <a:br/>
                <a:r>
                  <a:rPr lang="en" sz="1280" dirty="0">
                    <a:solidFill>
                      <a:schemeClr val="accent5"/>
                    </a:solidFill>
                    <a:latin typeface="+mn-lt"/>
                    <a:ea typeface="+mn-ea"/>
                    <a:cs typeface="+mn-cs"/>
                  </a:rPr>
                  <a:t>group, confidence score</a:t>
                </a:r>
              </a:p>
            </p:txBody>
          </p:sp>
        </p:grpSp>
        <p:grpSp>
          <p:nvGrpSpPr>
            <p:cNvPr id="31" name="Group 31"/>
            <p:cNvGrpSpPr/>
            <p:nvPr/>
          </p:nvGrpSpPr>
          <p:grpSpPr>
            <a:xfrm>
              <a:off x="812673" y="3691656"/>
              <a:ext cx="2085594" cy="715848"/>
              <a:chOff x="812673" y="3691656"/>
              <a:chExt cx="2085594" cy="715848"/>
            </a:xfrm>
          </p:grpSpPr>
          <p:grpSp>
            <p:nvGrpSpPr>
              <p:cNvPr id="28" name="Group 28"/>
              <p:cNvGrpSpPr/>
              <p:nvPr/>
            </p:nvGrpSpPr>
            <p:grpSpPr>
              <a:xfrm>
                <a:off x="855464" y="3691656"/>
                <a:ext cx="219694" cy="224739"/>
                <a:chOff x="855464" y="3691656"/>
                <a:chExt cx="219694" cy="224739"/>
              </a:xfrm>
            </p:grpSpPr>
            <p:sp>
              <p:nvSpPr>
                <p:cNvPr id="26" name="Freeform 26"/>
                <p:cNvSpPr/>
                <p:nvPr/>
              </p:nvSpPr>
              <p:spPr>
                <a:xfrm>
                  <a:off x="962025" y="3752850"/>
                  <a:ext cx="23812" cy="71438"/>
                </a:xfrm>
                <a:custGeom>
                  <a:avLst/>
                  <a:gdLst/>
                  <a:ahLst/>
                  <a:cxnLst/>
                  <a:rect l="l" t="t" r="r" b="b"/>
                  <a:pathLst>
                    <a:path w="23812" h="71438">
                      <a:moveTo>
                        <a:pt x="0" y="0"/>
                      </a:moveTo>
                      <a:lnTo>
                        <a:pt x="0" y="47625"/>
                      </a:lnTo>
                      <a:lnTo>
                        <a:pt x="23812" y="71438"/>
                      </a:lnTo>
                    </a:path>
                  </a:pathLst>
                </a:custGeom>
                <a:noFill/>
                <a:ln w="23812">
                  <a:solidFill>
                    <a:schemeClr val="accent1"/>
                  </a:solidFill>
                </a:ln>
              </p:spPr>
            </p:sp>
            <p:sp>
              <p:nvSpPr>
                <p:cNvPr id="27" name="Freeform 27"/>
                <p:cNvSpPr/>
                <p:nvPr/>
              </p:nvSpPr>
              <p:spPr>
                <a:xfrm>
                  <a:off x="855464" y="3691656"/>
                  <a:ext cx="219694" cy="224739"/>
                </a:xfrm>
                <a:custGeom>
                  <a:avLst/>
                  <a:gdLst/>
                  <a:ahLst/>
                  <a:cxnLst/>
                  <a:rect l="l" t="t" r="r" b="b"/>
                  <a:pathLst>
                    <a:path w="219694" h="224739">
                      <a:moveTo>
                        <a:pt x="0" y="96913"/>
                      </a:moveTo>
                      <a:cubicBezTo>
                        <a:pt x="5524" y="42685"/>
                        <a:pt x="50876" y="1245"/>
                        <a:pt x="105381" y="623"/>
                      </a:cubicBezTo>
                      <a:cubicBezTo>
                        <a:pt x="159885" y="0"/>
                        <a:pt x="206172" y="40393"/>
                        <a:pt x="212933" y="94481"/>
                      </a:cubicBezTo>
                      <a:cubicBezTo>
                        <a:pt x="219694" y="148568"/>
                        <a:pt x="184774" y="199112"/>
                        <a:pt x="131794" y="211925"/>
                      </a:cubicBezTo>
                      <a:cubicBezTo>
                        <a:pt x="78813" y="224739"/>
                        <a:pt x="24655" y="195737"/>
                        <a:pt x="5953" y="144538"/>
                      </a:cubicBezTo>
                      <a:moveTo>
                        <a:pt x="0" y="204069"/>
                      </a:moveTo>
                      <a:lnTo>
                        <a:pt x="0" y="144538"/>
                      </a:lnTo>
                      <a:lnTo>
                        <a:pt x="59531" y="144538"/>
                      </a:lnTo>
                    </a:path>
                  </a:pathLst>
                </a:custGeom>
                <a:noFill/>
                <a:ln w="23812">
                  <a:solidFill>
                    <a:schemeClr val="accent1"/>
                  </a:solidFill>
                </a:ln>
              </p:spPr>
            </p:sp>
          </p:grpSp>
          <p:sp>
            <p:nvSpPr>
              <p:cNvPr id="29" name="TextBox 29"/>
              <p:cNvSpPr txBox="1"/>
              <p:nvPr/>
            </p:nvSpPr>
            <p:spPr>
              <a:xfrm>
                <a:off x="1212342" y="3721418"/>
                <a:ext cx="1528641"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Full Activity Log</a:t>
                </a:r>
              </a:p>
            </p:txBody>
          </p:sp>
          <p:sp>
            <p:nvSpPr>
              <p:cNvPr id="30" name="TextBox 30"/>
              <p:cNvSpPr txBox="1"/>
              <p:nvPr/>
            </p:nvSpPr>
            <p:spPr>
              <a:xfrm>
                <a:off x="812673" y="3958114"/>
                <a:ext cx="2085594"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Diagnostic-to-resolution,</a:t>
                </a:r>
                <a:br/>
                <a:r>
                  <a:rPr lang="en" sz="1280" dirty="0">
                    <a:solidFill>
                      <a:schemeClr val="accent5"/>
                    </a:solidFill>
                    <a:latin typeface="+mn-lt"/>
                    <a:ea typeface="+mn-ea"/>
                    <a:cs typeface="+mn-cs"/>
                  </a:rPr>
                  <a:t>preserved on the ticket</a:t>
                </a:r>
              </a:p>
            </p:txBody>
          </p:sp>
        </p:grpSp>
        <p:grpSp>
          <p:nvGrpSpPr>
            <p:cNvPr id="39" name="Group 39"/>
            <p:cNvGrpSpPr/>
            <p:nvPr/>
          </p:nvGrpSpPr>
          <p:grpSpPr>
            <a:xfrm>
              <a:off x="812673" y="4555331"/>
              <a:ext cx="2069338" cy="690373"/>
              <a:chOff x="812673" y="4555331"/>
              <a:chExt cx="2069338" cy="690373"/>
            </a:xfrm>
          </p:grpSpPr>
          <p:grpSp>
            <p:nvGrpSpPr>
              <p:cNvPr id="36" name="Group 36"/>
              <p:cNvGrpSpPr/>
              <p:nvPr/>
            </p:nvGrpSpPr>
            <p:grpSpPr>
              <a:xfrm>
                <a:off x="854869" y="4555331"/>
                <a:ext cx="214312" cy="166688"/>
                <a:chOff x="854869" y="4555331"/>
                <a:chExt cx="214312" cy="166688"/>
              </a:xfrm>
            </p:grpSpPr>
            <p:sp>
              <p:nvSpPr>
                <p:cNvPr id="32" name="Freeform 32"/>
                <p:cNvSpPr/>
                <p:nvPr/>
              </p:nvSpPr>
              <p:spPr>
                <a:xfrm>
                  <a:off x="997744" y="4555331"/>
                  <a:ext cx="9525" cy="23812"/>
                </a:xfrm>
                <a:custGeom>
                  <a:avLst/>
                  <a:gdLst/>
                  <a:ahLst/>
                  <a:cxnLst/>
                  <a:rect l="l" t="t" r="r" b="b"/>
                  <a:pathLst>
                    <a:path w="9525" h="23812">
                      <a:moveTo>
                        <a:pt x="0" y="0"/>
                      </a:moveTo>
                      <a:lnTo>
                        <a:pt x="0" y="23812"/>
                      </a:lnTo>
                    </a:path>
                  </a:pathLst>
                </a:custGeom>
                <a:noFill/>
                <a:ln w="23812">
                  <a:solidFill>
                    <a:schemeClr val="accent2"/>
                  </a:solidFill>
                </a:ln>
              </p:spPr>
            </p:sp>
            <p:sp>
              <p:nvSpPr>
                <p:cNvPr id="33" name="Freeform 33"/>
                <p:cNvSpPr/>
                <p:nvPr/>
              </p:nvSpPr>
              <p:spPr>
                <a:xfrm>
                  <a:off x="997744" y="4626769"/>
                  <a:ext cx="9525" cy="23812"/>
                </a:xfrm>
                <a:custGeom>
                  <a:avLst/>
                  <a:gdLst/>
                  <a:ahLst/>
                  <a:cxnLst/>
                  <a:rect l="l" t="t" r="r" b="b"/>
                  <a:pathLst>
                    <a:path w="9525" h="23812">
                      <a:moveTo>
                        <a:pt x="0" y="0"/>
                      </a:moveTo>
                      <a:lnTo>
                        <a:pt x="0" y="23812"/>
                      </a:lnTo>
                    </a:path>
                  </a:pathLst>
                </a:custGeom>
                <a:noFill/>
                <a:ln w="23812">
                  <a:solidFill>
                    <a:schemeClr val="accent2"/>
                  </a:solidFill>
                </a:ln>
              </p:spPr>
            </p:sp>
            <p:sp>
              <p:nvSpPr>
                <p:cNvPr id="34" name="Freeform 34"/>
                <p:cNvSpPr/>
                <p:nvPr/>
              </p:nvSpPr>
              <p:spPr>
                <a:xfrm>
                  <a:off x="997744" y="4698206"/>
                  <a:ext cx="9525" cy="23812"/>
                </a:xfrm>
                <a:custGeom>
                  <a:avLst/>
                  <a:gdLst/>
                  <a:ahLst/>
                  <a:cxnLst/>
                  <a:rect l="l" t="t" r="r" b="b"/>
                  <a:pathLst>
                    <a:path w="9525" h="23812">
                      <a:moveTo>
                        <a:pt x="0" y="0"/>
                      </a:moveTo>
                      <a:lnTo>
                        <a:pt x="0" y="23812"/>
                      </a:lnTo>
                    </a:path>
                  </a:pathLst>
                </a:custGeom>
                <a:noFill/>
                <a:ln w="23812">
                  <a:solidFill>
                    <a:schemeClr val="accent2"/>
                  </a:solidFill>
                </a:ln>
              </p:spPr>
            </p:sp>
            <p:sp>
              <p:nvSpPr>
                <p:cNvPr id="35" name="Freeform 35"/>
                <p:cNvSpPr/>
                <p:nvPr/>
              </p:nvSpPr>
              <p:spPr>
                <a:xfrm>
                  <a:off x="854869" y="4555331"/>
                  <a:ext cx="214312" cy="166688"/>
                </a:xfrm>
                <a:custGeom>
                  <a:avLst/>
                  <a:gdLst/>
                  <a:ahLst/>
                  <a:cxnLst/>
                  <a:rect l="l" t="t" r="r" b="b"/>
                  <a:pathLst>
                    <a:path w="214312" h="166688">
                      <a:moveTo>
                        <a:pt x="23812" y="0"/>
                      </a:moveTo>
                      <a:lnTo>
                        <a:pt x="190500" y="0"/>
                      </a:lnTo>
                      <a:cubicBezTo>
                        <a:pt x="203651" y="0"/>
                        <a:pt x="214312" y="10661"/>
                        <a:pt x="214312" y="23812"/>
                      </a:cubicBezTo>
                      <a:lnTo>
                        <a:pt x="214312" y="59531"/>
                      </a:lnTo>
                      <a:cubicBezTo>
                        <a:pt x="201161" y="59531"/>
                        <a:pt x="190500" y="70192"/>
                        <a:pt x="190500" y="83344"/>
                      </a:cubicBezTo>
                      <a:cubicBezTo>
                        <a:pt x="190500" y="96495"/>
                        <a:pt x="201161" y="107156"/>
                        <a:pt x="214312" y="107156"/>
                      </a:cubicBezTo>
                      <a:lnTo>
                        <a:pt x="214312" y="142875"/>
                      </a:lnTo>
                      <a:cubicBezTo>
                        <a:pt x="214312" y="156026"/>
                        <a:pt x="203651" y="166688"/>
                        <a:pt x="190500" y="166688"/>
                      </a:cubicBezTo>
                      <a:lnTo>
                        <a:pt x="23812" y="166688"/>
                      </a:lnTo>
                      <a:cubicBezTo>
                        <a:pt x="10661" y="166688"/>
                        <a:pt x="0" y="156026"/>
                        <a:pt x="0" y="142875"/>
                      </a:cubicBezTo>
                      <a:lnTo>
                        <a:pt x="0" y="107156"/>
                      </a:lnTo>
                      <a:cubicBezTo>
                        <a:pt x="13151" y="107156"/>
                        <a:pt x="23812" y="96495"/>
                        <a:pt x="23812" y="83344"/>
                      </a:cubicBezTo>
                      <a:cubicBezTo>
                        <a:pt x="23812" y="70192"/>
                        <a:pt x="13151" y="59531"/>
                        <a:pt x="0" y="59531"/>
                      </a:cubicBezTo>
                      <a:lnTo>
                        <a:pt x="0" y="23812"/>
                      </a:lnTo>
                      <a:cubicBezTo>
                        <a:pt x="0" y="10661"/>
                        <a:pt x="10661" y="0"/>
                        <a:pt x="23812" y="0"/>
                      </a:cubicBezTo>
                    </a:path>
                  </a:pathLst>
                </a:custGeom>
                <a:noFill/>
                <a:ln w="23812">
                  <a:solidFill>
                    <a:schemeClr val="accent2"/>
                  </a:solidFill>
                </a:ln>
              </p:spPr>
            </p:sp>
          </p:grpSp>
          <p:sp>
            <p:nvSpPr>
              <p:cNvPr id="37" name="TextBox 37"/>
              <p:cNvSpPr txBox="1"/>
              <p:nvPr/>
            </p:nvSpPr>
            <p:spPr>
              <a:xfrm>
                <a:off x="1212342" y="4559618"/>
                <a:ext cx="1489386"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ITIL Close Codes</a:t>
                </a:r>
              </a:p>
            </p:txBody>
          </p:sp>
          <p:sp>
            <p:nvSpPr>
              <p:cNvPr id="38" name="TextBox 38"/>
              <p:cNvSpPr txBox="1"/>
              <p:nvPr/>
            </p:nvSpPr>
            <p:spPr>
              <a:xfrm>
                <a:off x="812673" y="4796314"/>
                <a:ext cx="2069338"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Resolution notes posted</a:t>
                </a:r>
                <a:br/>
                <a:r>
                  <a:rPr lang="en" sz="1280" dirty="0">
                    <a:solidFill>
                      <a:schemeClr val="accent5"/>
                    </a:solidFill>
                    <a:latin typeface="+mn-lt"/>
                    <a:ea typeface="+mn-ea"/>
                    <a:cs typeface="+mn-cs"/>
                  </a:rPr>
                  <a:t>with no manual data entry</a:t>
                </a:r>
              </a:p>
            </p:txBody>
          </p:sp>
        </p:grpSp>
        <p:grpSp>
          <p:nvGrpSpPr>
            <p:cNvPr id="43" name="Group 43"/>
            <p:cNvGrpSpPr/>
            <p:nvPr/>
          </p:nvGrpSpPr>
          <p:grpSpPr>
            <a:xfrm>
              <a:off x="812673" y="5381625"/>
              <a:ext cx="2044954" cy="702279"/>
              <a:chOff x="812673" y="5381625"/>
              <a:chExt cx="2044954" cy="702279"/>
            </a:xfrm>
          </p:grpSpPr>
          <p:sp>
            <p:nvSpPr>
              <p:cNvPr id="40" name="Freeform 40"/>
              <p:cNvSpPr/>
              <p:nvPr/>
            </p:nvSpPr>
            <p:spPr>
              <a:xfrm>
                <a:off x="854869" y="5381625"/>
                <a:ext cx="214312" cy="190500"/>
              </a:xfrm>
              <a:custGeom>
                <a:avLst/>
                <a:gdLst/>
                <a:ahLst/>
                <a:cxnLst/>
                <a:rect l="l" t="t" r="r" b="b"/>
                <a:pathLst>
                  <a:path w="214312" h="190500">
                    <a:moveTo>
                      <a:pt x="0" y="95250"/>
                    </a:moveTo>
                    <a:lnTo>
                      <a:pt x="47625" y="95250"/>
                    </a:lnTo>
                    <a:lnTo>
                      <a:pt x="83344" y="190500"/>
                    </a:lnTo>
                    <a:lnTo>
                      <a:pt x="130969" y="0"/>
                    </a:lnTo>
                    <a:lnTo>
                      <a:pt x="166688" y="95250"/>
                    </a:lnTo>
                    <a:lnTo>
                      <a:pt x="214312" y="95250"/>
                    </a:lnTo>
                  </a:path>
                </a:pathLst>
              </a:custGeom>
              <a:noFill/>
              <a:ln w="23812">
                <a:solidFill>
                  <a:schemeClr val="accent3"/>
                </a:solidFill>
              </a:ln>
            </p:spPr>
          </p:sp>
          <p:sp>
            <p:nvSpPr>
              <p:cNvPr id="41" name="TextBox 41"/>
              <p:cNvSpPr txBox="1"/>
              <p:nvPr/>
            </p:nvSpPr>
            <p:spPr>
              <a:xfrm>
                <a:off x="1212342" y="5397818"/>
                <a:ext cx="1030963"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mn-lt"/>
                    <a:ea typeface="+mn-ea"/>
                    <a:cs typeface="+mn-cs"/>
                  </a:rPr>
                  <a:t>SLA Timers</a:t>
                </a:r>
              </a:p>
            </p:txBody>
          </p:sp>
          <p:sp>
            <p:nvSpPr>
              <p:cNvPr id="42" name="TextBox 42"/>
              <p:cNvSpPr txBox="1"/>
              <p:nvPr/>
            </p:nvSpPr>
            <p:spPr>
              <a:xfrm>
                <a:off x="812673" y="5634514"/>
                <a:ext cx="2044954" cy="449390"/>
              </a:xfrm>
              <a:prstGeom prst="rect">
                <a:avLst/>
              </a:prstGeom>
              <a:noFill/>
              <a:ln>
                <a:noFill/>
              </a:ln>
            </p:spPr>
            <p:txBody>
              <a:bodyPr wrap="none" lIns="0" tIns="0" rIns="0" bIns="0" anchor="t" anchorCtr="0">
                <a:spAutoFit/>
              </a:bodyPr>
              <a:lstStyle/>
              <a:p>
                <a:pPr algn="l">
                  <a:lnSpc>
                    <a:spcPts val="1575"/>
                  </a:lnSpc>
                </a:pPr>
                <a:r>
                  <a:rPr lang="en" sz="1280" dirty="0">
                    <a:solidFill>
                      <a:schemeClr val="accent5"/>
                    </a:solidFill>
                    <a:latin typeface="+mn-lt"/>
                    <a:ea typeface="+mn-ea"/>
                    <a:cs typeface="+mn-cs"/>
                  </a:rPr>
                  <a:t>Response &amp; resolution vs.</a:t>
                </a:r>
                <a:br/>
                <a:r>
                  <a:rPr lang="en" sz="1280" dirty="0">
                    <a:solidFill>
                      <a:schemeClr val="accent5"/>
                    </a:solidFill>
                    <a:latin typeface="+mn-lt"/>
                    <a:ea typeface="+mn-ea"/>
                    <a:cs typeface="+mn-cs"/>
                  </a:rPr>
                  <a:t>actual elapsed time</a:t>
                </a:r>
              </a:p>
            </p:txBody>
          </p:sp>
        </p:grpSp>
      </p:grpSp>
      <p:grpSp>
        <p:nvGrpSpPr>
          <p:cNvPr id="48" name="Group 48"/>
          <p:cNvGrpSpPr/>
          <p:nvPr/>
        </p:nvGrpSpPr>
        <p:grpSpPr>
          <a:xfrm>
            <a:off x="4038600" y="2247900"/>
            <a:ext cx="7543800" cy="4000500"/>
            <a:chOff x="4038600" y="2247900"/>
            <a:chExt cx="7543800" cy="4000500"/>
          </a:xfrm>
        </p:grpSpPr>
        <p:sp>
          <p:nvSpPr>
            <p:cNvPr id="45" name="Rectangle 45"/>
            <p:cNvSpPr/>
            <p:nvPr/>
          </p:nvSpPr>
          <p:spPr>
            <a:xfrm>
              <a:off x="4038600" y="2247900"/>
              <a:ext cx="7543800" cy="4000500"/>
            </a:xfrm>
            <a:prstGeom prst="roundRect">
              <a:avLst>
                <a:gd name="adj" fmla="val 3810"/>
              </a:avLst>
            </a:prstGeom>
            <a:solidFill>
              <a:schemeClr val="lt2"/>
            </a:solidFill>
            <a:ln w="9525">
              <a:solidFill>
                <a:schemeClr val="accent6"/>
              </a:solidFill>
            </a:ln>
            <a:effectLst>
              <a:outerShdw blurRad="228600" dist="57150" dir="5400000" algn="ctr" rotWithShape="0">
                <a:srgbClr val="000000">
                  <a:alpha val="33750"/>
                </a:srgbClr>
              </a:outerShdw>
            </a:effectLst>
          </p:spPr>
        </p:sp>
        <p:pic>
          <p:nvPicPr>
            <p:cNvPr id="46" name="Image 46"/>
            <p:cNvPicPr>
              <a:picLocks noChangeAspect="1"/>
            </p:cNvPicPr>
            <p:nvPr/>
          </p:nvPicPr>
          <p:blipFill>
            <a:blip r:embed="rId2"/>
            <a:stretch>
              <a:fillRect/>
            </a:stretch>
          </p:blipFill>
          <p:spPr>
            <a:xfrm>
              <a:off x="4660900" y="2476500"/>
              <a:ext cx="6299200" cy="3543300"/>
            </a:xfrm>
            <a:prstGeom prst="rect">
              <a:avLst/>
            </a:prstGeom>
          </p:spPr>
        </p:pic>
        <p:sp>
          <p:nvSpPr>
            <p:cNvPr id="47" name="TextBox 47"/>
            <p:cNvSpPr txBox="1"/>
            <p:nvPr/>
          </p:nvSpPr>
          <p:spPr>
            <a:xfrm>
              <a:off x="9080967" y="6004560"/>
              <a:ext cx="2278929"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Consolas"/>
                  <a:ea typeface="Consolas"/>
                  <a:cs typeface="Consolas"/>
                </a:rPr>
                <a:t>Incident detail — live capture</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2858872"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05 · IMPACT &amp; VISION</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P17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6616424" cy="883729"/>
            <a:chOff x="590550" y="1223010"/>
            <a:chExt cx="6616424" cy="883729"/>
          </a:xfrm>
        </p:grpSpPr>
        <p:sp>
          <p:nvSpPr>
            <p:cNvPr id="7" name="TextBox 7"/>
            <p:cNvSpPr txBox="1"/>
            <p:nvPr/>
          </p:nvSpPr>
          <p:spPr>
            <a:xfrm>
              <a:off x="590550" y="1223010"/>
              <a:ext cx="5651794"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Minutes, Not Hours</a:t>
              </a:r>
            </a:p>
          </p:txBody>
        </p:sp>
        <p:sp>
          <p:nvSpPr>
            <p:cNvPr id="8" name="TextBox 8"/>
            <p:cNvSpPr txBox="1"/>
            <p:nvPr/>
          </p:nvSpPr>
          <p:spPr>
            <a:xfrm>
              <a:off x="601218" y="1784032"/>
              <a:ext cx="6605756"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Autonomous resolution collapses MTTR on matched incidents.</a:t>
              </a:r>
            </a:p>
          </p:txBody>
        </p:sp>
      </p:grpSp>
      <p:grpSp>
        <p:nvGrpSpPr>
          <p:cNvPr id="13" name="Group 13"/>
          <p:cNvGrpSpPr/>
          <p:nvPr/>
        </p:nvGrpSpPr>
        <p:grpSpPr>
          <a:xfrm>
            <a:off x="609600" y="2247900"/>
            <a:ext cx="7543800" cy="4000500"/>
            <a:chOff x="609600" y="2247900"/>
            <a:chExt cx="7543800" cy="4000500"/>
          </a:xfrm>
        </p:grpSpPr>
        <p:sp>
          <p:nvSpPr>
            <p:cNvPr id="10" name="Rectangle 10"/>
            <p:cNvSpPr/>
            <p:nvPr/>
          </p:nvSpPr>
          <p:spPr>
            <a:xfrm>
              <a:off x="609600" y="2247900"/>
              <a:ext cx="7543800" cy="4000500"/>
            </a:xfrm>
            <a:prstGeom prst="roundRect">
              <a:avLst>
                <a:gd name="adj" fmla="val 3810"/>
              </a:avLst>
            </a:prstGeom>
            <a:solidFill>
              <a:schemeClr val="lt2"/>
            </a:solidFill>
            <a:ln w="9525">
              <a:solidFill>
                <a:schemeClr val="accent6"/>
              </a:solidFill>
            </a:ln>
            <a:effectLst>
              <a:outerShdw blurRad="228600" dist="57150" dir="5400000" algn="ctr" rotWithShape="0">
                <a:srgbClr val="000000">
                  <a:alpha val="33750"/>
                </a:srgbClr>
              </a:outerShdw>
            </a:effectLst>
          </p:spPr>
        </p:sp>
        <p:pic>
          <p:nvPicPr>
            <p:cNvPr id="11" name="Image 11"/>
            <p:cNvPicPr>
              <a:picLocks noChangeAspect="1"/>
            </p:cNvPicPr>
            <p:nvPr/>
          </p:nvPicPr>
          <p:blipFill>
            <a:blip r:embed="rId2"/>
            <a:stretch>
              <a:fillRect/>
            </a:stretch>
          </p:blipFill>
          <p:spPr>
            <a:xfrm>
              <a:off x="1231900" y="2476500"/>
              <a:ext cx="6299200" cy="3543300"/>
            </a:xfrm>
            <a:prstGeom prst="rect">
              <a:avLst/>
            </a:prstGeom>
          </p:spPr>
        </p:pic>
        <p:sp>
          <p:nvSpPr>
            <p:cNvPr id="12" name="TextBox 12"/>
            <p:cNvSpPr txBox="1"/>
            <p:nvPr/>
          </p:nvSpPr>
          <p:spPr>
            <a:xfrm>
              <a:off x="5198296" y="6004560"/>
              <a:ext cx="2732600"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Consolas"/>
                  <a:ea typeface="Consolas"/>
                  <a:cs typeface="Consolas"/>
                </a:rPr>
                <a:t>Value &amp; business ROI — live capture</a:t>
              </a:r>
            </a:p>
          </p:txBody>
        </p:sp>
      </p:grpSp>
      <p:grpSp>
        <p:nvGrpSpPr>
          <p:cNvPr id="21" name="Group 21"/>
          <p:cNvGrpSpPr/>
          <p:nvPr/>
        </p:nvGrpSpPr>
        <p:grpSpPr>
          <a:xfrm>
            <a:off x="8534400" y="2286000"/>
            <a:ext cx="3048000" cy="866775"/>
            <a:chOff x="8534400" y="2286000"/>
            <a:chExt cx="3048000" cy="866775"/>
          </a:xfrm>
        </p:grpSpPr>
        <p:sp>
          <p:nvSpPr>
            <p:cNvPr id="14" name="Rectangle 14"/>
            <p:cNvSpPr/>
            <p:nvPr/>
          </p:nvSpPr>
          <p:spPr>
            <a:xfrm>
              <a:off x="8534400" y="2286000"/>
              <a:ext cx="1381125" cy="857250"/>
            </a:xfrm>
            <a:prstGeom prst="roundRect">
              <a:avLst>
                <a:gd name="adj" fmla="val 13333"/>
              </a:avLst>
            </a:prstGeom>
            <a:solidFill>
              <a:schemeClr val="lt2"/>
            </a:solidFill>
            <a:ln w="9525">
              <a:solidFill>
                <a:schemeClr val="accent3">
                  <a:alpha val="50000"/>
                </a:schemeClr>
              </a:solidFill>
            </a:ln>
          </p:spPr>
        </p:sp>
        <p:sp>
          <p:nvSpPr>
            <p:cNvPr id="15" name="TextBox 15"/>
            <p:cNvSpPr txBox="1"/>
            <p:nvPr/>
          </p:nvSpPr>
          <p:spPr>
            <a:xfrm>
              <a:off x="8887497" y="2469832"/>
              <a:ext cx="665405" cy="322707"/>
            </a:xfrm>
            <a:prstGeom prst="rect">
              <a:avLst/>
            </a:prstGeom>
            <a:noFill/>
            <a:ln>
              <a:noFill/>
            </a:ln>
          </p:spPr>
          <p:txBody>
            <a:bodyPr wrap="none" lIns="0" tIns="0" rIns="0" bIns="0" anchor="t" anchorCtr="0">
              <a:spAutoFit/>
            </a:bodyPr>
            <a:lstStyle/>
            <a:p>
              <a:pPr algn="ctr"/>
              <a:r>
                <a:rPr lang="en" sz="1650" b="1" dirty="0">
                  <a:solidFill>
                    <a:schemeClr val="accent3"/>
                  </a:solidFill>
                  <a:latin typeface="Consolas"/>
                  <a:ea typeface="Consolas"/>
                  <a:cs typeface="Consolas"/>
                </a:rPr>
                <a:t>Hours</a:t>
              </a:r>
            </a:p>
          </p:txBody>
        </p:sp>
        <p:sp>
          <p:nvSpPr>
            <p:cNvPr id="16" name="TextBox 16"/>
            <p:cNvSpPr txBox="1"/>
            <p:nvPr/>
          </p:nvSpPr>
          <p:spPr>
            <a:xfrm>
              <a:off x="8609920" y="2727960"/>
              <a:ext cx="1220561"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Manual baseline</a:t>
              </a:r>
            </a:p>
          </p:txBody>
        </p:sp>
        <p:sp>
          <p:nvSpPr>
            <p:cNvPr id="17" name="Rectangle 17"/>
            <p:cNvSpPr/>
            <p:nvPr/>
          </p:nvSpPr>
          <p:spPr>
            <a:xfrm>
              <a:off x="10201275" y="2286000"/>
              <a:ext cx="1381125" cy="857250"/>
            </a:xfrm>
            <a:prstGeom prst="roundRect">
              <a:avLst>
                <a:gd name="adj" fmla="val 13333"/>
              </a:avLst>
            </a:prstGeom>
            <a:solidFill>
              <a:schemeClr val="lt2"/>
            </a:solidFill>
            <a:ln w="9525">
              <a:solidFill>
                <a:schemeClr val="accent2">
                  <a:alpha val="60000"/>
                </a:schemeClr>
              </a:solidFill>
            </a:ln>
          </p:spPr>
        </p:sp>
        <p:sp>
          <p:nvSpPr>
            <p:cNvPr id="18" name="TextBox 18"/>
            <p:cNvSpPr txBox="1"/>
            <p:nvPr/>
          </p:nvSpPr>
          <p:spPr>
            <a:xfrm>
              <a:off x="10431974" y="2469832"/>
              <a:ext cx="910201" cy="322707"/>
            </a:xfrm>
            <a:prstGeom prst="rect">
              <a:avLst/>
            </a:prstGeom>
            <a:noFill/>
            <a:ln>
              <a:noFill/>
            </a:ln>
          </p:spPr>
          <p:txBody>
            <a:bodyPr wrap="none" lIns="0" tIns="0" rIns="0" bIns="0" anchor="t" anchorCtr="0">
              <a:spAutoFit/>
            </a:bodyPr>
            <a:lstStyle/>
            <a:p>
              <a:pPr algn="ctr"/>
              <a:r>
                <a:rPr lang="en" sz="1650" b="1" dirty="0">
                  <a:solidFill>
                    <a:schemeClr val="accent2"/>
                  </a:solidFill>
                  <a:latin typeface="Consolas"/>
                  <a:ea typeface="Consolas"/>
                  <a:cs typeface="Consolas"/>
                </a:rPr>
                <a:t>Minutes</a:t>
              </a:r>
            </a:p>
          </p:txBody>
        </p:sp>
        <p:sp>
          <p:nvSpPr>
            <p:cNvPr id="19" name="TextBox 19"/>
            <p:cNvSpPr txBox="1"/>
            <p:nvPr/>
          </p:nvSpPr>
          <p:spPr>
            <a:xfrm>
              <a:off x="10417973" y="2727960"/>
              <a:ext cx="938205"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Autonomous</a:t>
              </a:r>
            </a:p>
          </p:txBody>
        </p:sp>
        <p:sp>
          <p:nvSpPr>
            <p:cNvPr id="20" name="Line 20"/>
            <p:cNvSpPr/>
            <p:nvPr/>
          </p:nvSpPr>
          <p:spPr>
            <a:xfrm>
              <a:off x="8534400" y="3143250"/>
              <a:ext cx="3048000" cy="9525"/>
            </a:xfrm>
            <a:custGeom>
              <a:avLst/>
              <a:gdLst/>
              <a:ahLst/>
              <a:cxnLst/>
              <a:rect l="l" t="t" r="r" b="b"/>
              <a:pathLst>
                <a:path w="3048000" h="9525">
                  <a:moveTo>
                    <a:pt x="0" y="0"/>
                  </a:moveTo>
                  <a:lnTo>
                    <a:pt x="3048000" y="0"/>
                  </a:lnTo>
                </a:path>
              </a:pathLst>
            </a:custGeom>
            <a:noFill/>
            <a:ln w="9525">
              <a:solidFill>
                <a:schemeClr val="accent6"/>
              </a:solidFill>
            </a:ln>
          </p:spPr>
        </p:sp>
      </p:grpSp>
      <p:grpSp>
        <p:nvGrpSpPr>
          <p:cNvPr id="41" name="Group 41"/>
          <p:cNvGrpSpPr/>
          <p:nvPr/>
        </p:nvGrpSpPr>
        <p:grpSpPr>
          <a:xfrm>
            <a:off x="8528304" y="3367088"/>
            <a:ext cx="2229299" cy="2405443"/>
            <a:chOff x="8528304" y="3367088"/>
            <a:chExt cx="2229299" cy="2405443"/>
          </a:xfrm>
        </p:grpSpPr>
        <p:grpSp>
          <p:nvGrpSpPr>
            <p:cNvPr id="28" name="Group 28"/>
            <p:cNvGrpSpPr/>
            <p:nvPr/>
          </p:nvGrpSpPr>
          <p:grpSpPr>
            <a:xfrm>
              <a:off x="8528304" y="3367088"/>
              <a:ext cx="1894332" cy="690943"/>
              <a:chOff x="8528304" y="3367088"/>
              <a:chExt cx="1894332" cy="690943"/>
            </a:xfrm>
          </p:grpSpPr>
          <p:grpSp>
            <p:nvGrpSpPr>
              <p:cNvPr id="25" name="Group 25"/>
              <p:cNvGrpSpPr/>
              <p:nvPr/>
            </p:nvGrpSpPr>
            <p:grpSpPr>
              <a:xfrm>
                <a:off x="8601075" y="3367088"/>
                <a:ext cx="166688" cy="200025"/>
                <a:chOff x="8601075" y="3367088"/>
                <a:chExt cx="166688" cy="200025"/>
              </a:xfrm>
            </p:grpSpPr>
            <p:sp>
              <p:nvSpPr>
                <p:cNvPr id="22" name="Freeform 22"/>
                <p:cNvSpPr/>
                <p:nvPr/>
              </p:nvSpPr>
              <p:spPr>
                <a:xfrm>
                  <a:off x="8623300" y="3367088"/>
                  <a:ext cx="88900" cy="88900"/>
                </a:xfrm>
                <a:custGeom>
                  <a:avLst/>
                  <a:gdLst/>
                  <a:ahLst/>
                  <a:cxnLst/>
                  <a:rect l="l" t="t" r="r" b="b"/>
                  <a:pathLst>
                    <a:path w="88900" h="88900">
                      <a:moveTo>
                        <a:pt x="0" y="44450"/>
                      </a:moveTo>
                      <a:cubicBezTo>
                        <a:pt x="0" y="68999"/>
                        <a:pt x="19901" y="88900"/>
                        <a:pt x="44450" y="88900"/>
                      </a:cubicBezTo>
                      <a:cubicBezTo>
                        <a:pt x="68999" y="88900"/>
                        <a:pt x="88900" y="68999"/>
                        <a:pt x="88900" y="44450"/>
                      </a:cubicBezTo>
                      <a:cubicBezTo>
                        <a:pt x="88900" y="19901"/>
                        <a:pt x="68999" y="0"/>
                        <a:pt x="44450" y="0"/>
                      </a:cubicBezTo>
                      <a:cubicBezTo>
                        <a:pt x="19901" y="0"/>
                        <a:pt x="0" y="19901"/>
                        <a:pt x="0" y="44450"/>
                      </a:cubicBezTo>
                    </a:path>
                  </a:pathLst>
                </a:custGeom>
                <a:noFill/>
                <a:ln w="22225">
                  <a:solidFill>
                    <a:schemeClr val="accent1"/>
                  </a:solidFill>
                </a:ln>
              </p:spPr>
            </p:sp>
            <p:sp>
              <p:nvSpPr>
                <p:cNvPr id="23" name="Freeform 23"/>
                <p:cNvSpPr/>
                <p:nvPr/>
              </p:nvSpPr>
              <p:spPr>
                <a:xfrm>
                  <a:off x="8601075" y="3500438"/>
                  <a:ext cx="88900" cy="66675"/>
                </a:xfrm>
                <a:custGeom>
                  <a:avLst/>
                  <a:gdLst/>
                  <a:ahLst/>
                  <a:cxnLst/>
                  <a:rect l="l" t="t" r="r" b="b"/>
                  <a:pathLst>
                    <a:path w="88900" h="66675">
                      <a:moveTo>
                        <a:pt x="0" y="66675"/>
                      </a:moveTo>
                      <a:lnTo>
                        <a:pt x="0" y="44450"/>
                      </a:lnTo>
                      <a:cubicBezTo>
                        <a:pt x="0" y="19901"/>
                        <a:pt x="19901" y="0"/>
                        <a:pt x="44450" y="0"/>
                      </a:cubicBezTo>
                      <a:lnTo>
                        <a:pt x="88900" y="0"/>
                      </a:lnTo>
                    </a:path>
                  </a:pathLst>
                </a:custGeom>
                <a:noFill/>
                <a:ln w="22225">
                  <a:solidFill>
                    <a:schemeClr val="accent1"/>
                  </a:solidFill>
                </a:ln>
              </p:spPr>
            </p:sp>
            <p:sp>
              <p:nvSpPr>
                <p:cNvPr id="24" name="Freeform 24"/>
                <p:cNvSpPr/>
                <p:nvPr/>
              </p:nvSpPr>
              <p:spPr>
                <a:xfrm>
                  <a:off x="8701088" y="3522663"/>
                  <a:ext cx="66675" cy="44450"/>
                </a:xfrm>
                <a:custGeom>
                  <a:avLst/>
                  <a:gdLst/>
                  <a:ahLst/>
                  <a:cxnLst/>
                  <a:rect l="l" t="t" r="r" b="b"/>
                  <a:pathLst>
                    <a:path w="66675" h="44450">
                      <a:moveTo>
                        <a:pt x="0" y="22225"/>
                      </a:moveTo>
                      <a:lnTo>
                        <a:pt x="22225" y="44450"/>
                      </a:lnTo>
                      <a:lnTo>
                        <a:pt x="66675" y="0"/>
                      </a:lnTo>
                    </a:path>
                  </a:pathLst>
                </a:custGeom>
                <a:noFill/>
                <a:ln w="22225">
                  <a:solidFill>
                    <a:schemeClr val="accent1"/>
                  </a:solidFill>
                </a:ln>
              </p:spPr>
            </p:sp>
          </p:grpSp>
          <p:sp>
            <p:nvSpPr>
              <p:cNvPr id="26" name="TextBox 26"/>
              <p:cNvSpPr txBox="1"/>
              <p:nvPr/>
            </p:nvSpPr>
            <p:spPr>
              <a:xfrm>
                <a:off x="8889873" y="3386614"/>
                <a:ext cx="1417375" cy="249364"/>
              </a:xfrm>
              <a:prstGeom prst="rect">
                <a:avLst/>
              </a:prstGeom>
              <a:noFill/>
              <a:ln>
                <a:noFill/>
              </a:ln>
            </p:spPr>
            <p:txBody>
              <a:bodyPr wrap="none" lIns="0" tIns="0" rIns="0" bIns="0" anchor="t" anchorCtr="0">
                <a:spAutoFit/>
              </a:bodyPr>
              <a:lstStyle/>
              <a:p>
                <a:pPr algn="l"/>
                <a:r>
                  <a:rPr lang="en" sz="1280" b="1" dirty="0">
                    <a:solidFill>
                      <a:schemeClr val="dk1"/>
                    </a:solidFill>
                    <a:latin typeface="+mn-lt"/>
                    <a:ea typeface="+mn-ea"/>
                    <a:cs typeface="+mn-cs"/>
                  </a:rPr>
                  <a:t>Hours Reclaimed</a:t>
                </a:r>
              </a:p>
            </p:txBody>
          </p:sp>
          <p:sp>
            <p:nvSpPr>
              <p:cNvPr id="27" name="TextBox 27"/>
              <p:cNvSpPr txBox="1"/>
              <p:nvPr/>
            </p:nvSpPr>
            <p:spPr>
              <a:xfrm>
                <a:off x="8528304" y="3623310"/>
                <a:ext cx="1894332" cy="434721"/>
              </a:xfrm>
              <a:prstGeom prst="rect">
                <a:avLst/>
              </a:prstGeom>
              <a:noFill/>
              <a:ln>
                <a:noFill/>
              </a:ln>
            </p:spPr>
            <p:txBody>
              <a:bodyPr wrap="none" lIns="0" tIns="0" rIns="0" bIns="0" anchor="t" anchorCtr="0">
                <a:spAutoFit/>
              </a:bodyPr>
              <a:lstStyle/>
              <a:p>
                <a:pPr algn="l">
                  <a:lnSpc>
                    <a:spcPts val="1575"/>
                  </a:lnSpc>
                </a:pPr>
                <a:r>
                  <a:rPr lang="en" sz="1200" dirty="0">
                    <a:solidFill>
                      <a:schemeClr val="accent5"/>
                    </a:solidFill>
                    <a:latin typeface="+mn-lt"/>
                    <a:ea typeface="+mn-ea"/>
                    <a:cs typeface="+mn-cs"/>
                  </a:rPr>
                  <a:t>Engineer time freed from</a:t>
                </a:r>
                <a:br/>
                <a:r>
                  <a:rPr lang="en" sz="1200" dirty="0">
                    <a:solidFill>
                      <a:schemeClr val="accent5"/>
                    </a:solidFill>
                    <a:latin typeface="+mn-lt"/>
                    <a:ea typeface="+mn-ea"/>
                    <a:cs typeface="+mn-cs"/>
                  </a:rPr>
                  <a:t>repetitive triage work</a:t>
                </a:r>
              </a:p>
            </p:txBody>
          </p:sp>
        </p:grpSp>
        <p:grpSp>
          <p:nvGrpSpPr>
            <p:cNvPr id="34" name="Group 34"/>
            <p:cNvGrpSpPr/>
            <p:nvPr/>
          </p:nvGrpSpPr>
          <p:grpSpPr>
            <a:xfrm>
              <a:off x="8528304" y="4243864"/>
              <a:ext cx="2122932" cy="671417"/>
              <a:chOff x="8528304" y="4243864"/>
              <a:chExt cx="2122932" cy="671417"/>
            </a:xfrm>
          </p:grpSpPr>
          <p:grpSp>
            <p:nvGrpSpPr>
              <p:cNvPr id="31" name="Group 31"/>
              <p:cNvGrpSpPr/>
              <p:nvPr/>
            </p:nvGrpSpPr>
            <p:grpSpPr>
              <a:xfrm>
                <a:off x="8578850" y="4257675"/>
                <a:ext cx="177801" cy="153988"/>
                <a:chOff x="8578850" y="4257675"/>
                <a:chExt cx="177801" cy="153988"/>
              </a:xfrm>
            </p:grpSpPr>
            <p:sp>
              <p:nvSpPr>
                <p:cNvPr id="29" name="Freeform 29"/>
                <p:cNvSpPr/>
                <p:nvPr/>
              </p:nvSpPr>
              <p:spPr>
                <a:xfrm>
                  <a:off x="8578850" y="4402138"/>
                  <a:ext cx="177801" cy="9525"/>
                </a:xfrm>
                <a:custGeom>
                  <a:avLst/>
                  <a:gdLst/>
                  <a:ahLst/>
                  <a:cxnLst/>
                  <a:rect l="l" t="t" r="r" b="b"/>
                  <a:pathLst>
                    <a:path w="177801" h="9525">
                      <a:moveTo>
                        <a:pt x="0" y="0"/>
                      </a:moveTo>
                      <a:lnTo>
                        <a:pt x="177801" y="0"/>
                      </a:lnTo>
                    </a:path>
                  </a:pathLst>
                </a:custGeom>
                <a:noFill/>
                <a:ln w="22225">
                  <a:solidFill>
                    <a:schemeClr val="accent2"/>
                  </a:solidFill>
                </a:ln>
              </p:spPr>
            </p:sp>
            <p:sp>
              <p:nvSpPr>
                <p:cNvPr id="30" name="Freeform 30"/>
                <p:cNvSpPr/>
                <p:nvPr/>
              </p:nvSpPr>
              <p:spPr>
                <a:xfrm>
                  <a:off x="8578850" y="4257675"/>
                  <a:ext cx="177801" cy="100013"/>
                </a:xfrm>
                <a:custGeom>
                  <a:avLst/>
                  <a:gdLst/>
                  <a:ahLst/>
                  <a:cxnLst/>
                  <a:rect l="l" t="t" r="r" b="b"/>
                  <a:pathLst>
                    <a:path w="177801" h="100013">
                      <a:moveTo>
                        <a:pt x="0" y="100013"/>
                      </a:moveTo>
                      <a:lnTo>
                        <a:pt x="44450" y="33338"/>
                      </a:lnTo>
                      <a:lnTo>
                        <a:pt x="88900" y="55563"/>
                      </a:lnTo>
                      <a:lnTo>
                        <a:pt x="133350" y="0"/>
                      </a:lnTo>
                      <a:lnTo>
                        <a:pt x="177801" y="44450"/>
                      </a:lnTo>
                    </a:path>
                  </a:pathLst>
                </a:custGeom>
                <a:noFill/>
                <a:ln w="22225">
                  <a:solidFill>
                    <a:schemeClr val="accent2"/>
                  </a:solidFill>
                </a:ln>
              </p:spPr>
            </p:sp>
          </p:grpSp>
          <p:sp>
            <p:nvSpPr>
              <p:cNvPr id="32" name="TextBox 32"/>
              <p:cNvSpPr txBox="1"/>
              <p:nvPr/>
            </p:nvSpPr>
            <p:spPr>
              <a:xfrm>
                <a:off x="8889873" y="4243864"/>
                <a:ext cx="1173679" cy="249364"/>
              </a:xfrm>
              <a:prstGeom prst="rect">
                <a:avLst/>
              </a:prstGeom>
              <a:noFill/>
              <a:ln>
                <a:noFill/>
              </a:ln>
            </p:spPr>
            <p:txBody>
              <a:bodyPr wrap="none" lIns="0" tIns="0" rIns="0" bIns="0" anchor="t" anchorCtr="0">
                <a:spAutoFit/>
              </a:bodyPr>
              <a:lstStyle/>
              <a:p>
                <a:pPr algn="l"/>
                <a:r>
                  <a:rPr lang="en" sz="1280" b="1" dirty="0">
                    <a:solidFill>
                      <a:schemeClr val="dk1"/>
                    </a:solidFill>
                    <a:latin typeface="+mn-lt"/>
                    <a:ea typeface="+mn-ea"/>
                    <a:cs typeface="+mn-cs"/>
                  </a:rPr>
                  <a:t>Success Rate</a:t>
                </a:r>
              </a:p>
            </p:txBody>
          </p:sp>
          <p:sp>
            <p:nvSpPr>
              <p:cNvPr id="33" name="TextBox 33"/>
              <p:cNvSpPr txBox="1"/>
              <p:nvPr/>
            </p:nvSpPr>
            <p:spPr>
              <a:xfrm>
                <a:off x="8528304" y="4480560"/>
                <a:ext cx="2122932" cy="434721"/>
              </a:xfrm>
              <a:prstGeom prst="rect">
                <a:avLst/>
              </a:prstGeom>
              <a:noFill/>
              <a:ln>
                <a:noFill/>
              </a:ln>
            </p:spPr>
            <p:txBody>
              <a:bodyPr wrap="none" lIns="0" tIns="0" rIns="0" bIns="0" anchor="t" anchorCtr="0">
                <a:spAutoFit/>
              </a:bodyPr>
              <a:lstStyle/>
              <a:p>
                <a:pPr algn="l">
                  <a:lnSpc>
                    <a:spcPts val="1575"/>
                  </a:lnSpc>
                </a:pPr>
                <a:r>
                  <a:rPr lang="en" sz="1200" dirty="0">
                    <a:solidFill>
                      <a:schemeClr val="accent5"/>
                    </a:solidFill>
                    <a:latin typeface="+mn-lt"/>
                    <a:ea typeface="+mn-ea"/>
                    <a:cs typeface="+mn-cs"/>
                  </a:rPr>
                  <a:t>Tracked continuously across</a:t>
                </a:r>
                <a:br/>
                <a:r>
                  <a:rPr lang="en" sz="1200" dirty="0">
                    <a:solidFill>
                      <a:schemeClr val="accent5"/>
                    </a:solidFill>
                    <a:latin typeface="+mn-lt"/>
                    <a:ea typeface="+mn-ea"/>
                    <a:cs typeface="+mn-cs"/>
                  </a:rPr>
                  <a:t>every autonomous execution</a:t>
                </a:r>
              </a:p>
            </p:txBody>
          </p:sp>
        </p:grpSp>
        <p:grpSp>
          <p:nvGrpSpPr>
            <p:cNvPr id="40" name="Group 40"/>
            <p:cNvGrpSpPr/>
            <p:nvPr/>
          </p:nvGrpSpPr>
          <p:grpSpPr>
            <a:xfrm>
              <a:off x="8528304" y="5081588"/>
              <a:ext cx="2229299" cy="690943"/>
              <a:chOff x="8528304" y="5081588"/>
              <a:chExt cx="2229299" cy="690943"/>
            </a:xfrm>
          </p:grpSpPr>
          <p:grpSp>
            <p:nvGrpSpPr>
              <p:cNvPr id="37" name="Group 37"/>
              <p:cNvGrpSpPr/>
              <p:nvPr/>
            </p:nvGrpSpPr>
            <p:grpSpPr>
              <a:xfrm>
                <a:off x="8552741" y="5081588"/>
                <a:ext cx="217008" cy="200025"/>
                <a:chOff x="8552741" y="5081588"/>
                <a:chExt cx="217008" cy="200025"/>
              </a:xfrm>
            </p:grpSpPr>
            <p:sp>
              <p:nvSpPr>
                <p:cNvPr id="35" name="Freeform 35"/>
                <p:cNvSpPr/>
                <p:nvPr/>
              </p:nvSpPr>
              <p:spPr>
                <a:xfrm>
                  <a:off x="8552741" y="5081588"/>
                  <a:ext cx="217008" cy="198314"/>
                </a:xfrm>
                <a:custGeom>
                  <a:avLst/>
                  <a:gdLst/>
                  <a:ahLst/>
                  <a:cxnLst/>
                  <a:rect l="l" t="t" r="r" b="b"/>
                  <a:pathLst>
                    <a:path w="217008" h="198314">
                      <a:moveTo>
                        <a:pt x="109009" y="198314"/>
                      </a:moveTo>
                      <a:cubicBezTo>
                        <a:pt x="39394" y="176735"/>
                        <a:pt x="0" y="103262"/>
                        <a:pt x="20553" y="33338"/>
                      </a:cubicBezTo>
                      <a:cubicBezTo>
                        <a:pt x="55175" y="34922"/>
                        <a:pt x="89053" y="22965"/>
                        <a:pt x="115010" y="0"/>
                      </a:cubicBezTo>
                      <a:cubicBezTo>
                        <a:pt x="140967" y="22965"/>
                        <a:pt x="174845" y="34922"/>
                        <a:pt x="209466" y="33338"/>
                      </a:cubicBezTo>
                      <a:cubicBezTo>
                        <a:pt x="217008" y="58998"/>
                        <a:pt x="216660" y="86333"/>
                        <a:pt x="208466" y="111792"/>
                      </a:cubicBezTo>
                    </a:path>
                  </a:pathLst>
                </a:custGeom>
                <a:noFill/>
                <a:ln w="22225">
                  <a:solidFill>
                    <a:schemeClr val="accent3"/>
                  </a:solidFill>
                </a:ln>
              </p:spPr>
            </p:sp>
            <p:sp>
              <p:nvSpPr>
                <p:cNvPr id="36" name="Freeform 36"/>
                <p:cNvSpPr/>
                <p:nvPr/>
              </p:nvSpPr>
              <p:spPr>
                <a:xfrm>
                  <a:off x="8701088" y="5237163"/>
                  <a:ext cx="66675" cy="44450"/>
                </a:xfrm>
                <a:custGeom>
                  <a:avLst/>
                  <a:gdLst/>
                  <a:ahLst/>
                  <a:cxnLst/>
                  <a:rect l="l" t="t" r="r" b="b"/>
                  <a:pathLst>
                    <a:path w="66675" h="44450">
                      <a:moveTo>
                        <a:pt x="0" y="22225"/>
                      </a:moveTo>
                      <a:lnTo>
                        <a:pt x="22225" y="44450"/>
                      </a:lnTo>
                      <a:lnTo>
                        <a:pt x="66675" y="0"/>
                      </a:lnTo>
                    </a:path>
                  </a:pathLst>
                </a:custGeom>
                <a:noFill/>
                <a:ln w="22225">
                  <a:solidFill>
                    <a:schemeClr val="accent3"/>
                  </a:solidFill>
                </a:ln>
              </p:spPr>
            </p:sp>
          </p:grpSp>
          <p:sp>
            <p:nvSpPr>
              <p:cNvPr id="38" name="TextBox 38"/>
              <p:cNvSpPr txBox="1"/>
              <p:nvPr/>
            </p:nvSpPr>
            <p:spPr>
              <a:xfrm>
                <a:off x="8889873" y="5101114"/>
                <a:ext cx="1867730" cy="249364"/>
              </a:xfrm>
              <a:prstGeom prst="rect">
                <a:avLst/>
              </a:prstGeom>
              <a:noFill/>
              <a:ln>
                <a:noFill/>
              </a:ln>
            </p:spPr>
            <p:txBody>
              <a:bodyPr wrap="none" lIns="0" tIns="0" rIns="0" bIns="0" anchor="t" anchorCtr="0">
                <a:spAutoFit/>
              </a:bodyPr>
              <a:lstStyle/>
              <a:p>
                <a:pPr algn="l"/>
                <a:r>
                  <a:rPr lang="en" sz="1280" b="1" dirty="0">
                    <a:solidFill>
                      <a:schemeClr val="dk1"/>
                    </a:solidFill>
                    <a:latin typeface="+mn-lt"/>
                    <a:ea typeface="+mn-ea"/>
                    <a:cs typeface="+mn-cs"/>
                  </a:rPr>
                  <a:t>Low Governance Cost</a:t>
                </a:r>
              </a:p>
            </p:txBody>
          </p:sp>
          <p:sp>
            <p:nvSpPr>
              <p:cNvPr id="39" name="TextBox 39"/>
              <p:cNvSpPr txBox="1"/>
              <p:nvPr/>
            </p:nvSpPr>
            <p:spPr>
              <a:xfrm>
                <a:off x="8528304" y="5337810"/>
                <a:ext cx="1780032" cy="434721"/>
              </a:xfrm>
              <a:prstGeom prst="rect">
                <a:avLst/>
              </a:prstGeom>
              <a:noFill/>
              <a:ln>
                <a:noFill/>
              </a:ln>
            </p:spPr>
            <p:txBody>
              <a:bodyPr wrap="none" lIns="0" tIns="0" rIns="0" bIns="0" anchor="t" anchorCtr="0">
                <a:spAutoFit/>
              </a:bodyPr>
              <a:lstStyle/>
              <a:p>
                <a:pPr algn="l">
                  <a:lnSpc>
                    <a:spcPts val="1575"/>
                  </a:lnSpc>
                </a:pPr>
                <a:r>
                  <a:rPr lang="en" sz="1200" dirty="0">
                    <a:solidFill>
                      <a:schemeClr val="accent5"/>
                    </a:solidFill>
                    <a:latin typeface="+mn-lt"/>
                    <a:ea typeface="+mn-ea"/>
                    <a:cs typeface="+mn-cs"/>
                  </a:rPr>
                  <a:t>Approval only where it</a:t>
                </a:r>
                <a:br/>
                <a:r>
                  <a:rPr lang="en" sz="1200" dirty="0">
                    <a:solidFill>
                      <a:schemeClr val="accent5"/>
                    </a:solidFill>
                    <a:latin typeface="+mn-lt"/>
                    <a:ea typeface="+mn-ea"/>
                    <a:cs typeface="+mn-cs"/>
                  </a:rPr>
                  <a:t>genuinely adds judgment</a:t>
                </a:r>
              </a:p>
            </p:txBody>
          </p:sp>
        </p:gr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2858872"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05 · IMPACT &amp; VISION</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P18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7955250" cy="883729"/>
            <a:chOff x="590550" y="1223010"/>
            <a:chExt cx="7955250" cy="883729"/>
          </a:xfrm>
        </p:grpSpPr>
        <p:sp>
          <p:nvSpPr>
            <p:cNvPr id="7" name="TextBox 7"/>
            <p:cNvSpPr txBox="1"/>
            <p:nvPr/>
          </p:nvSpPr>
          <p:spPr>
            <a:xfrm>
              <a:off x="590550" y="1223010"/>
              <a:ext cx="7955250"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Six Services, One Platform</a:t>
              </a:r>
            </a:p>
          </p:txBody>
        </p:sp>
        <p:sp>
          <p:nvSpPr>
            <p:cNvPr id="8" name="TextBox 8"/>
            <p:cNvSpPr txBox="1"/>
            <p:nvPr/>
          </p:nvSpPr>
          <p:spPr>
            <a:xfrm>
              <a:off x="601218" y="1784032"/>
              <a:ext cx="6521523"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A production-shaped stack runs the whole autonomous loop.</a:t>
              </a:r>
            </a:p>
          </p:txBody>
        </p:sp>
      </p:grpSp>
      <p:grpSp>
        <p:nvGrpSpPr>
          <p:cNvPr id="60" name="Group 60"/>
          <p:cNvGrpSpPr/>
          <p:nvPr/>
        </p:nvGrpSpPr>
        <p:grpSpPr>
          <a:xfrm>
            <a:off x="609600" y="2247900"/>
            <a:ext cx="10972800" cy="4000500"/>
            <a:chOff x="609600" y="2247900"/>
            <a:chExt cx="10972800" cy="4000500"/>
          </a:xfrm>
        </p:grpSpPr>
        <p:sp>
          <p:nvSpPr>
            <p:cNvPr id="10" name="Rectangle 10"/>
            <p:cNvSpPr/>
            <p:nvPr/>
          </p:nvSpPr>
          <p:spPr>
            <a:xfrm>
              <a:off x="609600" y="2247900"/>
              <a:ext cx="10972800" cy="4000500"/>
            </a:xfrm>
            <a:prstGeom prst="roundRect">
              <a:avLst>
                <a:gd name="adj" fmla="val 4286"/>
              </a:avLst>
            </a:prstGeom>
            <a:noFill/>
            <a:ln w="14288">
              <a:solidFill>
                <a:schemeClr val="accent6"/>
              </a:solidFill>
              <a:prstDash val="dash"/>
            </a:ln>
          </p:spPr>
        </p:sp>
        <p:sp>
          <p:nvSpPr>
            <p:cNvPr id="11" name="TextBox 11"/>
            <p:cNvSpPr txBox="1"/>
            <p:nvPr/>
          </p:nvSpPr>
          <p:spPr>
            <a:xfrm>
              <a:off x="832104" y="2270760"/>
              <a:ext cx="831494" cy="234696"/>
            </a:xfrm>
            <a:prstGeom prst="rect">
              <a:avLst/>
            </a:prstGeom>
            <a:noFill/>
            <a:ln>
              <a:noFill/>
            </a:ln>
          </p:spPr>
          <p:txBody>
            <a:bodyPr wrap="none" lIns="0" tIns="0" rIns="0" bIns="0" anchor="t" anchorCtr="0">
              <a:spAutoFit/>
            </a:bodyPr>
            <a:lstStyle/>
            <a:p>
              <a:pPr algn="l"/>
              <a:r>
                <a:rPr lang="en" sz="1200" dirty="0">
                  <a:solidFill>
                    <a:schemeClr val="accent1"/>
                  </a:solidFill>
                  <a:latin typeface="Consolas"/>
                  <a:ea typeface="Consolas"/>
                  <a:cs typeface="Consolas"/>
                </a:rPr>
                <a:t>PLATFORM</a:t>
              </a:r>
            </a:p>
          </p:txBody>
        </p:sp>
        <p:grpSp>
          <p:nvGrpSpPr>
            <p:cNvPr id="17" name="Group 17"/>
            <p:cNvGrpSpPr/>
            <p:nvPr/>
          </p:nvGrpSpPr>
          <p:grpSpPr>
            <a:xfrm>
              <a:off x="838200" y="2476500"/>
              <a:ext cx="3371850" cy="1676400"/>
              <a:chOff x="838200" y="2476500"/>
              <a:chExt cx="3371850" cy="1676400"/>
            </a:xfrm>
          </p:grpSpPr>
          <p:sp>
            <p:nvSpPr>
              <p:cNvPr id="12" name="Rectangle 12"/>
              <p:cNvSpPr/>
              <p:nvPr/>
            </p:nvSpPr>
            <p:spPr>
              <a:xfrm>
                <a:off x="838200" y="2476500"/>
                <a:ext cx="3371850" cy="1676400"/>
              </a:xfrm>
              <a:prstGeom prst="roundRect">
                <a:avLst>
                  <a:gd name="adj" fmla="val 7955"/>
                </a:avLst>
              </a:prstGeom>
              <a:solidFill>
                <a:schemeClr val="lt2"/>
              </a:solidFill>
              <a:ln w="9525">
                <a:solidFill>
                  <a:schemeClr val="accent6"/>
                </a:solidFill>
              </a:ln>
            </p:spPr>
          </p:sp>
          <p:sp>
            <p:nvSpPr>
              <p:cNvPr id="13" name="Freeform 13"/>
              <p:cNvSpPr/>
              <p:nvPr/>
            </p:nvSpPr>
            <p:spPr>
              <a:xfrm>
                <a:off x="1013569" y="2641169"/>
                <a:ext cx="298459" cy="311582"/>
              </a:xfrm>
              <a:custGeom>
                <a:avLst/>
                <a:gdLst/>
                <a:ahLst/>
                <a:cxnLst/>
                <a:rect l="l" t="t" r="r" b="b"/>
                <a:pathLst>
                  <a:path w="298459" h="311582">
                    <a:moveTo>
                      <a:pt x="295284" y="193760"/>
                    </a:moveTo>
                    <a:cubicBezTo>
                      <a:pt x="295110" y="193227"/>
                      <a:pt x="294870" y="192719"/>
                      <a:pt x="294569" y="192247"/>
                    </a:cubicBezTo>
                    <a:cubicBezTo>
                      <a:pt x="292804" y="188904"/>
                      <a:pt x="288514" y="187906"/>
                      <a:pt x="281775" y="189299"/>
                    </a:cubicBezTo>
                    <a:cubicBezTo>
                      <a:pt x="260779" y="193631"/>
                      <a:pt x="252648" y="190966"/>
                      <a:pt x="249700" y="189057"/>
                    </a:cubicBezTo>
                    <a:cubicBezTo>
                      <a:pt x="266744" y="163045"/>
                      <a:pt x="280752" y="131628"/>
                      <a:pt x="288322" y="102320"/>
                    </a:cubicBezTo>
                    <a:cubicBezTo>
                      <a:pt x="291769" y="88976"/>
                      <a:pt x="298459" y="57569"/>
                      <a:pt x="289874" y="42229"/>
                    </a:cubicBezTo>
                    <a:cubicBezTo>
                      <a:pt x="289326" y="41179"/>
                      <a:pt x="288684" y="40180"/>
                      <a:pt x="287958" y="39244"/>
                    </a:cubicBezTo>
                    <a:cubicBezTo>
                      <a:pt x="271582" y="18320"/>
                      <a:pt x="247549" y="7095"/>
                      <a:pt x="218456" y="6787"/>
                    </a:cubicBezTo>
                    <a:cubicBezTo>
                      <a:pt x="199473" y="6586"/>
                      <a:pt x="183271" y="11182"/>
                      <a:pt x="178882" y="12875"/>
                    </a:cubicBezTo>
                    <a:cubicBezTo>
                      <a:pt x="176708" y="12469"/>
                      <a:pt x="174523" y="12124"/>
                      <a:pt x="172330" y="11839"/>
                    </a:cubicBezTo>
                    <a:cubicBezTo>
                      <a:pt x="166832" y="10843"/>
                      <a:pt x="161262" y="10301"/>
                      <a:pt x="155675" y="10216"/>
                    </a:cubicBezTo>
                    <a:cubicBezTo>
                      <a:pt x="140661" y="9982"/>
                      <a:pt x="127687" y="13571"/>
                      <a:pt x="116943" y="20891"/>
                    </a:cubicBezTo>
                    <a:cubicBezTo>
                      <a:pt x="106055" y="16813"/>
                      <a:pt x="56125" y="0"/>
                      <a:pt x="25225" y="21892"/>
                    </a:cubicBezTo>
                    <a:cubicBezTo>
                      <a:pt x="7967" y="34118"/>
                      <a:pt x="0" y="55971"/>
                      <a:pt x="1544" y="86845"/>
                    </a:cubicBezTo>
                    <a:cubicBezTo>
                      <a:pt x="2064" y="97233"/>
                      <a:pt x="7982" y="129187"/>
                      <a:pt x="17321" y="159788"/>
                    </a:cubicBezTo>
                    <a:cubicBezTo>
                      <a:pt x="23161" y="178921"/>
                      <a:pt x="29243" y="194103"/>
                      <a:pt x="35526" y="205280"/>
                    </a:cubicBezTo>
                    <a:cubicBezTo>
                      <a:pt x="42549" y="217906"/>
                      <a:pt x="49825" y="225515"/>
                      <a:pt x="57297" y="228006"/>
                    </a:cubicBezTo>
                    <a:cubicBezTo>
                      <a:pt x="62979" y="229900"/>
                      <a:pt x="71682" y="229836"/>
                      <a:pt x="80895" y="218762"/>
                    </a:cubicBezTo>
                    <a:cubicBezTo>
                      <a:pt x="91070" y="206526"/>
                      <a:pt x="101092" y="195574"/>
                      <a:pt x="105591" y="190734"/>
                    </a:cubicBezTo>
                    <a:cubicBezTo>
                      <a:pt x="111117" y="193725"/>
                      <a:pt x="117103" y="195338"/>
                      <a:pt x="123244" y="195525"/>
                    </a:cubicBezTo>
                    <a:cubicBezTo>
                      <a:pt x="123245" y="195542"/>
                      <a:pt x="123247" y="195560"/>
                      <a:pt x="123249" y="195577"/>
                    </a:cubicBezTo>
                    <a:cubicBezTo>
                      <a:pt x="122180" y="196851"/>
                      <a:pt x="121133" y="198144"/>
                      <a:pt x="120110" y="199456"/>
                    </a:cubicBezTo>
                    <a:cubicBezTo>
                      <a:pt x="115806" y="204919"/>
                      <a:pt x="114911" y="206056"/>
                      <a:pt x="101057" y="208908"/>
                    </a:cubicBezTo>
                    <a:cubicBezTo>
                      <a:pt x="97118" y="209721"/>
                      <a:pt x="86651" y="211879"/>
                      <a:pt x="86498" y="219214"/>
                    </a:cubicBezTo>
                    <a:cubicBezTo>
                      <a:pt x="86466" y="220769"/>
                      <a:pt x="86916" y="222147"/>
                      <a:pt x="87665" y="223365"/>
                    </a:cubicBezTo>
                    <a:cubicBezTo>
                      <a:pt x="90547" y="228738"/>
                      <a:pt x="99370" y="231108"/>
                      <a:pt x="100556" y="231405"/>
                    </a:cubicBezTo>
                    <a:cubicBezTo>
                      <a:pt x="117504" y="235640"/>
                      <a:pt x="132362" y="232573"/>
                      <a:pt x="143372" y="222785"/>
                    </a:cubicBezTo>
                    <a:cubicBezTo>
                      <a:pt x="143157" y="251119"/>
                      <a:pt x="144357" y="278886"/>
                      <a:pt x="147759" y="287395"/>
                    </a:cubicBezTo>
                    <a:cubicBezTo>
                      <a:pt x="150568" y="294417"/>
                      <a:pt x="157434" y="311582"/>
                      <a:pt x="179118" y="311580"/>
                    </a:cubicBezTo>
                    <a:cubicBezTo>
                      <a:pt x="182299" y="311580"/>
                      <a:pt x="185802" y="311210"/>
                      <a:pt x="189654" y="310385"/>
                    </a:cubicBezTo>
                    <a:cubicBezTo>
                      <a:pt x="212284" y="305532"/>
                      <a:pt x="222111" y="295531"/>
                      <a:pt x="225912" y="273480"/>
                    </a:cubicBezTo>
                    <a:cubicBezTo>
                      <a:pt x="227821" y="262422"/>
                      <a:pt x="231012" y="236964"/>
                      <a:pt x="232755" y="221395"/>
                    </a:cubicBezTo>
                    <a:cubicBezTo>
                      <a:pt x="232969" y="220502"/>
                      <a:pt x="233208" y="219862"/>
                      <a:pt x="233479" y="219665"/>
                    </a:cubicBezTo>
                    <a:cubicBezTo>
                      <a:pt x="233488" y="219659"/>
                      <a:pt x="234364" y="219067"/>
                      <a:pt x="238904" y="220055"/>
                    </a:cubicBezTo>
                    <a:cubicBezTo>
                      <a:pt x="239090" y="220095"/>
                      <a:pt x="239278" y="220124"/>
                      <a:pt x="239467" y="220141"/>
                    </a:cubicBezTo>
                    <a:lnTo>
                      <a:pt x="242691" y="220424"/>
                    </a:lnTo>
                    <a:lnTo>
                      <a:pt x="242881" y="220437"/>
                    </a:lnTo>
                    <a:cubicBezTo>
                      <a:pt x="253635" y="220925"/>
                      <a:pt x="267155" y="218626"/>
                      <a:pt x="275027" y="214966"/>
                    </a:cubicBezTo>
                    <a:cubicBezTo>
                      <a:pt x="283203" y="211171"/>
                      <a:pt x="297959" y="201856"/>
                      <a:pt x="295284" y="193760"/>
                    </a:cubicBezTo>
                    <a:close/>
                    <a:moveTo>
                      <a:pt x="26192" y="157612"/>
                    </a:moveTo>
                    <a:cubicBezTo>
                      <a:pt x="16750" y="126677"/>
                      <a:pt x="11233" y="95571"/>
                      <a:pt x="10796" y="86849"/>
                    </a:cubicBezTo>
                    <a:cubicBezTo>
                      <a:pt x="9417" y="59272"/>
                      <a:pt x="16093" y="40076"/>
                      <a:pt x="30637" y="29792"/>
                    </a:cubicBezTo>
                    <a:cubicBezTo>
                      <a:pt x="53963" y="13299"/>
                      <a:pt x="92103" y="22923"/>
                      <a:pt x="108209" y="28141"/>
                    </a:cubicBezTo>
                    <a:cubicBezTo>
                      <a:pt x="108168" y="28181"/>
                      <a:pt x="108125" y="28218"/>
                      <a:pt x="108084" y="28260"/>
                    </a:cubicBezTo>
                    <a:cubicBezTo>
                      <a:pt x="82382" y="54219"/>
                      <a:pt x="82992" y="98567"/>
                      <a:pt x="83055" y="101278"/>
                    </a:cubicBezTo>
                    <a:cubicBezTo>
                      <a:pt x="83053" y="102324"/>
                      <a:pt x="83139" y="103804"/>
                      <a:pt x="83261" y="105842"/>
                    </a:cubicBezTo>
                    <a:cubicBezTo>
                      <a:pt x="83703" y="113300"/>
                      <a:pt x="84526" y="127183"/>
                      <a:pt x="82328" y="142905"/>
                    </a:cubicBezTo>
                    <a:cubicBezTo>
                      <a:pt x="80284" y="157515"/>
                      <a:pt x="84788" y="171815"/>
                      <a:pt x="94682" y="182138"/>
                    </a:cubicBezTo>
                    <a:cubicBezTo>
                      <a:pt x="95706" y="183206"/>
                      <a:pt x="96775" y="184209"/>
                      <a:pt x="97880" y="185153"/>
                    </a:cubicBezTo>
                    <a:cubicBezTo>
                      <a:pt x="93476" y="189870"/>
                      <a:pt x="83905" y="200299"/>
                      <a:pt x="73718" y="212554"/>
                    </a:cubicBezTo>
                    <a:cubicBezTo>
                      <a:pt x="66508" y="221222"/>
                      <a:pt x="61530" y="219561"/>
                      <a:pt x="59893" y="219015"/>
                    </a:cubicBezTo>
                    <a:cubicBezTo>
                      <a:pt x="54916" y="217355"/>
                      <a:pt x="49568" y="211559"/>
                      <a:pt x="44169" y="202222"/>
                    </a:cubicBezTo>
                    <a:cubicBezTo>
                      <a:pt x="38078" y="191566"/>
                      <a:pt x="31933" y="176419"/>
                      <a:pt x="26192" y="157612"/>
                    </a:cubicBezTo>
                    <a:close/>
                    <a:moveTo>
                      <a:pt x="102484" y="222218"/>
                    </a:moveTo>
                    <a:cubicBezTo>
                      <a:pt x="100311" y="221674"/>
                      <a:pt x="98330" y="220780"/>
                      <a:pt x="96995" y="219967"/>
                    </a:cubicBezTo>
                    <a:cubicBezTo>
                      <a:pt x="98124" y="219467"/>
                      <a:pt x="100010" y="218822"/>
                      <a:pt x="103133" y="218178"/>
                    </a:cubicBezTo>
                    <a:cubicBezTo>
                      <a:pt x="119431" y="214824"/>
                      <a:pt x="121948" y="212455"/>
                      <a:pt x="127444" y="205475"/>
                    </a:cubicBezTo>
                    <a:cubicBezTo>
                      <a:pt x="128704" y="203875"/>
                      <a:pt x="130131" y="202063"/>
                      <a:pt x="132109" y="199854"/>
                    </a:cubicBezTo>
                    <a:cubicBezTo>
                      <a:pt x="132534" y="199377"/>
                      <a:pt x="132853" y="198815"/>
                      <a:pt x="133045" y="198206"/>
                    </a:cubicBezTo>
                    <a:cubicBezTo>
                      <a:pt x="135214" y="196284"/>
                      <a:pt x="136504" y="196810"/>
                      <a:pt x="138593" y="197676"/>
                    </a:cubicBezTo>
                    <a:cubicBezTo>
                      <a:pt x="140575" y="198497"/>
                      <a:pt x="142503" y="200978"/>
                      <a:pt x="143286" y="203711"/>
                    </a:cubicBezTo>
                    <a:cubicBezTo>
                      <a:pt x="143656" y="205002"/>
                      <a:pt x="144072" y="207451"/>
                      <a:pt x="142712" y="209355"/>
                    </a:cubicBezTo>
                    <a:cubicBezTo>
                      <a:pt x="131228" y="225431"/>
                      <a:pt x="114498" y="225223"/>
                      <a:pt x="102484" y="222218"/>
                    </a:cubicBezTo>
                    <a:close/>
                    <a:moveTo>
                      <a:pt x="129077" y="171570"/>
                    </a:moveTo>
                    <a:lnTo>
                      <a:pt x="128411" y="173361"/>
                    </a:lnTo>
                    <a:cubicBezTo>
                      <a:pt x="126722" y="177890"/>
                      <a:pt x="125151" y="182100"/>
                      <a:pt x="124176" y="186099"/>
                    </a:cubicBezTo>
                    <a:cubicBezTo>
                      <a:pt x="115701" y="186072"/>
                      <a:pt x="107453" y="182452"/>
                      <a:pt x="101183" y="175909"/>
                    </a:cubicBezTo>
                    <a:cubicBezTo>
                      <a:pt x="93209" y="167589"/>
                      <a:pt x="89587" y="156015"/>
                      <a:pt x="91245" y="144154"/>
                    </a:cubicBezTo>
                    <a:cubicBezTo>
                      <a:pt x="93567" y="127543"/>
                      <a:pt x="92710" y="113079"/>
                      <a:pt x="92249" y="105309"/>
                    </a:cubicBezTo>
                    <a:cubicBezTo>
                      <a:pt x="92185" y="104221"/>
                      <a:pt x="92128" y="103269"/>
                      <a:pt x="92094" y="102517"/>
                    </a:cubicBezTo>
                    <a:cubicBezTo>
                      <a:pt x="95849" y="99188"/>
                      <a:pt x="113251" y="89865"/>
                      <a:pt x="125659" y="92707"/>
                    </a:cubicBezTo>
                    <a:cubicBezTo>
                      <a:pt x="131321" y="94005"/>
                      <a:pt x="134772" y="97860"/>
                      <a:pt x="136206" y="104493"/>
                    </a:cubicBezTo>
                    <a:cubicBezTo>
                      <a:pt x="143630" y="138831"/>
                      <a:pt x="137189" y="153143"/>
                      <a:pt x="132012" y="164644"/>
                    </a:cubicBezTo>
                    <a:cubicBezTo>
                      <a:pt x="130946" y="167013"/>
                      <a:pt x="129938" y="169252"/>
                      <a:pt x="129077" y="171570"/>
                    </a:cubicBezTo>
                    <a:close/>
                    <a:moveTo>
                      <a:pt x="222596" y="229641"/>
                    </a:moveTo>
                    <a:cubicBezTo>
                      <a:pt x="222382" y="231886"/>
                      <a:pt x="222141" y="234416"/>
                      <a:pt x="221811" y="237209"/>
                    </a:cubicBezTo>
                    <a:lnTo>
                      <a:pt x="219957" y="242775"/>
                    </a:lnTo>
                    <a:cubicBezTo>
                      <a:pt x="219810" y="243216"/>
                      <a:pt x="219732" y="243678"/>
                      <a:pt x="219726" y="244143"/>
                    </a:cubicBezTo>
                    <a:cubicBezTo>
                      <a:pt x="219651" y="250172"/>
                      <a:pt x="219040" y="252384"/>
                      <a:pt x="218265" y="255183"/>
                    </a:cubicBezTo>
                    <a:cubicBezTo>
                      <a:pt x="217460" y="258094"/>
                      <a:pt x="216547" y="261395"/>
                      <a:pt x="215987" y="268613"/>
                    </a:cubicBezTo>
                    <a:cubicBezTo>
                      <a:pt x="214590" y="286575"/>
                      <a:pt x="204834" y="296892"/>
                      <a:pt x="185289" y="301081"/>
                    </a:cubicBezTo>
                    <a:cubicBezTo>
                      <a:pt x="166042" y="305209"/>
                      <a:pt x="162628" y="294771"/>
                      <a:pt x="159620" y="285565"/>
                    </a:cubicBezTo>
                    <a:cubicBezTo>
                      <a:pt x="159311" y="284600"/>
                      <a:pt x="158986" y="283641"/>
                      <a:pt x="158643" y="282687"/>
                    </a:cubicBezTo>
                    <a:cubicBezTo>
                      <a:pt x="155907" y="275248"/>
                      <a:pt x="156216" y="264756"/>
                      <a:pt x="156644" y="250238"/>
                    </a:cubicBezTo>
                    <a:cubicBezTo>
                      <a:pt x="156853" y="243110"/>
                      <a:pt x="156328" y="226091"/>
                      <a:pt x="152450" y="216631"/>
                    </a:cubicBezTo>
                    <a:cubicBezTo>
                      <a:pt x="152506" y="212907"/>
                      <a:pt x="152585" y="209127"/>
                      <a:pt x="152692" y="205305"/>
                    </a:cubicBezTo>
                    <a:cubicBezTo>
                      <a:pt x="152705" y="204821"/>
                      <a:pt x="152639" y="204338"/>
                      <a:pt x="152497" y="203875"/>
                    </a:cubicBezTo>
                    <a:cubicBezTo>
                      <a:pt x="152375" y="202982"/>
                      <a:pt x="152188" y="202100"/>
                      <a:pt x="151940" y="201234"/>
                    </a:cubicBezTo>
                    <a:cubicBezTo>
                      <a:pt x="150383" y="195794"/>
                      <a:pt x="146589" y="191244"/>
                      <a:pt x="142038" y="189358"/>
                    </a:cubicBezTo>
                    <a:cubicBezTo>
                      <a:pt x="140229" y="188608"/>
                      <a:pt x="136909" y="187234"/>
                      <a:pt x="132922" y="188254"/>
                    </a:cubicBezTo>
                    <a:cubicBezTo>
                      <a:pt x="133773" y="184749"/>
                      <a:pt x="135247" y="180793"/>
                      <a:pt x="136846" y="176508"/>
                    </a:cubicBezTo>
                    <a:lnTo>
                      <a:pt x="137518" y="174705"/>
                    </a:lnTo>
                    <a:cubicBezTo>
                      <a:pt x="138273" y="172673"/>
                      <a:pt x="139220" y="170568"/>
                      <a:pt x="140223" y="168339"/>
                    </a:cubicBezTo>
                    <a:cubicBezTo>
                      <a:pt x="145639" y="156305"/>
                      <a:pt x="153057" y="139824"/>
                      <a:pt x="145006" y="102589"/>
                    </a:cubicBezTo>
                    <a:cubicBezTo>
                      <a:pt x="141991" y="88643"/>
                      <a:pt x="131920" y="81834"/>
                      <a:pt x="116654" y="83415"/>
                    </a:cubicBezTo>
                    <a:cubicBezTo>
                      <a:pt x="107501" y="84362"/>
                      <a:pt x="99130" y="88055"/>
                      <a:pt x="94953" y="90172"/>
                    </a:cubicBezTo>
                    <a:cubicBezTo>
                      <a:pt x="94115" y="90597"/>
                      <a:pt x="93286" y="91038"/>
                      <a:pt x="92466" y="91494"/>
                    </a:cubicBezTo>
                    <a:cubicBezTo>
                      <a:pt x="93632" y="77443"/>
                      <a:pt x="98036" y="51183"/>
                      <a:pt x="114509" y="34569"/>
                    </a:cubicBezTo>
                    <a:cubicBezTo>
                      <a:pt x="115733" y="33336"/>
                      <a:pt x="117019" y="32166"/>
                      <a:pt x="118361" y="31064"/>
                    </a:cubicBezTo>
                    <a:cubicBezTo>
                      <a:pt x="119028" y="30934"/>
                      <a:pt x="119656" y="30654"/>
                      <a:pt x="120199" y="30246"/>
                    </a:cubicBezTo>
                    <a:cubicBezTo>
                      <a:pt x="129754" y="23000"/>
                      <a:pt x="141719" y="19444"/>
                      <a:pt x="155784" y="19674"/>
                    </a:cubicBezTo>
                    <a:cubicBezTo>
                      <a:pt x="160980" y="19759"/>
                      <a:pt x="165966" y="20104"/>
                      <a:pt x="170696" y="20702"/>
                    </a:cubicBezTo>
                    <a:cubicBezTo>
                      <a:pt x="195322" y="25203"/>
                      <a:pt x="211894" y="39077"/>
                      <a:pt x="221952" y="50962"/>
                    </a:cubicBezTo>
                    <a:cubicBezTo>
                      <a:pt x="232294" y="63184"/>
                      <a:pt x="237893" y="75492"/>
                      <a:pt x="240128" y="82132"/>
                    </a:cubicBezTo>
                    <a:cubicBezTo>
                      <a:pt x="223324" y="80423"/>
                      <a:pt x="211891" y="83742"/>
                      <a:pt x="206096" y="92025"/>
                    </a:cubicBezTo>
                    <a:cubicBezTo>
                      <a:pt x="193490" y="110045"/>
                      <a:pt x="212992" y="145021"/>
                      <a:pt x="222366" y="161829"/>
                    </a:cubicBezTo>
                    <a:cubicBezTo>
                      <a:pt x="224085" y="164910"/>
                      <a:pt x="225569" y="167572"/>
                      <a:pt x="226035" y="168704"/>
                    </a:cubicBezTo>
                    <a:cubicBezTo>
                      <a:pt x="229087" y="176102"/>
                      <a:pt x="233039" y="181039"/>
                      <a:pt x="235925" y="184645"/>
                    </a:cubicBezTo>
                    <a:cubicBezTo>
                      <a:pt x="236809" y="185750"/>
                      <a:pt x="237667" y="186822"/>
                      <a:pt x="238319" y="187756"/>
                    </a:cubicBezTo>
                    <a:cubicBezTo>
                      <a:pt x="233229" y="189223"/>
                      <a:pt x="224085" y="192614"/>
                      <a:pt x="224918" y="209562"/>
                    </a:cubicBezTo>
                    <a:cubicBezTo>
                      <a:pt x="224761" y="211547"/>
                      <a:pt x="224380" y="215238"/>
                      <a:pt x="223859" y="219910"/>
                    </a:cubicBezTo>
                    <a:cubicBezTo>
                      <a:pt x="223273" y="222548"/>
                      <a:pt x="222967" y="225756"/>
                      <a:pt x="222596" y="229641"/>
                    </a:cubicBezTo>
                    <a:close/>
                    <a:moveTo>
                      <a:pt x="233905" y="209053"/>
                    </a:moveTo>
                    <a:cubicBezTo>
                      <a:pt x="233391" y="198492"/>
                      <a:pt x="237323" y="197388"/>
                      <a:pt x="241484" y="196220"/>
                    </a:cubicBezTo>
                    <a:cubicBezTo>
                      <a:pt x="242059" y="196062"/>
                      <a:pt x="242631" y="195890"/>
                      <a:pt x="243198" y="195704"/>
                    </a:cubicBezTo>
                    <a:cubicBezTo>
                      <a:pt x="243735" y="196179"/>
                      <a:pt x="244304" y="196617"/>
                      <a:pt x="244902" y="197012"/>
                    </a:cubicBezTo>
                    <a:cubicBezTo>
                      <a:pt x="252145" y="201794"/>
                      <a:pt x="264998" y="202363"/>
                      <a:pt x="283089" y="198719"/>
                    </a:cubicBezTo>
                    <a:cubicBezTo>
                      <a:pt x="280528" y="200966"/>
                      <a:pt x="276499" y="203791"/>
                      <a:pt x="270982" y="206353"/>
                    </a:cubicBezTo>
                    <a:cubicBezTo>
                      <a:pt x="265777" y="208770"/>
                      <a:pt x="257066" y="210582"/>
                      <a:pt x="248791" y="210971"/>
                    </a:cubicBezTo>
                    <a:cubicBezTo>
                      <a:pt x="239651" y="211397"/>
                      <a:pt x="235000" y="209946"/>
                      <a:pt x="233905" y="209053"/>
                    </a:cubicBezTo>
                    <a:close/>
                    <a:moveTo>
                      <a:pt x="241138" y="91309"/>
                    </a:moveTo>
                    <a:cubicBezTo>
                      <a:pt x="241063" y="95764"/>
                      <a:pt x="240450" y="99808"/>
                      <a:pt x="239800" y="104031"/>
                    </a:cubicBezTo>
                    <a:cubicBezTo>
                      <a:pt x="239101" y="108572"/>
                      <a:pt x="238377" y="113268"/>
                      <a:pt x="238194" y="118968"/>
                    </a:cubicBezTo>
                    <a:cubicBezTo>
                      <a:pt x="238014" y="124516"/>
                      <a:pt x="238707" y="130283"/>
                      <a:pt x="239378" y="135860"/>
                    </a:cubicBezTo>
                    <a:cubicBezTo>
                      <a:pt x="240732" y="147125"/>
                      <a:pt x="242121" y="158724"/>
                      <a:pt x="236743" y="170168"/>
                    </a:cubicBezTo>
                    <a:cubicBezTo>
                      <a:pt x="235850" y="168586"/>
                      <a:pt x="235054" y="166950"/>
                      <a:pt x="234360" y="165271"/>
                    </a:cubicBezTo>
                    <a:cubicBezTo>
                      <a:pt x="233691" y="163651"/>
                      <a:pt x="232241" y="161047"/>
                      <a:pt x="230231" y="157445"/>
                    </a:cubicBezTo>
                    <a:cubicBezTo>
                      <a:pt x="222413" y="143423"/>
                      <a:pt x="204102" y="110588"/>
                      <a:pt x="213476" y="97189"/>
                    </a:cubicBezTo>
                    <a:cubicBezTo>
                      <a:pt x="218296" y="90297"/>
                      <a:pt x="230504" y="90000"/>
                      <a:pt x="241138" y="91309"/>
                    </a:cubicBezTo>
                    <a:close/>
                    <a:moveTo>
                      <a:pt x="244039" y="180383"/>
                    </a:moveTo>
                    <a:cubicBezTo>
                      <a:pt x="243680" y="179926"/>
                      <a:pt x="243319" y="179471"/>
                      <a:pt x="242955" y="179019"/>
                    </a:cubicBezTo>
                    <a:lnTo>
                      <a:pt x="242505" y="178455"/>
                    </a:lnTo>
                    <a:cubicBezTo>
                      <a:pt x="251727" y="163221"/>
                      <a:pt x="249924" y="148150"/>
                      <a:pt x="248319" y="134786"/>
                    </a:cubicBezTo>
                    <a:cubicBezTo>
                      <a:pt x="247660" y="129302"/>
                      <a:pt x="247037" y="124123"/>
                      <a:pt x="247195" y="119259"/>
                    </a:cubicBezTo>
                    <a:cubicBezTo>
                      <a:pt x="247359" y="114102"/>
                      <a:pt x="248041" y="109679"/>
                      <a:pt x="248700" y="105402"/>
                    </a:cubicBezTo>
                    <a:cubicBezTo>
                      <a:pt x="249511" y="100132"/>
                      <a:pt x="250335" y="94680"/>
                      <a:pt x="250108" y="88251"/>
                    </a:cubicBezTo>
                    <a:cubicBezTo>
                      <a:pt x="250278" y="87576"/>
                      <a:pt x="250347" y="86780"/>
                      <a:pt x="250258" y="85835"/>
                    </a:cubicBezTo>
                    <a:cubicBezTo>
                      <a:pt x="249678" y="79669"/>
                      <a:pt x="242639" y="61223"/>
                      <a:pt x="228295" y="44522"/>
                    </a:cubicBezTo>
                    <a:cubicBezTo>
                      <a:pt x="220578" y="35540"/>
                      <a:pt x="209377" y="25508"/>
                      <a:pt x="194146" y="18621"/>
                    </a:cubicBezTo>
                    <a:cubicBezTo>
                      <a:pt x="200814" y="17267"/>
                      <a:pt x="209802" y="16036"/>
                      <a:pt x="219856" y="16260"/>
                    </a:cubicBezTo>
                    <a:cubicBezTo>
                      <a:pt x="245909" y="16839"/>
                      <a:pt x="266523" y="26591"/>
                      <a:pt x="281123" y="45246"/>
                    </a:cubicBezTo>
                    <a:cubicBezTo>
                      <a:pt x="281433" y="45651"/>
                      <a:pt x="281716" y="46076"/>
                      <a:pt x="281970" y="46519"/>
                    </a:cubicBezTo>
                    <a:cubicBezTo>
                      <a:pt x="291153" y="63735"/>
                      <a:pt x="278462" y="126212"/>
                      <a:pt x="244039" y="180383"/>
                    </a:cubicBezTo>
                    <a:close/>
                    <a:moveTo>
                      <a:pt x="132068" y="102707"/>
                    </a:moveTo>
                    <a:cubicBezTo>
                      <a:pt x="131751" y="104986"/>
                      <a:pt x="128145" y="108073"/>
                      <a:pt x="124180" y="108073"/>
                    </a:cubicBezTo>
                    <a:cubicBezTo>
                      <a:pt x="123837" y="108073"/>
                      <a:pt x="123493" y="108049"/>
                      <a:pt x="123153" y="108002"/>
                    </a:cubicBezTo>
                    <a:cubicBezTo>
                      <a:pt x="120774" y="107672"/>
                      <a:pt x="118371" y="106173"/>
                      <a:pt x="116728" y="103994"/>
                    </a:cubicBezTo>
                    <a:cubicBezTo>
                      <a:pt x="116146" y="103225"/>
                      <a:pt x="115200" y="101733"/>
                      <a:pt x="115388" y="100382"/>
                    </a:cubicBezTo>
                    <a:cubicBezTo>
                      <a:pt x="115458" y="99873"/>
                      <a:pt x="115720" y="99131"/>
                      <a:pt x="116563" y="98492"/>
                    </a:cubicBezTo>
                    <a:cubicBezTo>
                      <a:pt x="118064" y="97357"/>
                      <a:pt x="121031" y="96935"/>
                      <a:pt x="124305" y="97391"/>
                    </a:cubicBezTo>
                    <a:cubicBezTo>
                      <a:pt x="128322" y="97951"/>
                      <a:pt x="132466" y="99852"/>
                      <a:pt x="132068" y="102707"/>
                    </a:cubicBezTo>
                    <a:close/>
                    <a:moveTo>
                      <a:pt x="232785" y="97482"/>
                    </a:moveTo>
                    <a:cubicBezTo>
                      <a:pt x="232926" y="98488"/>
                      <a:pt x="232163" y="100035"/>
                      <a:pt x="230841" y="101422"/>
                    </a:cubicBezTo>
                    <a:cubicBezTo>
                      <a:pt x="229974" y="102333"/>
                      <a:pt x="228149" y="103912"/>
                      <a:pt x="225661" y="104257"/>
                    </a:cubicBezTo>
                    <a:cubicBezTo>
                      <a:pt x="225345" y="104300"/>
                      <a:pt x="225027" y="104323"/>
                      <a:pt x="224708" y="104323"/>
                    </a:cubicBezTo>
                    <a:cubicBezTo>
                      <a:pt x="220981" y="104323"/>
                      <a:pt x="217832" y="101346"/>
                      <a:pt x="217587" y="99602"/>
                    </a:cubicBezTo>
                    <a:cubicBezTo>
                      <a:pt x="217282" y="97360"/>
                      <a:pt x="220941" y="95657"/>
                      <a:pt x="224713" y="95132"/>
                    </a:cubicBezTo>
                    <a:cubicBezTo>
                      <a:pt x="228485" y="94606"/>
                      <a:pt x="232474" y="95243"/>
                      <a:pt x="232785" y="97482"/>
                    </a:cubicBezTo>
                    <a:close/>
                  </a:path>
                </a:pathLst>
              </a:custGeom>
              <a:solidFill>
                <a:schemeClr val="accent1"/>
              </a:solidFill>
              <a:ln>
                <a:noFill/>
              </a:ln>
            </p:spPr>
          </p:sp>
          <p:sp>
            <p:nvSpPr>
              <p:cNvPr id="14" name="TextBox 14"/>
              <p:cNvSpPr txBox="1"/>
              <p:nvPr/>
            </p:nvSpPr>
            <p:spPr>
              <a:xfrm>
                <a:off x="1421511" y="2694146"/>
                <a:ext cx="1184477" cy="278702"/>
              </a:xfrm>
              <a:prstGeom prst="rect">
                <a:avLst/>
              </a:prstGeom>
              <a:noFill/>
              <a:ln>
                <a:noFill/>
              </a:ln>
            </p:spPr>
            <p:txBody>
              <a:bodyPr wrap="none" lIns="0" tIns="0" rIns="0" bIns="0" anchor="t" anchorCtr="0">
                <a:spAutoFit/>
              </a:bodyPr>
              <a:lstStyle/>
              <a:p>
                <a:pPr algn="l"/>
                <a:r>
                  <a:rPr lang="en" sz="1420" b="1" dirty="0">
                    <a:solidFill>
                      <a:schemeClr val="dk1"/>
                    </a:solidFill>
                    <a:latin typeface="+mn-lt"/>
                    <a:ea typeface="+mn-ea"/>
                    <a:cs typeface="+mn-cs"/>
                  </a:rPr>
                  <a:t>PostgreSQL</a:t>
                </a:r>
              </a:p>
            </p:txBody>
          </p:sp>
          <p:sp>
            <p:nvSpPr>
              <p:cNvPr id="15" name="TextBox 15"/>
              <p:cNvSpPr txBox="1"/>
              <p:nvPr/>
            </p:nvSpPr>
            <p:spPr>
              <a:xfrm>
                <a:off x="1003554" y="3032760"/>
                <a:ext cx="456438" cy="234696"/>
              </a:xfrm>
              <a:prstGeom prst="rect">
                <a:avLst/>
              </a:prstGeom>
              <a:noFill/>
              <a:ln>
                <a:noFill/>
              </a:ln>
            </p:spPr>
            <p:txBody>
              <a:bodyPr wrap="none" lIns="0" tIns="0" rIns="0" bIns="0" anchor="t" anchorCtr="0">
                <a:spAutoFit/>
              </a:bodyPr>
              <a:lstStyle/>
              <a:p>
                <a:pPr algn="l"/>
                <a:r>
                  <a:rPr lang="en" sz="1200" dirty="0">
                    <a:solidFill>
                      <a:schemeClr val="accent2"/>
                    </a:solidFill>
                    <a:latin typeface="Consolas"/>
                    <a:ea typeface="Consolas"/>
                    <a:cs typeface="Consolas"/>
                  </a:rPr>
                  <a:t>:5432</a:t>
                </a:r>
              </a:p>
            </p:txBody>
          </p:sp>
          <p:sp>
            <p:nvSpPr>
              <p:cNvPr id="16" name="TextBox 16"/>
              <p:cNvSpPr txBox="1"/>
              <p:nvPr/>
            </p:nvSpPr>
            <p:spPr>
              <a:xfrm>
                <a:off x="1003554" y="3261360"/>
                <a:ext cx="1863852" cy="406146"/>
              </a:xfrm>
              <a:prstGeom prst="rect">
                <a:avLst/>
              </a:prstGeom>
              <a:noFill/>
              <a:ln>
                <a:noFill/>
              </a:ln>
            </p:spPr>
            <p:txBody>
              <a:bodyPr wrap="none" lIns="0" tIns="0" rIns="0" bIns="0" anchor="t" anchorCtr="0">
                <a:spAutoFit/>
              </a:bodyPr>
              <a:lstStyle/>
              <a:p>
                <a:pPr algn="l">
                  <a:lnSpc>
                    <a:spcPts val="1350"/>
                  </a:lnSpc>
                </a:pPr>
                <a:r>
                  <a:rPr lang="en" sz="1200" dirty="0">
                    <a:solidFill>
                      <a:schemeClr val="accent5"/>
                    </a:solidFill>
                    <a:latin typeface="+mn-lt"/>
                    <a:ea typeface="+mn-ea"/>
                    <a:cs typeface="+mn-cs"/>
                  </a:rPr>
                  <a:t>Dual databases — itsm_db</a:t>
                </a:r>
                <a:br/>
                <a:r>
                  <a:rPr lang="en" sz="1200" dirty="0">
                    <a:solidFill>
                      <a:schemeClr val="accent5"/>
                    </a:solidFill>
                    <a:latin typeface="+mn-lt"/>
                    <a:ea typeface="+mn-ea"/>
                    <a:cs typeface="+mn-cs"/>
                  </a:rPr>
                  <a:t>+ agentic_sre_db</a:t>
                </a:r>
              </a:p>
            </p:txBody>
          </p:sp>
        </p:grpSp>
        <p:grpSp>
          <p:nvGrpSpPr>
            <p:cNvPr id="26" name="Group 26"/>
            <p:cNvGrpSpPr/>
            <p:nvPr/>
          </p:nvGrpSpPr>
          <p:grpSpPr>
            <a:xfrm>
              <a:off x="4400550" y="2476500"/>
              <a:ext cx="3371850" cy="1676400"/>
              <a:chOff x="4400550" y="2476500"/>
              <a:chExt cx="3371850" cy="1676400"/>
            </a:xfrm>
          </p:grpSpPr>
          <p:sp>
            <p:nvSpPr>
              <p:cNvPr id="18" name="Rectangle 18"/>
              <p:cNvSpPr/>
              <p:nvPr/>
            </p:nvSpPr>
            <p:spPr>
              <a:xfrm>
                <a:off x="4400550" y="2476500"/>
                <a:ext cx="3371850" cy="1676400"/>
              </a:xfrm>
              <a:prstGeom prst="roundRect">
                <a:avLst>
                  <a:gd name="adj" fmla="val 7955"/>
                </a:avLst>
              </a:prstGeom>
              <a:solidFill>
                <a:schemeClr val="lt2"/>
              </a:solidFill>
              <a:ln w="9525">
                <a:solidFill>
                  <a:schemeClr val="accent6"/>
                </a:solidFill>
              </a:ln>
            </p:spPr>
          </p:sp>
          <p:grpSp>
            <p:nvGrpSpPr>
              <p:cNvPr id="22" name="Group 22"/>
              <p:cNvGrpSpPr/>
              <p:nvPr/>
            </p:nvGrpSpPr>
            <p:grpSpPr>
              <a:xfrm>
                <a:off x="4622800" y="2698750"/>
                <a:ext cx="203199" cy="203199"/>
                <a:chOff x="4622800" y="2698750"/>
                <a:chExt cx="203199" cy="203199"/>
              </a:xfrm>
            </p:grpSpPr>
            <p:sp>
              <p:nvSpPr>
                <p:cNvPr id="19" name="Freeform 19"/>
                <p:cNvSpPr/>
                <p:nvPr/>
              </p:nvSpPr>
              <p:spPr>
                <a:xfrm>
                  <a:off x="4622800" y="2698750"/>
                  <a:ext cx="203199" cy="101600"/>
                </a:xfrm>
                <a:custGeom>
                  <a:avLst/>
                  <a:gdLst/>
                  <a:ahLst/>
                  <a:cxnLst/>
                  <a:rect l="l" t="t" r="r" b="b"/>
                  <a:pathLst>
                    <a:path w="203199" h="101600">
                      <a:moveTo>
                        <a:pt x="101600" y="0"/>
                      </a:moveTo>
                      <a:lnTo>
                        <a:pt x="0" y="50800"/>
                      </a:lnTo>
                      <a:lnTo>
                        <a:pt x="101600" y="101600"/>
                      </a:lnTo>
                      <a:lnTo>
                        <a:pt x="203199" y="50800"/>
                      </a:lnTo>
                      <a:lnTo>
                        <a:pt x="101600" y="0"/>
                      </a:lnTo>
                    </a:path>
                  </a:pathLst>
                </a:custGeom>
                <a:noFill/>
                <a:ln w="25400">
                  <a:solidFill>
                    <a:schemeClr val="accent1"/>
                  </a:solidFill>
                </a:ln>
              </p:spPr>
            </p:sp>
            <p:sp>
              <p:nvSpPr>
                <p:cNvPr id="20" name="Freeform 20"/>
                <p:cNvSpPr/>
                <p:nvPr/>
              </p:nvSpPr>
              <p:spPr>
                <a:xfrm>
                  <a:off x="4622800" y="2800350"/>
                  <a:ext cx="203199" cy="50800"/>
                </a:xfrm>
                <a:custGeom>
                  <a:avLst/>
                  <a:gdLst/>
                  <a:ahLst/>
                  <a:cxnLst/>
                  <a:rect l="l" t="t" r="r" b="b"/>
                  <a:pathLst>
                    <a:path w="203199" h="50800">
                      <a:moveTo>
                        <a:pt x="0" y="0"/>
                      </a:moveTo>
                      <a:lnTo>
                        <a:pt x="101600" y="50800"/>
                      </a:lnTo>
                      <a:lnTo>
                        <a:pt x="203199" y="0"/>
                      </a:lnTo>
                    </a:path>
                  </a:pathLst>
                </a:custGeom>
                <a:noFill/>
                <a:ln w="25400">
                  <a:solidFill>
                    <a:schemeClr val="accent1"/>
                  </a:solidFill>
                </a:ln>
              </p:spPr>
            </p:sp>
            <p:sp>
              <p:nvSpPr>
                <p:cNvPr id="21" name="Freeform 21"/>
                <p:cNvSpPr/>
                <p:nvPr/>
              </p:nvSpPr>
              <p:spPr>
                <a:xfrm>
                  <a:off x="4622800" y="2851149"/>
                  <a:ext cx="203199" cy="50800"/>
                </a:xfrm>
                <a:custGeom>
                  <a:avLst/>
                  <a:gdLst/>
                  <a:ahLst/>
                  <a:cxnLst/>
                  <a:rect l="l" t="t" r="r" b="b"/>
                  <a:pathLst>
                    <a:path w="203199" h="50800">
                      <a:moveTo>
                        <a:pt x="0" y="0"/>
                      </a:moveTo>
                      <a:lnTo>
                        <a:pt x="101600" y="50800"/>
                      </a:lnTo>
                      <a:lnTo>
                        <a:pt x="203199" y="0"/>
                      </a:lnTo>
                    </a:path>
                  </a:pathLst>
                </a:custGeom>
                <a:noFill/>
                <a:ln w="25400">
                  <a:solidFill>
                    <a:schemeClr val="accent1"/>
                  </a:solidFill>
                </a:ln>
              </p:spPr>
            </p:sp>
          </p:grpSp>
          <p:sp>
            <p:nvSpPr>
              <p:cNvPr id="23" name="TextBox 23"/>
              <p:cNvSpPr txBox="1"/>
              <p:nvPr/>
            </p:nvSpPr>
            <p:spPr>
              <a:xfrm>
                <a:off x="4983861" y="2694146"/>
                <a:ext cx="1055942" cy="278702"/>
              </a:xfrm>
              <a:prstGeom prst="rect">
                <a:avLst/>
              </a:prstGeom>
              <a:noFill/>
              <a:ln>
                <a:noFill/>
              </a:ln>
            </p:spPr>
            <p:txBody>
              <a:bodyPr wrap="none" lIns="0" tIns="0" rIns="0" bIns="0" anchor="t" anchorCtr="0">
                <a:spAutoFit/>
              </a:bodyPr>
              <a:lstStyle/>
              <a:p>
                <a:pPr algn="l"/>
                <a:r>
                  <a:rPr lang="en" sz="1420" b="1" dirty="0">
                    <a:solidFill>
                      <a:schemeClr val="dk1"/>
                    </a:solidFill>
                    <a:latin typeface="+mn-lt"/>
                    <a:ea typeface="+mn-ea"/>
                    <a:cs typeface="+mn-cs"/>
                  </a:rPr>
                  <a:t>NestJS API</a:t>
                </a:r>
              </a:p>
            </p:txBody>
          </p:sp>
          <p:sp>
            <p:nvSpPr>
              <p:cNvPr id="24" name="TextBox 24"/>
              <p:cNvSpPr txBox="1"/>
              <p:nvPr/>
            </p:nvSpPr>
            <p:spPr>
              <a:xfrm>
                <a:off x="4565904" y="3032760"/>
                <a:ext cx="456438" cy="234696"/>
              </a:xfrm>
              <a:prstGeom prst="rect">
                <a:avLst/>
              </a:prstGeom>
              <a:noFill/>
              <a:ln>
                <a:noFill/>
              </a:ln>
            </p:spPr>
            <p:txBody>
              <a:bodyPr wrap="none" lIns="0" tIns="0" rIns="0" bIns="0" anchor="t" anchorCtr="0">
                <a:spAutoFit/>
              </a:bodyPr>
              <a:lstStyle/>
              <a:p>
                <a:pPr algn="l"/>
                <a:r>
                  <a:rPr lang="en" sz="1200" dirty="0">
                    <a:solidFill>
                      <a:schemeClr val="accent2"/>
                    </a:solidFill>
                    <a:latin typeface="Consolas"/>
                    <a:ea typeface="Consolas"/>
                    <a:cs typeface="Consolas"/>
                  </a:rPr>
                  <a:t>:4000</a:t>
                </a:r>
              </a:p>
            </p:txBody>
          </p:sp>
          <p:sp>
            <p:nvSpPr>
              <p:cNvPr id="25" name="TextBox 25"/>
              <p:cNvSpPr txBox="1"/>
              <p:nvPr/>
            </p:nvSpPr>
            <p:spPr>
              <a:xfrm>
                <a:off x="4565904" y="3261360"/>
                <a:ext cx="1520952" cy="406146"/>
              </a:xfrm>
              <a:prstGeom prst="rect">
                <a:avLst/>
              </a:prstGeom>
              <a:noFill/>
              <a:ln>
                <a:noFill/>
              </a:ln>
            </p:spPr>
            <p:txBody>
              <a:bodyPr wrap="none" lIns="0" tIns="0" rIns="0" bIns="0" anchor="t" anchorCtr="0">
                <a:spAutoFit/>
              </a:bodyPr>
              <a:lstStyle/>
              <a:p>
                <a:pPr algn="l">
                  <a:lnSpc>
                    <a:spcPts val="1350"/>
                  </a:lnSpc>
                </a:pPr>
                <a:r>
                  <a:rPr lang="en" sz="1200" dirty="0">
                    <a:solidFill>
                      <a:schemeClr val="accent5"/>
                    </a:solidFill>
                    <a:latin typeface="+mn-lt"/>
                    <a:ea typeface="+mn-ea"/>
                    <a:cs typeface="+mn-cs"/>
                  </a:rPr>
                  <a:t>REST + Swagger, the</a:t>
                </a:r>
                <a:br/>
                <a:r>
                  <a:rPr lang="en" sz="1200" dirty="0">
                    <a:solidFill>
                      <a:schemeClr val="accent5"/>
                    </a:solidFill>
                    <a:latin typeface="+mn-lt"/>
                    <a:ea typeface="+mn-ea"/>
                    <a:cs typeface="+mn-cs"/>
                  </a:rPr>
                  <a:t>system of record</a:t>
                </a:r>
              </a:p>
            </p:txBody>
          </p:sp>
        </p:grpSp>
        <p:grpSp>
          <p:nvGrpSpPr>
            <p:cNvPr id="32" name="Group 32"/>
            <p:cNvGrpSpPr/>
            <p:nvPr/>
          </p:nvGrpSpPr>
          <p:grpSpPr>
            <a:xfrm>
              <a:off x="7962900" y="2476500"/>
              <a:ext cx="3371850" cy="1676400"/>
              <a:chOff x="7962900" y="2476500"/>
              <a:chExt cx="3371850" cy="1676400"/>
            </a:xfrm>
          </p:grpSpPr>
          <p:sp>
            <p:nvSpPr>
              <p:cNvPr id="27" name="Rectangle 27"/>
              <p:cNvSpPr/>
              <p:nvPr/>
            </p:nvSpPr>
            <p:spPr>
              <a:xfrm>
                <a:off x="7962900" y="2476500"/>
                <a:ext cx="3371850" cy="1676400"/>
              </a:xfrm>
              <a:prstGeom prst="roundRect">
                <a:avLst>
                  <a:gd name="adj" fmla="val 7955"/>
                </a:avLst>
              </a:prstGeom>
              <a:solidFill>
                <a:schemeClr val="lt2"/>
              </a:solidFill>
              <a:ln w="9525">
                <a:solidFill>
                  <a:schemeClr val="accent6"/>
                </a:solidFill>
              </a:ln>
            </p:spPr>
          </p:sp>
          <p:sp>
            <p:nvSpPr>
              <p:cNvPr id="28" name="Freeform 28"/>
              <p:cNvSpPr/>
              <p:nvPr/>
            </p:nvSpPr>
            <p:spPr>
              <a:xfrm>
                <a:off x="8134350" y="2647950"/>
                <a:ext cx="304799" cy="304799"/>
              </a:xfrm>
              <a:custGeom>
                <a:avLst/>
                <a:gdLst/>
                <a:ahLst/>
                <a:cxnLst/>
                <a:rect l="l" t="t" r="r" b="b"/>
                <a:pathLst>
                  <a:path w="304799" h="304799">
                    <a:moveTo>
                      <a:pt x="237045" y="279120"/>
                    </a:moveTo>
                    <a:cubicBezTo>
                      <a:pt x="212826" y="295338"/>
                      <a:pt x="183705" y="304799"/>
                      <a:pt x="152400" y="304799"/>
                    </a:cubicBezTo>
                    <a:cubicBezTo>
                      <a:pt x="68288" y="304799"/>
                      <a:pt x="0" y="236512"/>
                      <a:pt x="0" y="152400"/>
                    </a:cubicBezTo>
                    <a:cubicBezTo>
                      <a:pt x="0" y="68288"/>
                      <a:pt x="68288" y="0"/>
                      <a:pt x="152400" y="0"/>
                    </a:cubicBezTo>
                    <a:cubicBezTo>
                      <a:pt x="236512" y="0"/>
                      <a:pt x="304799" y="68288"/>
                      <a:pt x="304799" y="152400"/>
                    </a:cubicBezTo>
                    <a:cubicBezTo>
                      <a:pt x="304799" y="197904"/>
                      <a:pt x="284809" y="238772"/>
                      <a:pt x="253148" y="266712"/>
                    </a:cubicBezTo>
                    <a:lnTo>
                      <a:pt x="117081" y="91440"/>
                    </a:lnTo>
                    <a:lnTo>
                      <a:pt x="91440" y="91440"/>
                    </a:lnTo>
                    <a:lnTo>
                      <a:pt x="91440" y="213309"/>
                    </a:lnTo>
                    <a:lnTo>
                      <a:pt x="111950" y="213309"/>
                    </a:lnTo>
                    <a:lnTo>
                      <a:pt x="111950" y="117487"/>
                    </a:lnTo>
                    <a:lnTo>
                      <a:pt x="237045" y="279120"/>
                    </a:lnTo>
                    <a:close/>
                    <a:moveTo>
                      <a:pt x="194729" y="170751"/>
                    </a:moveTo>
                    <a:lnTo>
                      <a:pt x="215049" y="196926"/>
                    </a:lnTo>
                    <a:lnTo>
                      <a:pt x="215049" y="91440"/>
                    </a:lnTo>
                    <a:lnTo>
                      <a:pt x="194729" y="91440"/>
                    </a:lnTo>
                    <a:lnTo>
                      <a:pt x="194729" y="170751"/>
                    </a:lnTo>
                    <a:close/>
                  </a:path>
                </a:pathLst>
              </a:custGeom>
              <a:solidFill>
                <a:schemeClr val="accent1"/>
              </a:solidFill>
              <a:ln>
                <a:noFill/>
              </a:ln>
            </p:spPr>
          </p:sp>
          <p:sp>
            <p:nvSpPr>
              <p:cNvPr id="29" name="TextBox 29"/>
              <p:cNvSpPr txBox="1"/>
              <p:nvPr/>
            </p:nvSpPr>
            <p:spPr>
              <a:xfrm>
                <a:off x="8546211" y="2694146"/>
                <a:ext cx="1693912" cy="278702"/>
              </a:xfrm>
              <a:prstGeom prst="rect">
                <a:avLst/>
              </a:prstGeom>
              <a:noFill/>
              <a:ln>
                <a:noFill/>
              </a:ln>
            </p:spPr>
            <p:txBody>
              <a:bodyPr wrap="none" lIns="0" tIns="0" rIns="0" bIns="0" anchor="t" anchorCtr="0">
                <a:spAutoFit/>
              </a:bodyPr>
              <a:lstStyle/>
              <a:p>
                <a:pPr algn="l"/>
                <a:r>
                  <a:rPr lang="en" sz="1420" b="1" dirty="0">
                    <a:solidFill>
                      <a:schemeClr val="dk1"/>
                    </a:solidFill>
                    <a:latin typeface="+mn-lt"/>
                    <a:ea typeface="+mn-ea"/>
                    <a:cs typeface="+mn-cs"/>
                  </a:rPr>
                  <a:t>Next.js Frontend</a:t>
                </a:r>
              </a:p>
            </p:txBody>
          </p:sp>
          <p:sp>
            <p:nvSpPr>
              <p:cNvPr id="30" name="TextBox 30"/>
              <p:cNvSpPr txBox="1"/>
              <p:nvPr/>
            </p:nvSpPr>
            <p:spPr>
              <a:xfrm>
                <a:off x="8128254" y="3032760"/>
                <a:ext cx="456438" cy="234696"/>
              </a:xfrm>
              <a:prstGeom prst="rect">
                <a:avLst/>
              </a:prstGeom>
              <a:noFill/>
              <a:ln>
                <a:noFill/>
              </a:ln>
            </p:spPr>
            <p:txBody>
              <a:bodyPr wrap="none" lIns="0" tIns="0" rIns="0" bIns="0" anchor="t" anchorCtr="0">
                <a:spAutoFit/>
              </a:bodyPr>
              <a:lstStyle/>
              <a:p>
                <a:pPr algn="l"/>
                <a:r>
                  <a:rPr lang="en" sz="1200" dirty="0">
                    <a:solidFill>
                      <a:schemeClr val="accent2"/>
                    </a:solidFill>
                    <a:latin typeface="Consolas"/>
                    <a:ea typeface="Consolas"/>
                    <a:cs typeface="Consolas"/>
                  </a:rPr>
                  <a:t>:3000</a:t>
                </a:r>
              </a:p>
            </p:txBody>
          </p:sp>
          <p:sp>
            <p:nvSpPr>
              <p:cNvPr id="31" name="TextBox 31"/>
              <p:cNvSpPr txBox="1"/>
              <p:nvPr/>
            </p:nvSpPr>
            <p:spPr>
              <a:xfrm>
                <a:off x="8128254" y="3261360"/>
                <a:ext cx="1322832" cy="406146"/>
              </a:xfrm>
              <a:prstGeom prst="rect">
                <a:avLst/>
              </a:prstGeom>
              <a:noFill/>
              <a:ln>
                <a:noFill/>
              </a:ln>
            </p:spPr>
            <p:txBody>
              <a:bodyPr wrap="none" lIns="0" tIns="0" rIns="0" bIns="0" anchor="t" anchorCtr="0">
                <a:spAutoFit/>
              </a:bodyPr>
              <a:lstStyle/>
              <a:p>
                <a:pPr algn="l">
                  <a:lnSpc>
                    <a:spcPts val="1350"/>
                  </a:lnSpc>
                </a:pPr>
                <a:r>
                  <a:rPr lang="en" sz="1200" dirty="0">
                    <a:solidFill>
                      <a:schemeClr val="accent5"/>
                    </a:solidFill>
                    <a:latin typeface="+mn-lt"/>
                    <a:ea typeface="+mn-ea"/>
                    <a:cs typeface="+mn-cs"/>
                  </a:rPr>
                  <a:t>The Core Helpdesk</a:t>
                </a:r>
                <a:br/>
                <a:r>
                  <a:rPr lang="en" sz="1200" dirty="0">
                    <a:solidFill>
                      <a:schemeClr val="accent5"/>
                    </a:solidFill>
                    <a:latin typeface="+mn-lt"/>
                    <a:ea typeface="+mn-ea"/>
                    <a:cs typeface="+mn-cs"/>
                  </a:rPr>
                  <a:t>Console</a:t>
                </a:r>
              </a:p>
            </p:txBody>
          </p:sp>
        </p:grpSp>
        <p:grpSp>
          <p:nvGrpSpPr>
            <p:cNvPr id="38" name="Group 38"/>
            <p:cNvGrpSpPr/>
            <p:nvPr/>
          </p:nvGrpSpPr>
          <p:grpSpPr>
            <a:xfrm>
              <a:off x="838200" y="4343400"/>
              <a:ext cx="3371850" cy="1676400"/>
              <a:chOff x="838200" y="4343400"/>
              <a:chExt cx="3371850" cy="1676400"/>
            </a:xfrm>
          </p:grpSpPr>
          <p:sp>
            <p:nvSpPr>
              <p:cNvPr id="33" name="Rectangle 33"/>
              <p:cNvSpPr/>
              <p:nvPr/>
            </p:nvSpPr>
            <p:spPr>
              <a:xfrm>
                <a:off x="838200" y="4343400"/>
                <a:ext cx="3371850" cy="1676400"/>
              </a:xfrm>
              <a:prstGeom prst="roundRect">
                <a:avLst>
                  <a:gd name="adj" fmla="val 7955"/>
                </a:avLst>
              </a:prstGeom>
              <a:solidFill>
                <a:schemeClr val="lt2"/>
              </a:solidFill>
              <a:ln w="9525">
                <a:solidFill>
                  <a:schemeClr val="accent6"/>
                </a:solidFill>
              </a:ln>
            </p:spPr>
          </p:sp>
          <p:sp>
            <p:nvSpPr>
              <p:cNvPr id="34" name="Freeform 34"/>
              <p:cNvSpPr/>
              <p:nvPr/>
            </p:nvSpPr>
            <p:spPr>
              <a:xfrm>
                <a:off x="1047750" y="4565650"/>
                <a:ext cx="228599" cy="203199"/>
              </a:xfrm>
              <a:custGeom>
                <a:avLst/>
                <a:gdLst/>
                <a:ahLst/>
                <a:cxnLst/>
                <a:rect l="l" t="t" r="r" b="b"/>
                <a:pathLst>
                  <a:path w="228599" h="203199">
                    <a:moveTo>
                      <a:pt x="0" y="101600"/>
                    </a:moveTo>
                    <a:lnTo>
                      <a:pt x="50800" y="101600"/>
                    </a:lnTo>
                    <a:lnTo>
                      <a:pt x="88900" y="203199"/>
                    </a:lnTo>
                    <a:lnTo>
                      <a:pt x="139700" y="0"/>
                    </a:lnTo>
                    <a:lnTo>
                      <a:pt x="177800" y="101600"/>
                    </a:lnTo>
                    <a:lnTo>
                      <a:pt x="228599" y="101600"/>
                    </a:lnTo>
                  </a:path>
                </a:pathLst>
              </a:custGeom>
              <a:noFill/>
              <a:ln w="25400">
                <a:solidFill>
                  <a:schemeClr val="accent1"/>
                </a:solidFill>
              </a:ln>
            </p:spPr>
          </p:sp>
          <p:sp>
            <p:nvSpPr>
              <p:cNvPr id="35" name="TextBox 35"/>
              <p:cNvSpPr txBox="1"/>
              <p:nvPr/>
            </p:nvSpPr>
            <p:spPr>
              <a:xfrm>
                <a:off x="1421511" y="4561046"/>
                <a:ext cx="1814127" cy="278702"/>
              </a:xfrm>
              <a:prstGeom prst="rect">
                <a:avLst/>
              </a:prstGeom>
              <a:noFill/>
              <a:ln>
                <a:noFill/>
              </a:ln>
            </p:spPr>
            <p:txBody>
              <a:bodyPr wrap="none" lIns="0" tIns="0" rIns="0" bIns="0" anchor="t" anchorCtr="0">
                <a:spAutoFit/>
              </a:bodyPr>
              <a:lstStyle/>
              <a:p>
                <a:pPr algn="l"/>
                <a:r>
                  <a:rPr lang="en" sz="1420" b="1" dirty="0">
                    <a:solidFill>
                      <a:schemeClr val="dk1"/>
                    </a:solidFill>
                    <a:latin typeface="+mn-lt"/>
                    <a:ea typeface="+mn-ea"/>
                    <a:cs typeface="+mn-cs"/>
                  </a:rPr>
                  <a:t>SRE Control Tower</a:t>
                </a:r>
              </a:p>
            </p:txBody>
          </p:sp>
          <p:sp>
            <p:nvSpPr>
              <p:cNvPr id="36" name="TextBox 36"/>
              <p:cNvSpPr txBox="1"/>
              <p:nvPr/>
            </p:nvSpPr>
            <p:spPr>
              <a:xfrm>
                <a:off x="1003554" y="4899660"/>
                <a:ext cx="456438" cy="234696"/>
              </a:xfrm>
              <a:prstGeom prst="rect">
                <a:avLst/>
              </a:prstGeom>
              <a:noFill/>
              <a:ln>
                <a:noFill/>
              </a:ln>
            </p:spPr>
            <p:txBody>
              <a:bodyPr wrap="none" lIns="0" tIns="0" rIns="0" bIns="0" anchor="t" anchorCtr="0">
                <a:spAutoFit/>
              </a:bodyPr>
              <a:lstStyle/>
              <a:p>
                <a:pPr algn="l"/>
                <a:r>
                  <a:rPr lang="en" sz="1200" dirty="0">
                    <a:solidFill>
                      <a:schemeClr val="accent2"/>
                    </a:solidFill>
                    <a:latin typeface="Consolas"/>
                    <a:ea typeface="Consolas"/>
                    <a:cs typeface="Consolas"/>
                  </a:rPr>
                  <a:t>:5173</a:t>
                </a:r>
              </a:p>
            </p:txBody>
          </p:sp>
          <p:sp>
            <p:nvSpPr>
              <p:cNvPr id="37" name="TextBox 37"/>
              <p:cNvSpPr txBox="1"/>
              <p:nvPr/>
            </p:nvSpPr>
            <p:spPr>
              <a:xfrm>
                <a:off x="1003554" y="5128260"/>
                <a:ext cx="1650492" cy="406146"/>
              </a:xfrm>
              <a:prstGeom prst="rect">
                <a:avLst/>
              </a:prstGeom>
              <a:noFill/>
              <a:ln>
                <a:noFill/>
              </a:ln>
            </p:spPr>
            <p:txBody>
              <a:bodyPr wrap="none" lIns="0" tIns="0" rIns="0" bIns="0" anchor="t" anchorCtr="0">
                <a:spAutoFit/>
              </a:bodyPr>
              <a:lstStyle/>
              <a:p>
                <a:pPr algn="l">
                  <a:lnSpc>
                    <a:spcPts val="1350"/>
                  </a:lnSpc>
                </a:pPr>
                <a:r>
                  <a:rPr lang="en" sz="1200" dirty="0">
                    <a:solidFill>
                      <a:schemeClr val="accent5"/>
                    </a:solidFill>
                    <a:latin typeface="+mn-lt"/>
                    <a:ea typeface="+mn-ea"/>
                    <a:cs typeface="+mn-cs"/>
                  </a:rPr>
                  <a:t>React + Vite, SSE</a:t>
                </a:r>
                <a:br/>
                <a:r>
                  <a:rPr lang="en" sz="1200" dirty="0">
                    <a:solidFill>
                      <a:schemeClr val="accent5"/>
                    </a:solidFill>
                    <a:latin typeface="+mn-lt"/>
                    <a:ea typeface="+mn-ea"/>
                    <a:cs typeface="+mn-cs"/>
                  </a:rPr>
                  <a:t>governance dashboard</a:t>
                </a:r>
              </a:p>
            </p:txBody>
          </p:sp>
        </p:grpSp>
        <p:grpSp>
          <p:nvGrpSpPr>
            <p:cNvPr id="47" name="Group 47"/>
            <p:cNvGrpSpPr/>
            <p:nvPr/>
          </p:nvGrpSpPr>
          <p:grpSpPr>
            <a:xfrm>
              <a:off x="4400550" y="4343400"/>
              <a:ext cx="3371850" cy="1676400"/>
              <a:chOff x="4400550" y="4343400"/>
              <a:chExt cx="3371850" cy="1676400"/>
            </a:xfrm>
          </p:grpSpPr>
          <p:sp>
            <p:nvSpPr>
              <p:cNvPr id="39" name="Rectangle 39"/>
              <p:cNvSpPr/>
              <p:nvPr/>
            </p:nvSpPr>
            <p:spPr>
              <a:xfrm>
                <a:off x="4400550" y="4343400"/>
                <a:ext cx="3371850" cy="1676400"/>
              </a:xfrm>
              <a:prstGeom prst="roundRect">
                <a:avLst>
                  <a:gd name="adj" fmla="val 7955"/>
                </a:avLst>
              </a:prstGeom>
              <a:solidFill>
                <a:schemeClr val="lt2"/>
              </a:solidFill>
              <a:ln w="9525">
                <a:solidFill>
                  <a:schemeClr val="accent6"/>
                </a:solidFill>
              </a:ln>
            </p:spPr>
          </p:sp>
          <p:grpSp>
            <p:nvGrpSpPr>
              <p:cNvPr id="43" name="Group 43"/>
              <p:cNvGrpSpPr/>
              <p:nvPr/>
            </p:nvGrpSpPr>
            <p:grpSpPr>
              <a:xfrm>
                <a:off x="4610100" y="4565650"/>
                <a:ext cx="228599" cy="203199"/>
                <a:chOff x="4610100" y="4565650"/>
                <a:chExt cx="228599" cy="203199"/>
              </a:xfrm>
            </p:grpSpPr>
            <p:sp>
              <p:nvSpPr>
                <p:cNvPr id="40" name="Freeform 40"/>
                <p:cNvSpPr/>
                <p:nvPr/>
              </p:nvSpPr>
              <p:spPr>
                <a:xfrm>
                  <a:off x="4673600" y="4629150"/>
                  <a:ext cx="38100" cy="76200"/>
                </a:xfrm>
                <a:custGeom>
                  <a:avLst/>
                  <a:gdLst/>
                  <a:ahLst/>
                  <a:cxnLst/>
                  <a:rect l="l" t="t" r="r" b="b"/>
                  <a:pathLst>
                    <a:path w="38100" h="76200">
                      <a:moveTo>
                        <a:pt x="0" y="0"/>
                      </a:moveTo>
                      <a:lnTo>
                        <a:pt x="38100" y="38100"/>
                      </a:lnTo>
                      <a:lnTo>
                        <a:pt x="0" y="76200"/>
                      </a:lnTo>
                    </a:path>
                  </a:pathLst>
                </a:custGeom>
                <a:noFill/>
                <a:ln w="25400">
                  <a:solidFill>
                    <a:schemeClr val="accent1"/>
                  </a:solidFill>
                </a:ln>
              </p:spPr>
            </p:sp>
            <p:sp>
              <p:nvSpPr>
                <p:cNvPr id="41" name="Freeform 41"/>
                <p:cNvSpPr/>
                <p:nvPr/>
              </p:nvSpPr>
              <p:spPr>
                <a:xfrm>
                  <a:off x="4737100" y="4705350"/>
                  <a:ext cx="38100" cy="9525"/>
                </a:xfrm>
                <a:custGeom>
                  <a:avLst/>
                  <a:gdLst/>
                  <a:ahLst/>
                  <a:cxnLst/>
                  <a:rect l="l" t="t" r="r" b="b"/>
                  <a:pathLst>
                    <a:path w="38100" h="9525">
                      <a:moveTo>
                        <a:pt x="0" y="0"/>
                      </a:moveTo>
                      <a:lnTo>
                        <a:pt x="38100" y="0"/>
                      </a:lnTo>
                    </a:path>
                  </a:pathLst>
                </a:custGeom>
                <a:noFill/>
                <a:ln w="25400">
                  <a:solidFill>
                    <a:schemeClr val="accent1"/>
                  </a:solidFill>
                </a:ln>
              </p:spPr>
            </p:sp>
            <p:sp>
              <p:nvSpPr>
                <p:cNvPr id="42" name="Freeform 42"/>
                <p:cNvSpPr/>
                <p:nvPr/>
              </p:nvSpPr>
              <p:spPr>
                <a:xfrm>
                  <a:off x="4610100" y="4565650"/>
                  <a:ext cx="228599" cy="203199"/>
                </a:xfrm>
                <a:custGeom>
                  <a:avLst/>
                  <a:gdLst/>
                  <a:ahLst/>
                  <a:cxnLst/>
                  <a:rect l="l" t="t" r="r" b="b"/>
                  <a:pathLst>
                    <a:path w="228599" h="203199">
                      <a:moveTo>
                        <a:pt x="0" y="25400"/>
                      </a:moveTo>
                      <a:cubicBezTo>
                        <a:pt x="0" y="11372"/>
                        <a:pt x="11372" y="0"/>
                        <a:pt x="25400" y="0"/>
                      </a:cubicBezTo>
                      <a:lnTo>
                        <a:pt x="203199" y="0"/>
                      </a:lnTo>
                      <a:cubicBezTo>
                        <a:pt x="217227" y="0"/>
                        <a:pt x="228599" y="11372"/>
                        <a:pt x="228599" y="25400"/>
                      </a:cubicBezTo>
                      <a:lnTo>
                        <a:pt x="228599" y="177800"/>
                      </a:lnTo>
                      <a:cubicBezTo>
                        <a:pt x="228599" y="191828"/>
                        <a:pt x="217227" y="203199"/>
                        <a:pt x="203199" y="203199"/>
                      </a:cubicBezTo>
                      <a:lnTo>
                        <a:pt x="25400" y="203199"/>
                      </a:lnTo>
                      <a:cubicBezTo>
                        <a:pt x="11372" y="203199"/>
                        <a:pt x="0" y="191828"/>
                        <a:pt x="0" y="177800"/>
                      </a:cubicBezTo>
                      <a:lnTo>
                        <a:pt x="0" y="25400"/>
                      </a:lnTo>
                    </a:path>
                  </a:pathLst>
                </a:custGeom>
                <a:noFill/>
                <a:ln w="25400">
                  <a:solidFill>
                    <a:schemeClr val="accent1"/>
                  </a:solidFill>
                </a:ln>
              </p:spPr>
            </p:sp>
          </p:grpSp>
          <p:sp>
            <p:nvSpPr>
              <p:cNvPr id="44" name="TextBox 44"/>
              <p:cNvSpPr txBox="1"/>
              <p:nvPr/>
            </p:nvSpPr>
            <p:spPr>
              <a:xfrm>
                <a:off x="4983861" y="4561046"/>
                <a:ext cx="1865253" cy="278702"/>
              </a:xfrm>
              <a:prstGeom prst="rect">
                <a:avLst/>
              </a:prstGeom>
              <a:noFill/>
              <a:ln>
                <a:noFill/>
              </a:ln>
            </p:spPr>
            <p:txBody>
              <a:bodyPr wrap="none" lIns="0" tIns="0" rIns="0" bIns="0" anchor="t" anchorCtr="0">
                <a:spAutoFit/>
              </a:bodyPr>
              <a:lstStyle/>
              <a:p>
                <a:pPr algn="l"/>
                <a:r>
                  <a:rPr lang="en" sz="1420" b="1" dirty="0">
                    <a:solidFill>
                      <a:schemeClr val="dk1"/>
                    </a:solidFill>
                    <a:latin typeface="+mn-lt"/>
                    <a:ea typeface="+mn-ea"/>
                    <a:cs typeface="+mn-cs"/>
                  </a:rPr>
                  <a:t>Python SRE Daemon</a:t>
                </a:r>
              </a:p>
            </p:txBody>
          </p:sp>
          <p:sp>
            <p:nvSpPr>
              <p:cNvPr id="45" name="TextBox 45"/>
              <p:cNvSpPr txBox="1"/>
              <p:nvPr/>
            </p:nvSpPr>
            <p:spPr>
              <a:xfrm>
                <a:off x="4565904" y="4899660"/>
                <a:ext cx="900684"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Consolas"/>
                    <a:ea typeface="Consolas"/>
                    <a:cs typeface="Consolas"/>
                  </a:rPr>
                  <a:t>background</a:t>
                </a:r>
              </a:p>
            </p:txBody>
          </p:sp>
          <p:sp>
            <p:nvSpPr>
              <p:cNvPr id="46" name="TextBox 46"/>
              <p:cNvSpPr txBox="1"/>
              <p:nvPr/>
            </p:nvSpPr>
            <p:spPr>
              <a:xfrm>
                <a:off x="4565904" y="5128260"/>
                <a:ext cx="1688592" cy="406146"/>
              </a:xfrm>
              <a:prstGeom prst="rect">
                <a:avLst/>
              </a:prstGeom>
              <a:noFill/>
              <a:ln>
                <a:noFill/>
              </a:ln>
            </p:spPr>
            <p:txBody>
              <a:bodyPr wrap="none" lIns="0" tIns="0" rIns="0" bIns="0" anchor="t" anchorCtr="0">
                <a:spAutoFit/>
              </a:bodyPr>
              <a:lstStyle/>
              <a:p>
                <a:pPr algn="l">
                  <a:lnSpc>
                    <a:spcPts val="1350"/>
                  </a:lnSpc>
                </a:pPr>
                <a:r>
                  <a:rPr lang="en" sz="1200" dirty="0">
                    <a:solidFill>
                      <a:schemeClr val="accent5"/>
                    </a:solidFill>
                    <a:latin typeface="+mn-lt"/>
                    <a:ea typeface="+mn-ea"/>
                    <a:cs typeface="+mn-cs"/>
                  </a:rPr>
                  <a:t>Autonomous resolver +</a:t>
                </a:r>
                <a:br/>
                <a:r>
                  <a:rPr lang="en" sz="1200" dirty="0">
                    <a:solidFill>
                      <a:schemeClr val="accent5"/>
                    </a:solidFill>
                    <a:latin typeface="+mn-lt"/>
                    <a:ea typeface="+mn-ea"/>
                    <a:cs typeface="+mn-cs"/>
                  </a:rPr>
                  <a:t>hybrid RAG engine</a:t>
                </a:r>
              </a:p>
            </p:txBody>
          </p:sp>
        </p:grpSp>
        <p:grpSp>
          <p:nvGrpSpPr>
            <p:cNvPr id="59" name="Group 59"/>
            <p:cNvGrpSpPr/>
            <p:nvPr/>
          </p:nvGrpSpPr>
          <p:grpSpPr>
            <a:xfrm>
              <a:off x="7962900" y="4343400"/>
              <a:ext cx="3371850" cy="1676400"/>
              <a:chOff x="7962900" y="4343400"/>
              <a:chExt cx="3371850" cy="1676400"/>
            </a:xfrm>
          </p:grpSpPr>
          <p:sp>
            <p:nvSpPr>
              <p:cNvPr id="48" name="Rectangle 48"/>
              <p:cNvSpPr/>
              <p:nvPr/>
            </p:nvSpPr>
            <p:spPr>
              <a:xfrm>
                <a:off x="7962900" y="4343400"/>
                <a:ext cx="3371850" cy="1676400"/>
              </a:xfrm>
              <a:prstGeom prst="roundRect">
                <a:avLst>
                  <a:gd name="adj" fmla="val 7955"/>
                </a:avLst>
              </a:prstGeom>
              <a:solidFill>
                <a:schemeClr val="lt2"/>
              </a:solidFill>
              <a:ln w="9525">
                <a:solidFill>
                  <a:schemeClr val="accent6"/>
                </a:solidFill>
              </a:ln>
            </p:spPr>
          </p:sp>
          <p:grpSp>
            <p:nvGrpSpPr>
              <p:cNvPr id="55" name="Group 55"/>
              <p:cNvGrpSpPr/>
              <p:nvPr/>
            </p:nvGrpSpPr>
            <p:grpSpPr>
              <a:xfrm>
                <a:off x="8172450" y="4552950"/>
                <a:ext cx="228599" cy="228599"/>
                <a:chOff x="8172450" y="4552950"/>
                <a:chExt cx="228599" cy="228599"/>
              </a:xfrm>
            </p:grpSpPr>
            <p:sp>
              <p:nvSpPr>
                <p:cNvPr id="49" name="Freeform 49"/>
                <p:cNvSpPr/>
                <p:nvPr/>
              </p:nvSpPr>
              <p:spPr>
                <a:xfrm>
                  <a:off x="8187882" y="4667250"/>
                  <a:ext cx="98867" cy="98867"/>
                </a:xfrm>
                <a:custGeom>
                  <a:avLst/>
                  <a:gdLst/>
                  <a:ahLst/>
                  <a:cxnLst/>
                  <a:rect l="l" t="t" r="r" b="b"/>
                  <a:pathLst>
                    <a:path w="98867" h="98867">
                      <a:moveTo>
                        <a:pt x="35367" y="0"/>
                      </a:moveTo>
                      <a:lnTo>
                        <a:pt x="98867" y="63500"/>
                      </a:lnTo>
                      <a:lnTo>
                        <a:pt x="79817" y="82550"/>
                      </a:lnTo>
                      <a:cubicBezTo>
                        <a:pt x="68537" y="94202"/>
                        <a:pt x="51851" y="98867"/>
                        <a:pt x="36164" y="94755"/>
                      </a:cubicBezTo>
                      <a:cubicBezTo>
                        <a:pt x="20476" y="90642"/>
                        <a:pt x="8225" y="78391"/>
                        <a:pt x="4113" y="62703"/>
                      </a:cubicBezTo>
                      <a:cubicBezTo>
                        <a:pt x="0" y="47016"/>
                        <a:pt x="4665" y="30330"/>
                        <a:pt x="16317" y="19050"/>
                      </a:cubicBezTo>
                      <a:lnTo>
                        <a:pt x="35367" y="0"/>
                      </a:lnTo>
                    </a:path>
                  </a:pathLst>
                </a:custGeom>
                <a:noFill/>
                <a:ln w="25400">
                  <a:solidFill>
                    <a:schemeClr val="accent1"/>
                  </a:solidFill>
                </a:ln>
              </p:spPr>
            </p:sp>
            <p:sp>
              <p:nvSpPr>
                <p:cNvPr id="50" name="Freeform 50"/>
                <p:cNvSpPr/>
                <p:nvPr/>
              </p:nvSpPr>
              <p:spPr>
                <a:xfrm>
                  <a:off x="8286750" y="4568382"/>
                  <a:ext cx="98867" cy="98867"/>
                </a:xfrm>
                <a:custGeom>
                  <a:avLst/>
                  <a:gdLst/>
                  <a:ahLst/>
                  <a:cxnLst/>
                  <a:rect l="l" t="t" r="r" b="b"/>
                  <a:pathLst>
                    <a:path w="98867" h="98867">
                      <a:moveTo>
                        <a:pt x="63500" y="98867"/>
                      </a:moveTo>
                      <a:lnTo>
                        <a:pt x="0" y="35367"/>
                      </a:lnTo>
                      <a:lnTo>
                        <a:pt x="19050" y="16317"/>
                      </a:lnTo>
                      <a:cubicBezTo>
                        <a:pt x="30330" y="4665"/>
                        <a:pt x="47016" y="0"/>
                        <a:pt x="62703" y="4113"/>
                      </a:cubicBezTo>
                      <a:cubicBezTo>
                        <a:pt x="78391" y="8225"/>
                        <a:pt x="90642" y="20476"/>
                        <a:pt x="94755" y="36164"/>
                      </a:cubicBezTo>
                      <a:cubicBezTo>
                        <a:pt x="98867" y="51851"/>
                        <a:pt x="94202" y="68537"/>
                        <a:pt x="82550" y="79817"/>
                      </a:cubicBezTo>
                      <a:lnTo>
                        <a:pt x="63500" y="98867"/>
                      </a:lnTo>
                    </a:path>
                  </a:pathLst>
                </a:custGeom>
                <a:noFill/>
                <a:ln w="25400">
                  <a:solidFill>
                    <a:schemeClr val="accent1"/>
                  </a:solidFill>
                </a:ln>
              </p:spPr>
            </p:sp>
            <p:sp>
              <p:nvSpPr>
                <p:cNvPr id="51" name="Freeform 51"/>
                <p:cNvSpPr/>
                <p:nvPr/>
              </p:nvSpPr>
              <p:spPr>
                <a:xfrm>
                  <a:off x="8172450" y="4749799"/>
                  <a:ext cx="31750" cy="31750"/>
                </a:xfrm>
                <a:custGeom>
                  <a:avLst/>
                  <a:gdLst/>
                  <a:ahLst/>
                  <a:cxnLst/>
                  <a:rect l="l" t="t" r="r" b="b"/>
                  <a:pathLst>
                    <a:path w="31750" h="31750">
                      <a:moveTo>
                        <a:pt x="0" y="31750"/>
                      </a:moveTo>
                      <a:lnTo>
                        <a:pt x="31750" y="0"/>
                      </a:lnTo>
                    </a:path>
                  </a:pathLst>
                </a:custGeom>
                <a:noFill/>
                <a:ln w="25400">
                  <a:solidFill>
                    <a:schemeClr val="accent1"/>
                  </a:solidFill>
                </a:ln>
              </p:spPr>
            </p:sp>
            <p:sp>
              <p:nvSpPr>
                <p:cNvPr id="52" name="Freeform 52"/>
                <p:cNvSpPr/>
                <p:nvPr/>
              </p:nvSpPr>
              <p:spPr>
                <a:xfrm>
                  <a:off x="8369299" y="4552950"/>
                  <a:ext cx="31750" cy="31750"/>
                </a:xfrm>
                <a:custGeom>
                  <a:avLst/>
                  <a:gdLst/>
                  <a:ahLst/>
                  <a:cxnLst/>
                  <a:rect l="l" t="t" r="r" b="b"/>
                  <a:pathLst>
                    <a:path w="31750" h="31750">
                      <a:moveTo>
                        <a:pt x="0" y="31750"/>
                      </a:moveTo>
                      <a:lnTo>
                        <a:pt x="31750" y="0"/>
                      </a:lnTo>
                    </a:path>
                  </a:pathLst>
                </a:custGeom>
                <a:noFill/>
                <a:ln w="25400">
                  <a:solidFill>
                    <a:schemeClr val="accent1"/>
                  </a:solidFill>
                </a:ln>
              </p:spPr>
            </p:sp>
            <p:sp>
              <p:nvSpPr>
                <p:cNvPr id="53" name="Freeform 53"/>
                <p:cNvSpPr/>
                <p:nvPr/>
              </p:nvSpPr>
              <p:spPr>
                <a:xfrm>
                  <a:off x="8235950" y="4654550"/>
                  <a:ext cx="25400" cy="25400"/>
                </a:xfrm>
                <a:custGeom>
                  <a:avLst/>
                  <a:gdLst/>
                  <a:ahLst/>
                  <a:cxnLst/>
                  <a:rect l="l" t="t" r="r" b="b"/>
                  <a:pathLst>
                    <a:path w="25400" h="25400">
                      <a:moveTo>
                        <a:pt x="25400" y="0"/>
                      </a:moveTo>
                      <a:lnTo>
                        <a:pt x="0" y="25400"/>
                      </a:lnTo>
                    </a:path>
                  </a:pathLst>
                </a:custGeom>
                <a:noFill/>
                <a:ln w="25400">
                  <a:solidFill>
                    <a:schemeClr val="accent1"/>
                  </a:solidFill>
                </a:ln>
              </p:spPr>
            </p:sp>
            <p:sp>
              <p:nvSpPr>
                <p:cNvPr id="54" name="Freeform 54"/>
                <p:cNvSpPr/>
                <p:nvPr/>
              </p:nvSpPr>
              <p:spPr>
                <a:xfrm>
                  <a:off x="8274050" y="4692650"/>
                  <a:ext cx="25400" cy="25400"/>
                </a:xfrm>
                <a:custGeom>
                  <a:avLst/>
                  <a:gdLst/>
                  <a:ahLst/>
                  <a:cxnLst/>
                  <a:rect l="l" t="t" r="r" b="b"/>
                  <a:pathLst>
                    <a:path w="25400" h="25400">
                      <a:moveTo>
                        <a:pt x="25400" y="0"/>
                      </a:moveTo>
                      <a:lnTo>
                        <a:pt x="0" y="25400"/>
                      </a:lnTo>
                    </a:path>
                  </a:pathLst>
                </a:custGeom>
                <a:noFill/>
                <a:ln w="25400">
                  <a:solidFill>
                    <a:schemeClr val="accent1"/>
                  </a:solidFill>
                </a:ln>
              </p:spPr>
            </p:sp>
          </p:grpSp>
          <p:sp>
            <p:nvSpPr>
              <p:cNvPr id="56" name="TextBox 56"/>
              <p:cNvSpPr txBox="1"/>
              <p:nvPr/>
            </p:nvSpPr>
            <p:spPr>
              <a:xfrm>
                <a:off x="8546211" y="4561046"/>
                <a:ext cx="1655387" cy="278702"/>
              </a:xfrm>
              <a:prstGeom prst="rect">
                <a:avLst/>
              </a:prstGeom>
              <a:noFill/>
              <a:ln>
                <a:noFill/>
              </a:ln>
            </p:spPr>
            <p:txBody>
              <a:bodyPr wrap="none" lIns="0" tIns="0" rIns="0" bIns="0" anchor="t" anchorCtr="0">
                <a:spAutoFit/>
              </a:bodyPr>
              <a:lstStyle/>
              <a:p>
                <a:pPr algn="l"/>
                <a:r>
                  <a:rPr lang="en" sz="1420" b="1" dirty="0">
                    <a:solidFill>
                      <a:schemeClr val="dk1"/>
                    </a:solidFill>
                    <a:latin typeface="+mn-lt"/>
                    <a:ea typeface="+mn-ea"/>
                    <a:cs typeface="+mn-cs"/>
                  </a:rPr>
                  <a:t>ITSM MCP Server</a:t>
                </a:r>
              </a:p>
            </p:txBody>
          </p:sp>
          <p:sp>
            <p:nvSpPr>
              <p:cNvPr id="57" name="TextBox 57"/>
              <p:cNvSpPr txBox="1"/>
              <p:nvPr/>
            </p:nvSpPr>
            <p:spPr>
              <a:xfrm>
                <a:off x="8128254" y="4899660"/>
                <a:ext cx="886549"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Consolas"/>
                    <a:ea typeface="Consolas"/>
                    <a:cs typeface="Consolas"/>
                  </a:rPr>
                  <a:t>stdio / SSE</a:t>
                </a:r>
              </a:p>
            </p:txBody>
          </p:sp>
          <p:sp>
            <p:nvSpPr>
              <p:cNvPr id="58" name="TextBox 58"/>
              <p:cNvSpPr txBox="1"/>
              <p:nvPr/>
            </p:nvSpPr>
            <p:spPr>
              <a:xfrm>
                <a:off x="8128254" y="5128260"/>
                <a:ext cx="1879092" cy="406146"/>
              </a:xfrm>
              <a:prstGeom prst="rect">
                <a:avLst/>
              </a:prstGeom>
              <a:noFill/>
              <a:ln>
                <a:noFill/>
              </a:ln>
            </p:spPr>
            <p:txBody>
              <a:bodyPr wrap="none" lIns="0" tIns="0" rIns="0" bIns="0" anchor="t" anchorCtr="0">
                <a:spAutoFit/>
              </a:bodyPr>
              <a:lstStyle/>
              <a:p>
                <a:pPr algn="l">
                  <a:lnSpc>
                    <a:spcPts val="1350"/>
                  </a:lnSpc>
                </a:pPr>
                <a:r>
                  <a:rPr lang="en" sz="1200" dirty="0">
                    <a:solidFill>
                      <a:schemeClr val="accent5"/>
                    </a:solidFill>
                    <a:latin typeface="+mn-lt"/>
                    <a:ea typeface="+mn-ea"/>
                    <a:cs typeface="+mn-cs"/>
                  </a:rPr>
                  <a:t>Standard AI tool protocol</a:t>
                </a:r>
                <a:br/>
                <a:r>
                  <a:rPr lang="en" sz="1200" dirty="0">
                    <a:solidFill>
                      <a:schemeClr val="accent5"/>
                    </a:solidFill>
                    <a:latin typeface="+mn-lt"/>
                    <a:ea typeface="+mn-ea"/>
                    <a:cs typeface="+mn-cs"/>
                  </a:rPr>
                  <a:t>+ optional Slack bridge</a:t>
                </a:r>
              </a:p>
            </p:txBody>
          </p:sp>
        </p:gr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2000"/>
                </a:schemeClr>
              </a:gs>
              <a:gs pos="60000">
                <a:schemeClr val="accent1">
                  <a:alpha val="5000"/>
                </a:schemeClr>
              </a:gs>
              <a:gs pos="100000">
                <a:schemeClr val="accent1">
                  <a:alpha val="0"/>
                </a:schemeClr>
              </a:gs>
            </a:gsLst>
            <a:path path="circle">
              <a:fillToRect l="72000" t="28000" r="28000" b="72000"/>
            </a:path>
          </a:gradFill>
          <a:ln>
            <a:noFill/>
          </a:ln>
        </p:spPr>
      </p:sp>
      <p:grpSp>
        <p:nvGrpSpPr>
          <p:cNvPr id="6" name="Group 6"/>
          <p:cNvGrpSpPr/>
          <p:nvPr/>
        </p:nvGrpSpPr>
        <p:grpSpPr>
          <a:xfrm>
            <a:off x="602742" y="768668"/>
            <a:ext cx="10986516" cy="288607"/>
            <a:chOff x="602742" y="768668"/>
            <a:chExt cx="10986516" cy="288607"/>
          </a:xfrm>
        </p:grpSpPr>
        <p:sp>
          <p:nvSpPr>
            <p:cNvPr id="3" name="TextBox 3"/>
            <p:cNvSpPr txBox="1"/>
            <p:nvPr/>
          </p:nvSpPr>
          <p:spPr>
            <a:xfrm>
              <a:off x="602742" y="768668"/>
              <a:ext cx="2858872" cy="264033"/>
            </a:xfrm>
            <a:prstGeom prst="rect">
              <a:avLst/>
            </a:prstGeom>
            <a:noFill/>
            <a:ln>
              <a:noFill/>
            </a:ln>
          </p:spPr>
          <p:txBody>
            <a:bodyPr wrap="none" lIns="0" tIns="0" rIns="0" bIns="0" anchor="t" anchorCtr="0">
              <a:spAutoFit/>
            </a:bodyPr>
            <a:lstStyle/>
            <a:p>
              <a:pPr algn="l"/>
              <a:r>
                <a:rPr lang="en" sz="1350" spc="150" dirty="0">
                  <a:solidFill>
                    <a:schemeClr val="accent5"/>
                  </a:solidFill>
                  <a:latin typeface="Consolas"/>
                  <a:ea typeface="Consolas"/>
                  <a:cs typeface="Consolas"/>
                </a:rPr>
                <a:t>PART 05 · IMPACT &amp; VISION</a:t>
              </a:r>
            </a:p>
          </p:txBody>
        </p:sp>
        <p:sp>
          <p:nvSpPr>
            <p:cNvPr id="4" name="TextBox 4"/>
            <p:cNvSpPr txBox="1"/>
            <p:nvPr/>
          </p:nvSpPr>
          <p:spPr>
            <a:xfrm>
              <a:off x="10826648" y="768668"/>
              <a:ext cx="762610"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P19 / 20</a:t>
              </a:r>
            </a:p>
          </p:txBody>
        </p:sp>
        <p:sp>
          <p:nvSpPr>
            <p:cNvPr id="5" name="Line 5"/>
            <p:cNvSpPr/>
            <p:nvPr/>
          </p:nvSpPr>
          <p:spPr>
            <a:xfrm>
              <a:off x="609600" y="104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223010"/>
            <a:ext cx="9323389" cy="883729"/>
            <a:chOff x="590550" y="1223010"/>
            <a:chExt cx="9323389" cy="883729"/>
          </a:xfrm>
        </p:grpSpPr>
        <p:sp>
          <p:nvSpPr>
            <p:cNvPr id="7" name="TextBox 7"/>
            <p:cNvSpPr txBox="1"/>
            <p:nvPr/>
          </p:nvSpPr>
          <p:spPr>
            <a:xfrm>
              <a:off x="590550" y="1223010"/>
              <a:ext cx="9323389"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Not a Chatbot on a Ticket Queue</a:t>
              </a:r>
            </a:p>
          </p:txBody>
        </p:sp>
        <p:sp>
          <p:nvSpPr>
            <p:cNvPr id="8" name="TextBox 8"/>
            <p:cNvSpPr txBox="1"/>
            <p:nvPr/>
          </p:nvSpPr>
          <p:spPr>
            <a:xfrm>
              <a:off x="601218" y="1784032"/>
              <a:ext cx="6021800" cy="322707"/>
            </a:xfrm>
            <a:prstGeom prst="rect">
              <a:avLst/>
            </a:prstGeom>
            <a:noFill/>
            <a:ln>
              <a:noFill/>
            </a:ln>
          </p:spPr>
          <p:txBody>
            <a:bodyPr wrap="none" lIns="0" tIns="0" rIns="0" bIns="0" anchor="t" anchorCtr="0">
              <a:spAutoFit/>
            </a:bodyPr>
            <a:lstStyle/>
            <a:p>
              <a:pPr algn="l"/>
              <a:r>
                <a:rPr lang="en" sz="1650" dirty="0">
                  <a:solidFill>
                    <a:schemeClr val="accent5"/>
                  </a:solidFill>
                  <a:latin typeface="+mn-lt"/>
                  <a:ea typeface="+mn-ea"/>
                  <a:cs typeface="+mn-cs"/>
                </a:rPr>
                <a:t>What static automation and rules engines can’t match.</a:t>
              </a:r>
            </a:p>
          </p:txBody>
        </p:sp>
      </p:grpSp>
      <p:grpSp>
        <p:nvGrpSpPr>
          <p:cNvPr id="12" name="Group 12"/>
          <p:cNvGrpSpPr/>
          <p:nvPr/>
        </p:nvGrpSpPr>
        <p:grpSpPr>
          <a:xfrm>
            <a:off x="600456" y="2396490"/>
            <a:ext cx="10991088" cy="352044"/>
            <a:chOff x="600456" y="2396490"/>
            <a:chExt cx="10991088" cy="352044"/>
          </a:xfrm>
        </p:grpSpPr>
        <p:sp>
          <p:nvSpPr>
            <p:cNvPr id="10" name="TextBox 10"/>
            <p:cNvSpPr txBox="1"/>
            <p:nvPr/>
          </p:nvSpPr>
          <p:spPr>
            <a:xfrm>
              <a:off x="600456" y="2396490"/>
              <a:ext cx="2844916" cy="352044"/>
            </a:xfrm>
            <a:prstGeom prst="rect">
              <a:avLst/>
            </a:prstGeom>
            <a:noFill/>
            <a:ln>
              <a:noFill/>
            </a:ln>
          </p:spPr>
          <p:txBody>
            <a:bodyPr wrap="none" lIns="0" tIns="0" rIns="0" bIns="0" anchor="t" anchorCtr="0">
              <a:spAutoFit/>
            </a:bodyPr>
            <a:lstStyle/>
            <a:p>
              <a:pPr algn="l"/>
              <a:r>
                <a:rPr lang="en" sz="1800" b="1" dirty="0">
                  <a:solidFill>
                    <a:schemeClr val="accent5"/>
                  </a:solidFill>
                  <a:latin typeface="+mn-lt"/>
                  <a:ea typeface="+mn-ea"/>
                  <a:cs typeface="+mn-cs"/>
                </a:rPr>
                <a:t>Traditional Automation</a:t>
              </a:r>
            </a:p>
          </p:txBody>
        </p:sp>
        <p:sp>
          <p:nvSpPr>
            <p:cNvPr id="11" name="TextBox 11"/>
            <p:cNvSpPr txBox="1"/>
            <p:nvPr/>
          </p:nvSpPr>
          <p:spPr>
            <a:xfrm>
              <a:off x="9878164" y="2396490"/>
              <a:ext cx="1713380" cy="352044"/>
            </a:xfrm>
            <a:prstGeom prst="rect">
              <a:avLst/>
            </a:prstGeom>
            <a:noFill/>
            <a:ln>
              <a:noFill/>
            </a:ln>
          </p:spPr>
          <p:txBody>
            <a:bodyPr wrap="none" lIns="0" tIns="0" rIns="0" bIns="0" anchor="t" anchorCtr="0">
              <a:spAutoFit/>
            </a:bodyPr>
            <a:lstStyle/>
            <a:p>
              <a:pPr algn="r"/>
              <a:r>
                <a:rPr lang="en" sz="1800" b="1" dirty="0">
                  <a:solidFill>
                    <a:schemeClr val="accent2"/>
                  </a:solidFill>
                  <a:latin typeface="+mn-lt"/>
                  <a:ea typeface="+mn-ea"/>
                  <a:cs typeface="+mn-cs"/>
                </a:rPr>
                <a:t>This Platform</a:t>
              </a:r>
            </a:p>
          </p:txBody>
        </p:sp>
      </p:grpSp>
      <p:sp>
        <p:nvSpPr>
          <p:cNvPr id="13" name="Line 13"/>
          <p:cNvSpPr/>
          <p:nvPr/>
        </p:nvSpPr>
        <p:spPr>
          <a:xfrm>
            <a:off x="6096000" y="2438400"/>
            <a:ext cx="9525" cy="3562350"/>
          </a:xfrm>
          <a:custGeom>
            <a:avLst/>
            <a:gdLst/>
            <a:ahLst/>
            <a:cxnLst/>
            <a:rect l="l" t="t" r="r" b="b"/>
            <a:pathLst>
              <a:path w="9525" h="3562350">
                <a:moveTo>
                  <a:pt x="0" y="0"/>
                </a:moveTo>
                <a:lnTo>
                  <a:pt x="0" y="3562350"/>
                </a:lnTo>
              </a:path>
            </a:pathLst>
          </a:custGeom>
          <a:noFill/>
          <a:ln w="14288">
            <a:solidFill>
              <a:schemeClr val="accent6"/>
            </a:solidFill>
          </a:ln>
        </p:spPr>
      </p:sp>
      <p:grpSp>
        <p:nvGrpSpPr>
          <p:cNvPr id="34" name="Group 34"/>
          <p:cNvGrpSpPr/>
          <p:nvPr/>
        </p:nvGrpSpPr>
        <p:grpSpPr>
          <a:xfrm>
            <a:off x="666750" y="2976086"/>
            <a:ext cx="10858500" cy="2337626"/>
            <a:chOff x="666750" y="2976086"/>
            <a:chExt cx="10858500" cy="2337626"/>
          </a:xfrm>
        </p:grpSpPr>
        <p:grpSp>
          <p:nvGrpSpPr>
            <p:cNvPr id="18" name="Group 18"/>
            <p:cNvGrpSpPr/>
            <p:nvPr/>
          </p:nvGrpSpPr>
          <p:grpSpPr>
            <a:xfrm>
              <a:off x="666750" y="2976086"/>
              <a:ext cx="10858500" cy="337376"/>
              <a:chOff x="666750" y="2976086"/>
              <a:chExt cx="10858500" cy="337376"/>
            </a:xfrm>
          </p:grpSpPr>
          <p:sp>
            <p:nvSpPr>
              <p:cNvPr id="14" name="Ellipse 14"/>
              <p:cNvSpPr/>
              <p:nvPr/>
            </p:nvSpPr>
            <p:spPr>
              <a:xfrm>
                <a:off x="666750" y="3038475"/>
                <a:ext cx="114300" cy="114300"/>
              </a:xfrm>
              <a:prstGeom prst="ellipse">
                <a:avLst/>
              </a:prstGeom>
              <a:noFill/>
              <a:ln w="19050">
                <a:solidFill>
                  <a:srgbClr val="94A3B8"/>
                </a:solidFill>
              </a:ln>
            </p:spPr>
          </p:sp>
          <p:sp>
            <p:nvSpPr>
              <p:cNvPr id="15" name="TextBox 15"/>
              <p:cNvSpPr txBox="1"/>
              <p:nvPr/>
            </p:nvSpPr>
            <p:spPr>
              <a:xfrm>
                <a:off x="905637" y="2976086"/>
                <a:ext cx="4065388" cy="337376"/>
              </a:xfrm>
              <a:prstGeom prst="rect">
                <a:avLst/>
              </a:prstGeom>
              <a:noFill/>
              <a:ln>
                <a:noFill/>
              </a:ln>
            </p:spPr>
            <p:txBody>
              <a:bodyPr wrap="none" lIns="0" tIns="0" rIns="0" bIns="0" anchor="t" anchorCtr="0">
                <a:spAutoFit/>
              </a:bodyPr>
              <a:lstStyle/>
              <a:p>
                <a:pPr algn="l"/>
                <a:r>
                  <a:rPr lang="en" sz="1720" dirty="0">
                    <a:solidFill>
                      <a:schemeClr val="accent5"/>
                    </a:solidFill>
                    <a:latin typeface="+mn-lt"/>
                    <a:ea typeface="+mn-ea"/>
                    <a:cs typeface="+mn-cs"/>
                  </a:rPr>
                  <a:t>Guesses from static rule conditions</a:t>
                </a:r>
              </a:p>
            </p:txBody>
          </p:sp>
          <p:sp>
            <p:nvSpPr>
              <p:cNvPr id="16" name="Ellipse 16"/>
              <p:cNvSpPr/>
              <p:nvPr/>
            </p:nvSpPr>
            <p:spPr>
              <a:xfrm>
                <a:off x="11410950" y="3038475"/>
                <a:ext cx="114300" cy="114300"/>
              </a:xfrm>
              <a:prstGeom prst="ellipse">
                <a:avLst/>
              </a:prstGeom>
              <a:solidFill>
                <a:schemeClr val="accent2"/>
              </a:solidFill>
              <a:ln>
                <a:noFill/>
              </a:ln>
            </p:spPr>
          </p:sp>
          <p:sp>
            <p:nvSpPr>
              <p:cNvPr id="17" name="TextBox 17"/>
              <p:cNvSpPr txBox="1"/>
              <p:nvPr/>
            </p:nvSpPr>
            <p:spPr>
              <a:xfrm>
                <a:off x="6643062" y="2976086"/>
                <a:ext cx="4681401" cy="337376"/>
              </a:xfrm>
              <a:prstGeom prst="rect">
                <a:avLst/>
              </a:prstGeom>
              <a:noFill/>
              <a:ln>
                <a:noFill/>
              </a:ln>
            </p:spPr>
            <p:txBody>
              <a:bodyPr wrap="none" lIns="0" tIns="0" rIns="0" bIns="0" anchor="t" anchorCtr="0">
                <a:spAutoFit/>
              </a:bodyPr>
              <a:lstStyle/>
              <a:p>
                <a:pPr algn="r"/>
                <a:r>
                  <a:rPr lang="en" sz="1720" dirty="0">
                    <a:solidFill>
                      <a:schemeClr val="dk1"/>
                    </a:solidFill>
                    <a:latin typeface="+mn-lt"/>
                    <a:ea typeface="+mn-ea"/>
                    <a:cs typeface="+mn-cs"/>
                  </a:rPr>
                  <a:t xml:space="preserve">Grounds every decision in </a:t>
                </a:r>
                <a:r>
                  <a:rPr lang="en" sz="1720" b="1" dirty="0">
                    <a:solidFill>
                      <a:schemeClr val="accent2"/>
                    </a:solidFill>
                    <a:latin typeface="+mn-lt"/>
                    <a:ea typeface="+mn-ea"/>
                    <a:cs typeface="+mn-cs"/>
                  </a:rPr>
                  <a:t>real precedent</a:t>
                </a:r>
              </a:p>
            </p:txBody>
          </p:sp>
        </p:grpSp>
        <p:grpSp>
          <p:nvGrpSpPr>
            <p:cNvPr id="23" name="Group 23"/>
            <p:cNvGrpSpPr/>
            <p:nvPr/>
          </p:nvGrpSpPr>
          <p:grpSpPr>
            <a:xfrm>
              <a:off x="666750" y="3642836"/>
              <a:ext cx="10858500" cy="337376"/>
              <a:chOff x="666750" y="3642836"/>
              <a:chExt cx="10858500" cy="337376"/>
            </a:xfrm>
          </p:grpSpPr>
          <p:sp>
            <p:nvSpPr>
              <p:cNvPr id="19" name="Ellipse 19"/>
              <p:cNvSpPr/>
              <p:nvPr/>
            </p:nvSpPr>
            <p:spPr>
              <a:xfrm>
                <a:off x="666750" y="3705225"/>
                <a:ext cx="114300" cy="114300"/>
              </a:xfrm>
              <a:prstGeom prst="ellipse">
                <a:avLst/>
              </a:prstGeom>
              <a:noFill/>
              <a:ln w="19050">
                <a:solidFill>
                  <a:srgbClr val="94A3B8"/>
                </a:solidFill>
              </a:ln>
            </p:spPr>
          </p:sp>
          <p:sp>
            <p:nvSpPr>
              <p:cNvPr id="20" name="TextBox 20"/>
              <p:cNvSpPr txBox="1"/>
              <p:nvPr/>
            </p:nvSpPr>
            <p:spPr>
              <a:xfrm>
                <a:off x="905637" y="3642836"/>
                <a:ext cx="3891898" cy="337376"/>
              </a:xfrm>
              <a:prstGeom prst="rect">
                <a:avLst/>
              </a:prstGeom>
              <a:noFill/>
              <a:ln>
                <a:noFill/>
              </a:ln>
            </p:spPr>
            <p:txBody>
              <a:bodyPr wrap="none" lIns="0" tIns="0" rIns="0" bIns="0" anchor="t" anchorCtr="0">
                <a:spAutoFit/>
              </a:bodyPr>
              <a:lstStyle/>
              <a:p>
                <a:pPr algn="l"/>
                <a:r>
                  <a:rPr lang="en" sz="1720" dirty="0">
                    <a:solidFill>
                      <a:schemeClr val="accent5"/>
                    </a:solidFill>
                    <a:latin typeface="+mn-lt"/>
                    <a:ea typeface="+mn-ea"/>
                    <a:cs typeface="+mn-cs"/>
                  </a:rPr>
                  <a:t>Chat assistants only suggest a fix</a:t>
                </a:r>
              </a:p>
            </p:txBody>
          </p:sp>
          <p:sp>
            <p:nvSpPr>
              <p:cNvPr id="21" name="Ellipse 21"/>
              <p:cNvSpPr/>
              <p:nvPr/>
            </p:nvSpPr>
            <p:spPr>
              <a:xfrm>
                <a:off x="11410950" y="3705225"/>
                <a:ext cx="114300" cy="114300"/>
              </a:xfrm>
              <a:prstGeom prst="ellipse">
                <a:avLst/>
              </a:prstGeom>
              <a:solidFill>
                <a:schemeClr val="accent2"/>
              </a:solidFill>
              <a:ln>
                <a:noFill/>
              </a:ln>
            </p:spPr>
          </p:sp>
          <p:sp>
            <p:nvSpPr>
              <p:cNvPr id="22" name="TextBox 22"/>
              <p:cNvSpPr txBox="1"/>
              <p:nvPr/>
            </p:nvSpPr>
            <p:spPr>
              <a:xfrm>
                <a:off x="6315635" y="3642836"/>
                <a:ext cx="5008828" cy="337376"/>
              </a:xfrm>
              <a:prstGeom prst="rect">
                <a:avLst/>
              </a:prstGeom>
              <a:noFill/>
              <a:ln>
                <a:noFill/>
              </a:ln>
            </p:spPr>
            <p:txBody>
              <a:bodyPr wrap="none" lIns="0" tIns="0" rIns="0" bIns="0" anchor="t" anchorCtr="0">
                <a:spAutoFit/>
              </a:bodyPr>
              <a:lstStyle/>
              <a:p>
                <a:pPr algn="r"/>
                <a:r>
                  <a:rPr lang="en" sz="1720" dirty="0">
                    <a:solidFill>
                      <a:schemeClr val="dk1"/>
                    </a:solidFill>
                    <a:latin typeface="+mn-lt"/>
                    <a:ea typeface="+mn-ea"/>
                    <a:cs typeface="+mn-cs"/>
                  </a:rPr>
                  <a:t xml:space="preserve">Executes live over SSH with </a:t>
                </a:r>
                <a:r>
                  <a:rPr lang="en" sz="1720" b="1" dirty="0">
                    <a:solidFill>
                      <a:schemeClr val="accent2"/>
                    </a:solidFill>
                    <a:latin typeface="+mn-lt"/>
                    <a:ea typeface="+mn-ea"/>
                    <a:cs typeface="+mn-cs"/>
                  </a:rPr>
                  <a:t>captured proof</a:t>
                </a:r>
              </a:p>
            </p:txBody>
          </p:sp>
        </p:grpSp>
        <p:grpSp>
          <p:nvGrpSpPr>
            <p:cNvPr id="28" name="Group 28"/>
            <p:cNvGrpSpPr/>
            <p:nvPr/>
          </p:nvGrpSpPr>
          <p:grpSpPr>
            <a:xfrm>
              <a:off x="666750" y="4309586"/>
              <a:ext cx="10858500" cy="337376"/>
              <a:chOff x="666750" y="4309586"/>
              <a:chExt cx="10858500" cy="337376"/>
            </a:xfrm>
          </p:grpSpPr>
          <p:sp>
            <p:nvSpPr>
              <p:cNvPr id="24" name="Ellipse 24"/>
              <p:cNvSpPr/>
              <p:nvPr/>
            </p:nvSpPr>
            <p:spPr>
              <a:xfrm>
                <a:off x="666750" y="4371975"/>
                <a:ext cx="114300" cy="114300"/>
              </a:xfrm>
              <a:prstGeom prst="ellipse">
                <a:avLst/>
              </a:prstGeom>
              <a:noFill/>
              <a:ln w="19050">
                <a:solidFill>
                  <a:srgbClr val="94A3B8"/>
                </a:solidFill>
              </a:ln>
            </p:spPr>
          </p:sp>
          <p:sp>
            <p:nvSpPr>
              <p:cNvPr id="25" name="TextBox 25"/>
              <p:cNvSpPr txBox="1"/>
              <p:nvPr/>
            </p:nvSpPr>
            <p:spPr>
              <a:xfrm>
                <a:off x="905637" y="4309586"/>
                <a:ext cx="3278426" cy="337376"/>
              </a:xfrm>
              <a:prstGeom prst="rect">
                <a:avLst/>
              </a:prstGeom>
              <a:noFill/>
              <a:ln>
                <a:noFill/>
              </a:ln>
            </p:spPr>
            <p:txBody>
              <a:bodyPr wrap="none" lIns="0" tIns="0" rIns="0" bIns="0" anchor="t" anchorCtr="0">
                <a:spAutoFit/>
              </a:bodyPr>
              <a:lstStyle/>
              <a:p>
                <a:pPr algn="l"/>
                <a:r>
                  <a:rPr lang="en" sz="1720" dirty="0">
                    <a:solidFill>
                      <a:schemeClr val="accent5"/>
                    </a:solidFill>
                    <a:latin typeface="+mn-lt"/>
                    <a:ea typeface="+mn-ea"/>
                    <a:cs typeface="+mn-cs"/>
                  </a:rPr>
                  <a:t>Trusts its own success claim</a:t>
                </a:r>
              </a:p>
            </p:txBody>
          </p:sp>
          <p:sp>
            <p:nvSpPr>
              <p:cNvPr id="26" name="Ellipse 26"/>
              <p:cNvSpPr/>
              <p:nvPr/>
            </p:nvSpPr>
            <p:spPr>
              <a:xfrm>
                <a:off x="11410950" y="4371975"/>
                <a:ext cx="114300" cy="114300"/>
              </a:xfrm>
              <a:prstGeom prst="ellipse">
                <a:avLst/>
              </a:prstGeom>
              <a:solidFill>
                <a:schemeClr val="accent2"/>
              </a:solidFill>
              <a:ln>
                <a:noFill/>
              </a:ln>
            </p:spPr>
          </p:sp>
          <p:sp>
            <p:nvSpPr>
              <p:cNvPr id="27" name="TextBox 27"/>
              <p:cNvSpPr txBox="1"/>
              <p:nvPr/>
            </p:nvSpPr>
            <p:spPr>
              <a:xfrm>
                <a:off x="7116761" y="4309586"/>
                <a:ext cx="4207702" cy="337376"/>
              </a:xfrm>
              <a:prstGeom prst="rect">
                <a:avLst/>
              </a:prstGeom>
              <a:noFill/>
              <a:ln>
                <a:noFill/>
              </a:ln>
            </p:spPr>
            <p:txBody>
              <a:bodyPr wrap="none" lIns="0" tIns="0" rIns="0" bIns="0" anchor="t" anchorCtr="0">
                <a:spAutoFit/>
              </a:bodyPr>
              <a:lstStyle/>
              <a:p>
                <a:pPr algn="r"/>
                <a:r>
                  <a:rPr lang="en" sz="1720" dirty="0">
                    <a:solidFill>
                      <a:schemeClr val="dk1"/>
                    </a:solidFill>
                    <a:latin typeface="+mn-lt"/>
                    <a:ea typeface="+mn-ea"/>
                    <a:cs typeface="+mn-cs"/>
                  </a:rPr>
                  <a:t xml:space="preserve">Requires </a:t>
                </a:r>
                <a:r>
                  <a:rPr lang="en" sz="1720" b="1" dirty="0">
                    <a:solidFill>
                      <a:schemeClr val="accent2"/>
                    </a:solidFill>
                    <a:latin typeface="+mn-lt"/>
                    <a:ea typeface="+mn-ea"/>
                    <a:cs typeface="+mn-cs"/>
                  </a:rPr>
                  <a:t>in-guest verification</a:t>
                </a:r>
                <a:r>
                  <a:rPr lang="en" sz="1720" dirty="0">
                    <a:solidFill>
                      <a:schemeClr val="dk1"/>
                    </a:solidFill>
                    <a:latin typeface="+mn-lt"/>
                    <a:ea typeface="+mn-ea"/>
                    <a:cs typeface="+mn-cs"/>
                  </a:rPr>
                  <a:t xml:space="preserve"> first</a:t>
                </a:r>
              </a:p>
            </p:txBody>
          </p:sp>
        </p:grpSp>
        <p:grpSp>
          <p:nvGrpSpPr>
            <p:cNvPr id="33" name="Group 33"/>
            <p:cNvGrpSpPr/>
            <p:nvPr/>
          </p:nvGrpSpPr>
          <p:grpSpPr>
            <a:xfrm>
              <a:off x="666750" y="4976336"/>
              <a:ext cx="10858500" cy="337376"/>
              <a:chOff x="666750" y="4976336"/>
              <a:chExt cx="10858500" cy="337376"/>
            </a:xfrm>
          </p:grpSpPr>
          <p:sp>
            <p:nvSpPr>
              <p:cNvPr id="29" name="Ellipse 29"/>
              <p:cNvSpPr/>
              <p:nvPr/>
            </p:nvSpPr>
            <p:spPr>
              <a:xfrm>
                <a:off x="666750" y="5038725"/>
                <a:ext cx="114300" cy="114300"/>
              </a:xfrm>
              <a:prstGeom prst="ellipse">
                <a:avLst/>
              </a:prstGeom>
              <a:noFill/>
              <a:ln w="19050">
                <a:solidFill>
                  <a:srgbClr val="94A3B8"/>
                </a:solidFill>
              </a:ln>
            </p:spPr>
          </p:sp>
          <p:sp>
            <p:nvSpPr>
              <p:cNvPr id="30" name="TextBox 30"/>
              <p:cNvSpPr txBox="1"/>
              <p:nvPr/>
            </p:nvSpPr>
            <p:spPr>
              <a:xfrm>
                <a:off x="905637" y="4976336"/>
                <a:ext cx="2918979" cy="337376"/>
              </a:xfrm>
              <a:prstGeom prst="rect">
                <a:avLst/>
              </a:prstGeom>
              <a:noFill/>
              <a:ln>
                <a:noFill/>
              </a:ln>
            </p:spPr>
            <p:txBody>
              <a:bodyPr wrap="none" lIns="0" tIns="0" rIns="0" bIns="0" anchor="t" anchorCtr="0">
                <a:spAutoFit/>
              </a:bodyPr>
              <a:lstStyle/>
              <a:p>
                <a:pPr algn="l"/>
                <a:r>
                  <a:rPr lang="en" sz="1720" dirty="0">
                    <a:solidFill>
                      <a:schemeClr val="accent5"/>
                    </a:solidFill>
                    <a:latin typeface="+mn-lt"/>
                    <a:ea typeface="+mn-ea"/>
                    <a:cs typeface="+mn-cs"/>
                  </a:rPr>
                  <a:t>Skips governance entirely</a:t>
                </a:r>
              </a:p>
            </p:txBody>
          </p:sp>
          <p:sp>
            <p:nvSpPr>
              <p:cNvPr id="31" name="Ellipse 31"/>
              <p:cNvSpPr/>
              <p:nvPr/>
            </p:nvSpPr>
            <p:spPr>
              <a:xfrm>
                <a:off x="11410950" y="5038725"/>
                <a:ext cx="114300" cy="114300"/>
              </a:xfrm>
              <a:prstGeom prst="ellipse">
                <a:avLst/>
              </a:prstGeom>
              <a:solidFill>
                <a:schemeClr val="accent2"/>
              </a:solidFill>
              <a:ln>
                <a:noFill/>
              </a:ln>
            </p:spPr>
          </p:sp>
          <p:sp>
            <p:nvSpPr>
              <p:cNvPr id="32" name="TextBox 32"/>
              <p:cNvSpPr txBox="1"/>
              <p:nvPr/>
            </p:nvSpPr>
            <p:spPr>
              <a:xfrm>
                <a:off x="7041841" y="4976336"/>
                <a:ext cx="4282622" cy="337376"/>
              </a:xfrm>
              <a:prstGeom prst="rect">
                <a:avLst/>
              </a:prstGeom>
              <a:noFill/>
              <a:ln>
                <a:noFill/>
              </a:ln>
            </p:spPr>
            <p:txBody>
              <a:bodyPr wrap="none" lIns="0" tIns="0" rIns="0" bIns="0" anchor="t" anchorCtr="0">
                <a:spAutoFit/>
              </a:bodyPr>
              <a:lstStyle/>
              <a:p>
                <a:pPr algn="r"/>
                <a:r>
                  <a:rPr lang="en" sz="1720" dirty="0">
                    <a:solidFill>
                      <a:schemeClr val="dk1"/>
                    </a:solidFill>
                    <a:latin typeface="+mn-lt"/>
                    <a:ea typeface="+mn-ea"/>
                    <a:cs typeface="+mn-cs"/>
                  </a:rPr>
                  <a:t xml:space="preserve">Every novel action </a:t>
                </a:r>
                <a:r>
                  <a:rPr lang="en" sz="1720" b="1" dirty="0">
                    <a:solidFill>
                      <a:schemeClr val="accent2"/>
                    </a:solidFill>
                    <a:latin typeface="+mn-lt"/>
                    <a:ea typeface="+mn-ea"/>
                    <a:cs typeface="+mn-cs"/>
                  </a:rPr>
                  <a:t>waits for a human</a:t>
                </a:r>
              </a:p>
            </p:txBody>
          </p:sp>
        </p:gr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accent1">
                  <a:alpha val="28000"/>
                </a:schemeClr>
              </a:gs>
              <a:gs pos="55000">
                <a:schemeClr val="accent1">
                  <a:alpha val="7000"/>
                </a:schemeClr>
              </a:gs>
              <a:gs pos="100000">
                <a:schemeClr val="accent1">
                  <a:alpha val="0"/>
                </a:schemeClr>
              </a:gs>
            </a:gsLst>
            <a:path path="circle">
              <a:fillToRect l="72000" t="28000" r="28000" b="72000"/>
            </a:path>
          </a:gradFill>
          <a:ln>
            <a:noFill/>
          </a:ln>
        </p:spPr>
      </p:sp>
      <p:sp>
        <p:nvSpPr>
          <p:cNvPr id="3" name="Rectangle 3"/>
          <p:cNvSpPr/>
          <p:nvPr/>
        </p:nvSpPr>
        <p:spPr>
          <a:xfrm>
            <a:off x="0" y="0"/>
            <a:ext cx="12192000" cy="6858000"/>
          </a:xfrm>
          <a:prstGeom prst="rect">
            <a:avLst/>
          </a:prstGeom>
          <a:gradFill>
            <a:gsLst>
              <a:gs pos="0">
                <a:schemeClr val="accent2">
                  <a:alpha val="20000"/>
                </a:schemeClr>
              </a:gs>
              <a:gs pos="60000">
                <a:schemeClr val="accent2">
                  <a:alpha val="5000"/>
                </a:schemeClr>
              </a:gs>
              <a:gs pos="100000">
                <a:schemeClr val="accent2">
                  <a:alpha val="0"/>
                </a:schemeClr>
              </a:gs>
            </a:gsLst>
            <a:path path="circle">
              <a:fillToRect l="28000" t="72000" r="72000" b="28000"/>
            </a:path>
          </a:gradFill>
          <a:ln>
            <a:noFill/>
          </a:ln>
        </p:spPr>
      </p:sp>
      <p:grpSp>
        <p:nvGrpSpPr>
          <p:cNvPr id="6" name="Group 6"/>
          <p:cNvGrpSpPr/>
          <p:nvPr/>
        </p:nvGrpSpPr>
        <p:grpSpPr>
          <a:xfrm>
            <a:off x="7905750" y="-762000"/>
            <a:ext cx="4381500" cy="4381500"/>
            <a:chOff x="7905750" y="-762000"/>
            <a:chExt cx="4381500" cy="4381500"/>
          </a:xfrm>
        </p:grpSpPr>
        <p:sp>
          <p:nvSpPr>
            <p:cNvPr id="4" name="Ellipse 4"/>
            <p:cNvSpPr/>
            <p:nvPr/>
          </p:nvSpPr>
          <p:spPr>
            <a:xfrm>
              <a:off x="7905750" y="-762000"/>
              <a:ext cx="4381500" cy="4381500"/>
            </a:xfrm>
            <a:prstGeom prst="ellipse">
              <a:avLst/>
            </a:prstGeom>
            <a:noFill/>
            <a:ln w="9525">
              <a:solidFill>
                <a:schemeClr val="accent1">
                  <a:alpha val="10000"/>
                </a:schemeClr>
              </a:solidFill>
            </a:ln>
          </p:spPr>
        </p:sp>
        <p:sp>
          <p:nvSpPr>
            <p:cNvPr id="5" name="Ellipse 5"/>
            <p:cNvSpPr/>
            <p:nvPr/>
          </p:nvSpPr>
          <p:spPr>
            <a:xfrm>
              <a:off x="8667750" y="0"/>
              <a:ext cx="2857500" cy="2857500"/>
            </a:xfrm>
            <a:prstGeom prst="ellipse">
              <a:avLst/>
            </a:prstGeom>
            <a:noFill/>
            <a:ln w="9525">
              <a:solidFill>
                <a:schemeClr val="accent1">
                  <a:alpha val="14000"/>
                </a:schemeClr>
              </a:solidFill>
            </a:ln>
          </p:spPr>
        </p:sp>
      </p:grpSp>
      <p:grpSp>
        <p:nvGrpSpPr>
          <p:cNvPr id="9" name="Group 9"/>
          <p:cNvGrpSpPr/>
          <p:nvPr/>
        </p:nvGrpSpPr>
        <p:grpSpPr>
          <a:xfrm>
            <a:off x="609600" y="609600"/>
            <a:ext cx="10972800" cy="5638800"/>
            <a:chOff x="609600" y="609600"/>
            <a:chExt cx="10972800" cy="5638800"/>
          </a:xfrm>
        </p:grpSpPr>
        <p:sp>
          <p:nvSpPr>
            <p:cNvPr id="7" name="Freeform 7"/>
            <p:cNvSpPr/>
            <p:nvPr/>
          </p:nvSpPr>
          <p:spPr>
            <a:xfrm>
              <a:off x="609600" y="609600"/>
              <a:ext cx="723900" cy="723900"/>
            </a:xfrm>
            <a:custGeom>
              <a:avLst/>
              <a:gdLst/>
              <a:ahLst/>
              <a:cxnLst/>
              <a:rect l="l" t="t" r="r" b="b"/>
              <a:pathLst>
                <a:path w="723900" h="723900">
                  <a:moveTo>
                    <a:pt x="0" y="0"/>
                  </a:moveTo>
                  <a:lnTo>
                    <a:pt x="723900" y="0"/>
                  </a:lnTo>
                  <a:moveTo>
                    <a:pt x="0" y="0"/>
                  </a:moveTo>
                  <a:lnTo>
                    <a:pt x="0" y="723900"/>
                  </a:lnTo>
                </a:path>
              </a:pathLst>
            </a:custGeom>
            <a:noFill/>
            <a:ln w="14288">
              <a:solidFill>
                <a:schemeClr val="accent6"/>
              </a:solidFill>
            </a:ln>
          </p:spPr>
        </p:sp>
        <p:sp>
          <p:nvSpPr>
            <p:cNvPr id="8" name="Freeform 8"/>
            <p:cNvSpPr/>
            <p:nvPr/>
          </p:nvSpPr>
          <p:spPr>
            <a:xfrm>
              <a:off x="10858500" y="5524500"/>
              <a:ext cx="723900" cy="723900"/>
            </a:xfrm>
            <a:custGeom>
              <a:avLst/>
              <a:gdLst/>
              <a:ahLst/>
              <a:cxnLst/>
              <a:rect l="l" t="t" r="r" b="b"/>
              <a:pathLst>
                <a:path w="723900" h="723900">
                  <a:moveTo>
                    <a:pt x="723900" y="723900"/>
                  </a:moveTo>
                  <a:lnTo>
                    <a:pt x="0" y="723900"/>
                  </a:lnTo>
                  <a:moveTo>
                    <a:pt x="723900" y="723900"/>
                  </a:moveTo>
                  <a:lnTo>
                    <a:pt x="723900" y="0"/>
                  </a:lnTo>
                </a:path>
              </a:pathLst>
            </a:custGeom>
            <a:noFill/>
            <a:ln w="14288">
              <a:solidFill>
                <a:schemeClr val="accent6"/>
              </a:solidFill>
            </a:ln>
          </p:spPr>
        </p:sp>
      </p:grpSp>
      <p:grpSp>
        <p:nvGrpSpPr>
          <p:cNvPr id="21" name="Group 21"/>
          <p:cNvGrpSpPr/>
          <p:nvPr/>
        </p:nvGrpSpPr>
        <p:grpSpPr>
          <a:xfrm>
            <a:off x="661194" y="1582737"/>
            <a:ext cx="1409770" cy="288164"/>
            <a:chOff x="661194" y="1582737"/>
            <a:chExt cx="1409770" cy="288164"/>
          </a:xfrm>
        </p:grpSpPr>
        <p:grpSp>
          <p:nvGrpSpPr>
            <p:cNvPr id="19" name="Group 19"/>
            <p:cNvGrpSpPr/>
            <p:nvPr/>
          </p:nvGrpSpPr>
          <p:grpSpPr>
            <a:xfrm>
              <a:off x="661194" y="1582737"/>
              <a:ext cx="144462" cy="196056"/>
              <a:chOff x="661194" y="1582737"/>
              <a:chExt cx="144462" cy="196056"/>
            </a:xfrm>
          </p:grpSpPr>
          <p:sp>
            <p:nvSpPr>
              <p:cNvPr id="10" name="Freeform 10"/>
              <p:cNvSpPr/>
              <p:nvPr/>
            </p:nvSpPr>
            <p:spPr>
              <a:xfrm>
                <a:off x="671512" y="1603375"/>
                <a:ext cx="123825" cy="82550"/>
              </a:xfrm>
              <a:custGeom>
                <a:avLst/>
                <a:gdLst/>
                <a:ahLst/>
                <a:cxnLst/>
                <a:rect l="l" t="t" r="r" b="b"/>
                <a:pathLst>
                  <a:path w="123825" h="82550">
                    <a:moveTo>
                      <a:pt x="0" y="20637"/>
                    </a:moveTo>
                    <a:cubicBezTo>
                      <a:pt x="0" y="9240"/>
                      <a:pt x="9240" y="0"/>
                      <a:pt x="20637" y="0"/>
                    </a:cubicBezTo>
                    <a:lnTo>
                      <a:pt x="103187" y="0"/>
                    </a:lnTo>
                    <a:cubicBezTo>
                      <a:pt x="114585" y="0"/>
                      <a:pt x="123825" y="9240"/>
                      <a:pt x="123825" y="20637"/>
                    </a:cubicBezTo>
                    <a:lnTo>
                      <a:pt x="123825" y="61912"/>
                    </a:lnTo>
                    <a:cubicBezTo>
                      <a:pt x="123825" y="73310"/>
                      <a:pt x="114585" y="82550"/>
                      <a:pt x="103187" y="82550"/>
                    </a:cubicBezTo>
                    <a:lnTo>
                      <a:pt x="20637" y="82550"/>
                    </a:lnTo>
                    <a:cubicBezTo>
                      <a:pt x="9240" y="82550"/>
                      <a:pt x="0" y="73310"/>
                      <a:pt x="0" y="61912"/>
                    </a:cubicBezTo>
                    <a:lnTo>
                      <a:pt x="0" y="20637"/>
                    </a:lnTo>
                  </a:path>
                </a:pathLst>
              </a:custGeom>
              <a:noFill/>
              <a:ln w="20637">
                <a:solidFill>
                  <a:schemeClr val="accent1"/>
                </a:solidFill>
              </a:ln>
            </p:spPr>
          </p:sp>
          <p:sp>
            <p:nvSpPr>
              <p:cNvPr id="11" name="Freeform 11"/>
              <p:cNvSpPr/>
              <p:nvPr/>
            </p:nvSpPr>
            <p:spPr>
              <a:xfrm>
                <a:off x="733425" y="1582737"/>
                <a:ext cx="9525" cy="20637"/>
              </a:xfrm>
              <a:custGeom>
                <a:avLst/>
                <a:gdLst/>
                <a:ahLst/>
                <a:cxnLst/>
                <a:rect l="l" t="t" r="r" b="b"/>
                <a:pathLst>
                  <a:path w="9525" h="20637">
                    <a:moveTo>
                      <a:pt x="0" y="0"/>
                    </a:moveTo>
                    <a:lnTo>
                      <a:pt x="0" y="20637"/>
                    </a:lnTo>
                  </a:path>
                </a:pathLst>
              </a:custGeom>
              <a:noFill/>
              <a:ln w="20637">
                <a:solidFill>
                  <a:schemeClr val="accent1"/>
                </a:solidFill>
              </a:ln>
            </p:spPr>
          </p:sp>
          <p:sp>
            <p:nvSpPr>
              <p:cNvPr id="12" name="Freeform 12"/>
              <p:cNvSpPr/>
              <p:nvPr/>
            </p:nvSpPr>
            <p:spPr>
              <a:xfrm>
                <a:off x="702468" y="1685925"/>
                <a:ext cx="9525" cy="92868"/>
              </a:xfrm>
              <a:custGeom>
                <a:avLst/>
                <a:gdLst/>
                <a:ahLst/>
                <a:cxnLst/>
                <a:rect l="l" t="t" r="r" b="b"/>
                <a:pathLst>
                  <a:path w="9525" h="92868">
                    <a:moveTo>
                      <a:pt x="0" y="0"/>
                    </a:moveTo>
                    <a:lnTo>
                      <a:pt x="0" y="92868"/>
                    </a:lnTo>
                  </a:path>
                </a:pathLst>
              </a:custGeom>
              <a:noFill/>
              <a:ln w="20637">
                <a:solidFill>
                  <a:schemeClr val="accent1"/>
                </a:solidFill>
              </a:ln>
            </p:spPr>
          </p:sp>
          <p:sp>
            <p:nvSpPr>
              <p:cNvPr id="13" name="Freeform 13"/>
              <p:cNvSpPr/>
              <p:nvPr/>
            </p:nvSpPr>
            <p:spPr>
              <a:xfrm>
                <a:off x="764381" y="1685925"/>
                <a:ext cx="9525" cy="92868"/>
              </a:xfrm>
              <a:custGeom>
                <a:avLst/>
                <a:gdLst/>
                <a:ahLst/>
                <a:cxnLst/>
                <a:rect l="l" t="t" r="r" b="b"/>
                <a:pathLst>
                  <a:path w="9525" h="92868">
                    <a:moveTo>
                      <a:pt x="0" y="0"/>
                    </a:moveTo>
                    <a:lnTo>
                      <a:pt x="0" y="92868"/>
                    </a:lnTo>
                  </a:path>
                </a:pathLst>
              </a:custGeom>
              <a:noFill/>
              <a:ln w="20637">
                <a:solidFill>
                  <a:schemeClr val="accent1"/>
                </a:solidFill>
              </a:ln>
            </p:spPr>
          </p:sp>
          <p:sp>
            <p:nvSpPr>
              <p:cNvPr id="14" name="Freeform 14"/>
              <p:cNvSpPr/>
              <p:nvPr/>
            </p:nvSpPr>
            <p:spPr>
              <a:xfrm>
                <a:off x="661194" y="1706562"/>
                <a:ext cx="41275" cy="20637"/>
              </a:xfrm>
              <a:custGeom>
                <a:avLst/>
                <a:gdLst/>
                <a:ahLst/>
                <a:cxnLst/>
                <a:rect l="l" t="t" r="r" b="b"/>
                <a:pathLst>
                  <a:path w="41275" h="20637">
                    <a:moveTo>
                      <a:pt x="0" y="20637"/>
                    </a:moveTo>
                    <a:lnTo>
                      <a:pt x="41275" y="0"/>
                    </a:lnTo>
                  </a:path>
                </a:pathLst>
              </a:custGeom>
              <a:noFill/>
              <a:ln w="20637">
                <a:solidFill>
                  <a:schemeClr val="accent1"/>
                </a:solidFill>
              </a:ln>
            </p:spPr>
          </p:sp>
          <p:sp>
            <p:nvSpPr>
              <p:cNvPr id="15" name="Freeform 15"/>
              <p:cNvSpPr/>
              <p:nvPr/>
            </p:nvSpPr>
            <p:spPr>
              <a:xfrm>
                <a:off x="764381" y="1706562"/>
                <a:ext cx="41275" cy="20637"/>
              </a:xfrm>
              <a:custGeom>
                <a:avLst/>
                <a:gdLst/>
                <a:ahLst/>
                <a:cxnLst/>
                <a:rect l="l" t="t" r="r" b="b"/>
                <a:pathLst>
                  <a:path w="41275" h="20637">
                    <a:moveTo>
                      <a:pt x="0" y="0"/>
                    </a:moveTo>
                    <a:lnTo>
                      <a:pt x="41275" y="20637"/>
                    </a:lnTo>
                  </a:path>
                </a:pathLst>
              </a:custGeom>
              <a:noFill/>
              <a:ln w="20637">
                <a:solidFill>
                  <a:schemeClr val="accent1"/>
                </a:solidFill>
              </a:ln>
            </p:spPr>
          </p:sp>
          <p:sp>
            <p:nvSpPr>
              <p:cNvPr id="16" name="Freeform 16"/>
              <p:cNvSpPr/>
              <p:nvPr/>
            </p:nvSpPr>
            <p:spPr>
              <a:xfrm>
                <a:off x="702468" y="1747837"/>
                <a:ext cx="61912" cy="9525"/>
              </a:xfrm>
              <a:custGeom>
                <a:avLst/>
                <a:gdLst/>
                <a:ahLst/>
                <a:cxnLst/>
                <a:rect l="l" t="t" r="r" b="b"/>
                <a:pathLst>
                  <a:path w="61912" h="9525">
                    <a:moveTo>
                      <a:pt x="0" y="0"/>
                    </a:moveTo>
                    <a:lnTo>
                      <a:pt x="61912" y="0"/>
                    </a:lnTo>
                  </a:path>
                </a:pathLst>
              </a:custGeom>
              <a:noFill/>
              <a:ln w="20637">
                <a:solidFill>
                  <a:schemeClr val="accent1"/>
                </a:solidFill>
              </a:ln>
            </p:spPr>
          </p:sp>
          <p:sp>
            <p:nvSpPr>
              <p:cNvPr id="17" name="Freeform 17"/>
              <p:cNvSpPr/>
              <p:nvPr/>
            </p:nvSpPr>
            <p:spPr>
              <a:xfrm>
                <a:off x="712787" y="1644650"/>
                <a:ext cx="9525" cy="9525"/>
              </a:xfrm>
              <a:custGeom>
                <a:avLst/>
                <a:gdLst/>
                <a:ahLst/>
                <a:cxnLst/>
                <a:rect l="l" t="t" r="r" b="b"/>
                <a:pathLst>
                  <a:path w="9525" h="9525">
                    <a:moveTo>
                      <a:pt x="0" y="0"/>
                    </a:moveTo>
                    <a:lnTo>
                      <a:pt x="0" y="103"/>
                    </a:lnTo>
                  </a:path>
                </a:pathLst>
              </a:custGeom>
              <a:noFill/>
              <a:ln w="20637">
                <a:solidFill>
                  <a:schemeClr val="accent1"/>
                </a:solidFill>
              </a:ln>
            </p:spPr>
          </p:sp>
          <p:sp>
            <p:nvSpPr>
              <p:cNvPr id="18" name="Freeform 18"/>
              <p:cNvSpPr/>
              <p:nvPr/>
            </p:nvSpPr>
            <p:spPr>
              <a:xfrm>
                <a:off x="754062" y="1644650"/>
                <a:ext cx="9525" cy="9525"/>
              </a:xfrm>
              <a:custGeom>
                <a:avLst/>
                <a:gdLst/>
                <a:ahLst/>
                <a:cxnLst/>
                <a:rect l="l" t="t" r="r" b="b"/>
                <a:pathLst>
                  <a:path w="9525" h="9525">
                    <a:moveTo>
                      <a:pt x="0" y="0"/>
                    </a:moveTo>
                    <a:lnTo>
                      <a:pt x="0" y="103"/>
                    </a:lnTo>
                  </a:path>
                </a:pathLst>
              </a:custGeom>
              <a:noFill/>
              <a:ln w="20637">
                <a:solidFill>
                  <a:schemeClr val="accent1"/>
                </a:solidFill>
              </a:ln>
            </p:spPr>
          </p:sp>
        </p:grpSp>
        <p:sp>
          <p:nvSpPr>
            <p:cNvPr id="20" name="TextBox 20"/>
            <p:cNvSpPr txBox="1"/>
            <p:nvPr/>
          </p:nvSpPr>
          <p:spPr>
            <a:xfrm>
              <a:off x="945642" y="1606868"/>
              <a:ext cx="1125322" cy="264033"/>
            </a:xfrm>
            <a:prstGeom prst="rect">
              <a:avLst/>
            </a:prstGeom>
            <a:noFill/>
            <a:ln>
              <a:noFill/>
            </a:ln>
          </p:spPr>
          <p:txBody>
            <a:bodyPr wrap="none" lIns="0" tIns="0" rIns="0" bIns="0" anchor="t" anchorCtr="0">
              <a:spAutoFit/>
            </a:bodyPr>
            <a:lstStyle/>
            <a:p>
              <a:pPr algn="l"/>
              <a:r>
                <a:rPr lang="en" sz="1350" spc="150" dirty="0">
                  <a:solidFill>
                    <a:schemeClr val="accent1"/>
                  </a:solidFill>
                  <a:latin typeface="Consolas"/>
                  <a:ea typeface="Consolas"/>
                  <a:cs typeface="Consolas"/>
                </a:rPr>
                <a:t>THANK YOU</a:t>
              </a:r>
            </a:p>
          </p:txBody>
        </p:sp>
      </p:grpSp>
      <p:grpSp>
        <p:nvGrpSpPr>
          <p:cNvPr id="23" name="Group 23"/>
          <p:cNvGrpSpPr/>
          <p:nvPr/>
        </p:nvGrpSpPr>
        <p:grpSpPr>
          <a:xfrm>
            <a:off x="590550" y="2137410"/>
            <a:ext cx="7910931" cy="819150"/>
            <a:chOff x="590550" y="2137410"/>
            <a:chExt cx="7910931" cy="819150"/>
          </a:xfrm>
        </p:grpSpPr>
        <p:sp>
          <p:nvSpPr>
            <p:cNvPr id="22" name="TextBox 22"/>
            <p:cNvSpPr txBox="1"/>
            <p:nvPr/>
          </p:nvSpPr>
          <p:spPr>
            <a:xfrm>
              <a:off x="590550" y="2137410"/>
              <a:ext cx="7910931" cy="819150"/>
            </a:xfrm>
            <a:prstGeom prst="rect">
              <a:avLst/>
            </a:prstGeom>
            <a:noFill/>
            <a:ln>
              <a:noFill/>
            </a:ln>
          </p:spPr>
          <p:txBody>
            <a:bodyPr wrap="none" lIns="0" tIns="0" rIns="0" bIns="0" anchor="t" anchorCtr="0">
              <a:spAutoFit/>
            </a:bodyPr>
            <a:lstStyle/>
            <a:p>
              <a:pPr algn="l"/>
              <a:r>
                <a:rPr lang="en" sz="4200" b="1" dirty="0">
                  <a:solidFill>
                    <a:schemeClr val="dk1"/>
                  </a:solidFill>
                  <a:latin typeface="+mn-lt"/>
                  <a:ea typeface="+mn-ea"/>
                  <a:cs typeface="+mn-cs"/>
                </a:rPr>
                <a:t>The Loop Is Already Running</a:t>
              </a:r>
            </a:p>
          </p:txBody>
        </p:sp>
      </p:grpSp>
      <p:sp>
        <p:nvSpPr>
          <p:cNvPr id="24" name="Rectangle 24"/>
          <p:cNvSpPr/>
          <p:nvPr/>
        </p:nvSpPr>
        <p:spPr>
          <a:xfrm>
            <a:off x="609600" y="2857500"/>
            <a:ext cx="1333500" cy="38100"/>
          </a:xfrm>
          <a:prstGeom prst="roundRect">
            <a:avLst>
              <a:gd name="adj" fmla="val 50000"/>
            </a:avLst>
          </a:prstGeom>
          <a:gradFill>
            <a:gsLst>
              <a:gs pos="0">
                <a:schemeClr val="accent1"/>
              </a:gs>
              <a:gs pos="100000">
                <a:schemeClr val="accent2"/>
              </a:gs>
            </a:gsLst>
            <a:lin ang="0" scaled="1"/>
          </a:gradFill>
          <a:ln>
            <a:noFill/>
          </a:ln>
        </p:spPr>
      </p:sp>
      <p:grpSp>
        <p:nvGrpSpPr>
          <p:cNvPr id="26" name="Group 26"/>
          <p:cNvGrpSpPr/>
          <p:nvPr/>
        </p:nvGrpSpPr>
        <p:grpSpPr>
          <a:xfrm>
            <a:off x="598170" y="3205162"/>
            <a:ext cx="6930207" cy="440055"/>
            <a:chOff x="598170" y="3205162"/>
            <a:chExt cx="6930207" cy="440055"/>
          </a:xfrm>
        </p:grpSpPr>
        <p:sp>
          <p:nvSpPr>
            <p:cNvPr id="25" name="TextBox 25"/>
            <p:cNvSpPr txBox="1"/>
            <p:nvPr/>
          </p:nvSpPr>
          <p:spPr>
            <a:xfrm>
              <a:off x="598170" y="3205162"/>
              <a:ext cx="6930207" cy="440055"/>
            </a:xfrm>
            <a:prstGeom prst="rect">
              <a:avLst/>
            </a:prstGeom>
            <a:noFill/>
            <a:ln>
              <a:noFill/>
            </a:ln>
          </p:spPr>
          <p:txBody>
            <a:bodyPr wrap="none" lIns="0" tIns="0" rIns="0" bIns="0" anchor="t" anchorCtr="0">
              <a:spAutoFit/>
            </a:bodyPr>
            <a:lstStyle/>
            <a:p>
              <a:pPr algn="l"/>
              <a:r>
                <a:rPr lang="en" sz="2250" dirty="0">
                  <a:solidFill>
                    <a:schemeClr val="dk1"/>
                  </a:solidFill>
                  <a:latin typeface="+mn-lt"/>
                  <a:ea typeface="+mn-ea"/>
                  <a:cs typeface="+mn-cs"/>
                </a:rPr>
                <a:t xml:space="preserve">Triage </a:t>
              </a:r>
              <a:r>
                <a:rPr lang="en" sz="2250" dirty="0">
                  <a:solidFill>
                    <a:schemeClr val="accent1"/>
                  </a:solidFill>
                  <a:latin typeface="+mn-lt"/>
                  <a:ea typeface="+mn-ea"/>
                  <a:cs typeface="+mn-cs"/>
                </a:rPr>
                <a:t>→</a:t>
              </a:r>
              <a:r>
                <a:rPr lang="en" sz="2250" dirty="0">
                  <a:solidFill>
                    <a:schemeClr val="dk1"/>
                  </a:solidFill>
                  <a:latin typeface="+mn-lt"/>
                  <a:ea typeface="+mn-ea"/>
                  <a:cs typeface="+mn-cs"/>
                </a:rPr>
                <a:t xml:space="preserve"> Retrieve </a:t>
              </a:r>
              <a:r>
                <a:rPr lang="en" sz="2250" dirty="0">
                  <a:solidFill>
                    <a:schemeClr val="accent1"/>
                  </a:solidFill>
                  <a:latin typeface="+mn-lt"/>
                  <a:ea typeface="+mn-ea"/>
                  <a:cs typeface="+mn-cs"/>
                </a:rPr>
                <a:t>→</a:t>
              </a:r>
              <a:r>
                <a:rPr lang="en" sz="2250" dirty="0">
                  <a:solidFill>
                    <a:schemeClr val="dk1"/>
                  </a:solidFill>
                  <a:latin typeface="+mn-lt"/>
                  <a:ea typeface="+mn-ea"/>
                  <a:cs typeface="+mn-cs"/>
                </a:rPr>
                <a:t xml:space="preserve"> Remediate </a:t>
              </a:r>
              <a:r>
                <a:rPr lang="en" sz="2250" dirty="0">
                  <a:solidFill>
                    <a:schemeClr val="accent1"/>
                  </a:solidFill>
                  <a:latin typeface="+mn-lt"/>
                  <a:ea typeface="+mn-ea"/>
                  <a:cs typeface="+mn-cs"/>
                </a:rPr>
                <a:t>→</a:t>
              </a:r>
              <a:r>
                <a:rPr lang="en" sz="2250" dirty="0">
                  <a:solidFill>
                    <a:schemeClr val="dk1"/>
                  </a:solidFill>
                  <a:latin typeface="+mn-lt"/>
                  <a:ea typeface="+mn-ea"/>
                  <a:cs typeface="+mn-cs"/>
                </a:rPr>
                <a:t xml:space="preserve"> Verify </a:t>
              </a:r>
              <a:r>
                <a:rPr lang="en" sz="2250" dirty="0">
                  <a:solidFill>
                    <a:schemeClr val="accent1"/>
                  </a:solidFill>
                  <a:latin typeface="+mn-lt"/>
                  <a:ea typeface="+mn-ea"/>
                  <a:cs typeface="+mn-cs"/>
                </a:rPr>
                <a:t>→</a:t>
              </a:r>
              <a:r>
                <a:rPr lang="en" sz="2250" dirty="0">
                  <a:solidFill>
                    <a:schemeClr val="dk1"/>
                  </a:solidFill>
                  <a:latin typeface="+mn-lt"/>
                  <a:ea typeface="+mn-ea"/>
                  <a:cs typeface="+mn-cs"/>
                </a:rPr>
                <a:t xml:space="preserve"> </a:t>
              </a:r>
              <a:r>
                <a:rPr lang="en" sz="2250" b="1" dirty="0">
                  <a:solidFill>
                    <a:schemeClr val="accent2"/>
                  </a:solidFill>
                  <a:latin typeface="+mn-lt"/>
                  <a:ea typeface="+mn-ea"/>
                  <a:cs typeface="+mn-cs"/>
                </a:rPr>
                <a:t>Learn</a:t>
              </a:r>
            </a:p>
          </p:txBody>
        </p:sp>
      </p:grpSp>
      <p:grpSp>
        <p:nvGrpSpPr>
          <p:cNvPr id="28" name="Group 28"/>
          <p:cNvGrpSpPr/>
          <p:nvPr/>
        </p:nvGrpSpPr>
        <p:grpSpPr>
          <a:xfrm>
            <a:off x="595884" y="3785235"/>
            <a:ext cx="7742682" cy="975741"/>
            <a:chOff x="595884" y="3785235"/>
            <a:chExt cx="7742682" cy="975741"/>
          </a:xfrm>
        </p:grpSpPr>
        <p:sp>
          <p:nvSpPr>
            <p:cNvPr id="27" name="TextBox 27"/>
            <p:cNvSpPr txBox="1"/>
            <p:nvPr/>
          </p:nvSpPr>
          <p:spPr>
            <a:xfrm>
              <a:off x="595884" y="3785235"/>
              <a:ext cx="7742682" cy="975741"/>
            </a:xfrm>
            <a:prstGeom prst="rect">
              <a:avLst/>
            </a:prstGeom>
            <a:noFill/>
            <a:ln>
              <a:noFill/>
            </a:ln>
          </p:spPr>
          <p:txBody>
            <a:bodyPr wrap="none" lIns="0" tIns="0" rIns="0" bIns="0" anchor="t" anchorCtr="0">
              <a:spAutoFit/>
            </a:bodyPr>
            <a:lstStyle/>
            <a:p>
              <a:pPr algn="l">
                <a:lnSpc>
                  <a:spcPts val="3525"/>
                </a:lnSpc>
              </a:pPr>
              <a:r>
                <a:rPr lang="en" sz="2700" dirty="0">
                  <a:solidFill>
                    <a:schemeClr val="dk1"/>
                  </a:solidFill>
                  <a:latin typeface="+mn-lt"/>
                  <a:ea typeface="+mn-ea"/>
                  <a:cs typeface="+mn-cs"/>
                </a:rPr>
                <a:t>Built end-to-end as a real, running platform —</a:t>
              </a:r>
              <a:br/>
              <a:r>
                <a:rPr lang="en" sz="2700" dirty="0">
                  <a:solidFill>
                    <a:schemeClr val="dk1"/>
                  </a:solidFill>
                  <a:latin typeface="+mn-lt"/>
                  <a:ea typeface="+mn-ea"/>
                  <a:cs typeface="+mn-cs"/>
                </a:rPr>
                <a:t>not a concept deck.</a:t>
              </a:r>
            </a:p>
          </p:txBody>
        </p:sp>
      </p:grpSp>
      <p:grpSp>
        <p:nvGrpSpPr>
          <p:cNvPr id="30" name="Group 30"/>
          <p:cNvGrpSpPr/>
          <p:nvPr/>
        </p:nvGrpSpPr>
        <p:grpSpPr>
          <a:xfrm>
            <a:off x="598932" y="4954905"/>
            <a:ext cx="6448806" cy="753618"/>
            <a:chOff x="598932" y="4954905"/>
            <a:chExt cx="6448806" cy="753618"/>
          </a:xfrm>
        </p:grpSpPr>
        <p:sp>
          <p:nvSpPr>
            <p:cNvPr id="29" name="TextBox 29"/>
            <p:cNvSpPr txBox="1"/>
            <p:nvPr/>
          </p:nvSpPr>
          <p:spPr>
            <a:xfrm>
              <a:off x="598932" y="4954905"/>
              <a:ext cx="6448806" cy="753618"/>
            </a:xfrm>
            <a:prstGeom prst="rect">
              <a:avLst/>
            </a:prstGeom>
            <a:noFill/>
            <a:ln>
              <a:noFill/>
            </a:ln>
          </p:spPr>
          <p:txBody>
            <a:bodyPr wrap="none" lIns="0" tIns="0" rIns="0" bIns="0" anchor="t" anchorCtr="0">
              <a:spAutoFit/>
            </a:bodyPr>
            <a:lstStyle/>
            <a:p>
              <a:pPr algn="l">
                <a:lnSpc>
                  <a:spcPts val="2700"/>
                </a:lnSpc>
              </a:pPr>
              <a:r>
                <a:rPr lang="en" sz="2100" dirty="0">
                  <a:solidFill>
                    <a:schemeClr val="accent5"/>
                  </a:solidFill>
                  <a:latin typeface="+mn-lt"/>
                  <a:ea typeface="+mn-ea"/>
                  <a:cs typeface="+mn-cs"/>
                </a:rPr>
                <a:t>Questions, a live demo, and the full architecture</a:t>
              </a:r>
              <a:br/>
              <a:r>
                <a:rPr lang="en" sz="2100" dirty="0">
                  <a:solidFill>
                    <a:schemeClr val="accent5"/>
                  </a:solidFill>
                  <a:latin typeface="+mn-lt"/>
                  <a:ea typeface="+mn-ea"/>
                  <a:cs typeface="+mn-cs"/>
                </a:rPr>
                <a:t xml:space="preserve">are all available </a:t>
              </a:r>
              <a:r>
                <a:rPr lang="en" sz="2100" b="1" dirty="0">
                  <a:solidFill>
                    <a:schemeClr val="accent2"/>
                  </a:solidFill>
                  <a:latin typeface="+mn-lt"/>
                  <a:ea typeface="+mn-ea"/>
                  <a:cs typeface="+mn-cs"/>
                </a:rPr>
                <a:t>right now</a:t>
              </a:r>
              <a:r>
                <a:rPr lang="en" sz="2100" dirty="0">
                  <a:solidFill>
                    <a:schemeClr val="accent5"/>
                  </a:solidFill>
                  <a:latin typeface="+mn-lt"/>
                  <a:ea typeface="+mn-ea"/>
                  <a:cs typeface="+mn-cs"/>
                </a:rPr>
                <a:t>.</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itsm_agentic_platform">
  <a:themeElements>
    <a:clrScheme name="itsm_agentic_platform">
      <a:dk1>
        <a:srgbClr val="E2E8F0"/>
      </a:dk1>
      <a:lt1>
        <a:srgbClr val="0B0F1A"/>
      </a:lt1>
      <a:dk2>
        <a:srgbClr val="1F497D"/>
      </a:dk2>
      <a:lt2>
        <a:srgbClr val="131A2C"/>
      </a:lt2>
      <a:accent1>
        <a:srgbClr val="6366F1"/>
      </a:accent1>
      <a:accent2>
        <a:srgbClr val="10B981"/>
      </a:accent2>
      <a:accent3>
        <a:srgbClr val="F59E0B"/>
      </a:accent3>
      <a:accent4>
        <a:srgbClr val="6366F1"/>
      </a:accent4>
      <a:accent5>
        <a:srgbClr val="94A3B8"/>
      </a:accent5>
      <a:accent6>
        <a:srgbClr val="253147"/>
      </a:accent6>
      <a:hlink>
        <a:srgbClr val="10B981"/>
      </a:hlink>
      <a:folHlink>
        <a:srgbClr val="F59E0B"/>
      </a:folHlink>
    </a:clrScheme>
    <a:fontScheme name="itsm_agentic_platform">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tsm_agentic_platfor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itsm_agentic_platform">
  <a:themeElements>
    <a:clrScheme name="itsm_agentic_platform">
      <a:dk1>
        <a:srgbClr val="E2E8F0"/>
      </a:dk1>
      <a:lt1>
        <a:srgbClr val="0B0F1A"/>
      </a:lt1>
      <a:dk2>
        <a:srgbClr val="1F497D"/>
      </a:dk2>
      <a:lt2>
        <a:srgbClr val="131A2C"/>
      </a:lt2>
      <a:accent1>
        <a:srgbClr val="6366F1"/>
      </a:accent1>
      <a:accent2>
        <a:srgbClr val="10B981"/>
      </a:accent2>
      <a:accent3>
        <a:srgbClr val="F59E0B"/>
      </a:accent3>
      <a:accent4>
        <a:srgbClr val="6366F1"/>
      </a:accent4>
      <a:accent5>
        <a:srgbClr val="94A3B8"/>
      </a:accent5>
      <a:accent6>
        <a:srgbClr val="253147"/>
      </a:accent6>
      <a:hlink>
        <a:srgbClr val="10B981"/>
      </a:hlink>
      <a:folHlink>
        <a:srgbClr val="F59E0B"/>
      </a:folHlink>
    </a:clrScheme>
    <a:fontScheme name="itsm_agentic_platform">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tsm_agentic_platfor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dc:language>
  <cp:lastModifiedBy/>
  <cp:revision>1</cp:revision>
  <dcterms:created xsi:type="dcterms:W3CDTF">2026-09-20T07:55:00Z</dcterms:created>
  <dcterms:modified xsi:type="dcterms:W3CDTF">2026-09-20T07:55:00Z</dcterms:modified>
  <cp:category/>
  <cp:contentStatus/>
</cp:coreProperties>
</file>