
<file path=[Content_Types].xml><?xml version="1.0" encoding="utf-8"?>
<Types xmlns="http://schemas.openxmlformats.org/package/2006/content-types">
  <Default Extension="jpeg" ContentType="image/jpeg"/>
  <Default Extension="JPG" ContentType="image/.jp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4" Type="http://schemas.openxmlformats.org/package/2006/relationships/metadata/thumbnail" Target="docProps/thumbnail.jpeg"/><Relationship Id="rId3" Type="http://schemas.openxmlformats.org/package/2006/relationships/metadata/core-properties" Target="docProps/core.xml"/><Relationship Id="rId2"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48" r:id="rId1"/>
  </p:sldMasterIdLst>
  <p:notesMasterIdLst>
    <p:notesMasterId r:id="rId5"/>
  </p:notesMasterIdLst>
  <p:sldIdLst>
    <p:sldId id="279" r:id="rId3"/>
    <p:sldId id="257" r:id="rId4"/>
    <p:sldId id="258" r:id="rId6"/>
    <p:sldId id="259" r:id="rId7"/>
    <p:sldId id="260" r:id="rId8"/>
    <p:sldId id="261" r:id="rId9"/>
    <p:sldId id="262" r:id="rId10"/>
    <p:sldId id="263" r:id="rId11"/>
    <p:sldId id="264" r:id="rId12"/>
    <p:sldId id="266" r:id="rId13"/>
    <p:sldId id="267" r:id="rId14"/>
    <p:sldId id="268" r:id="rId15"/>
    <p:sldId id="269" r:id="rId16"/>
    <p:sldId id="270" r:id="rId17"/>
    <p:sldId id="271" r:id="rId18"/>
    <p:sldId id="272" r:id="rId19"/>
    <p:sldId id="273" r:id="rId20"/>
    <p:sldId id="274" r:id="rId21"/>
    <p:sldId id="276" r:id="rId22"/>
    <p:sldId id="277" r:id="rId23"/>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9" Type="http://schemas.openxmlformats.org/officeDocument/2006/relationships/slide" Target="slides/slide6.xml"/><Relationship Id="rId8" Type="http://schemas.openxmlformats.org/officeDocument/2006/relationships/slide" Target="slides/slide5.xml"/><Relationship Id="rId7" Type="http://schemas.openxmlformats.org/officeDocument/2006/relationships/slide" Target="slides/slide4.xml"/><Relationship Id="rId6" Type="http://schemas.openxmlformats.org/officeDocument/2006/relationships/slide" Target="slides/slide3.xml"/><Relationship Id="rId5" Type="http://schemas.openxmlformats.org/officeDocument/2006/relationships/notesMaster" Target="notesMasters/notesMaster1.xml"/><Relationship Id="rId4" Type="http://schemas.openxmlformats.org/officeDocument/2006/relationships/slide" Target="slides/slide2.xml"/><Relationship Id="rId3" Type="http://schemas.openxmlformats.org/officeDocument/2006/relationships/slide" Target="slides/slide1.xml"/><Relationship Id="rId26" Type="http://schemas.openxmlformats.org/officeDocument/2006/relationships/tableStyles" Target="tableStyles.xml"/><Relationship Id="rId25" Type="http://schemas.openxmlformats.org/officeDocument/2006/relationships/viewProps" Target="viewProps.xml"/><Relationship Id="rId24" Type="http://schemas.openxmlformats.org/officeDocument/2006/relationships/presProps" Target="presProps.xml"/><Relationship Id="rId23" Type="http://schemas.openxmlformats.org/officeDocument/2006/relationships/slide" Target="slides/slide20.xml"/><Relationship Id="rId22" Type="http://schemas.openxmlformats.org/officeDocument/2006/relationships/slide" Target="slides/slide19.xml"/><Relationship Id="rId21" Type="http://schemas.openxmlformats.org/officeDocument/2006/relationships/slide" Target="slides/slide18.xml"/><Relationship Id="rId20" Type="http://schemas.openxmlformats.org/officeDocument/2006/relationships/slide" Target="slides/slide17.xml"/><Relationship Id="rId2" Type="http://schemas.openxmlformats.org/officeDocument/2006/relationships/theme" Target="theme/theme1.xml"/><Relationship Id="rId19" Type="http://schemas.openxmlformats.org/officeDocument/2006/relationships/slide" Target="slides/slide16.xml"/><Relationship Id="rId18" Type="http://schemas.openxmlformats.org/officeDocument/2006/relationships/slide" Target="slides/slide15.xml"/><Relationship Id="rId17" Type="http://schemas.openxmlformats.org/officeDocument/2006/relationships/slide" Target="slides/slide14.xml"/><Relationship Id="rId16" Type="http://schemas.openxmlformats.org/officeDocument/2006/relationships/slide" Target="slides/slide13.xml"/><Relationship Id="rId15" Type="http://schemas.openxmlformats.org/officeDocument/2006/relationships/slide" Target="slides/slide12.xml"/><Relationship Id="rId14" Type="http://schemas.openxmlformats.org/officeDocument/2006/relationships/slide" Target="slides/slide11.xml"/><Relationship Id="rId13" Type="http://schemas.openxmlformats.org/officeDocument/2006/relationships/slide" Target="slides/slide10.xml"/><Relationship Id="rId12" Type="http://schemas.openxmlformats.org/officeDocument/2006/relationships/slide" Target="slides/slide9.xml"/><Relationship Id="rId11" Type="http://schemas.openxmlformats.org/officeDocument/2006/relationships/slide" Target="slides/slide8.xml"/><Relationship Id="rId10" Type="http://schemas.openxmlformats.org/officeDocument/2006/relationships/slide" Target="slides/slide7.xml"/><Relationship Id="rId1" Type="http://schemas.openxmlformats.org/officeDocument/2006/relationships/slideMaster" Target="slideMasters/slide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a:lstStyle/>
          <a:p>
            <a:endParaRPr lang="en-GB"/>
          </a:p>
        </p:txBody>
      </p:sp>
      <p:sp>
        <p:nvSpPr>
          <p:cNvPr id="3" name="Date Placeholder 2"/>
          <p:cNvSpPr>
            <a:spLocks noGrp="1"/>
          </p:cNvSpPr>
          <p:nvPr>
            <p:ph type="dt" sz="half" idx="1"/>
          </p:nvPr>
        </p:nvSpPr>
        <p:spPr>
          <a:xfrm>
            <a:off x="3884613" y="0"/>
            <a:ext cx="2971800" cy="457200"/>
          </a:xfrm>
          <a:prstGeom prst="rect">
            <a:avLst/>
          </a:prstGeom>
        </p:spPr>
        <p:txBody>
          <a:bodyPr/>
          <a:lstStyle/>
          <a:p>
            <a:endParaRPr lang="en-GB"/>
          </a:p>
        </p:txBody>
      </p:sp>
      <p:sp>
        <p:nvSpPr>
          <p:cNvPr id="4" name="Slide Image Placeholder 3"/>
          <p:cNvSpPr>
            <a:spLocks noGrp="1" noRot="1" noChangeAspect="1"/>
          </p:cNvSpPr>
          <p:nvPr>
            <p:ph type="sldImg" idx="2"/>
          </p:nvPr>
        </p:nvSpPr>
        <p:spPr>
          <a:xfrm>
            <a:off x="1143000" y="685800"/>
            <a:ext cx="4572000" cy="3429000"/>
          </a:xfrm>
          <a:prstGeom prst="rect">
            <a:avLst/>
          </a:prstGeom>
        </p:spPr>
      </p:sp>
      <p:sp>
        <p:nvSpPr>
          <p:cNvPr id="5" name="Notes Placeholder 4"/>
          <p:cNvSpPr>
            <a:spLocks noGrp="1"/>
          </p:cNvSpPr>
          <p:nvPr>
            <p:ph type="body" sz="quarter" idx="3"/>
          </p:nvPr>
        </p:nvSpPr>
        <p:spPr>
          <a:xfrm>
            <a:off x="685800" y="4343400"/>
            <a:ext cx="5486400" cy="4114800"/>
          </a:xfrm>
          <a:prstGeom prst="rect">
            <a:avLst/>
          </a:prstGeom>
        </p:spPr>
        <p:txBody>
          <a:bodyPr/>
          <a:lstStyle/>
          <a:p>
            <a:endParaRPr lang="en-GB"/>
          </a:p>
        </p:txBody>
      </p:sp>
      <p:sp>
        <p:nvSpPr>
          <p:cNvPr id="6" name="Footer Placeholder 5"/>
          <p:cNvSpPr>
            <a:spLocks noGrp="1"/>
          </p:cNvSpPr>
          <p:nvPr>
            <p:ph type="ftr" sz="quarter" idx="4"/>
          </p:nvPr>
        </p:nvSpPr>
        <p:spPr>
          <a:xfrm>
            <a:off x="0" y="8685213"/>
            <a:ext cx="2971800" cy="457200"/>
          </a:xfrm>
          <a:prstGeom prst="rect">
            <a:avLst/>
          </a:prstGeom>
        </p:spPr>
        <p:txBody>
          <a:bodyPr/>
          <a:lstStyle/>
          <a:p>
            <a:endParaRPr lang="en-GB"/>
          </a:p>
        </p:txBody>
      </p:sp>
      <p:sp>
        <p:nvSpPr>
          <p:cNvPr id="7" name="Slide Number Placeholder 6"/>
          <p:cNvSpPr>
            <a:spLocks noGrp="1"/>
          </p:cNvSpPr>
          <p:nvPr>
            <p:ph type="sldNum" sz="quarter" idx="5"/>
          </p:nvPr>
        </p:nvSpPr>
        <p:spPr>
          <a:xfrm>
            <a:off x="3884613" y="8685213"/>
            <a:ext cx="2971800" cy="457200"/>
          </a:xfrm>
          <a:prstGeom prst="rect">
            <a:avLst/>
          </a:prstGeom>
        </p:spPr>
        <p:txBody>
          <a:bodyPr/>
          <a:lstStyle/>
          <a:p>
            <a:endParaRPr lang="en-GB"/>
          </a:p>
        </p:txBody>
      </p:sp>
    </p:spTree>
  </p:cSld>
  <p:clrMap bg1="lt1" tx1="dk1" bg2="lt2" tx2="dk2" accent1="accent1" accent2="accent2" accent3="accent3" accent4="accent4" accent5="accent5" accent6="accent6" hlink="hlink" folHlink="folHlink"/>
  <p:hf/>
  <p:notesStyle>
    <a:lvl1pPr marL="0" algn="l">
      <a:defRPr lang="en-GB" sz="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GB" dirty="0"/>
              <a:t>Here's the pain that motivated all of this. In a lot of enterprise ITSM shops, tickets still queue up unassigned while engineers triage from memory and tribal knowledge — whoever's been there longest just knows where to look. Diagnosis and remediation depend on whoever happens to be on call finding the right runbook fast enough, which means outcomes vary wildly by who's holding the pager that night. Every fix tends to be a manual SSH session, typed by hand, with no consistent proof afterward that it actually worked — you just trust the engineer's word. And maybe worst of all, recurring root causes go completely unnoticed until they cause the exact same outage again, because nobody's looking across incidents, only at the one in front of them. None of this is a people problem — it's a tooling gap. That's the gap this platform was built to close.</a:t>
            </a:r>
            <a:endParaRPr lang="en-GB" dirty="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GB" dirty="0"/>
              <a:t>So here's the shape of the answer, all six pillars at once, because they all recur through the rest of the deck. Autonomous triage grounds every routing decision in precedent — we're talking over eleven hundred past incidents and two hundred eighteen SRE execution logs, with better than ninety-five percent confidence on the classification. Hybrid RAG combines four-thousand-ninety-six dimensional dense vectors in ChromaDB with BM25Okapi lexical search, fused through Reciprocal Rank Fusion, so it finds the right runbook even when the wording doesn't match exactly. Dynamic ReAct remediation runs forty-four parameterized master SOPs live over SSH, with in-guest proof that the fix actually landed. Layered on top, AI analytics and proactive problem management turn raw incident data into intelligence and catch systemic issues before they recur. Human-in-the-loop governance means every genuinely novel action still needs a person to approve it. And underneath all of it, NVIDIA NIM is serving Nemotron 3.5 Lightning, Llama 3.3 70B, and DeepSeek R1. Now let's see how it's actually built.</a:t>
            </a:r>
            <a:endParaRPr lang="en-GB" dirty="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GB" dirty="0"/>
              <a:t>This is the full system, and I want you to just sit with it for a second because it's genuinely dense — this is a real C4-style container diagram, not a simplified cartoon. Five tiers, strictly decoupled, forming one continuous loop. On the presentation side you've got the Next.js Helpdesk on port three-thousand and the SRE Control Tower on port fifty-one seventy-three, built in React, Vite, and server-sent events. The service tier is a NestJS REST API on port four-thousand, an ITSM MCP server for standardized AI tool access, and a Python SRE daemon polling every fifteen seconds. The AI and RAG tier is NVIDIA NIM inference plus that hybrid dense-and-lexical retrieval engine sitting over ChromaDB. Persistence is two separate PostgreSQL databases — itsm_db as the system of record, and agentic_sre_db purely for governance, kept architecturally isolated from each other. And at the bottom, it all reaches out over SSH to real Linux and Kubernetes worker nodes and enterprise CIs. Take a moment to trace a request through it — we'll come back to pieces of this diagram throughout the rest of the talk.</a:t>
            </a:r>
            <a:endParaRPr lang="en-GB" dirty="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GB" dirty="0"/>
              <a:t>This is the actual cockpit an operator watches all day — the Agent Control Tower. On the left you've got the live agent execution and remediation stream, so every incident's resolution status is visible at a glance, right next to the managed AI assets, the active model, and the fallback router. Down here is the piece I always point out first: a fleet-wide emergency Kill Switch, armed and one click away from stopping every active session — we'll come back to exactly how fast that is later. And running underneath all of it, the platform tracks autonomous MTTR live against the manual-resolution baseline, so leadership isn't just told it's faster, they can watch it happen. This single dashboard is really the nerve center for everything we're about to walk through — triage, remediation, and governance all report up into this view.</a:t>
            </a:r>
            <a:endParaRPr lang="en-GB" dirty="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GB" dirty="0"/>
              <a:t>Let's slow down and walk through exactly what happens to one ticket, start to finish, because every single incident on this platform goes through these same five governed phases. Step one, a ticket is created — state NEW, group UNASSIGNED, nothing has touched it yet. Step two, the AI router grounds its routing decision in historical precedent and assigns a group and priority once it's at least eighty-five percent confident. Step three, the SRE daemon — which polls every fifteen seconds — runs a hybrid RAG search looking for a matching master SOP. Step four is the fork in the road: a RAG hit means direct parameterized execution over SSH; a RAG miss means the system stops, does a read-only diagnosis, synthesizes a proposed SOP, and puts up a PENDING approval card for a human. And step five, whichever path it took, an in-guest terminal proof verifies the fix actually worked before the ticket is marked RESOLVED and the whole trace gets indexed for next time. That last part matters — every incident makes the next one a little faster to solve.</a:t>
            </a:r>
            <a:endParaRPr lang="en-GB" dirty="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GB" dirty="0"/>
              <a:t>Underneath all the autonomy sits a completely conventional, full-featured ITSM system of record — this is the Core Helpdesk Console, built on Next.js. It's not a stripped-down shim; it's a real service-management portal. You get a live-synchronized incident stream with priority, state, and department visible at a glance. Priority itself isn't guessed — it's driven automatically by the ITIL Impact-by-Urgency matrix, so every ticket lands cleanly in P1 through P4. SLA targets are tracked per priority tier in real time, so nobody's waiting until a breach to find out they're at risk. And CMDB, assets, the service catalog, the knowledge base, and a workflow studio all live in this one console. The autonomy we've been talking about is layered on top of this, not instead of it — anyone who's used a traditional ITSM tool will recognize this immediately.</a:t>
            </a:r>
            <a:endParaRPr lang="en-GB" dirty="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GB" dirty="0"/>
              <a:t>Now let's zoom into that first automated step — how a ticket actually gets assigned without a human touching it. NVIDIA's Nemotron 3.5 Lightning model classifies priority and department, but it isn't guessing from a static rules table — it's grounded in a sub-second search across more than eleven hundred past incidents and two hundred eighteen SRE execution logs. When confidence clears eighty-five percent, the ticket auto-assigns and moves straight to IN_PROGRESS. Below that threshold, it deliberately stays UNASSIGNED for a human to triage — the system would rather admit uncertainty than guess silently. And this isn't something a person has to kick off — it's a continuous background scan of the unassigned queue, running all the time. That precedent-grounding is really the trust foundation for everything downstream.</a:t>
            </a:r>
            <a:endParaRPr lang="en-GB" dirty="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GB" dirty="0"/>
              <a:t>Once a ticket's routed, the next question is: has anyone seen this exact problem before? That's where hybrid retrieval comes in, and it's genuinely a hybrid — not a choice between two methods, but a fusion of both. On the dense side, nvidia's nv-embed-v1 model produces four-thousand-ninety-six dimensional embeddings, indexed in ChromaDB, capturing semantic meaning even when the wording is completely different. In parallel, BM25Okapi runs a keyword-precision lexical search. Reciprocal Rank Fusion then merges both ranked lists into one candidate list — so you get the best of semantic understanding and exact keyword matching at once. And before anything is trusted for execution, an LLM acting as a RAG Judge independently verifies that the top match is actually right. What you're looking at on the right is the platform's own three-dimensional vector-space view of that retrieval happening live.</a:t>
            </a:r>
            <a:endParaRPr lang="en-GB" dirty="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GB" dirty="0"/>
              <a:t>So what happens when there's no precedent to fall back on? This is the governance moment, and it's deliberately the one place the system stops and waits. A RAG miss triggers a PENDING approval card, with the synthesized SOP and all the diagnostic evidence attached right there for a human to review. The ticket's state moves to ON_HOLD until someone actually decides — it doesn't sit in limbo silently. If an operator approves, execution is authorized; if they reject, the ticket locks and escalates, full stop. And this approval flow isn't locked to one dashboard — it's mirrored into Slack too, so an operator away from their desk can still make the call. This is really the heart of "human in the loop" for this platform — not a marketing phrase, but an actual, enforced stop-and-wait gate on anything the system hasn't proven it can handle on its own.</a:t>
            </a:r>
            <a:endParaRPr lang="en-GB" dirty="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GB" dirty="0"/>
              <a:t>Everything we've just walked through — approved or fully automatic — gets written down. Every autonomous action produces a complete ReAct execution trace, and that trace lives in its own dedicated governance database, separate from the core ticket system. Per-incident, that timeline links diagnosis, approval, execution, and verification together into one inspectable story, so nothing is a black box after the fact. Those historical traces don't just sit there for audits, either — they feed straight back into precedent grounding for future triage, which is part of why the system gets better over time. And structurally, that governance database — agentic_sre_db — is isolated from itsm_db by design, so operational history and the system of record never get tangled together. Nothing executes off the record here.</a:t>
            </a:r>
            <a:endParaRPr lang="en-GB" dirty="0"/>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GB" dirty="0"/>
              <a:t>Zooming out from one incident to the whole fleet — this is what an operator watches to understand health and pace across everything the platform manages, in real time rather than after the fact. There's a live timeline of every active and recent SRE execution across the fleet, so you can see what's happening right now, not just what happened yesterday. SLA and response-time tracking sit at that same mission-control layer, right alongside execution — you don't have to go dig it out of a separate reporting tool. Managed-asset and host-lock state are visible per target CI, so you always know what's currently under an active session. And the whole point of this view is that an operator's next action should be obvious just from looking at it, not something they have to go hunting for in a pile of logs.</a:t>
            </a:r>
            <a:endParaRPr lang="en-GB" dirty="0"/>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GB" dirty="0"/>
              <a:t>Now we shift from watching individual incidents to watching the platform reason across all of them at once — this is the Incident AI Report, and it refreshes live with no analyst required. The Executive Summary tile computes totals, closed, resolved, and open counts, high-priority percentage, and SLA-met percentage automatically. Right alongside it, a seven-day bucketed trend tracks total volume, closures, resolutions, high-priority share, and the week-over-week delta. The Category Top Contributors view groups incidents by category — you can see the platform grouping Database and Compute-and-Unix incidents here, for example, and surfacing the most-affected configuration items in each. What really sets this apart, though, is the Smart Narrative card — genuinely AI-generated prose that correlates patterns across categories in plain language, for instance flagging two categories as "tightly coupled" when they consistently spike together, something a person skimming a table might easily miss. And every one of these insights also carries an automatic Five-Whys root-cause chain and a P1-through-P4 risk score. I'll flag that the specific numbers on this page are illustrative sample data for the walkthrough — marked as scenario data on the card — but the mechanism generating them is real and live in the product.</a:t>
            </a:r>
            <a:endParaRPr lang="en-GB" dirty="0"/>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GB" dirty="0"/>
              <a:t>This is the natural next step after reading incident history — actually acting on it before the next incident happens. The engine clusters incidents that share a configuration item, which surfaces systemic issues that a single-ticket view would completely miss — you can see Database and Compute-and-Unix again here as example clusters. Each candidate gets scored on incident count, cost leakage, Mean Time Between Failures, and overall risk, and every one carries its own Five-Whys root-cause breakdown plus an AI-generated improvement recommendation. Up top, the dashboard tracks four KPIs that leadership actually cares about: monthly cost leakage at risk, systemic MTBF, knowledge-base coverage, and the proactive detection rate — again, the specific figures here are illustrative scenario numbers for this walkthrough, called out on the card, but the KPIs themselves are real, tracked metrics. And the loop closes with one click: "Promote to Known Error" takes a detected pattern and converts it into a formal Known Error record, so the next time this cluster starts to form, it's already documented and already has a fix path attached.</a:t>
            </a:r>
            <a:endParaRPr lang="en-GB" dirty="0"/>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GB" dirty="0"/>
              <a:t>Here's how the platform actually gets smarter over time instead of just staying static. When a RAG-miss incident gets diagnosed, remediated, and verified by a human-approved path, that resolution is automatically synthesized into a brand-new Master SOP — nobody has to sit down and write documentation after the fact. That new SOP is indexed into ChromaDB immediately, so it's available for hybrid-RAG matching the very next time something similar comes in. And critically, this knowledge base grows from real, in-guest-verified fixes — not someone's best guess at what probably works. So today's completely novel incident, the one that needed a human to approve a synthesized plan, becomes tomorrow's automatic RAG hit that the system just handles on its own. That compounding effect is really the payoff of everything we've covered so far.</a:t>
            </a:r>
            <a:endParaRPr lang="en-GB" dirty="0"/>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GB" dirty="0"/>
              <a:t>I know a lot of what we've covered probably raises the question — how do you trust an autonomous system with production access? So let's talk directly about the guardrails, because there are several layers here, not just one. Before anything ever reaches a host, a pre-execution catastrophic blacklist blocks destructive commands outright — things like `rm -rf /`, `mkfs`, `dd if=`, fork bombs, and unplanned reboots. On top of that, a loop-aware validator actually parses every bash control structure in a proposed command, so nothing sneaky can hide inside a loop or conditional and escape the approved SOP. We already talked about the mandatory Proof-of-Fix Guard, which prevents the system from ever falsely declaring a resolution. And if something does go wrong, or just needs to stop, the Emergency Kill Switch terminates active sessions fleet-wide or per-CI in under one-point-five seconds. This is autonomy with a leash, deliberately — every layer here exists because someone asked "but what if it's wrong," and there's an answer for it.</a:t>
            </a:r>
            <a:endParaRPr lang="en-GB" dirty="0"/>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GB" dirty="0"/>
              <a:t>Let's ground all of this in one concrete example — a single real incident and everything attached to it. AI work notes automatically capture the routing reasoning, the target group, and the confidence score, right on the ticket, in plain language a reviewer can actually read. The full diagnostic-to-resolution activity log is preserved directly on that same ticket — there's no separate system you have to go cross-reference. ITIL close codes and resolution notes get posted without anyone doing manual data entry. And response and resolution SLA timers sit right there against the actual elapsed time, so you can see at a glance whether this one ran fast or slow. Every incident carries receipts like this — not just the ones someone thought to double-check.</a:t>
            </a:r>
            <a:endParaRPr lang="en-GB" dirty="0"/>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GB" dirty="0"/>
              <a:t>So, what does all of this actually mean for the business? The headline is simple: autonomous resolution collapses mean time to repair from hours down to seconds on matched incidents, and that MTTR is measured live against the prior manual-resolution baseline, not a marketing estimate. That translates directly into engineer hours reclaimed from repetitive triage and remediation work — time that goes back to the problems only a person can actually solve. Success rate is tracked continuously across every autonomous execution, so this isn't a one-time pilot number, it's an ongoing measurement. And governance overhead stays deliberately low, because approval is only required where it genuinely adds judgment — not as a rubber-stamp step on things the system has already proven it can handle safely.</a:t>
            </a:r>
            <a:endParaRPr lang="en-GB" dirty="0"/>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GB" dirty="0"/>
              <a:t>After nineteen fairly dense capability pages, let's take a breath and step back to the "so what" — what actually separates this from a chatbot bolted onto a ticket queue? A rules engine guesses from static conditions; this platform grounds every decision in real historical precedent instead. A chat-based assistant will suggest a fix and stop there; this platform executes it live over SSH and captures proof. Most automation just trusts its own success claim; this one requires in-guest verification before it will say a word. Most tools that call themselves autonomous react to incidents one at a time; this one clusters them and works to prevent the next one before it happens. And most autonomous tools quietly skip governance to look more impressive; here, every genuinely novel action still waits for a human. Individually none of these is a shocking idea — together, they're what makes this a platform rather than a demo.</a:t>
            </a:r>
            <a:endParaRPr lang="en-GB" dirty="0"/>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GB" dirty="0"/>
              <a:t>So let's bring it all the way back around. Triage, retrieve, remediate, verify, analyze, prevent, learn — that's the closed loop we walked through today, and every piece of it is live, right now, not on some roadmap. This was built end-to-end as a real, running platform, not a concept deck — everything you saw on screen today came from the actual product. Thank you for your time. I'd love to take questions, and if it's useful, I'm happy to walk through a live demo afterward, or go deeper into the architecture with anyone who wants the details. The loop is already running — the next incident that comes in is just the next proof point.</a:t>
            </a:r>
            <a:endParaRPr lang="en-GB" dirty="0"/>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itsm_detailed_rounded — 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fld>
            <a:endParaRPr lang="en-US"/>
          </a:p>
        </p:txBody>
      </p:sp>
      <p:sp>
        <p:nvSpPr>
          <p:cNvPr id="3" name="Footer Placeholder 2"/>
          <p:cNvSpPr>
            <a:spLocks noGrp="1"/>
          </p:cNvSpPr>
          <p:nvPr>
            <p:ph type="ftr" sz="quarter" idx="11"/>
          </p:nvPr>
        </p:nvSpPr>
        <p:spPr/>
        <p:txBody>
          <a:bodyPr/>
          <a:lstStyle/>
          <a:p>
            <a:r>
              <a:rPr lang="en-US"/>
              <a:t>TCS | Confidential</a:t>
            </a:r>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hf sldNum="0" hdr="0" dt="0"/>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r>
              <a:rPr lang="en-US"/>
              <a:t>TCS | Confidential</a:t>
            </a:r>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fld>
            <a:endParaRPr lang="en-US"/>
          </a:p>
        </p:txBody>
      </p:sp>
    </p:spTree>
  </p:cSld>
  <p:clrMap bg1="lt1" tx1="dk1" bg2="lt2" tx2="dk2" accent1="accent1" accent2="accent2" accent3="accent3" accent4="accent4" accent5="accent5" accent6="accent6" hlink="hlink" folHlink="folHlink"/>
  <p:sldLayoutIdLst>
    <p:sldLayoutId id="2147483649" r:id="rId1"/>
  </p:sldLayoutIdLst>
  <p:hf sldNum="0" hdr="0" dt="0"/>
  <p:txStyles>
    <p:titleStyle>
      <a:lvl1pPr algn="ctr" defTabSz="457200" rtl="0" eaLnBrk="1" latinLnBrk="0" hangingPunct="1">
        <a:spcBef>
          <a:spcPct val="0"/>
        </a:spcBef>
        <a:buNone/>
        <a:defRPr sz="42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panose="020B0604020202020204"/>
        <a:buChar char="•"/>
        <a:defRPr sz="2400" kern="1200">
          <a:solidFill>
            <a:schemeClr val="tx1"/>
          </a:solidFill>
          <a:latin typeface="+mn-lt"/>
          <a:ea typeface="+mn-ea"/>
          <a:cs typeface="+mn-cs"/>
        </a:defRPr>
      </a:lvl1pPr>
      <a:lvl2pPr marL="742950" indent="-285750" algn="l" defTabSz="457200" rtl="0" eaLnBrk="1" latinLnBrk="0" hangingPunct="1">
        <a:spcBef>
          <a:spcPct val="20000"/>
        </a:spcBef>
        <a:buFont typeface="Arial" panose="020B0604020202020204"/>
        <a:buChar char="–"/>
        <a:defRPr sz="2250" kern="1200">
          <a:solidFill>
            <a:schemeClr val="tx1"/>
          </a:solidFill>
          <a:latin typeface="+mn-lt"/>
          <a:ea typeface="+mn-ea"/>
          <a:cs typeface="+mn-cs"/>
        </a:defRPr>
      </a:lvl2pPr>
      <a:lvl3pPr marL="1143000" indent="-228600" algn="l" defTabSz="457200" rtl="0" eaLnBrk="1" latinLnBrk="0" hangingPunct="1">
        <a:spcBef>
          <a:spcPct val="20000"/>
        </a:spcBef>
        <a:buFont typeface="Arial" panose="020B0604020202020204"/>
        <a:buChar char="•"/>
        <a:defRPr sz="2100" kern="1200">
          <a:solidFill>
            <a:schemeClr val="tx1"/>
          </a:solidFill>
          <a:latin typeface="+mn-lt"/>
          <a:ea typeface="+mn-ea"/>
          <a:cs typeface="+mn-cs"/>
        </a:defRPr>
      </a:lvl3pPr>
      <a:lvl4pPr marL="1600200" indent="-228600" algn="l" defTabSz="457200" rtl="0" eaLnBrk="1" latinLnBrk="0" hangingPunct="1">
        <a:spcBef>
          <a:spcPct val="20000"/>
        </a:spcBef>
        <a:buFont typeface="Arial" panose="020B0604020202020204"/>
        <a:buChar char="–"/>
        <a:defRPr sz="1950" kern="1200">
          <a:solidFill>
            <a:schemeClr val="tx1"/>
          </a:solidFill>
          <a:latin typeface="+mn-lt"/>
          <a:ea typeface="+mn-ea"/>
          <a:cs typeface="+mn-cs"/>
        </a:defRPr>
      </a:lvl4pPr>
      <a:lvl5pPr marL="2057400" indent="-228600" algn="l" defTabSz="457200" rtl="0" eaLnBrk="1" latinLnBrk="0" hangingPunct="1">
        <a:spcBef>
          <a:spcPct val="20000"/>
        </a:spcBef>
        <a:buFont typeface="Arial" panose="020B0604020202020204"/>
        <a:buChar char="»"/>
        <a:defRPr sz="1800" kern="1200">
          <a:solidFill>
            <a:schemeClr val="tx1"/>
          </a:solidFill>
          <a:latin typeface="+mn-lt"/>
          <a:ea typeface="+mn-ea"/>
          <a:cs typeface="+mn-cs"/>
        </a:defRPr>
      </a:lvl5pPr>
      <a:lvl6pPr marL="2514600" indent="-228600" algn="l" defTabSz="457200" rtl="0" eaLnBrk="1" latinLnBrk="0" hangingPunct="1">
        <a:spcBef>
          <a:spcPct val="20000"/>
        </a:spcBef>
        <a:buFont typeface="Arial" panose="020B0604020202020204"/>
        <a:buChar char="•"/>
        <a:defRPr sz="1650" kern="1200">
          <a:solidFill>
            <a:schemeClr val="tx1"/>
          </a:solidFill>
          <a:latin typeface="+mn-lt"/>
          <a:ea typeface="+mn-ea"/>
          <a:cs typeface="+mn-cs"/>
        </a:defRPr>
      </a:lvl6pPr>
      <a:lvl7pPr marL="2971800" indent="-228600" algn="l" defTabSz="457200" rtl="0" eaLnBrk="1" latinLnBrk="0" hangingPunct="1">
        <a:spcBef>
          <a:spcPct val="20000"/>
        </a:spcBef>
        <a:buFont typeface="Arial" panose="020B0604020202020204"/>
        <a:buChar char="•"/>
        <a:defRPr sz="1500" kern="1200">
          <a:solidFill>
            <a:schemeClr val="tx1"/>
          </a:solidFill>
          <a:latin typeface="+mn-lt"/>
          <a:ea typeface="+mn-ea"/>
          <a:cs typeface="+mn-cs"/>
        </a:defRPr>
      </a:lvl7pPr>
      <a:lvl8pPr marL="3429000" indent="-228600" algn="l" defTabSz="457200" rtl="0" eaLnBrk="1" latinLnBrk="0" hangingPunct="1">
        <a:spcBef>
          <a:spcPct val="20000"/>
        </a:spcBef>
        <a:buFont typeface="Arial" panose="020B0604020202020204"/>
        <a:buChar char="•"/>
        <a:defRPr sz="1350" kern="1200">
          <a:solidFill>
            <a:schemeClr val="tx1"/>
          </a:solidFill>
          <a:latin typeface="+mn-lt"/>
          <a:ea typeface="+mn-ea"/>
          <a:cs typeface="+mn-cs"/>
        </a:defRPr>
      </a:lvl8pPr>
      <a:lvl9pPr marL="3886200" indent="-228600" algn="l" defTabSz="457200" rtl="0" eaLnBrk="1" latinLnBrk="0" hangingPunct="1">
        <a:spcBef>
          <a:spcPct val="20000"/>
        </a:spcBef>
        <a:buFont typeface="Arial" panose="020B0604020202020204"/>
        <a:buChar char="•"/>
        <a:defRPr sz="1200" kern="1200">
          <a:solidFill>
            <a:schemeClr val="tx1"/>
          </a:solidFill>
          <a:latin typeface="+mn-lt"/>
          <a:ea typeface="+mn-ea"/>
          <a:cs typeface="+mn-cs"/>
        </a:defRPr>
      </a:lvl9pPr>
    </p:bodyStyle>
    <p:otherStyle>
      <a:defPPr>
        <a:defRPr lang="en-US"/>
      </a:defPPr>
      <a:lvl1pPr marL="0" algn="l" defTabSz="457200" rtl="0" eaLnBrk="1" latinLnBrk="0" hangingPunct="1">
        <a:defRPr sz="2400" kern="1200">
          <a:solidFill>
            <a:schemeClr val="tx1"/>
          </a:solidFill>
          <a:latin typeface="+mn-lt"/>
          <a:ea typeface="+mn-ea"/>
          <a:cs typeface="+mn-cs"/>
        </a:defRPr>
      </a:lvl1pPr>
      <a:lvl2pPr marL="457200" algn="l" defTabSz="457200" rtl="0" eaLnBrk="1" latinLnBrk="0" hangingPunct="1">
        <a:defRPr sz="2250" kern="1200">
          <a:solidFill>
            <a:schemeClr val="tx1"/>
          </a:solidFill>
          <a:latin typeface="+mn-lt"/>
          <a:ea typeface="+mn-ea"/>
          <a:cs typeface="+mn-cs"/>
        </a:defRPr>
      </a:lvl2pPr>
      <a:lvl3pPr marL="914400" algn="l" defTabSz="457200" rtl="0" eaLnBrk="1" latinLnBrk="0" hangingPunct="1">
        <a:defRPr sz="2100" kern="1200">
          <a:solidFill>
            <a:schemeClr val="tx1"/>
          </a:solidFill>
          <a:latin typeface="+mn-lt"/>
          <a:ea typeface="+mn-ea"/>
          <a:cs typeface="+mn-cs"/>
        </a:defRPr>
      </a:lvl3pPr>
      <a:lvl4pPr marL="1371600" algn="l" defTabSz="457200" rtl="0" eaLnBrk="1" latinLnBrk="0" hangingPunct="1">
        <a:defRPr sz="195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650" kern="1200">
          <a:solidFill>
            <a:schemeClr val="tx1"/>
          </a:solidFill>
          <a:latin typeface="+mn-lt"/>
          <a:ea typeface="+mn-ea"/>
          <a:cs typeface="+mn-cs"/>
        </a:defRPr>
      </a:lvl6pPr>
      <a:lvl7pPr marL="2743200" algn="l" defTabSz="457200" rtl="0" eaLnBrk="1" latinLnBrk="0" hangingPunct="1">
        <a:defRPr sz="1500" kern="1200">
          <a:solidFill>
            <a:schemeClr val="tx1"/>
          </a:solidFill>
          <a:latin typeface="+mn-lt"/>
          <a:ea typeface="+mn-ea"/>
          <a:cs typeface="+mn-cs"/>
        </a:defRPr>
      </a:lvl7pPr>
      <a:lvl8pPr marL="3200400" algn="l" defTabSz="457200" rtl="0" eaLnBrk="1" latinLnBrk="0" hangingPunct="1">
        <a:defRPr sz="135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image" Target="../media/image1.pn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notesSlide" Target="../notesSlides/notesSlide3.xml"/><Relationship Id="rId2" Type="http://schemas.openxmlformats.org/officeDocument/2006/relationships/slideLayout" Target="../slideLayouts/slideLayout1.xml"/><Relationship Id="rId1" Type="http://schemas.openxmlformats.org/officeDocument/2006/relationships/image" Target="../media/image2.png"/></Relationships>
</file>

<file path=ppt/slides/_rels/slide5.xml.rels><?xml version="1.0" encoding="UTF-8" standalone="yes"?>
<Relationships xmlns="http://schemas.openxmlformats.org/package/2006/relationships"><Relationship Id="rId3" Type="http://schemas.openxmlformats.org/officeDocument/2006/relationships/notesSlide" Target="../notesSlides/notesSlide4.xml"/><Relationship Id="rId2" Type="http://schemas.openxmlformats.org/officeDocument/2006/relationships/slideLayout" Target="../slideLayouts/slideLayout1.xml"/><Relationship Id="rId1" Type="http://schemas.openxmlformats.org/officeDocument/2006/relationships/image" Target="../media/image3.png"/></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notesSlide" Target="../notesSlides/notesSlide6.xml"/><Relationship Id="rId2" Type="http://schemas.openxmlformats.org/officeDocument/2006/relationships/slideLayout" Target="../slideLayouts/slideLayout1.xml"/><Relationship Id="rId1" Type="http://schemas.openxmlformats.org/officeDocument/2006/relationships/image" Target="../media/image4.png"/></Relationships>
</file>

<file path=ppt/slides/_rels/slide8.xml.rels><?xml version="1.0" encoding="UTF-8" standalone="yes"?>
<Relationships xmlns="http://schemas.openxmlformats.org/package/2006/relationships"><Relationship Id="rId3" Type="http://schemas.openxmlformats.org/officeDocument/2006/relationships/notesSlide" Target="../notesSlides/notesSlide7.xml"/><Relationship Id="rId2" Type="http://schemas.openxmlformats.org/officeDocument/2006/relationships/slideLayout" Target="../slideLayouts/slideLayout1.xml"/><Relationship Id="rId1" Type="http://schemas.openxmlformats.org/officeDocument/2006/relationships/image" Target="../media/image5.png"/></Relationships>
</file>

<file path=ppt/slides/_rels/slide9.xml.rels><?xml version="1.0" encoding="UTF-8" standalone="yes"?>
<Relationships xmlns="http://schemas.openxmlformats.org/package/2006/relationships"><Relationship Id="rId3" Type="http://schemas.openxmlformats.org/officeDocument/2006/relationships/notesSlide" Target="../notesSlides/notesSlide8.xml"/><Relationship Id="rId2" Type="http://schemas.openxmlformats.org/officeDocument/2006/relationships/slideLayout" Target="../slideLayouts/slideLayout1.xml"/><Relationship Id="rId1" Type="http://schemas.openxmlformats.org/officeDocument/2006/relationships/image" Target="../media/image6.png"/></Relationships>
</file>

<file path=ppt/slides/_rels/slide10.xml.rels><?xml version="1.0" encoding="UTF-8" standalone="yes"?>
<Relationships xmlns="http://schemas.openxmlformats.org/package/2006/relationships"><Relationship Id="rId3" Type="http://schemas.openxmlformats.org/officeDocument/2006/relationships/notesSlide" Target="../notesSlides/notesSlide9.xml"/><Relationship Id="rId2" Type="http://schemas.openxmlformats.org/officeDocument/2006/relationships/slideLayout" Target="../slideLayouts/slideLayout1.xml"/><Relationship Id="rId1" Type="http://schemas.openxmlformats.org/officeDocument/2006/relationships/image" Target="../media/image7.png"/></Relationships>
</file>

<file path=ppt/slides/_rels/slide11.xml.rels><?xml version="1.0" encoding="UTF-8" standalone="yes"?>
<Relationships xmlns="http://schemas.openxmlformats.org/package/2006/relationships"><Relationship Id="rId3" Type="http://schemas.openxmlformats.org/officeDocument/2006/relationships/notesSlide" Target="../notesSlides/notesSlide10.xml"/><Relationship Id="rId2" Type="http://schemas.openxmlformats.org/officeDocument/2006/relationships/slideLayout" Target="../slideLayouts/slideLayout1.xml"/><Relationship Id="rId1" Type="http://schemas.openxmlformats.org/officeDocument/2006/relationships/image" Target="../media/image8.png"/></Relationships>
</file>

<file path=ppt/slides/_rels/slide12.xml.rels><?xml version="1.0" encoding="UTF-8" standalone="yes"?>
<Relationships xmlns="http://schemas.openxmlformats.org/package/2006/relationships"><Relationship Id="rId3" Type="http://schemas.openxmlformats.org/officeDocument/2006/relationships/notesSlide" Target="../notesSlides/notesSlide11.xml"/><Relationship Id="rId2" Type="http://schemas.openxmlformats.org/officeDocument/2006/relationships/slideLayout" Target="../slideLayouts/slideLayout1.xml"/><Relationship Id="rId1" Type="http://schemas.openxmlformats.org/officeDocument/2006/relationships/image" Target="../media/image9.png"/></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notesSlide" Target="../notesSlides/notesSlide14.xml"/><Relationship Id="rId2" Type="http://schemas.openxmlformats.org/officeDocument/2006/relationships/slideLayout" Target="../slideLayouts/slideLayout1.xml"/><Relationship Id="rId1" Type="http://schemas.openxmlformats.org/officeDocument/2006/relationships/image" Target="../media/image10.png"/></Relationships>
</file>

<file path=ppt/slides/_rels/slide16.xml.rels><?xml version="1.0" encoding="UTF-8" standalone="yes"?>
<Relationships xmlns="http://schemas.openxmlformats.org/package/2006/relationships"><Relationship Id="rId3" Type="http://schemas.openxmlformats.org/officeDocument/2006/relationships/notesSlide" Target="../notesSlides/notesSlide15.xml"/><Relationship Id="rId2" Type="http://schemas.openxmlformats.org/officeDocument/2006/relationships/slideLayout" Target="../slideLayouts/slideLayout1.xml"/><Relationship Id="rId1" Type="http://schemas.openxmlformats.org/officeDocument/2006/relationships/image" Target="../media/image11.png"/></Relationships>
</file>

<file path=ppt/slides/_rels/slide17.xml.rels><?xml version="1.0" encoding="UTF-8" standalone="yes"?>
<Relationships xmlns="http://schemas.openxmlformats.org/package/2006/relationships"><Relationship Id="rId3" Type="http://schemas.openxmlformats.org/officeDocument/2006/relationships/notesSlide" Target="../notesSlides/notesSlide16.xml"/><Relationship Id="rId2" Type="http://schemas.openxmlformats.org/officeDocument/2006/relationships/slideLayout" Target="../slideLayouts/slideLayout1.xml"/><Relationship Id="rId1" Type="http://schemas.openxmlformats.org/officeDocument/2006/relationships/image" Target="../media/image12.png"/></Relationships>
</file>

<file path=ppt/slides/_rels/slide18.xml.rels><?xml version="1.0" encoding="UTF-8" standalone="yes"?>
<Relationships xmlns="http://schemas.openxmlformats.org/package/2006/relationships"><Relationship Id="rId3" Type="http://schemas.openxmlformats.org/officeDocument/2006/relationships/notesSlide" Target="../notesSlides/notesSlide17.xml"/><Relationship Id="rId2" Type="http://schemas.openxmlformats.org/officeDocument/2006/relationships/slideLayout" Target="../slideLayouts/slideLayout1.xml"/><Relationship Id="rId1" Type="http://schemas.openxmlformats.org/officeDocument/2006/relationships/image" Target="../media/image13.png"/></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3" name="Picture 2" descr="image001"/>
          <p:cNvPicPr>
            <a:picLocks noChangeAspect="1"/>
          </p:cNvPicPr>
          <p:nvPr/>
        </p:nvPicPr>
        <p:blipFill>
          <a:blip r:embed="rId1"/>
          <a:stretch>
            <a:fillRect/>
          </a:stretch>
        </p:blipFill>
        <p:spPr>
          <a:xfrm>
            <a:off x="19050" y="19050"/>
            <a:ext cx="12192000" cy="6858000"/>
          </a:xfrm>
          <a:prstGeom prst="rect">
            <a:avLst/>
          </a:prstGeom>
        </p:spPr>
      </p:pic>
      <p:sp>
        <p:nvSpPr>
          <p:cNvPr id="6" name="TextBox 6"/>
          <p:cNvSpPr txBox="1"/>
          <p:nvPr/>
        </p:nvSpPr>
        <p:spPr>
          <a:xfrm>
            <a:off x="311150" y="5036820"/>
            <a:ext cx="3455035" cy="321945"/>
          </a:xfrm>
          <a:prstGeom prst="rect">
            <a:avLst/>
          </a:prstGeom>
          <a:noFill/>
          <a:ln>
            <a:noFill/>
          </a:ln>
        </p:spPr>
        <p:txBody>
          <a:bodyPr wrap="none" lIns="0" tIns="0" rIns="0" bIns="0" anchor="t" anchorCtr="0">
            <a:noAutofit/>
          </a:bodyPr>
          <a:lstStyle/>
          <a:p>
            <a:pPr algn="l"/>
            <a:r>
              <a:rPr lang="en-US" altLang="en-GB" sz="2000" b="1" dirty="0">
                <a:solidFill>
                  <a:schemeClr val="bg2"/>
                </a:solidFill>
                <a:latin typeface="+mn-lt"/>
                <a:ea typeface="+mn-ea"/>
                <a:cs typeface="+mn-cs"/>
              </a:rPr>
              <a:t>Agentic </a:t>
            </a:r>
            <a:r>
              <a:rPr lang="en-GB" sz="2000" b="1" dirty="0">
                <a:solidFill>
                  <a:schemeClr val="bg2"/>
                </a:solidFill>
                <a:latin typeface="+mn-lt"/>
                <a:ea typeface="+mn-ea"/>
                <a:cs typeface="+mn-cs"/>
              </a:rPr>
              <a:t>ITSM &amp;</a:t>
            </a:r>
            <a:r>
              <a:rPr lang="en-US" altLang="en-GB" sz="2000" b="1" dirty="0">
                <a:solidFill>
                  <a:schemeClr val="bg2"/>
                </a:solidFill>
                <a:latin typeface="+mn-lt"/>
                <a:ea typeface="+mn-ea"/>
                <a:cs typeface="+mn-cs"/>
              </a:rPr>
              <a:t> SRE CoPilot</a:t>
            </a:r>
            <a:endParaRPr lang="en-US" altLang="en-GB" sz="2000" b="1" dirty="0">
              <a:solidFill>
                <a:schemeClr val="bg2"/>
              </a:solidFill>
              <a:latin typeface="+mn-lt"/>
              <a:ea typeface="+mn-ea"/>
              <a:cs typeface="+mn-cs"/>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609600" y="628650"/>
            <a:ext cx="1600200" cy="346901"/>
            <a:chOff x="609600" y="628650"/>
            <a:chExt cx="1600200" cy="346901"/>
          </a:xfrm>
        </p:grpSpPr>
        <p:sp>
          <p:nvSpPr>
            <p:cNvPr id="2" name="Rectangle 2"/>
            <p:cNvSpPr/>
            <p:nvPr/>
          </p:nvSpPr>
          <p:spPr>
            <a:xfrm>
              <a:off x="609600" y="628650"/>
              <a:ext cx="1600200" cy="342900"/>
            </a:xfrm>
            <a:prstGeom prst="roundRect">
              <a:avLst>
                <a:gd name="adj" fmla="val 50000"/>
              </a:avLst>
            </a:prstGeom>
            <a:solidFill>
              <a:schemeClr val="accent3">
                <a:alpha val="16000"/>
              </a:schemeClr>
            </a:solidFill>
            <a:ln>
              <a:noFill/>
            </a:ln>
          </p:spPr>
        </p:sp>
        <p:sp>
          <p:nvSpPr>
            <p:cNvPr id="3" name="TextBox 3"/>
            <p:cNvSpPr txBox="1"/>
            <p:nvPr/>
          </p:nvSpPr>
          <p:spPr>
            <a:xfrm>
              <a:off x="793242" y="711518"/>
              <a:ext cx="1370472" cy="264033"/>
            </a:xfrm>
            <a:prstGeom prst="rect">
              <a:avLst/>
            </a:prstGeom>
            <a:noFill/>
            <a:ln>
              <a:noFill/>
            </a:ln>
          </p:spPr>
          <p:txBody>
            <a:bodyPr wrap="none" lIns="0" tIns="0" rIns="0" bIns="0" anchor="t" anchorCtr="0">
              <a:spAutoFit/>
            </a:bodyPr>
            <a:lstStyle/>
            <a:p>
              <a:pPr algn="l"/>
              <a:r>
                <a:rPr lang="en-GB" sz="1350" b="1" spc="75" dirty="0">
                  <a:solidFill>
                    <a:srgbClr val="B9862E"/>
                  </a:solidFill>
                  <a:latin typeface="+mn-lt"/>
                  <a:ea typeface="+mn-ea"/>
                  <a:cs typeface="+mn-cs"/>
                </a:rPr>
                <a:t>THE PROBLEM</a:t>
              </a:r>
              <a:endParaRPr lang="en-GB" sz="1350" b="1" spc="75" dirty="0">
                <a:solidFill>
                  <a:srgbClr val="B9862E"/>
                </a:solidFill>
                <a:latin typeface="+mn-lt"/>
                <a:ea typeface="+mn-ea"/>
                <a:cs typeface="+mn-cs"/>
              </a:endParaRPr>
            </a:p>
          </p:txBody>
        </p:sp>
      </p:grpSp>
      <p:grpSp>
        <p:nvGrpSpPr>
          <p:cNvPr id="6" name="Group 6"/>
          <p:cNvGrpSpPr/>
          <p:nvPr/>
        </p:nvGrpSpPr>
        <p:grpSpPr>
          <a:xfrm>
            <a:off x="590550" y="1165860"/>
            <a:ext cx="7689776" cy="819150"/>
            <a:chOff x="590550" y="1165860"/>
            <a:chExt cx="7689776" cy="819150"/>
          </a:xfrm>
        </p:grpSpPr>
        <p:sp>
          <p:nvSpPr>
            <p:cNvPr id="5" name="TextBox 5"/>
            <p:cNvSpPr txBox="1"/>
            <p:nvPr/>
          </p:nvSpPr>
          <p:spPr>
            <a:xfrm>
              <a:off x="590550" y="1165860"/>
              <a:ext cx="7689776" cy="819150"/>
            </a:xfrm>
            <a:prstGeom prst="rect">
              <a:avLst/>
            </a:prstGeom>
            <a:noFill/>
            <a:ln>
              <a:noFill/>
            </a:ln>
          </p:spPr>
          <p:txBody>
            <a:bodyPr wrap="none" lIns="0" tIns="0" rIns="0" bIns="0" anchor="t" anchorCtr="0">
              <a:spAutoFit/>
            </a:bodyPr>
            <a:lstStyle/>
            <a:p>
              <a:pPr algn="l"/>
              <a:r>
                <a:rPr lang="en-GB" sz="4200" b="1" dirty="0">
                  <a:solidFill>
                    <a:schemeClr val="dk1"/>
                  </a:solidFill>
                  <a:latin typeface="+mn-lt"/>
                  <a:ea typeface="+mn-ea"/>
                  <a:cs typeface="+mn-cs"/>
                </a:rPr>
                <a:t>Manual ITSM Doesn’t Scale</a:t>
              </a:r>
              <a:endParaRPr lang="en-GB" sz="4200" b="1" dirty="0">
                <a:solidFill>
                  <a:schemeClr val="dk1"/>
                </a:solidFill>
                <a:latin typeface="+mn-lt"/>
                <a:ea typeface="+mn-ea"/>
                <a:cs typeface="+mn-cs"/>
              </a:endParaRPr>
            </a:p>
          </p:txBody>
        </p:sp>
      </p:grpSp>
      <p:grpSp>
        <p:nvGrpSpPr>
          <p:cNvPr id="8" name="Group 8"/>
          <p:cNvGrpSpPr/>
          <p:nvPr/>
        </p:nvGrpSpPr>
        <p:grpSpPr>
          <a:xfrm>
            <a:off x="600456" y="1844040"/>
            <a:ext cx="7817228" cy="352044"/>
            <a:chOff x="600456" y="1844040"/>
            <a:chExt cx="7817228" cy="352044"/>
          </a:xfrm>
        </p:grpSpPr>
        <p:sp>
          <p:nvSpPr>
            <p:cNvPr id="7" name="TextBox 7"/>
            <p:cNvSpPr txBox="1"/>
            <p:nvPr/>
          </p:nvSpPr>
          <p:spPr>
            <a:xfrm>
              <a:off x="600456" y="1844040"/>
              <a:ext cx="7817228" cy="352044"/>
            </a:xfrm>
            <a:prstGeom prst="rect">
              <a:avLst/>
            </a:prstGeom>
            <a:noFill/>
            <a:ln>
              <a:noFill/>
            </a:ln>
          </p:spPr>
          <p:txBody>
            <a:bodyPr wrap="none" lIns="0" tIns="0" rIns="0" bIns="0" anchor="t" anchorCtr="0">
              <a:spAutoFit/>
            </a:bodyPr>
            <a:lstStyle/>
            <a:p>
              <a:pPr algn="l"/>
              <a:r>
                <a:rPr lang="en-GB" sz="1800" dirty="0">
                  <a:solidFill>
                    <a:schemeClr val="accent5"/>
                  </a:solidFill>
                  <a:latin typeface="+mn-lt"/>
                  <a:ea typeface="+mn-ea"/>
                  <a:cs typeface="+mn-cs"/>
                </a:rPr>
                <a:t>Every minute unassigned is cost, risk, and burned-out engineers.</a:t>
              </a:r>
              <a:endParaRPr lang="en-GB" sz="1800" dirty="0">
                <a:solidFill>
                  <a:schemeClr val="accent5"/>
                </a:solidFill>
                <a:latin typeface="+mn-lt"/>
                <a:ea typeface="+mn-ea"/>
                <a:cs typeface="+mn-cs"/>
              </a:endParaRPr>
            </a:p>
          </p:txBody>
        </p:sp>
      </p:grpSp>
      <p:grpSp>
        <p:nvGrpSpPr>
          <p:cNvPr id="14" name="Group 14"/>
          <p:cNvGrpSpPr/>
          <p:nvPr/>
        </p:nvGrpSpPr>
        <p:grpSpPr>
          <a:xfrm>
            <a:off x="609600" y="2419350"/>
            <a:ext cx="10972800" cy="904875"/>
            <a:chOff x="609600" y="2419350"/>
            <a:chExt cx="10972800" cy="904875"/>
          </a:xfrm>
        </p:grpSpPr>
        <p:sp>
          <p:nvSpPr>
            <p:cNvPr id="9" name="Rectangle 9"/>
            <p:cNvSpPr/>
            <p:nvPr/>
          </p:nvSpPr>
          <p:spPr>
            <a:xfrm>
              <a:off x="609600" y="2419350"/>
              <a:ext cx="10972800" cy="904875"/>
            </a:xfrm>
            <a:prstGeom prst="roundRect">
              <a:avLst>
                <a:gd name="adj" fmla="val 25263"/>
              </a:avLst>
            </a:prstGeom>
            <a:solidFill>
              <a:schemeClr val="lt2"/>
            </a:solidFill>
            <a:ln>
              <a:noFill/>
            </a:ln>
            <a:effectLst>
              <a:outerShdw blurRad="266700" dist="57150" dir="5400000" algn="ctr" rotWithShape="0">
                <a:srgbClr val="D9A441">
                  <a:alpha val="9000"/>
                </a:srgbClr>
              </a:outerShdw>
            </a:effectLst>
          </p:spPr>
        </p:sp>
        <p:sp>
          <p:nvSpPr>
            <p:cNvPr id="10" name="Ellipse 10"/>
            <p:cNvSpPr/>
            <p:nvPr/>
          </p:nvSpPr>
          <p:spPr>
            <a:xfrm>
              <a:off x="895350" y="2619375"/>
              <a:ext cx="495300" cy="495300"/>
            </a:xfrm>
            <a:prstGeom prst="ellipse">
              <a:avLst/>
            </a:prstGeom>
            <a:solidFill>
              <a:schemeClr val="accent3">
                <a:alpha val="16000"/>
              </a:schemeClr>
            </a:solidFill>
            <a:ln>
              <a:noFill/>
            </a:ln>
          </p:spPr>
        </p:sp>
        <p:sp>
          <p:nvSpPr>
            <p:cNvPr id="11" name="Freeform 11"/>
            <p:cNvSpPr/>
            <p:nvPr/>
          </p:nvSpPr>
          <p:spPr>
            <a:xfrm>
              <a:off x="1031863" y="2778125"/>
              <a:ext cx="222262" cy="177801"/>
            </a:xfrm>
            <a:custGeom>
              <a:avLst/>
              <a:gdLst/>
              <a:ahLst/>
              <a:cxnLst/>
              <a:rect l="l" t="t" r="r" b="b"/>
              <a:pathLst>
                <a:path w="222262" h="177801">
                  <a:moveTo>
                    <a:pt x="133362" y="0"/>
                  </a:moveTo>
                  <a:lnTo>
                    <a:pt x="133362" y="22225"/>
                  </a:lnTo>
                  <a:cubicBezTo>
                    <a:pt x="133362" y="28362"/>
                    <a:pt x="138337" y="33338"/>
                    <a:pt x="144475" y="33338"/>
                  </a:cubicBezTo>
                  <a:cubicBezTo>
                    <a:pt x="150612" y="33338"/>
                    <a:pt x="155587" y="28362"/>
                    <a:pt x="155587" y="22225"/>
                  </a:cubicBezTo>
                  <a:lnTo>
                    <a:pt x="155587" y="0"/>
                  </a:lnTo>
                  <a:lnTo>
                    <a:pt x="188925" y="0"/>
                  </a:lnTo>
                  <a:cubicBezTo>
                    <a:pt x="207336" y="0"/>
                    <a:pt x="222262" y="14926"/>
                    <a:pt x="222262" y="33338"/>
                  </a:cubicBezTo>
                  <a:lnTo>
                    <a:pt x="222262" y="66675"/>
                  </a:lnTo>
                  <a:cubicBezTo>
                    <a:pt x="222261" y="72309"/>
                    <a:pt x="218045" y="77051"/>
                    <a:pt x="212450" y="77710"/>
                  </a:cubicBezTo>
                  <a:lnTo>
                    <a:pt x="211150" y="77788"/>
                  </a:lnTo>
                  <a:cubicBezTo>
                    <a:pt x="205270" y="77794"/>
                    <a:pt x="200413" y="82380"/>
                    <a:pt x="200069" y="88249"/>
                  </a:cubicBezTo>
                  <a:cubicBezTo>
                    <a:pt x="199724" y="94118"/>
                    <a:pt x="204011" y="99241"/>
                    <a:pt x="209850" y="99935"/>
                  </a:cubicBezTo>
                  <a:lnTo>
                    <a:pt x="211150" y="100013"/>
                  </a:lnTo>
                  <a:cubicBezTo>
                    <a:pt x="217287" y="100013"/>
                    <a:pt x="222262" y="104988"/>
                    <a:pt x="222262" y="111125"/>
                  </a:cubicBezTo>
                  <a:lnTo>
                    <a:pt x="222262" y="144463"/>
                  </a:lnTo>
                  <a:cubicBezTo>
                    <a:pt x="222262" y="162875"/>
                    <a:pt x="207336" y="177801"/>
                    <a:pt x="188925" y="177801"/>
                  </a:cubicBezTo>
                  <a:lnTo>
                    <a:pt x="155587" y="177801"/>
                  </a:lnTo>
                  <a:lnTo>
                    <a:pt x="155587" y="155575"/>
                  </a:lnTo>
                  <a:cubicBezTo>
                    <a:pt x="155586" y="149942"/>
                    <a:pt x="151370" y="145200"/>
                    <a:pt x="145775" y="144541"/>
                  </a:cubicBezTo>
                  <a:lnTo>
                    <a:pt x="144475" y="144463"/>
                  </a:lnTo>
                  <a:cubicBezTo>
                    <a:pt x="138337" y="144463"/>
                    <a:pt x="133362" y="149438"/>
                    <a:pt x="133362" y="155575"/>
                  </a:cubicBezTo>
                  <a:lnTo>
                    <a:pt x="133362" y="177801"/>
                  </a:lnTo>
                  <a:lnTo>
                    <a:pt x="33349" y="177801"/>
                  </a:lnTo>
                  <a:cubicBezTo>
                    <a:pt x="14937" y="177801"/>
                    <a:pt x="12" y="162875"/>
                    <a:pt x="12" y="144463"/>
                  </a:cubicBezTo>
                  <a:lnTo>
                    <a:pt x="12" y="111125"/>
                  </a:lnTo>
                  <a:cubicBezTo>
                    <a:pt x="12" y="105492"/>
                    <a:pt x="4229" y="100750"/>
                    <a:pt x="9824" y="100091"/>
                  </a:cubicBezTo>
                  <a:lnTo>
                    <a:pt x="11124" y="100013"/>
                  </a:lnTo>
                  <a:cubicBezTo>
                    <a:pt x="17004" y="100006"/>
                    <a:pt x="21861" y="95421"/>
                    <a:pt x="22205" y="89552"/>
                  </a:cubicBezTo>
                  <a:cubicBezTo>
                    <a:pt x="22550" y="83682"/>
                    <a:pt x="18263" y="78560"/>
                    <a:pt x="12424" y="77866"/>
                  </a:cubicBezTo>
                  <a:lnTo>
                    <a:pt x="11124" y="77788"/>
                  </a:lnTo>
                  <a:cubicBezTo>
                    <a:pt x="4987" y="77788"/>
                    <a:pt x="12" y="72812"/>
                    <a:pt x="12" y="66675"/>
                  </a:cubicBezTo>
                  <a:lnTo>
                    <a:pt x="12" y="33338"/>
                  </a:lnTo>
                  <a:cubicBezTo>
                    <a:pt x="0" y="16102"/>
                    <a:pt x="13149" y="1709"/>
                    <a:pt x="30315" y="167"/>
                  </a:cubicBezTo>
                  <a:lnTo>
                    <a:pt x="32782" y="11"/>
                  </a:lnTo>
                  <a:close/>
                  <a:moveTo>
                    <a:pt x="144475" y="66675"/>
                  </a:moveTo>
                  <a:cubicBezTo>
                    <a:pt x="138337" y="66675"/>
                    <a:pt x="133362" y="71650"/>
                    <a:pt x="133362" y="77788"/>
                  </a:cubicBezTo>
                  <a:lnTo>
                    <a:pt x="133362" y="100013"/>
                  </a:lnTo>
                  <a:cubicBezTo>
                    <a:pt x="133362" y="106150"/>
                    <a:pt x="138337" y="111125"/>
                    <a:pt x="144475" y="111125"/>
                  </a:cubicBezTo>
                  <a:cubicBezTo>
                    <a:pt x="150612" y="111125"/>
                    <a:pt x="155587" y="106150"/>
                    <a:pt x="155587" y="100013"/>
                  </a:cubicBezTo>
                  <a:lnTo>
                    <a:pt x="155587" y="77788"/>
                  </a:lnTo>
                  <a:cubicBezTo>
                    <a:pt x="155587" y="71650"/>
                    <a:pt x="150612" y="66675"/>
                    <a:pt x="144475" y="66675"/>
                  </a:cubicBezTo>
                </a:path>
              </a:pathLst>
            </a:custGeom>
            <a:solidFill>
              <a:srgbClr val="B9862E"/>
            </a:solidFill>
            <a:ln>
              <a:noFill/>
            </a:ln>
          </p:spPr>
        </p:sp>
        <p:sp>
          <p:nvSpPr>
            <p:cNvPr id="12" name="TextBox 12"/>
            <p:cNvSpPr txBox="1"/>
            <p:nvPr/>
          </p:nvSpPr>
          <p:spPr>
            <a:xfrm>
              <a:off x="1610106" y="2567940"/>
              <a:ext cx="6665576" cy="352044"/>
            </a:xfrm>
            <a:prstGeom prst="rect">
              <a:avLst/>
            </a:prstGeom>
            <a:noFill/>
            <a:ln>
              <a:noFill/>
            </a:ln>
          </p:spPr>
          <p:txBody>
            <a:bodyPr wrap="none" lIns="0" tIns="0" rIns="0" bIns="0" anchor="t" anchorCtr="0">
              <a:spAutoFit/>
            </a:bodyPr>
            <a:lstStyle/>
            <a:p>
              <a:pPr algn="l"/>
              <a:r>
                <a:rPr lang="en-GB" sz="1800" dirty="0">
                  <a:solidFill>
                    <a:schemeClr val="dk1"/>
                  </a:solidFill>
                  <a:latin typeface="+mn-lt"/>
                  <a:ea typeface="+mn-ea"/>
                  <a:cs typeface="+mn-cs"/>
                </a:rPr>
                <a:t>Tickets queue up unassigned while engineers triage from</a:t>
              </a:r>
              <a:endParaRPr lang="en-GB" sz="1800" dirty="0">
                <a:solidFill>
                  <a:schemeClr val="dk1"/>
                </a:solidFill>
                <a:latin typeface="+mn-lt"/>
                <a:ea typeface="+mn-ea"/>
                <a:cs typeface="+mn-cs"/>
              </a:endParaRPr>
            </a:p>
          </p:txBody>
        </p:sp>
        <p:sp>
          <p:nvSpPr>
            <p:cNvPr id="13" name="TextBox 13"/>
            <p:cNvSpPr txBox="1"/>
            <p:nvPr/>
          </p:nvSpPr>
          <p:spPr>
            <a:xfrm>
              <a:off x="1610106" y="2834640"/>
              <a:ext cx="3531870" cy="352044"/>
            </a:xfrm>
            <a:prstGeom prst="rect">
              <a:avLst/>
            </a:prstGeom>
            <a:noFill/>
            <a:ln>
              <a:noFill/>
            </a:ln>
          </p:spPr>
          <p:txBody>
            <a:bodyPr wrap="none" lIns="0" tIns="0" rIns="0" bIns="0" anchor="t" anchorCtr="0">
              <a:spAutoFit/>
            </a:bodyPr>
            <a:lstStyle/>
            <a:p>
              <a:pPr algn="l"/>
              <a:r>
                <a:rPr lang="en-GB" sz="1800" dirty="0">
                  <a:solidFill>
                    <a:schemeClr val="dk1"/>
                  </a:solidFill>
                  <a:latin typeface="+mn-lt"/>
                  <a:ea typeface="+mn-ea"/>
                  <a:cs typeface="+mn-cs"/>
                </a:rPr>
                <a:t>memory and tribal knowledge.</a:t>
              </a:r>
              <a:endParaRPr lang="en-GB" sz="1800" dirty="0">
                <a:solidFill>
                  <a:schemeClr val="dk1"/>
                </a:solidFill>
                <a:latin typeface="+mn-lt"/>
                <a:ea typeface="+mn-ea"/>
                <a:cs typeface="+mn-cs"/>
              </a:endParaRPr>
            </a:p>
          </p:txBody>
        </p:sp>
      </p:grpSp>
      <p:grpSp>
        <p:nvGrpSpPr>
          <p:cNvPr id="22" name="Group 22"/>
          <p:cNvGrpSpPr/>
          <p:nvPr/>
        </p:nvGrpSpPr>
        <p:grpSpPr>
          <a:xfrm>
            <a:off x="609600" y="3514725"/>
            <a:ext cx="10972800" cy="904875"/>
            <a:chOff x="609600" y="3514725"/>
            <a:chExt cx="10972800" cy="904875"/>
          </a:xfrm>
        </p:grpSpPr>
        <p:sp>
          <p:nvSpPr>
            <p:cNvPr id="15" name="Rectangle 15"/>
            <p:cNvSpPr/>
            <p:nvPr/>
          </p:nvSpPr>
          <p:spPr>
            <a:xfrm>
              <a:off x="609600" y="3514725"/>
              <a:ext cx="10972800" cy="904875"/>
            </a:xfrm>
            <a:prstGeom prst="roundRect">
              <a:avLst>
                <a:gd name="adj" fmla="val 25263"/>
              </a:avLst>
            </a:prstGeom>
            <a:solidFill>
              <a:schemeClr val="lt2"/>
            </a:solidFill>
            <a:ln>
              <a:noFill/>
            </a:ln>
            <a:effectLst>
              <a:outerShdw blurRad="266700" dist="57150" dir="5400000" algn="ctr" rotWithShape="0">
                <a:srgbClr val="D9A441">
                  <a:alpha val="9000"/>
                </a:srgbClr>
              </a:outerShdw>
            </a:effectLst>
          </p:spPr>
        </p:sp>
        <p:sp>
          <p:nvSpPr>
            <p:cNvPr id="16" name="Ellipse 16"/>
            <p:cNvSpPr/>
            <p:nvPr/>
          </p:nvSpPr>
          <p:spPr>
            <a:xfrm>
              <a:off x="895350" y="3714750"/>
              <a:ext cx="495300" cy="495300"/>
            </a:xfrm>
            <a:prstGeom prst="ellipse">
              <a:avLst/>
            </a:prstGeom>
            <a:solidFill>
              <a:schemeClr val="accent3">
                <a:alpha val="16000"/>
              </a:schemeClr>
            </a:solidFill>
            <a:ln>
              <a:noFill/>
            </a:ln>
          </p:spPr>
        </p:sp>
        <p:grpSp>
          <p:nvGrpSpPr>
            <p:cNvPr id="19" name="Group 19"/>
            <p:cNvGrpSpPr/>
            <p:nvPr/>
          </p:nvGrpSpPr>
          <p:grpSpPr>
            <a:xfrm>
              <a:off x="1065213" y="3851275"/>
              <a:ext cx="155575" cy="222250"/>
              <a:chOff x="1065213" y="3851275"/>
              <a:chExt cx="155575" cy="222250"/>
            </a:xfrm>
          </p:grpSpPr>
          <p:sp>
            <p:nvSpPr>
              <p:cNvPr id="17" name="Freeform 17"/>
              <p:cNvSpPr/>
              <p:nvPr/>
            </p:nvSpPr>
            <p:spPr>
              <a:xfrm>
                <a:off x="1087438" y="3851275"/>
                <a:ext cx="111125" cy="111125"/>
              </a:xfrm>
              <a:custGeom>
                <a:avLst/>
                <a:gdLst/>
                <a:ahLst/>
                <a:cxnLst/>
                <a:rect l="l" t="t" r="r" b="b"/>
                <a:pathLst>
                  <a:path w="111125" h="111125">
                    <a:moveTo>
                      <a:pt x="55563" y="0"/>
                    </a:moveTo>
                    <a:cubicBezTo>
                      <a:pt x="86249" y="0"/>
                      <a:pt x="111125" y="24876"/>
                      <a:pt x="111125" y="55563"/>
                    </a:cubicBezTo>
                    <a:cubicBezTo>
                      <a:pt x="111125" y="86249"/>
                      <a:pt x="86249" y="111125"/>
                      <a:pt x="55563" y="111125"/>
                    </a:cubicBezTo>
                    <a:cubicBezTo>
                      <a:pt x="24876" y="111125"/>
                      <a:pt x="0" y="86249"/>
                      <a:pt x="0" y="55563"/>
                    </a:cubicBezTo>
                    <a:lnTo>
                      <a:pt x="56" y="53151"/>
                    </a:lnTo>
                    <a:cubicBezTo>
                      <a:pt x="1347" y="23432"/>
                      <a:pt x="25815" y="2"/>
                      <a:pt x="55563" y="0"/>
                    </a:cubicBezTo>
                    <a:close/>
                  </a:path>
                </a:pathLst>
              </a:custGeom>
              <a:solidFill>
                <a:srgbClr val="B9862E"/>
              </a:solidFill>
              <a:ln>
                <a:noFill/>
              </a:ln>
            </p:spPr>
          </p:sp>
          <p:sp>
            <p:nvSpPr>
              <p:cNvPr id="18" name="Freeform 18"/>
              <p:cNvSpPr/>
              <p:nvPr/>
            </p:nvSpPr>
            <p:spPr>
              <a:xfrm>
                <a:off x="1065213" y="3984625"/>
                <a:ext cx="155575" cy="88900"/>
              </a:xfrm>
              <a:custGeom>
                <a:avLst/>
                <a:gdLst/>
                <a:ahLst/>
                <a:cxnLst/>
                <a:rect l="l" t="t" r="r" b="b"/>
                <a:pathLst>
                  <a:path w="155575" h="88900">
                    <a:moveTo>
                      <a:pt x="100013" y="0"/>
                    </a:moveTo>
                    <a:cubicBezTo>
                      <a:pt x="130699" y="0"/>
                      <a:pt x="155575" y="24876"/>
                      <a:pt x="155575" y="55563"/>
                    </a:cubicBezTo>
                    <a:lnTo>
                      <a:pt x="155575" y="66675"/>
                    </a:lnTo>
                    <a:cubicBezTo>
                      <a:pt x="155575" y="78950"/>
                      <a:pt x="145625" y="88900"/>
                      <a:pt x="133350" y="88900"/>
                    </a:cubicBezTo>
                    <a:lnTo>
                      <a:pt x="22225" y="88900"/>
                    </a:lnTo>
                    <a:cubicBezTo>
                      <a:pt x="9950" y="88900"/>
                      <a:pt x="0" y="78950"/>
                      <a:pt x="0" y="66675"/>
                    </a:cubicBezTo>
                    <a:lnTo>
                      <a:pt x="0" y="55563"/>
                    </a:lnTo>
                    <a:cubicBezTo>
                      <a:pt x="0" y="24876"/>
                      <a:pt x="24876" y="0"/>
                      <a:pt x="55563" y="0"/>
                    </a:cubicBezTo>
                    <a:lnTo>
                      <a:pt x="100013" y="0"/>
                    </a:lnTo>
                    <a:close/>
                  </a:path>
                </a:pathLst>
              </a:custGeom>
              <a:solidFill>
                <a:srgbClr val="B9862E"/>
              </a:solidFill>
              <a:ln>
                <a:noFill/>
              </a:ln>
            </p:spPr>
          </p:sp>
        </p:grpSp>
        <p:sp>
          <p:nvSpPr>
            <p:cNvPr id="20" name="TextBox 20"/>
            <p:cNvSpPr txBox="1"/>
            <p:nvPr/>
          </p:nvSpPr>
          <p:spPr>
            <a:xfrm>
              <a:off x="1610106" y="3663315"/>
              <a:ext cx="6411171" cy="352044"/>
            </a:xfrm>
            <a:prstGeom prst="rect">
              <a:avLst/>
            </a:prstGeom>
            <a:noFill/>
            <a:ln>
              <a:noFill/>
            </a:ln>
          </p:spPr>
          <p:txBody>
            <a:bodyPr wrap="none" lIns="0" tIns="0" rIns="0" bIns="0" anchor="t" anchorCtr="0">
              <a:spAutoFit/>
            </a:bodyPr>
            <a:lstStyle/>
            <a:p>
              <a:pPr algn="l"/>
              <a:r>
                <a:rPr lang="en-GB" sz="1800" dirty="0">
                  <a:solidFill>
                    <a:schemeClr val="dk1"/>
                  </a:solidFill>
                  <a:latin typeface="+mn-lt"/>
                  <a:ea typeface="+mn-ea"/>
                  <a:cs typeface="+mn-cs"/>
                </a:rPr>
                <a:t>Diagnosis and remediation depend on whoever is on call</a:t>
              </a:r>
              <a:endParaRPr lang="en-GB" sz="1800" dirty="0">
                <a:solidFill>
                  <a:schemeClr val="dk1"/>
                </a:solidFill>
                <a:latin typeface="+mn-lt"/>
                <a:ea typeface="+mn-ea"/>
                <a:cs typeface="+mn-cs"/>
              </a:endParaRPr>
            </a:p>
          </p:txBody>
        </p:sp>
        <p:sp>
          <p:nvSpPr>
            <p:cNvPr id="21" name="TextBox 21"/>
            <p:cNvSpPr txBox="1"/>
            <p:nvPr/>
          </p:nvSpPr>
          <p:spPr>
            <a:xfrm>
              <a:off x="1610106" y="3930015"/>
              <a:ext cx="4598060" cy="352044"/>
            </a:xfrm>
            <a:prstGeom prst="rect">
              <a:avLst/>
            </a:prstGeom>
            <a:noFill/>
            <a:ln>
              <a:noFill/>
            </a:ln>
          </p:spPr>
          <p:txBody>
            <a:bodyPr wrap="none" lIns="0" tIns="0" rIns="0" bIns="0" anchor="t" anchorCtr="0">
              <a:spAutoFit/>
            </a:bodyPr>
            <a:lstStyle/>
            <a:p>
              <a:pPr algn="l"/>
              <a:r>
                <a:rPr lang="en-GB" sz="1800" dirty="0">
                  <a:solidFill>
                    <a:schemeClr val="dk1"/>
                  </a:solidFill>
                  <a:latin typeface="+mn-lt"/>
                  <a:ea typeface="+mn-ea"/>
                  <a:cs typeface="+mn-cs"/>
                </a:rPr>
                <a:t>finding the right runbook fast enough.</a:t>
              </a:r>
              <a:endParaRPr lang="en-GB" sz="1800" dirty="0">
                <a:solidFill>
                  <a:schemeClr val="dk1"/>
                </a:solidFill>
                <a:latin typeface="+mn-lt"/>
                <a:ea typeface="+mn-ea"/>
                <a:cs typeface="+mn-cs"/>
              </a:endParaRPr>
            </a:p>
          </p:txBody>
        </p:sp>
      </p:grpSp>
      <p:grpSp>
        <p:nvGrpSpPr>
          <p:cNvPr id="28" name="Group 28"/>
          <p:cNvGrpSpPr/>
          <p:nvPr/>
        </p:nvGrpSpPr>
        <p:grpSpPr>
          <a:xfrm>
            <a:off x="609600" y="4610100"/>
            <a:ext cx="10972800" cy="904875"/>
            <a:chOff x="609600" y="4610100"/>
            <a:chExt cx="10972800" cy="904875"/>
          </a:xfrm>
        </p:grpSpPr>
        <p:sp>
          <p:nvSpPr>
            <p:cNvPr id="23" name="Rectangle 23"/>
            <p:cNvSpPr/>
            <p:nvPr/>
          </p:nvSpPr>
          <p:spPr>
            <a:xfrm>
              <a:off x="609600" y="4610100"/>
              <a:ext cx="10972800" cy="904875"/>
            </a:xfrm>
            <a:prstGeom prst="roundRect">
              <a:avLst>
                <a:gd name="adj" fmla="val 25263"/>
              </a:avLst>
            </a:prstGeom>
            <a:solidFill>
              <a:schemeClr val="lt2"/>
            </a:solidFill>
            <a:ln>
              <a:noFill/>
            </a:ln>
            <a:effectLst>
              <a:outerShdw blurRad="266700" dist="57150" dir="5400000" algn="ctr" rotWithShape="0">
                <a:srgbClr val="D9A441">
                  <a:alpha val="9000"/>
                </a:srgbClr>
              </a:outerShdw>
            </a:effectLst>
          </p:spPr>
        </p:sp>
        <p:sp>
          <p:nvSpPr>
            <p:cNvPr id="24" name="Ellipse 24"/>
            <p:cNvSpPr/>
            <p:nvPr/>
          </p:nvSpPr>
          <p:spPr>
            <a:xfrm>
              <a:off x="895350" y="4810125"/>
              <a:ext cx="495300" cy="495300"/>
            </a:xfrm>
            <a:prstGeom prst="ellipse">
              <a:avLst/>
            </a:prstGeom>
            <a:solidFill>
              <a:schemeClr val="accent3">
                <a:alpha val="16000"/>
              </a:schemeClr>
            </a:solidFill>
            <a:ln>
              <a:noFill/>
            </a:ln>
          </p:spPr>
        </p:sp>
        <p:sp>
          <p:nvSpPr>
            <p:cNvPr id="25" name="Freeform 25"/>
            <p:cNvSpPr/>
            <p:nvPr/>
          </p:nvSpPr>
          <p:spPr>
            <a:xfrm>
              <a:off x="1031874" y="4941672"/>
              <a:ext cx="233995" cy="234908"/>
            </a:xfrm>
            <a:custGeom>
              <a:avLst/>
              <a:gdLst/>
              <a:ahLst/>
              <a:cxnLst/>
              <a:rect l="l" t="t" r="r" b="b"/>
              <a:pathLst>
                <a:path w="233995" h="234908">
                  <a:moveTo>
                    <a:pt x="166689" y="19869"/>
                  </a:moveTo>
                  <a:cubicBezTo>
                    <a:pt x="213393" y="46833"/>
                    <a:pt x="233995" y="103438"/>
                    <a:pt x="215550" y="154114"/>
                  </a:cubicBezTo>
                  <a:cubicBezTo>
                    <a:pt x="197105" y="204790"/>
                    <a:pt x="144937" y="234908"/>
                    <a:pt x="91828" y="225543"/>
                  </a:cubicBezTo>
                  <a:cubicBezTo>
                    <a:pt x="38719" y="216177"/>
                    <a:pt x="0" y="170032"/>
                    <a:pt x="1" y="116103"/>
                  </a:cubicBezTo>
                  <a:lnTo>
                    <a:pt x="57" y="112503"/>
                  </a:lnTo>
                  <a:cubicBezTo>
                    <a:pt x="1323" y="73464"/>
                    <a:pt x="22991" y="37956"/>
                    <a:pt x="57130" y="18978"/>
                  </a:cubicBezTo>
                  <a:cubicBezTo>
                    <a:pt x="91268" y="0"/>
                    <a:pt x="132864" y="338"/>
                    <a:pt x="166689" y="19869"/>
                  </a:cubicBezTo>
                  <a:moveTo>
                    <a:pt x="96758" y="86021"/>
                  </a:moveTo>
                  <a:cubicBezTo>
                    <a:pt x="92419" y="81683"/>
                    <a:pt x="85385" y="81683"/>
                    <a:pt x="81045" y="86021"/>
                  </a:cubicBezTo>
                  <a:lnTo>
                    <a:pt x="58820" y="108246"/>
                  </a:lnTo>
                  <a:cubicBezTo>
                    <a:pt x="54482" y="112586"/>
                    <a:pt x="54482" y="119620"/>
                    <a:pt x="58820" y="123960"/>
                  </a:cubicBezTo>
                  <a:lnTo>
                    <a:pt x="81045" y="146185"/>
                  </a:lnTo>
                  <a:cubicBezTo>
                    <a:pt x="85385" y="150523"/>
                    <a:pt x="92419" y="150523"/>
                    <a:pt x="96758" y="146185"/>
                  </a:cubicBezTo>
                  <a:lnTo>
                    <a:pt x="97681" y="145140"/>
                  </a:lnTo>
                  <a:cubicBezTo>
                    <a:pt x="101112" y="140716"/>
                    <a:pt x="100717" y="134431"/>
                    <a:pt x="96758" y="130472"/>
                  </a:cubicBezTo>
                  <a:lnTo>
                    <a:pt x="82401" y="116103"/>
                  </a:lnTo>
                  <a:lnTo>
                    <a:pt x="96758" y="101735"/>
                  </a:lnTo>
                  <a:cubicBezTo>
                    <a:pt x="101096" y="97395"/>
                    <a:pt x="101096" y="90361"/>
                    <a:pt x="96758" y="86021"/>
                  </a:cubicBezTo>
                  <a:moveTo>
                    <a:pt x="141208" y="86021"/>
                  </a:moveTo>
                  <a:cubicBezTo>
                    <a:pt x="136869" y="81683"/>
                    <a:pt x="129835" y="81683"/>
                    <a:pt x="125495" y="86021"/>
                  </a:cubicBezTo>
                  <a:lnTo>
                    <a:pt x="124573" y="87066"/>
                  </a:lnTo>
                  <a:cubicBezTo>
                    <a:pt x="121141" y="91490"/>
                    <a:pt x="121537" y="97776"/>
                    <a:pt x="125495" y="101735"/>
                  </a:cubicBezTo>
                  <a:lnTo>
                    <a:pt x="139853" y="116103"/>
                  </a:lnTo>
                  <a:lnTo>
                    <a:pt x="125495" y="130472"/>
                  </a:lnTo>
                  <a:cubicBezTo>
                    <a:pt x="121284" y="134832"/>
                    <a:pt x="121344" y="141763"/>
                    <a:pt x="125631" y="146049"/>
                  </a:cubicBezTo>
                  <a:cubicBezTo>
                    <a:pt x="129917" y="150336"/>
                    <a:pt x="136848" y="150396"/>
                    <a:pt x="141208" y="146185"/>
                  </a:cubicBezTo>
                  <a:lnTo>
                    <a:pt x="163433" y="123960"/>
                  </a:lnTo>
                  <a:cubicBezTo>
                    <a:pt x="167772" y="119620"/>
                    <a:pt x="167772" y="112586"/>
                    <a:pt x="163433" y="108246"/>
                  </a:cubicBezTo>
                  <a:close/>
                </a:path>
              </a:pathLst>
            </a:custGeom>
            <a:solidFill>
              <a:srgbClr val="B9862E"/>
            </a:solidFill>
            <a:ln>
              <a:noFill/>
            </a:ln>
          </p:spPr>
        </p:sp>
        <p:sp>
          <p:nvSpPr>
            <p:cNvPr id="26" name="TextBox 26"/>
            <p:cNvSpPr txBox="1"/>
            <p:nvPr/>
          </p:nvSpPr>
          <p:spPr>
            <a:xfrm>
              <a:off x="1610106" y="4758690"/>
              <a:ext cx="6168984" cy="352044"/>
            </a:xfrm>
            <a:prstGeom prst="rect">
              <a:avLst/>
            </a:prstGeom>
            <a:noFill/>
            <a:ln>
              <a:noFill/>
            </a:ln>
          </p:spPr>
          <p:txBody>
            <a:bodyPr wrap="none" lIns="0" tIns="0" rIns="0" bIns="0" anchor="t" anchorCtr="0">
              <a:spAutoFit/>
            </a:bodyPr>
            <a:lstStyle/>
            <a:p>
              <a:pPr algn="l"/>
              <a:r>
                <a:rPr lang="en-GB" sz="1800" dirty="0">
                  <a:solidFill>
                    <a:schemeClr val="dk1"/>
                  </a:solidFill>
                  <a:latin typeface="+mn-lt"/>
                  <a:ea typeface="+mn-ea"/>
                  <a:cs typeface="+mn-cs"/>
                </a:rPr>
                <a:t>Every fix is a manual SSH session with no consistent</a:t>
              </a:r>
              <a:endParaRPr lang="en-GB" sz="1800" dirty="0">
                <a:solidFill>
                  <a:schemeClr val="dk1"/>
                </a:solidFill>
                <a:latin typeface="+mn-lt"/>
                <a:ea typeface="+mn-ea"/>
                <a:cs typeface="+mn-cs"/>
              </a:endParaRPr>
            </a:p>
          </p:txBody>
        </p:sp>
        <p:sp>
          <p:nvSpPr>
            <p:cNvPr id="27" name="TextBox 27"/>
            <p:cNvSpPr txBox="1"/>
            <p:nvPr/>
          </p:nvSpPr>
          <p:spPr>
            <a:xfrm>
              <a:off x="1610106" y="5025390"/>
              <a:ext cx="3035122" cy="352044"/>
            </a:xfrm>
            <a:prstGeom prst="rect">
              <a:avLst/>
            </a:prstGeom>
            <a:noFill/>
            <a:ln>
              <a:noFill/>
            </a:ln>
          </p:spPr>
          <p:txBody>
            <a:bodyPr wrap="none" lIns="0" tIns="0" rIns="0" bIns="0" anchor="t" anchorCtr="0">
              <a:spAutoFit/>
            </a:bodyPr>
            <a:lstStyle/>
            <a:p>
              <a:pPr algn="l"/>
              <a:r>
                <a:rPr lang="en-GB" sz="1800" dirty="0">
                  <a:solidFill>
                    <a:schemeClr val="dk1"/>
                  </a:solidFill>
                  <a:latin typeface="+mn-lt"/>
                  <a:ea typeface="+mn-ea"/>
                  <a:cs typeface="+mn-cs"/>
                </a:rPr>
                <a:t>proof it actually worked.</a:t>
              </a:r>
              <a:endParaRPr lang="en-GB" sz="1800" dirty="0">
                <a:solidFill>
                  <a:schemeClr val="dk1"/>
                </a:solidFill>
                <a:latin typeface="+mn-lt"/>
                <a:ea typeface="+mn-ea"/>
                <a:cs typeface="+mn-cs"/>
              </a:endParaRPr>
            </a:p>
          </p:txBody>
        </p:sp>
      </p:grpSp>
      <p:grpSp>
        <p:nvGrpSpPr>
          <p:cNvPr id="35" name="Group 35"/>
          <p:cNvGrpSpPr/>
          <p:nvPr/>
        </p:nvGrpSpPr>
        <p:grpSpPr>
          <a:xfrm>
            <a:off x="609600" y="5705475"/>
            <a:ext cx="10972800" cy="542925"/>
            <a:chOff x="609600" y="5705475"/>
            <a:chExt cx="10972800" cy="542925"/>
          </a:xfrm>
        </p:grpSpPr>
        <p:sp>
          <p:nvSpPr>
            <p:cNvPr id="29" name="Rectangle 29"/>
            <p:cNvSpPr/>
            <p:nvPr/>
          </p:nvSpPr>
          <p:spPr>
            <a:xfrm>
              <a:off x="609600" y="5705475"/>
              <a:ext cx="10972800" cy="542925"/>
            </a:xfrm>
            <a:prstGeom prst="roundRect">
              <a:avLst>
                <a:gd name="adj" fmla="val 42105"/>
              </a:avLst>
            </a:prstGeom>
            <a:solidFill>
              <a:schemeClr val="lt2"/>
            </a:solidFill>
            <a:ln>
              <a:noFill/>
            </a:ln>
            <a:effectLst>
              <a:outerShdw blurRad="266700" dist="57150" dir="5400000" algn="ctr" rotWithShape="0">
                <a:srgbClr val="D9A441">
                  <a:alpha val="9000"/>
                </a:srgbClr>
              </a:outerShdw>
            </a:effectLst>
          </p:spPr>
        </p:sp>
        <p:sp>
          <p:nvSpPr>
            <p:cNvPr id="30" name="Ellipse 30"/>
            <p:cNvSpPr/>
            <p:nvPr/>
          </p:nvSpPr>
          <p:spPr>
            <a:xfrm>
              <a:off x="952500" y="5781675"/>
              <a:ext cx="381000" cy="381000"/>
            </a:xfrm>
            <a:prstGeom prst="ellipse">
              <a:avLst/>
            </a:prstGeom>
            <a:solidFill>
              <a:schemeClr val="accent3">
                <a:alpha val="16000"/>
              </a:schemeClr>
            </a:solidFill>
            <a:ln>
              <a:noFill/>
            </a:ln>
          </p:spPr>
        </p:sp>
        <p:grpSp>
          <p:nvGrpSpPr>
            <p:cNvPr id="33" name="Group 33"/>
            <p:cNvGrpSpPr/>
            <p:nvPr/>
          </p:nvGrpSpPr>
          <p:grpSpPr>
            <a:xfrm>
              <a:off x="1071562" y="5892800"/>
              <a:ext cx="142875" cy="166685"/>
              <a:chOff x="1071562" y="5892800"/>
              <a:chExt cx="142875" cy="166685"/>
            </a:xfrm>
          </p:grpSpPr>
          <p:sp>
            <p:nvSpPr>
              <p:cNvPr id="31" name="Freeform 31"/>
              <p:cNvSpPr/>
              <p:nvPr/>
            </p:nvSpPr>
            <p:spPr>
              <a:xfrm>
                <a:off x="1071562" y="6011860"/>
                <a:ext cx="142875" cy="47625"/>
              </a:xfrm>
              <a:custGeom>
                <a:avLst/>
                <a:gdLst/>
                <a:ahLst/>
                <a:cxnLst/>
                <a:rect l="l" t="t" r="r" b="b"/>
                <a:pathLst>
                  <a:path w="142875" h="47625">
                    <a:moveTo>
                      <a:pt x="71437" y="3"/>
                    </a:moveTo>
                    <a:cubicBezTo>
                      <a:pt x="81804" y="3"/>
                      <a:pt x="90630" y="6631"/>
                      <a:pt x="93901" y="15878"/>
                    </a:cubicBezTo>
                    <a:lnTo>
                      <a:pt x="134937" y="15878"/>
                    </a:lnTo>
                    <a:cubicBezTo>
                      <a:pt x="139321" y="15878"/>
                      <a:pt x="142875" y="19432"/>
                      <a:pt x="142875" y="23815"/>
                    </a:cubicBezTo>
                    <a:cubicBezTo>
                      <a:pt x="142875" y="28199"/>
                      <a:pt x="139321" y="31753"/>
                      <a:pt x="134937" y="31753"/>
                    </a:cubicBezTo>
                    <a:lnTo>
                      <a:pt x="93893" y="31753"/>
                    </a:lnTo>
                    <a:cubicBezTo>
                      <a:pt x="90525" y="41266"/>
                      <a:pt x="81529" y="47625"/>
                      <a:pt x="71437" y="47625"/>
                    </a:cubicBezTo>
                    <a:cubicBezTo>
                      <a:pt x="61346" y="47625"/>
                      <a:pt x="52350" y="41266"/>
                      <a:pt x="48982" y="31753"/>
                    </a:cubicBezTo>
                    <a:lnTo>
                      <a:pt x="7937" y="31753"/>
                    </a:lnTo>
                    <a:cubicBezTo>
                      <a:pt x="3554" y="31753"/>
                      <a:pt x="0" y="28199"/>
                      <a:pt x="0" y="23815"/>
                    </a:cubicBezTo>
                    <a:cubicBezTo>
                      <a:pt x="0" y="19432"/>
                      <a:pt x="3554" y="15878"/>
                      <a:pt x="7937" y="15878"/>
                    </a:cubicBezTo>
                    <a:lnTo>
                      <a:pt x="48974" y="15878"/>
                    </a:lnTo>
                    <a:cubicBezTo>
                      <a:pt x="52342" y="6361"/>
                      <a:pt x="61342" y="0"/>
                      <a:pt x="71437" y="3"/>
                    </a:cubicBezTo>
                    <a:close/>
                  </a:path>
                </a:pathLst>
              </a:custGeom>
              <a:solidFill>
                <a:srgbClr val="B9862E"/>
              </a:solidFill>
              <a:ln>
                <a:noFill/>
              </a:ln>
            </p:spPr>
          </p:sp>
          <p:sp>
            <p:nvSpPr>
              <p:cNvPr id="32" name="Freeform 32"/>
              <p:cNvSpPr/>
              <p:nvPr/>
            </p:nvSpPr>
            <p:spPr>
              <a:xfrm>
                <a:off x="1087437" y="5892800"/>
                <a:ext cx="111125" cy="111909"/>
              </a:xfrm>
              <a:custGeom>
                <a:avLst/>
                <a:gdLst/>
                <a:ahLst/>
                <a:cxnLst/>
                <a:rect l="l" t="t" r="r" b="b"/>
                <a:pathLst>
                  <a:path w="111125" h="111909">
                    <a:moveTo>
                      <a:pt x="95250" y="0"/>
                    </a:moveTo>
                    <a:cubicBezTo>
                      <a:pt x="104017" y="0"/>
                      <a:pt x="111125" y="7107"/>
                      <a:pt x="111125" y="15875"/>
                    </a:cubicBezTo>
                    <a:lnTo>
                      <a:pt x="111125" y="79375"/>
                    </a:lnTo>
                    <a:cubicBezTo>
                      <a:pt x="111125" y="88142"/>
                      <a:pt x="104017" y="95250"/>
                      <a:pt x="95250" y="95250"/>
                    </a:cubicBezTo>
                    <a:lnTo>
                      <a:pt x="74724" y="95250"/>
                    </a:lnTo>
                    <a:lnTo>
                      <a:pt x="61174" y="108799"/>
                    </a:lnTo>
                    <a:cubicBezTo>
                      <a:pt x="58346" y="111627"/>
                      <a:pt x="53857" y="111909"/>
                      <a:pt x="50697" y="109458"/>
                    </a:cubicBezTo>
                    <a:lnTo>
                      <a:pt x="49951" y="108799"/>
                    </a:lnTo>
                    <a:lnTo>
                      <a:pt x="36393" y="95250"/>
                    </a:lnTo>
                    <a:lnTo>
                      <a:pt x="15875" y="95250"/>
                    </a:lnTo>
                    <a:cubicBezTo>
                      <a:pt x="7567" y="95253"/>
                      <a:pt x="663" y="88850"/>
                      <a:pt x="40" y="80566"/>
                    </a:cubicBezTo>
                    <a:lnTo>
                      <a:pt x="0" y="79375"/>
                    </a:lnTo>
                    <a:lnTo>
                      <a:pt x="0" y="15875"/>
                    </a:lnTo>
                    <a:cubicBezTo>
                      <a:pt x="0" y="7107"/>
                      <a:pt x="7107" y="0"/>
                      <a:pt x="15875" y="0"/>
                    </a:cubicBezTo>
                    <a:lnTo>
                      <a:pt x="95250" y="0"/>
                    </a:lnTo>
                    <a:close/>
                  </a:path>
                </a:pathLst>
              </a:custGeom>
              <a:solidFill>
                <a:srgbClr val="B9862E"/>
              </a:solidFill>
              <a:ln>
                <a:noFill/>
              </a:ln>
            </p:spPr>
          </p:sp>
        </p:grpSp>
        <p:sp>
          <p:nvSpPr>
            <p:cNvPr id="34" name="TextBox 34"/>
            <p:cNvSpPr txBox="1"/>
            <p:nvPr/>
          </p:nvSpPr>
          <p:spPr>
            <a:xfrm>
              <a:off x="1610868" y="5860732"/>
              <a:ext cx="8220586" cy="322707"/>
            </a:xfrm>
            <a:prstGeom prst="rect">
              <a:avLst/>
            </a:prstGeom>
            <a:noFill/>
            <a:ln>
              <a:noFill/>
            </a:ln>
          </p:spPr>
          <p:txBody>
            <a:bodyPr wrap="none" lIns="0" tIns="0" rIns="0" bIns="0" anchor="t" anchorCtr="0">
              <a:spAutoFit/>
            </a:bodyPr>
            <a:lstStyle/>
            <a:p>
              <a:pPr algn="l"/>
              <a:r>
                <a:rPr lang="en-GB" sz="1650" dirty="0">
                  <a:solidFill>
                    <a:schemeClr val="dk1"/>
                  </a:solidFill>
                  <a:latin typeface="+mn-lt"/>
                  <a:ea typeface="+mn-ea"/>
                  <a:cs typeface="+mn-cs"/>
                </a:rPr>
                <a:t>Recurring root causes go unnoticed until they cause the same outage again.</a:t>
              </a:r>
              <a:endParaRPr lang="en-GB" sz="1650" dirty="0">
                <a:solidFill>
                  <a:schemeClr val="dk1"/>
                </a:solidFill>
                <a:latin typeface="+mn-lt"/>
                <a:ea typeface="+mn-ea"/>
                <a:cs typeface="+mn-cs"/>
              </a:endParaRPr>
            </a:p>
          </p:txBody>
        </p:sp>
      </p:grpSp>
      <p:sp>
        <p:nvSpPr>
          <p:cNvPr id="40" name="Footer Placeholder 39"/>
          <p:cNvSpPr>
            <a:spLocks noGrp="1"/>
          </p:cNvSpPr>
          <p:nvPr>
            <p:ph type="ftr" sz="quarter" idx="11"/>
          </p:nvPr>
        </p:nvSpPr>
        <p:spPr/>
        <p:txBody>
          <a:bodyPr/>
          <a:p>
            <a:r>
              <a:rPr lang="en-US"/>
              <a:t>TCS | Confidential</a:t>
            </a:r>
            <a:endParaRPr lang="en-US"/>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609600" y="628650"/>
            <a:ext cx="1423058" cy="346901"/>
            <a:chOff x="609600" y="628650"/>
            <a:chExt cx="1423058" cy="346901"/>
          </a:xfrm>
        </p:grpSpPr>
        <p:sp>
          <p:nvSpPr>
            <p:cNvPr id="2" name="Rectangle 2"/>
            <p:cNvSpPr/>
            <p:nvPr/>
          </p:nvSpPr>
          <p:spPr>
            <a:xfrm>
              <a:off x="609600" y="628650"/>
              <a:ext cx="1409700" cy="342900"/>
            </a:xfrm>
            <a:prstGeom prst="roundRect">
              <a:avLst>
                <a:gd name="adj" fmla="val 50000"/>
              </a:avLst>
            </a:prstGeom>
            <a:solidFill>
              <a:schemeClr val="accent1">
                <a:alpha val="14000"/>
              </a:schemeClr>
            </a:solidFill>
            <a:ln>
              <a:noFill/>
            </a:ln>
          </p:spPr>
        </p:sp>
        <p:sp>
          <p:nvSpPr>
            <p:cNvPr id="3" name="TextBox 3"/>
            <p:cNvSpPr txBox="1"/>
            <p:nvPr/>
          </p:nvSpPr>
          <p:spPr>
            <a:xfrm>
              <a:off x="793242" y="711518"/>
              <a:ext cx="1239416" cy="264033"/>
            </a:xfrm>
            <a:prstGeom prst="rect">
              <a:avLst/>
            </a:prstGeom>
            <a:noFill/>
            <a:ln>
              <a:noFill/>
            </a:ln>
          </p:spPr>
          <p:txBody>
            <a:bodyPr wrap="none" lIns="0" tIns="0" rIns="0" bIns="0" anchor="t" anchorCtr="0">
              <a:spAutoFit/>
            </a:bodyPr>
            <a:lstStyle/>
            <a:p>
              <a:pPr algn="l"/>
              <a:r>
                <a:rPr lang="en-GB" sz="1350" b="1" spc="75" dirty="0">
                  <a:solidFill>
                    <a:schemeClr val="accent1"/>
                  </a:solidFill>
                  <a:latin typeface="+mn-lt"/>
                  <a:ea typeface="+mn-ea"/>
                  <a:cs typeface="+mn-cs"/>
                </a:rPr>
                <a:t>AT A GLANCE</a:t>
              </a:r>
              <a:endParaRPr lang="en-GB" sz="1350" b="1" spc="75" dirty="0">
                <a:solidFill>
                  <a:schemeClr val="accent1"/>
                </a:solidFill>
                <a:latin typeface="+mn-lt"/>
                <a:ea typeface="+mn-ea"/>
                <a:cs typeface="+mn-cs"/>
              </a:endParaRPr>
            </a:p>
          </p:txBody>
        </p:sp>
      </p:grpSp>
      <p:grpSp>
        <p:nvGrpSpPr>
          <p:cNvPr id="6" name="Group 6"/>
          <p:cNvGrpSpPr/>
          <p:nvPr/>
        </p:nvGrpSpPr>
        <p:grpSpPr>
          <a:xfrm>
            <a:off x="590550" y="1165860"/>
            <a:ext cx="9110588" cy="819150"/>
            <a:chOff x="590550" y="1165860"/>
            <a:chExt cx="9110588" cy="819150"/>
          </a:xfrm>
        </p:grpSpPr>
        <p:sp>
          <p:nvSpPr>
            <p:cNvPr id="5" name="TextBox 5"/>
            <p:cNvSpPr txBox="1"/>
            <p:nvPr/>
          </p:nvSpPr>
          <p:spPr>
            <a:xfrm>
              <a:off x="590550" y="1165860"/>
              <a:ext cx="9110588" cy="819150"/>
            </a:xfrm>
            <a:prstGeom prst="rect">
              <a:avLst/>
            </a:prstGeom>
            <a:noFill/>
            <a:ln>
              <a:noFill/>
            </a:ln>
          </p:spPr>
          <p:txBody>
            <a:bodyPr wrap="none" lIns="0" tIns="0" rIns="0" bIns="0" anchor="t" anchorCtr="0">
              <a:spAutoFit/>
            </a:bodyPr>
            <a:lstStyle/>
            <a:p>
              <a:pPr algn="l"/>
              <a:r>
                <a:rPr lang="en-GB" sz="4200" b="1" dirty="0">
                  <a:solidFill>
                    <a:schemeClr val="dk1"/>
                  </a:solidFill>
                  <a:latin typeface="+mn-lt"/>
                  <a:ea typeface="+mn-ea"/>
                  <a:cs typeface="+mn-cs"/>
                </a:rPr>
                <a:t>One Platform, Every Capability</a:t>
              </a:r>
              <a:endParaRPr lang="en-GB" sz="4200" b="1" dirty="0">
                <a:solidFill>
                  <a:schemeClr val="dk1"/>
                </a:solidFill>
                <a:latin typeface="+mn-lt"/>
                <a:ea typeface="+mn-ea"/>
                <a:cs typeface="+mn-cs"/>
              </a:endParaRPr>
            </a:p>
          </p:txBody>
        </p:sp>
      </p:grpSp>
      <p:grpSp>
        <p:nvGrpSpPr>
          <p:cNvPr id="14" name="Group 14"/>
          <p:cNvGrpSpPr/>
          <p:nvPr/>
        </p:nvGrpSpPr>
        <p:grpSpPr>
          <a:xfrm>
            <a:off x="609600" y="2057400"/>
            <a:ext cx="3505200" cy="1981200"/>
            <a:chOff x="609600" y="2057400"/>
            <a:chExt cx="3505200" cy="1981200"/>
          </a:xfrm>
        </p:grpSpPr>
        <p:sp>
          <p:nvSpPr>
            <p:cNvPr id="7" name="Rectangle 7"/>
            <p:cNvSpPr/>
            <p:nvPr/>
          </p:nvSpPr>
          <p:spPr>
            <a:xfrm>
              <a:off x="609600" y="2057400"/>
              <a:ext cx="3505200" cy="1981200"/>
            </a:xfrm>
            <a:prstGeom prst="roundRect">
              <a:avLst>
                <a:gd name="adj" fmla="val 11538"/>
              </a:avLst>
            </a:prstGeom>
            <a:solidFill>
              <a:schemeClr val="lt2"/>
            </a:solidFill>
            <a:ln>
              <a:noFill/>
            </a:ln>
            <a:effectLst>
              <a:outerShdw blurRad="266700" dist="57150" dir="5400000" algn="ctr" rotWithShape="0">
                <a:srgbClr val="7C6FE0">
                  <a:alpha val="7500"/>
                </a:srgbClr>
              </a:outerShdw>
            </a:effectLst>
          </p:spPr>
        </p:sp>
        <p:sp>
          <p:nvSpPr>
            <p:cNvPr id="8" name="Ellipse 8"/>
            <p:cNvSpPr/>
            <p:nvPr/>
          </p:nvSpPr>
          <p:spPr>
            <a:xfrm>
              <a:off x="838200" y="2286000"/>
              <a:ext cx="419100" cy="419100"/>
            </a:xfrm>
            <a:prstGeom prst="ellipse">
              <a:avLst/>
            </a:prstGeom>
            <a:solidFill>
              <a:schemeClr val="accent1">
                <a:alpha val="15000"/>
              </a:schemeClr>
            </a:solidFill>
            <a:ln>
              <a:noFill/>
            </a:ln>
          </p:spPr>
        </p:sp>
        <p:sp>
          <p:nvSpPr>
            <p:cNvPr id="9" name="Freeform 9"/>
            <p:cNvSpPr/>
            <p:nvPr/>
          </p:nvSpPr>
          <p:spPr>
            <a:xfrm>
              <a:off x="961097" y="2400300"/>
              <a:ext cx="182830" cy="190500"/>
            </a:xfrm>
            <a:custGeom>
              <a:avLst/>
              <a:gdLst/>
              <a:ahLst/>
              <a:cxnLst/>
              <a:rect l="l" t="t" r="r" b="b"/>
              <a:pathLst>
                <a:path w="182830" h="190500">
                  <a:moveTo>
                    <a:pt x="67603" y="190500"/>
                  </a:moveTo>
                  <a:cubicBezTo>
                    <a:pt x="62342" y="190500"/>
                    <a:pt x="58078" y="186236"/>
                    <a:pt x="58078" y="180975"/>
                  </a:cubicBezTo>
                  <a:cubicBezTo>
                    <a:pt x="58078" y="175714"/>
                    <a:pt x="62342" y="171450"/>
                    <a:pt x="67603" y="171450"/>
                  </a:cubicBezTo>
                  <a:lnTo>
                    <a:pt x="77128" y="171450"/>
                  </a:lnTo>
                  <a:lnTo>
                    <a:pt x="77128" y="152390"/>
                  </a:lnTo>
                  <a:lnTo>
                    <a:pt x="29503" y="152400"/>
                  </a:lnTo>
                  <a:cubicBezTo>
                    <a:pt x="26977" y="152399"/>
                    <a:pt x="24554" y="151396"/>
                    <a:pt x="22768" y="149609"/>
                  </a:cubicBezTo>
                  <a:lnTo>
                    <a:pt x="3718" y="130559"/>
                  </a:lnTo>
                  <a:cubicBezTo>
                    <a:pt x="0" y="126840"/>
                    <a:pt x="0" y="120810"/>
                    <a:pt x="3718" y="117091"/>
                  </a:cubicBezTo>
                  <a:lnTo>
                    <a:pt x="22768" y="98041"/>
                  </a:lnTo>
                  <a:cubicBezTo>
                    <a:pt x="24554" y="96254"/>
                    <a:pt x="26977" y="95251"/>
                    <a:pt x="29503" y="95250"/>
                  </a:cubicBezTo>
                  <a:lnTo>
                    <a:pt x="77128" y="95240"/>
                  </a:lnTo>
                  <a:lnTo>
                    <a:pt x="77128" y="76200"/>
                  </a:lnTo>
                  <a:lnTo>
                    <a:pt x="48553" y="76200"/>
                  </a:lnTo>
                  <a:cubicBezTo>
                    <a:pt x="43292" y="76200"/>
                    <a:pt x="39028" y="71936"/>
                    <a:pt x="39028" y="66675"/>
                  </a:cubicBezTo>
                  <a:lnTo>
                    <a:pt x="39028" y="28575"/>
                  </a:lnTo>
                  <a:cubicBezTo>
                    <a:pt x="39028" y="23314"/>
                    <a:pt x="43292" y="19050"/>
                    <a:pt x="48553" y="19050"/>
                  </a:cubicBezTo>
                  <a:lnTo>
                    <a:pt x="77128" y="19050"/>
                  </a:lnTo>
                  <a:lnTo>
                    <a:pt x="77128" y="9525"/>
                  </a:lnTo>
                  <a:cubicBezTo>
                    <a:pt x="77128" y="4264"/>
                    <a:pt x="81392" y="0"/>
                    <a:pt x="86653" y="0"/>
                  </a:cubicBezTo>
                  <a:cubicBezTo>
                    <a:pt x="91913" y="0"/>
                    <a:pt x="96178" y="4264"/>
                    <a:pt x="96178" y="9525"/>
                  </a:cubicBezTo>
                  <a:lnTo>
                    <a:pt x="96178" y="19050"/>
                  </a:lnTo>
                  <a:lnTo>
                    <a:pt x="153328" y="19050"/>
                  </a:lnTo>
                  <a:cubicBezTo>
                    <a:pt x="155854" y="19051"/>
                    <a:pt x="158276" y="20054"/>
                    <a:pt x="160062" y="21841"/>
                  </a:cubicBezTo>
                  <a:lnTo>
                    <a:pt x="179112" y="40891"/>
                  </a:lnTo>
                  <a:cubicBezTo>
                    <a:pt x="182830" y="44610"/>
                    <a:pt x="182830" y="50640"/>
                    <a:pt x="179112" y="54359"/>
                  </a:cubicBezTo>
                  <a:lnTo>
                    <a:pt x="160062" y="73409"/>
                  </a:lnTo>
                  <a:cubicBezTo>
                    <a:pt x="158276" y="75196"/>
                    <a:pt x="155854" y="76199"/>
                    <a:pt x="153328" y="76200"/>
                  </a:cubicBezTo>
                  <a:lnTo>
                    <a:pt x="96178" y="76200"/>
                  </a:lnTo>
                  <a:lnTo>
                    <a:pt x="96178" y="95240"/>
                  </a:lnTo>
                  <a:lnTo>
                    <a:pt x="105703" y="95250"/>
                  </a:lnTo>
                  <a:cubicBezTo>
                    <a:pt x="110963" y="95250"/>
                    <a:pt x="115228" y="99514"/>
                    <a:pt x="115228" y="104775"/>
                  </a:cubicBezTo>
                  <a:lnTo>
                    <a:pt x="115228" y="142875"/>
                  </a:lnTo>
                  <a:cubicBezTo>
                    <a:pt x="115228" y="148136"/>
                    <a:pt x="110963" y="152400"/>
                    <a:pt x="105703" y="152400"/>
                  </a:cubicBezTo>
                  <a:lnTo>
                    <a:pt x="96178" y="152390"/>
                  </a:lnTo>
                  <a:lnTo>
                    <a:pt x="96178" y="171450"/>
                  </a:lnTo>
                  <a:lnTo>
                    <a:pt x="105703" y="171450"/>
                  </a:lnTo>
                  <a:cubicBezTo>
                    <a:pt x="110963" y="171450"/>
                    <a:pt x="115228" y="175714"/>
                    <a:pt x="115228" y="180975"/>
                  </a:cubicBezTo>
                  <a:cubicBezTo>
                    <a:pt x="115228" y="186236"/>
                    <a:pt x="110963" y="190500"/>
                    <a:pt x="105703" y="190500"/>
                  </a:cubicBezTo>
                  <a:close/>
                </a:path>
              </a:pathLst>
            </a:custGeom>
            <a:solidFill>
              <a:schemeClr val="accent1"/>
            </a:solidFill>
            <a:ln>
              <a:noFill/>
            </a:ln>
          </p:spPr>
        </p:sp>
        <p:sp>
          <p:nvSpPr>
            <p:cNvPr id="10" name="TextBox 10"/>
            <p:cNvSpPr txBox="1"/>
            <p:nvPr/>
          </p:nvSpPr>
          <p:spPr>
            <a:xfrm>
              <a:off x="1362456" y="2377440"/>
              <a:ext cx="2337188" cy="352044"/>
            </a:xfrm>
            <a:prstGeom prst="rect">
              <a:avLst/>
            </a:prstGeom>
            <a:noFill/>
            <a:ln>
              <a:noFill/>
            </a:ln>
          </p:spPr>
          <p:txBody>
            <a:bodyPr wrap="none" lIns="0" tIns="0" rIns="0" bIns="0" anchor="t" anchorCtr="0">
              <a:spAutoFit/>
            </a:bodyPr>
            <a:lstStyle/>
            <a:p>
              <a:pPr algn="l"/>
              <a:r>
                <a:rPr lang="en-GB" sz="1800" b="1" dirty="0">
                  <a:solidFill>
                    <a:schemeClr val="dk1"/>
                  </a:solidFill>
                  <a:latin typeface="+mn-lt"/>
                  <a:ea typeface="+mn-ea"/>
                  <a:cs typeface="+mn-cs"/>
                </a:rPr>
                <a:t>Autonomous Triage</a:t>
              </a:r>
              <a:endParaRPr lang="en-GB" sz="1800" b="1" dirty="0">
                <a:solidFill>
                  <a:schemeClr val="dk1"/>
                </a:solidFill>
                <a:latin typeface="+mn-lt"/>
                <a:ea typeface="+mn-ea"/>
                <a:cs typeface="+mn-cs"/>
              </a:endParaRPr>
            </a:p>
          </p:txBody>
        </p:sp>
        <p:sp>
          <p:nvSpPr>
            <p:cNvPr id="11" name="TextBox 11"/>
            <p:cNvSpPr txBox="1"/>
            <p:nvPr/>
          </p:nvSpPr>
          <p:spPr>
            <a:xfrm>
              <a:off x="831342" y="2864168"/>
              <a:ext cx="3181906" cy="264033"/>
            </a:xfrm>
            <a:prstGeom prst="rect">
              <a:avLst/>
            </a:prstGeom>
            <a:noFill/>
            <a:ln>
              <a:noFill/>
            </a:ln>
          </p:spPr>
          <p:txBody>
            <a:bodyPr wrap="none" lIns="0" tIns="0" rIns="0" bIns="0" anchor="t" anchorCtr="0">
              <a:spAutoFit/>
            </a:bodyPr>
            <a:lstStyle/>
            <a:p>
              <a:pPr algn="l"/>
              <a:r>
                <a:rPr lang="en-GB" sz="1350" dirty="0">
                  <a:solidFill>
                    <a:schemeClr val="accent5"/>
                  </a:solidFill>
                  <a:latin typeface="+mn-lt"/>
                  <a:ea typeface="+mn-ea"/>
                  <a:cs typeface="+mn-cs"/>
                </a:rPr>
                <a:t>Precedent-grounded routing across</a:t>
              </a:r>
              <a:endParaRPr lang="en-GB" sz="1350" dirty="0">
                <a:solidFill>
                  <a:schemeClr val="accent5"/>
                </a:solidFill>
                <a:latin typeface="+mn-lt"/>
                <a:ea typeface="+mn-ea"/>
                <a:cs typeface="+mn-cs"/>
              </a:endParaRPr>
            </a:p>
          </p:txBody>
        </p:sp>
        <p:sp>
          <p:nvSpPr>
            <p:cNvPr id="12" name="TextBox 12"/>
            <p:cNvSpPr txBox="1"/>
            <p:nvPr/>
          </p:nvSpPr>
          <p:spPr>
            <a:xfrm>
              <a:off x="831342" y="3092768"/>
              <a:ext cx="2752090" cy="207645"/>
            </a:xfrm>
            <a:prstGeom prst="rect">
              <a:avLst/>
            </a:prstGeom>
            <a:noFill/>
            <a:ln>
              <a:noFill/>
            </a:ln>
          </p:spPr>
          <p:txBody>
            <a:bodyPr wrap="none" lIns="0" tIns="0" rIns="0" bIns="0" anchor="t" anchorCtr="0">
              <a:spAutoFit/>
            </a:bodyPr>
            <a:lstStyle/>
            <a:p>
              <a:pPr algn="l"/>
              <a:r>
                <a:rPr lang="en-GB" sz="1350" dirty="0">
                  <a:solidFill>
                    <a:schemeClr val="accent5"/>
                  </a:solidFill>
                  <a:latin typeface="+mn-lt"/>
                  <a:ea typeface="+mn-ea"/>
                  <a:cs typeface="+mn-cs"/>
                </a:rPr>
                <a:t>1,</a:t>
              </a:r>
              <a:r>
                <a:rPr lang="en-US" altLang="en-GB" sz="1350" dirty="0">
                  <a:solidFill>
                    <a:schemeClr val="accent5"/>
                  </a:solidFill>
                  <a:latin typeface="+mn-lt"/>
                  <a:ea typeface="+mn-ea"/>
                  <a:cs typeface="+mn-cs"/>
                </a:rPr>
                <a:t>700</a:t>
              </a:r>
              <a:r>
                <a:rPr lang="en-GB" sz="1350" dirty="0">
                  <a:solidFill>
                    <a:schemeClr val="accent5"/>
                  </a:solidFill>
                  <a:latin typeface="+mn-lt"/>
                  <a:ea typeface="+mn-ea"/>
                  <a:cs typeface="+mn-cs"/>
                </a:rPr>
                <a:t>+ incidents and </a:t>
              </a:r>
              <a:r>
                <a:rPr lang="en-US" altLang="en-GB" sz="1350" dirty="0">
                  <a:solidFill>
                    <a:schemeClr val="accent5"/>
                  </a:solidFill>
                  <a:latin typeface="+mn-lt"/>
                  <a:ea typeface="+mn-ea"/>
                  <a:cs typeface="+mn-cs"/>
                </a:rPr>
                <a:t>700 +</a:t>
              </a:r>
              <a:r>
                <a:rPr lang="en-GB" sz="1350" dirty="0">
                  <a:solidFill>
                    <a:schemeClr val="accent5"/>
                  </a:solidFill>
                  <a:latin typeface="+mn-lt"/>
                  <a:ea typeface="+mn-ea"/>
                  <a:cs typeface="+mn-cs"/>
                </a:rPr>
                <a:t>SRE logs,</a:t>
              </a:r>
              <a:endParaRPr lang="en-GB" sz="1350" dirty="0">
                <a:solidFill>
                  <a:schemeClr val="accent5"/>
                </a:solidFill>
                <a:latin typeface="+mn-lt"/>
                <a:ea typeface="+mn-ea"/>
                <a:cs typeface="+mn-cs"/>
              </a:endParaRPr>
            </a:p>
          </p:txBody>
        </p:sp>
        <p:sp>
          <p:nvSpPr>
            <p:cNvPr id="13" name="TextBox 13"/>
            <p:cNvSpPr txBox="1"/>
            <p:nvPr/>
          </p:nvSpPr>
          <p:spPr>
            <a:xfrm>
              <a:off x="831342" y="3321368"/>
              <a:ext cx="1558481" cy="264033"/>
            </a:xfrm>
            <a:prstGeom prst="rect">
              <a:avLst/>
            </a:prstGeom>
            <a:noFill/>
            <a:ln>
              <a:noFill/>
            </a:ln>
          </p:spPr>
          <p:txBody>
            <a:bodyPr wrap="none" lIns="0" tIns="0" rIns="0" bIns="0" anchor="t" anchorCtr="0">
              <a:spAutoFit/>
            </a:bodyPr>
            <a:lstStyle/>
            <a:p>
              <a:pPr algn="l"/>
              <a:r>
                <a:rPr lang="en-GB" sz="1350" dirty="0">
                  <a:solidFill>
                    <a:schemeClr val="accent5"/>
                  </a:solidFill>
                  <a:latin typeface="+mn-lt"/>
                  <a:ea typeface="+mn-ea"/>
                  <a:cs typeface="+mn-cs"/>
                </a:rPr>
                <a:t>&gt;95% confidence.</a:t>
              </a:r>
              <a:endParaRPr lang="en-GB" sz="1350" dirty="0">
                <a:solidFill>
                  <a:schemeClr val="accent5"/>
                </a:solidFill>
                <a:latin typeface="+mn-lt"/>
                <a:ea typeface="+mn-ea"/>
                <a:cs typeface="+mn-cs"/>
              </a:endParaRPr>
            </a:p>
          </p:txBody>
        </p:sp>
      </p:grpSp>
      <p:grpSp>
        <p:nvGrpSpPr>
          <p:cNvPr id="22" name="Group 22"/>
          <p:cNvGrpSpPr/>
          <p:nvPr/>
        </p:nvGrpSpPr>
        <p:grpSpPr>
          <a:xfrm>
            <a:off x="4343400" y="2057400"/>
            <a:ext cx="3505200" cy="1981200"/>
            <a:chOff x="4343400" y="2057400"/>
            <a:chExt cx="3505200" cy="1981200"/>
          </a:xfrm>
        </p:grpSpPr>
        <p:sp>
          <p:nvSpPr>
            <p:cNvPr id="15" name="Rectangle 15"/>
            <p:cNvSpPr/>
            <p:nvPr/>
          </p:nvSpPr>
          <p:spPr>
            <a:xfrm>
              <a:off x="4343400" y="2057400"/>
              <a:ext cx="3505200" cy="1981200"/>
            </a:xfrm>
            <a:prstGeom prst="roundRect">
              <a:avLst>
                <a:gd name="adj" fmla="val 11538"/>
              </a:avLst>
            </a:prstGeom>
            <a:solidFill>
              <a:schemeClr val="lt2"/>
            </a:solidFill>
            <a:ln>
              <a:noFill/>
            </a:ln>
            <a:effectLst>
              <a:outerShdw blurRad="266700" dist="57150" dir="5400000" algn="ctr" rotWithShape="0">
                <a:srgbClr val="7C6FE0">
                  <a:alpha val="7500"/>
                </a:srgbClr>
              </a:outerShdw>
            </a:effectLst>
          </p:spPr>
        </p:sp>
        <p:sp>
          <p:nvSpPr>
            <p:cNvPr id="16" name="Ellipse 16"/>
            <p:cNvSpPr/>
            <p:nvPr/>
          </p:nvSpPr>
          <p:spPr>
            <a:xfrm>
              <a:off x="4572000" y="2286000"/>
              <a:ext cx="419100" cy="419100"/>
            </a:xfrm>
            <a:prstGeom prst="ellipse">
              <a:avLst/>
            </a:prstGeom>
            <a:solidFill>
              <a:schemeClr val="accent1">
                <a:alpha val="15000"/>
              </a:schemeClr>
            </a:solidFill>
            <a:ln>
              <a:noFill/>
            </a:ln>
          </p:spPr>
        </p:sp>
        <p:sp>
          <p:nvSpPr>
            <p:cNvPr id="17" name="Freeform 17"/>
            <p:cNvSpPr/>
            <p:nvPr/>
          </p:nvSpPr>
          <p:spPr>
            <a:xfrm>
              <a:off x="4678713" y="2391359"/>
              <a:ext cx="198906" cy="200260"/>
            </a:xfrm>
            <a:custGeom>
              <a:avLst/>
              <a:gdLst/>
              <a:ahLst/>
              <a:cxnLst/>
              <a:rect l="l" t="t" r="r" b="b"/>
              <a:pathLst>
                <a:path w="198906" h="200260">
                  <a:moveTo>
                    <a:pt x="121887" y="19152"/>
                  </a:moveTo>
                  <a:cubicBezTo>
                    <a:pt x="140957" y="30160"/>
                    <a:pt x="154332" y="48879"/>
                    <a:pt x="158568" y="70486"/>
                  </a:cubicBezTo>
                  <a:cubicBezTo>
                    <a:pt x="162804" y="92094"/>
                    <a:pt x="157487" y="114477"/>
                    <a:pt x="143985" y="131871"/>
                  </a:cubicBezTo>
                  <a:lnTo>
                    <a:pt x="195296" y="183182"/>
                  </a:lnTo>
                  <a:cubicBezTo>
                    <a:pt x="198906" y="186919"/>
                    <a:pt x="198854" y="192860"/>
                    <a:pt x="195180" y="196534"/>
                  </a:cubicBezTo>
                  <a:cubicBezTo>
                    <a:pt x="191506" y="200208"/>
                    <a:pt x="185565" y="200260"/>
                    <a:pt x="181828" y="196650"/>
                  </a:cubicBezTo>
                  <a:lnTo>
                    <a:pt x="130507" y="145339"/>
                  </a:lnTo>
                  <a:cubicBezTo>
                    <a:pt x="100255" y="168813"/>
                    <a:pt x="57282" y="166191"/>
                    <a:pt x="30108" y="139214"/>
                  </a:cubicBezTo>
                  <a:cubicBezTo>
                    <a:pt x="2934" y="112237"/>
                    <a:pt x="0" y="69284"/>
                    <a:pt x="23253" y="38862"/>
                  </a:cubicBezTo>
                  <a:cubicBezTo>
                    <a:pt x="46507" y="8441"/>
                    <a:pt x="88724" y="0"/>
                    <a:pt x="121887" y="19142"/>
                  </a:cubicBezTo>
                </a:path>
              </a:pathLst>
            </a:custGeom>
            <a:solidFill>
              <a:schemeClr val="accent1"/>
            </a:solidFill>
            <a:ln>
              <a:noFill/>
            </a:ln>
          </p:spPr>
        </p:sp>
        <p:sp>
          <p:nvSpPr>
            <p:cNvPr id="18" name="TextBox 18"/>
            <p:cNvSpPr txBox="1"/>
            <p:nvPr/>
          </p:nvSpPr>
          <p:spPr>
            <a:xfrm>
              <a:off x="5096256" y="2377440"/>
              <a:ext cx="1322451" cy="352044"/>
            </a:xfrm>
            <a:prstGeom prst="rect">
              <a:avLst/>
            </a:prstGeom>
            <a:noFill/>
            <a:ln>
              <a:noFill/>
            </a:ln>
          </p:spPr>
          <p:txBody>
            <a:bodyPr wrap="none" lIns="0" tIns="0" rIns="0" bIns="0" anchor="t" anchorCtr="0">
              <a:spAutoFit/>
            </a:bodyPr>
            <a:lstStyle/>
            <a:p>
              <a:pPr algn="l"/>
              <a:r>
                <a:rPr lang="en-GB" sz="1800" b="1" dirty="0">
                  <a:solidFill>
                    <a:schemeClr val="dk1"/>
                  </a:solidFill>
                  <a:latin typeface="+mn-lt"/>
                  <a:ea typeface="+mn-ea"/>
                  <a:cs typeface="+mn-cs"/>
                </a:rPr>
                <a:t>Hybrid RAG</a:t>
              </a:r>
              <a:endParaRPr lang="en-GB" sz="1800" b="1" dirty="0">
                <a:solidFill>
                  <a:schemeClr val="dk1"/>
                </a:solidFill>
                <a:latin typeface="+mn-lt"/>
                <a:ea typeface="+mn-ea"/>
                <a:cs typeface="+mn-cs"/>
              </a:endParaRPr>
            </a:p>
          </p:txBody>
        </p:sp>
        <p:sp>
          <p:nvSpPr>
            <p:cNvPr id="19" name="TextBox 19"/>
            <p:cNvSpPr txBox="1"/>
            <p:nvPr/>
          </p:nvSpPr>
          <p:spPr>
            <a:xfrm>
              <a:off x="4565142" y="2864168"/>
              <a:ext cx="3200849" cy="264033"/>
            </a:xfrm>
            <a:prstGeom prst="rect">
              <a:avLst/>
            </a:prstGeom>
            <a:noFill/>
            <a:ln>
              <a:noFill/>
            </a:ln>
          </p:spPr>
          <p:txBody>
            <a:bodyPr wrap="none" lIns="0" tIns="0" rIns="0" bIns="0" anchor="t" anchorCtr="0">
              <a:spAutoFit/>
            </a:bodyPr>
            <a:lstStyle/>
            <a:p>
              <a:pPr algn="l"/>
              <a:r>
                <a:rPr lang="en-GB" sz="1350" dirty="0">
                  <a:solidFill>
                    <a:schemeClr val="accent5"/>
                  </a:solidFill>
                  <a:latin typeface="+mn-lt"/>
                  <a:ea typeface="+mn-ea"/>
                  <a:cs typeface="+mn-cs"/>
                </a:rPr>
                <a:t>4096-D dense vectors (ChromaDB) +</a:t>
              </a:r>
              <a:endParaRPr lang="en-GB" sz="1350" dirty="0">
                <a:solidFill>
                  <a:schemeClr val="accent5"/>
                </a:solidFill>
                <a:latin typeface="+mn-lt"/>
                <a:ea typeface="+mn-ea"/>
                <a:cs typeface="+mn-cs"/>
              </a:endParaRPr>
            </a:p>
          </p:txBody>
        </p:sp>
        <p:sp>
          <p:nvSpPr>
            <p:cNvPr id="20" name="TextBox 20"/>
            <p:cNvSpPr txBox="1"/>
            <p:nvPr/>
          </p:nvSpPr>
          <p:spPr>
            <a:xfrm>
              <a:off x="4565142" y="3092768"/>
              <a:ext cx="3140964" cy="264033"/>
            </a:xfrm>
            <a:prstGeom prst="rect">
              <a:avLst/>
            </a:prstGeom>
            <a:noFill/>
            <a:ln>
              <a:noFill/>
            </a:ln>
          </p:spPr>
          <p:txBody>
            <a:bodyPr wrap="none" lIns="0" tIns="0" rIns="0" bIns="0" anchor="t" anchorCtr="0">
              <a:spAutoFit/>
            </a:bodyPr>
            <a:lstStyle/>
            <a:p>
              <a:pPr algn="l"/>
              <a:r>
                <a:rPr lang="en-GB" sz="1350" dirty="0">
                  <a:solidFill>
                    <a:schemeClr val="accent5"/>
                  </a:solidFill>
                  <a:latin typeface="+mn-lt"/>
                  <a:ea typeface="+mn-ea"/>
                  <a:cs typeface="+mn-cs"/>
                </a:rPr>
                <a:t>BM25Okapi lexical search, fused by</a:t>
              </a:r>
              <a:endParaRPr lang="en-GB" sz="1350" dirty="0">
                <a:solidFill>
                  <a:schemeClr val="accent5"/>
                </a:solidFill>
                <a:latin typeface="+mn-lt"/>
                <a:ea typeface="+mn-ea"/>
                <a:cs typeface="+mn-cs"/>
              </a:endParaRPr>
            </a:p>
          </p:txBody>
        </p:sp>
        <p:sp>
          <p:nvSpPr>
            <p:cNvPr id="21" name="TextBox 21"/>
            <p:cNvSpPr txBox="1"/>
            <p:nvPr/>
          </p:nvSpPr>
          <p:spPr>
            <a:xfrm>
              <a:off x="4565142" y="3321368"/>
              <a:ext cx="2103109" cy="264033"/>
            </a:xfrm>
            <a:prstGeom prst="rect">
              <a:avLst/>
            </a:prstGeom>
            <a:noFill/>
            <a:ln>
              <a:noFill/>
            </a:ln>
          </p:spPr>
          <p:txBody>
            <a:bodyPr wrap="none" lIns="0" tIns="0" rIns="0" bIns="0" anchor="t" anchorCtr="0">
              <a:spAutoFit/>
            </a:bodyPr>
            <a:lstStyle/>
            <a:p>
              <a:pPr algn="l"/>
              <a:r>
                <a:rPr lang="en-GB" sz="1350" dirty="0">
                  <a:solidFill>
                    <a:schemeClr val="accent5"/>
                  </a:solidFill>
                  <a:latin typeface="+mn-lt"/>
                  <a:ea typeface="+mn-ea"/>
                  <a:cs typeface="+mn-cs"/>
                </a:rPr>
                <a:t>Reciprocal Rank Fusion.</a:t>
              </a:r>
              <a:endParaRPr lang="en-GB" sz="1350" dirty="0">
                <a:solidFill>
                  <a:schemeClr val="accent5"/>
                </a:solidFill>
                <a:latin typeface="+mn-lt"/>
                <a:ea typeface="+mn-ea"/>
                <a:cs typeface="+mn-cs"/>
              </a:endParaRPr>
            </a:p>
          </p:txBody>
        </p:sp>
      </p:grpSp>
      <p:grpSp>
        <p:nvGrpSpPr>
          <p:cNvPr id="31" name="Group 31"/>
          <p:cNvGrpSpPr/>
          <p:nvPr/>
        </p:nvGrpSpPr>
        <p:grpSpPr>
          <a:xfrm>
            <a:off x="8077200" y="2057400"/>
            <a:ext cx="3505200" cy="1981200"/>
            <a:chOff x="8077200" y="2057400"/>
            <a:chExt cx="3505200" cy="1981200"/>
          </a:xfrm>
        </p:grpSpPr>
        <p:sp>
          <p:nvSpPr>
            <p:cNvPr id="23" name="Rectangle 23"/>
            <p:cNvSpPr/>
            <p:nvPr/>
          </p:nvSpPr>
          <p:spPr>
            <a:xfrm>
              <a:off x="8077200" y="2057400"/>
              <a:ext cx="3505200" cy="1981200"/>
            </a:xfrm>
            <a:prstGeom prst="roundRect">
              <a:avLst>
                <a:gd name="adj" fmla="val 11538"/>
              </a:avLst>
            </a:prstGeom>
            <a:solidFill>
              <a:schemeClr val="lt2"/>
            </a:solidFill>
            <a:ln>
              <a:noFill/>
            </a:ln>
            <a:effectLst>
              <a:outerShdw blurRad="266700" dist="57150" dir="5400000" algn="ctr" rotWithShape="0">
                <a:srgbClr val="7C6FE0">
                  <a:alpha val="7500"/>
                </a:srgbClr>
              </a:outerShdw>
            </a:effectLst>
          </p:spPr>
        </p:sp>
        <p:sp>
          <p:nvSpPr>
            <p:cNvPr id="24" name="Ellipse 24"/>
            <p:cNvSpPr/>
            <p:nvPr/>
          </p:nvSpPr>
          <p:spPr>
            <a:xfrm>
              <a:off x="8305800" y="2286000"/>
              <a:ext cx="419100" cy="419100"/>
            </a:xfrm>
            <a:prstGeom prst="ellipse">
              <a:avLst/>
            </a:prstGeom>
            <a:solidFill>
              <a:schemeClr val="accent1">
                <a:alpha val="15000"/>
              </a:schemeClr>
            </a:solidFill>
            <a:ln>
              <a:noFill/>
            </a:ln>
          </p:spPr>
        </p:sp>
        <p:sp>
          <p:nvSpPr>
            <p:cNvPr id="25" name="Freeform 25"/>
            <p:cNvSpPr/>
            <p:nvPr/>
          </p:nvSpPr>
          <p:spPr>
            <a:xfrm>
              <a:off x="8420099" y="2396033"/>
              <a:ext cx="200567" cy="201349"/>
            </a:xfrm>
            <a:custGeom>
              <a:avLst/>
              <a:gdLst/>
              <a:ahLst/>
              <a:cxnLst/>
              <a:rect l="l" t="t" r="r" b="b"/>
              <a:pathLst>
                <a:path w="200567" h="201349">
                  <a:moveTo>
                    <a:pt x="142876" y="17030"/>
                  </a:moveTo>
                  <a:cubicBezTo>
                    <a:pt x="182908" y="40142"/>
                    <a:pt x="200567" y="88661"/>
                    <a:pt x="184757" y="132097"/>
                  </a:cubicBezTo>
                  <a:cubicBezTo>
                    <a:pt x="168947" y="175534"/>
                    <a:pt x="124232" y="201349"/>
                    <a:pt x="78710" y="193322"/>
                  </a:cubicBezTo>
                  <a:cubicBezTo>
                    <a:pt x="33187" y="185294"/>
                    <a:pt x="0" y="145741"/>
                    <a:pt x="1" y="99517"/>
                  </a:cubicBezTo>
                  <a:lnTo>
                    <a:pt x="49" y="96431"/>
                  </a:lnTo>
                  <a:cubicBezTo>
                    <a:pt x="1134" y="62969"/>
                    <a:pt x="19707" y="32534"/>
                    <a:pt x="48968" y="16267"/>
                  </a:cubicBezTo>
                  <a:cubicBezTo>
                    <a:pt x="78230" y="0"/>
                    <a:pt x="113883" y="290"/>
                    <a:pt x="142876" y="17030"/>
                  </a:cubicBezTo>
                  <a:moveTo>
                    <a:pt x="82935" y="73732"/>
                  </a:moveTo>
                  <a:cubicBezTo>
                    <a:pt x="79216" y="70014"/>
                    <a:pt x="73187" y="70014"/>
                    <a:pt x="69467" y="73732"/>
                  </a:cubicBezTo>
                  <a:lnTo>
                    <a:pt x="50417" y="92782"/>
                  </a:lnTo>
                  <a:cubicBezTo>
                    <a:pt x="46699" y="96502"/>
                    <a:pt x="46699" y="102531"/>
                    <a:pt x="50417" y="106251"/>
                  </a:cubicBezTo>
                  <a:lnTo>
                    <a:pt x="69467" y="125301"/>
                  </a:lnTo>
                  <a:cubicBezTo>
                    <a:pt x="73187" y="129019"/>
                    <a:pt x="79216" y="129019"/>
                    <a:pt x="82935" y="125301"/>
                  </a:cubicBezTo>
                  <a:lnTo>
                    <a:pt x="83726" y="124405"/>
                  </a:lnTo>
                  <a:cubicBezTo>
                    <a:pt x="86667" y="120614"/>
                    <a:pt x="86328" y="115226"/>
                    <a:pt x="82935" y="111832"/>
                  </a:cubicBezTo>
                  <a:lnTo>
                    <a:pt x="70629" y="99517"/>
                  </a:lnTo>
                  <a:lnTo>
                    <a:pt x="82935" y="87201"/>
                  </a:lnTo>
                  <a:cubicBezTo>
                    <a:pt x="86654" y="83481"/>
                    <a:pt x="86654" y="77452"/>
                    <a:pt x="82935" y="73732"/>
                  </a:cubicBezTo>
                  <a:moveTo>
                    <a:pt x="121035" y="73732"/>
                  </a:moveTo>
                  <a:cubicBezTo>
                    <a:pt x="117316" y="70014"/>
                    <a:pt x="111287" y="70014"/>
                    <a:pt x="107567" y="73732"/>
                  </a:cubicBezTo>
                  <a:lnTo>
                    <a:pt x="106776" y="74628"/>
                  </a:lnTo>
                  <a:cubicBezTo>
                    <a:pt x="103835" y="78420"/>
                    <a:pt x="104174" y="83807"/>
                    <a:pt x="107567" y="87201"/>
                  </a:cubicBezTo>
                  <a:lnTo>
                    <a:pt x="119873" y="99517"/>
                  </a:lnTo>
                  <a:lnTo>
                    <a:pt x="107567" y="111832"/>
                  </a:lnTo>
                  <a:cubicBezTo>
                    <a:pt x="103957" y="115570"/>
                    <a:pt x="104009" y="121511"/>
                    <a:pt x="107683" y="125185"/>
                  </a:cubicBezTo>
                  <a:cubicBezTo>
                    <a:pt x="111357" y="128859"/>
                    <a:pt x="117298" y="128911"/>
                    <a:pt x="121035" y="125301"/>
                  </a:cubicBezTo>
                  <a:lnTo>
                    <a:pt x="140085" y="106251"/>
                  </a:lnTo>
                  <a:cubicBezTo>
                    <a:pt x="143804" y="102531"/>
                    <a:pt x="143804" y="96502"/>
                    <a:pt x="140085" y="92782"/>
                  </a:cubicBezTo>
                  <a:close/>
                </a:path>
              </a:pathLst>
            </a:custGeom>
            <a:solidFill>
              <a:schemeClr val="accent1"/>
            </a:solidFill>
            <a:ln>
              <a:noFill/>
            </a:ln>
          </p:spPr>
        </p:sp>
        <p:sp>
          <p:nvSpPr>
            <p:cNvPr id="26" name="TextBox 26"/>
            <p:cNvSpPr txBox="1"/>
            <p:nvPr/>
          </p:nvSpPr>
          <p:spPr>
            <a:xfrm>
              <a:off x="8830056" y="2320290"/>
              <a:ext cx="1785809" cy="352044"/>
            </a:xfrm>
            <a:prstGeom prst="rect">
              <a:avLst/>
            </a:prstGeom>
            <a:noFill/>
            <a:ln>
              <a:noFill/>
            </a:ln>
          </p:spPr>
          <p:txBody>
            <a:bodyPr wrap="none" lIns="0" tIns="0" rIns="0" bIns="0" anchor="t" anchorCtr="0">
              <a:spAutoFit/>
            </a:bodyPr>
            <a:lstStyle/>
            <a:p>
              <a:pPr algn="l"/>
              <a:r>
                <a:rPr lang="en-GB" sz="1800" b="1" dirty="0">
                  <a:solidFill>
                    <a:schemeClr val="dk1"/>
                  </a:solidFill>
                  <a:latin typeface="+mn-lt"/>
                  <a:ea typeface="+mn-ea"/>
                  <a:cs typeface="+mn-cs"/>
                </a:rPr>
                <a:t>Dynamic ReAct</a:t>
              </a:r>
              <a:endParaRPr lang="en-GB" sz="1800" b="1" dirty="0">
                <a:solidFill>
                  <a:schemeClr val="dk1"/>
                </a:solidFill>
                <a:latin typeface="+mn-lt"/>
                <a:ea typeface="+mn-ea"/>
                <a:cs typeface="+mn-cs"/>
              </a:endParaRPr>
            </a:p>
          </p:txBody>
        </p:sp>
        <p:sp>
          <p:nvSpPr>
            <p:cNvPr id="27" name="TextBox 27"/>
            <p:cNvSpPr txBox="1"/>
            <p:nvPr/>
          </p:nvSpPr>
          <p:spPr>
            <a:xfrm>
              <a:off x="8830056" y="2567940"/>
              <a:ext cx="1488799" cy="352044"/>
            </a:xfrm>
            <a:prstGeom prst="rect">
              <a:avLst/>
            </a:prstGeom>
            <a:noFill/>
            <a:ln>
              <a:noFill/>
            </a:ln>
          </p:spPr>
          <p:txBody>
            <a:bodyPr wrap="none" lIns="0" tIns="0" rIns="0" bIns="0" anchor="t" anchorCtr="0">
              <a:spAutoFit/>
            </a:bodyPr>
            <a:lstStyle/>
            <a:p>
              <a:pPr algn="l"/>
              <a:r>
                <a:rPr lang="en-GB" sz="1800" b="1" dirty="0">
                  <a:solidFill>
                    <a:schemeClr val="dk1"/>
                  </a:solidFill>
                  <a:latin typeface="+mn-lt"/>
                  <a:ea typeface="+mn-ea"/>
                  <a:cs typeface="+mn-cs"/>
                </a:rPr>
                <a:t>Remediation</a:t>
              </a:r>
              <a:endParaRPr lang="en-GB" sz="1800" b="1" dirty="0">
                <a:solidFill>
                  <a:schemeClr val="dk1"/>
                </a:solidFill>
                <a:latin typeface="+mn-lt"/>
                <a:ea typeface="+mn-ea"/>
                <a:cs typeface="+mn-cs"/>
              </a:endParaRPr>
            </a:p>
          </p:txBody>
        </p:sp>
        <p:sp>
          <p:nvSpPr>
            <p:cNvPr id="28" name="TextBox 28"/>
            <p:cNvSpPr txBox="1"/>
            <p:nvPr/>
          </p:nvSpPr>
          <p:spPr>
            <a:xfrm>
              <a:off x="8298942" y="3054668"/>
              <a:ext cx="2312670" cy="207645"/>
            </a:xfrm>
            <a:prstGeom prst="rect">
              <a:avLst/>
            </a:prstGeom>
            <a:noFill/>
            <a:ln>
              <a:noFill/>
            </a:ln>
          </p:spPr>
          <p:txBody>
            <a:bodyPr wrap="none" lIns="0" tIns="0" rIns="0" bIns="0" anchor="t" anchorCtr="0">
              <a:spAutoFit/>
            </a:bodyPr>
            <a:lstStyle/>
            <a:p>
              <a:pPr algn="l"/>
              <a:r>
                <a:rPr lang="en-US" altLang="en-GB" sz="1350" dirty="0">
                  <a:solidFill>
                    <a:schemeClr val="accent5"/>
                  </a:solidFill>
                  <a:latin typeface="+mn-lt"/>
                  <a:ea typeface="+mn-ea"/>
                  <a:cs typeface="+mn-cs"/>
                </a:rPr>
                <a:t>34</a:t>
              </a:r>
              <a:r>
                <a:rPr lang="en-GB" sz="1350" dirty="0">
                  <a:solidFill>
                    <a:schemeClr val="accent5"/>
                  </a:solidFill>
                  <a:latin typeface="+mn-lt"/>
                  <a:ea typeface="+mn-ea"/>
                  <a:cs typeface="+mn-cs"/>
                </a:rPr>
                <a:t> parameterized master SOPs</a:t>
              </a:r>
              <a:endParaRPr lang="en-GB" sz="1350" dirty="0">
                <a:solidFill>
                  <a:schemeClr val="accent5"/>
                </a:solidFill>
                <a:latin typeface="+mn-lt"/>
                <a:ea typeface="+mn-ea"/>
                <a:cs typeface="+mn-cs"/>
              </a:endParaRPr>
            </a:p>
          </p:txBody>
        </p:sp>
        <p:sp>
          <p:nvSpPr>
            <p:cNvPr id="29" name="TextBox 29"/>
            <p:cNvSpPr txBox="1"/>
            <p:nvPr/>
          </p:nvSpPr>
          <p:spPr>
            <a:xfrm>
              <a:off x="8298942" y="3283268"/>
              <a:ext cx="2448664" cy="264033"/>
            </a:xfrm>
            <a:prstGeom prst="rect">
              <a:avLst/>
            </a:prstGeom>
            <a:noFill/>
            <a:ln>
              <a:noFill/>
            </a:ln>
          </p:spPr>
          <p:txBody>
            <a:bodyPr wrap="none" lIns="0" tIns="0" rIns="0" bIns="0" anchor="t" anchorCtr="0">
              <a:spAutoFit/>
            </a:bodyPr>
            <a:lstStyle/>
            <a:p>
              <a:pPr algn="l"/>
              <a:r>
                <a:rPr lang="en-GB" sz="1350" dirty="0">
                  <a:solidFill>
                    <a:schemeClr val="accent5"/>
                  </a:solidFill>
                  <a:latin typeface="+mn-lt"/>
                  <a:ea typeface="+mn-ea"/>
                  <a:cs typeface="+mn-cs"/>
                </a:rPr>
                <a:t>executed live over SSH with</a:t>
              </a:r>
              <a:endParaRPr lang="en-GB" sz="1350" dirty="0">
                <a:solidFill>
                  <a:schemeClr val="accent5"/>
                </a:solidFill>
                <a:latin typeface="+mn-lt"/>
                <a:ea typeface="+mn-ea"/>
                <a:cs typeface="+mn-cs"/>
              </a:endParaRPr>
            </a:p>
          </p:txBody>
        </p:sp>
        <p:sp>
          <p:nvSpPr>
            <p:cNvPr id="30" name="TextBox 30"/>
            <p:cNvSpPr txBox="1"/>
            <p:nvPr/>
          </p:nvSpPr>
          <p:spPr>
            <a:xfrm>
              <a:off x="8298942" y="3511868"/>
              <a:ext cx="1422178" cy="264033"/>
            </a:xfrm>
            <a:prstGeom prst="rect">
              <a:avLst/>
            </a:prstGeom>
            <a:noFill/>
            <a:ln>
              <a:noFill/>
            </a:ln>
          </p:spPr>
          <p:txBody>
            <a:bodyPr wrap="none" lIns="0" tIns="0" rIns="0" bIns="0" anchor="t" anchorCtr="0">
              <a:spAutoFit/>
            </a:bodyPr>
            <a:lstStyle/>
            <a:p>
              <a:pPr algn="l"/>
              <a:r>
                <a:rPr lang="en-GB" sz="1350" dirty="0">
                  <a:solidFill>
                    <a:schemeClr val="accent5"/>
                  </a:solidFill>
                  <a:latin typeface="+mn-lt"/>
                  <a:ea typeface="+mn-ea"/>
                  <a:cs typeface="+mn-cs"/>
                </a:rPr>
                <a:t>in-guest proof.</a:t>
              </a:r>
              <a:endParaRPr lang="en-GB" sz="1350" dirty="0">
                <a:solidFill>
                  <a:schemeClr val="accent5"/>
                </a:solidFill>
                <a:latin typeface="+mn-lt"/>
                <a:ea typeface="+mn-ea"/>
                <a:cs typeface="+mn-cs"/>
              </a:endParaRPr>
            </a:p>
          </p:txBody>
        </p:sp>
      </p:grpSp>
      <p:grpSp>
        <p:nvGrpSpPr>
          <p:cNvPr id="40" name="Group 40"/>
          <p:cNvGrpSpPr/>
          <p:nvPr/>
        </p:nvGrpSpPr>
        <p:grpSpPr>
          <a:xfrm>
            <a:off x="609600" y="4267200"/>
            <a:ext cx="3505200" cy="1981200"/>
            <a:chOff x="609600" y="4267200"/>
            <a:chExt cx="3505200" cy="1981200"/>
          </a:xfrm>
        </p:grpSpPr>
        <p:sp>
          <p:nvSpPr>
            <p:cNvPr id="32" name="Rectangle 32"/>
            <p:cNvSpPr/>
            <p:nvPr/>
          </p:nvSpPr>
          <p:spPr>
            <a:xfrm>
              <a:off x="609600" y="4267200"/>
              <a:ext cx="3505200" cy="1981200"/>
            </a:xfrm>
            <a:prstGeom prst="roundRect">
              <a:avLst>
                <a:gd name="adj" fmla="val 11538"/>
              </a:avLst>
            </a:prstGeom>
            <a:solidFill>
              <a:schemeClr val="lt2"/>
            </a:solidFill>
            <a:ln>
              <a:noFill/>
            </a:ln>
            <a:effectLst>
              <a:outerShdw blurRad="266700" dist="57150" dir="5400000" algn="ctr" rotWithShape="0">
                <a:srgbClr val="7C6FE0">
                  <a:alpha val="7500"/>
                </a:srgbClr>
              </a:outerShdw>
            </a:effectLst>
          </p:spPr>
        </p:sp>
        <p:sp>
          <p:nvSpPr>
            <p:cNvPr id="33" name="Ellipse 33"/>
            <p:cNvSpPr/>
            <p:nvPr/>
          </p:nvSpPr>
          <p:spPr>
            <a:xfrm>
              <a:off x="838200" y="4495800"/>
              <a:ext cx="419100" cy="419100"/>
            </a:xfrm>
            <a:prstGeom prst="ellipse">
              <a:avLst/>
            </a:prstGeom>
            <a:solidFill>
              <a:schemeClr val="accent2">
                <a:alpha val="15000"/>
              </a:schemeClr>
            </a:solidFill>
            <a:ln>
              <a:noFill/>
            </a:ln>
          </p:spPr>
        </p:sp>
        <p:sp>
          <p:nvSpPr>
            <p:cNvPr id="34" name="Freeform 34"/>
            <p:cNvSpPr/>
            <p:nvPr/>
          </p:nvSpPr>
          <p:spPr>
            <a:xfrm>
              <a:off x="971548" y="4610100"/>
              <a:ext cx="152404" cy="190500"/>
            </a:xfrm>
            <a:custGeom>
              <a:avLst/>
              <a:gdLst/>
              <a:ahLst/>
              <a:cxnLst/>
              <a:rect l="l" t="t" r="r" b="b"/>
              <a:pathLst>
                <a:path w="152404" h="190500">
                  <a:moveTo>
                    <a:pt x="133324" y="20669"/>
                  </a:moveTo>
                  <a:cubicBezTo>
                    <a:pt x="144757" y="24698"/>
                    <a:pt x="152404" y="35502"/>
                    <a:pt x="152402" y="47625"/>
                  </a:cubicBezTo>
                  <a:lnTo>
                    <a:pt x="152402" y="161925"/>
                  </a:lnTo>
                  <a:cubicBezTo>
                    <a:pt x="152402" y="177707"/>
                    <a:pt x="139609" y="190500"/>
                    <a:pt x="123827" y="190500"/>
                  </a:cubicBezTo>
                  <a:lnTo>
                    <a:pt x="28577" y="190500"/>
                  </a:lnTo>
                  <a:cubicBezTo>
                    <a:pt x="12796" y="190500"/>
                    <a:pt x="2" y="177707"/>
                    <a:pt x="2" y="161925"/>
                  </a:cubicBezTo>
                  <a:lnTo>
                    <a:pt x="2" y="47625"/>
                  </a:lnTo>
                  <a:cubicBezTo>
                    <a:pt x="0" y="35502"/>
                    <a:pt x="7647" y="24698"/>
                    <a:pt x="19081" y="20669"/>
                  </a:cubicBezTo>
                  <a:cubicBezTo>
                    <a:pt x="19948" y="41065"/>
                    <a:pt x="36738" y="57153"/>
                    <a:pt x="57152" y="57150"/>
                  </a:cubicBezTo>
                  <a:lnTo>
                    <a:pt x="95252" y="57150"/>
                  </a:lnTo>
                  <a:cubicBezTo>
                    <a:pt x="114809" y="57152"/>
                    <a:pt x="131191" y="42346"/>
                    <a:pt x="133162" y="22889"/>
                  </a:cubicBezTo>
                  <a:close/>
                  <a:moveTo>
                    <a:pt x="47627" y="85725"/>
                  </a:moveTo>
                  <a:cubicBezTo>
                    <a:pt x="42367" y="85725"/>
                    <a:pt x="38102" y="89989"/>
                    <a:pt x="38102" y="95250"/>
                  </a:cubicBezTo>
                  <a:lnTo>
                    <a:pt x="38102" y="142875"/>
                  </a:lnTo>
                  <a:cubicBezTo>
                    <a:pt x="38102" y="148136"/>
                    <a:pt x="42367" y="152400"/>
                    <a:pt x="47627" y="152400"/>
                  </a:cubicBezTo>
                  <a:cubicBezTo>
                    <a:pt x="52888" y="152400"/>
                    <a:pt x="57152" y="148136"/>
                    <a:pt x="57152" y="142875"/>
                  </a:cubicBezTo>
                  <a:lnTo>
                    <a:pt x="57152" y="95250"/>
                  </a:lnTo>
                  <a:cubicBezTo>
                    <a:pt x="57152" y="89989"/>
                    <a:pt x="52888" y="85725"/>
                    <a:pt x="47627" y="85725"/>
                  </a:cubicBezTo>
                  <a:moveTo>
                    <a:pt x="76202" y="123825"/>
                  </a:moveTo>
                  <a:cubicBezTo>
                    <a:pt x="70942" y="123825"/>
                    <a:pt x="66677" y="128089"/>
                    <a:pt x="66677" y="133350"/>
                  </a:cubicBezTo>
                  <a:lnTo>
                    <a:pt x="66677" y="142875"/>
                  </a:lnTo>
                  <a:cubicBezTo>
                    <a:pt x="66677" y="148136"/>
                    <a:pt x="70942" y="152400"/>
                    <a:pt x="76202" y="152400"/>
                  </a:cubicBezTo>
                  <a:cubicBezTo>
                    <a:pt x="81463" y="152400"/>
                    <a:pt x="85727" y="148136"/>
                    <a:pt x="85727" y="142875"/>
                  </a:cubicBezTo>
                  <a:lnTo>
                    <a:pt x="85727" y="133350"/>
                  </a:lnTo>
                  <a:cubicBezTo>
                    <a:pt x="85727" y="128089"/>
                    <a:pt x="81463" y="123825"/>
                    <a:pt x="76202" y="123825"/>
                  </a:cubicBezTo>
                  <a:moveTo>
                    <a:pt x="104777" y="104775"/>
                  </a:moveTo>
                  <a:cubicBezTo>
                    <a:pt x="99517" y="104775"/>
                    <a:pt x="95252" y="109039"/>
                    <a:pt x="95252" y="114300"/>
                  </a:cubicBezTo>
                  <a:lnTo>
                    <a:pt x="95252" y="142875"/>
                  </a:lnTo>
                  <a:cubicBezTo>
                    <a:pt x="95252" y="148136"/>
                    <a:pt x="99517" y="152400"/>
                    <a:pt x="104777" y="152400"/>
                  </a:cubicBezTo>
                  <a:cubicBezTo>
                    <a:pt x="110038" y="152400"/>
                    <a:pt x="114302" y="148136"/>
                    <a:pt x="114302" y="142875"/>
                  </a:cubicBezTo>
                  <a:lnTo>
                    <a:pt x="114302" y="114300"/>
                  </a:lnTo>
                  <a:cubicBezTo>
                    <a:pt x="114302" y="109039"/>
                    <a:pt x="110038" y="104775"/>
                    <a:pt x="104777" y="104775"/>
                  </a:cubicBezTo>
                  <a:moveTo>
                    <a:pt x="95252" y="0"/>
                  </a:moveTo>
                  <a:cubicBezTo>
                    <a:pt x="105773" y="0"/>
                    <a:pt x="114302" y="8529"/>
                    <a:pt x="114302" y="19050"/>
                  </a:cubicBezTo>
                  <a:cubicBezTo>
                    <a:pt x="114302" y="29571"/>
                    <a:pt x="105773" y="38100"/>
                    <a:pt x="95252" y="38100"/>
                  </a:cubicBezTo>
                  <a:lnTo>
                    <a:pt x="57152" y="38100"/>
                  </a:lnTo>
                  <a:cubicBezTo>
                    <a:pt x="46631" y="38100"/>
                    <a:pt x="38102" y="29571"/>
                    <a:pt x="38102" y="19050"/>
                  </a:cubicBezTo>
                  <a:cubicBezTo>
                    <a:pt x="38102" y="8529"/>
                    <a:pt x="46631" y="0"/>
                    <a:pt x="57152" y="0"/>
                  </a:cubicBezTo>
                  <a:close/>
                </a:path>
              </a:pathLst>
            </a:custGeom>
            <a:solidFill>
              <a:schemeClr val="accent2"/>
            </a:solidFill>
            <a:ln>
              <a:noFill/>
            </a:ln>
          </p:spPr>
        </p:sp>
        <p:sp>
          <p:nvSpPr>
            <p:cNvPr id="35" name="TextBox 35"/>
            <p:cNvSpPr txBox="1"/>
            <p:nvPr/>
          </p:nvSpPr>
          <p:spPr>
            <a:xfrm>
              <a:off x="1362456" y="4530090"/>
              <a:ext cx="1684707" cy="352044"/>
            </a:xfrm>
            <a:prstGeom prst="rect">
              <a:avLst/>
            </a:prstGeom>
            <a:noFill/>
            <a:ln>
              <a:noFill/>
            </a:ln>
          </p:spPr>
          <p:txBody>
            <a:bodyPr wrap="none" lIns="0" tIns="0" rIns="0" bIns="0" anchor="t" anchorCtr="0">
              <a:spAutoFit/>
            </a:bodyPr>
            <a:lstStyle/>
            <a:p>
              <a:pPr algn="l"/>
              <a:r>
                <a:rPr lang="en-GB" sz="1800" b="1" dirty="0">
                  <a:solidFill>
                    <a:schemeClr val="dk1"/>
                  </a:solidFill>
                  <a:latin typeface="+mn-lt"/>
                  <a:ea typeface="+mn-ea"/>
                  <a:cs typeface="+mn-cs"/>
                </a:rPr>
                <a:t>AI Analytics &amp;</a:t>
              </a:r>
              <a:endParaRPr lang="en-GB" sz="1800" b="1" dirty="0">
                <a:solidFill>
                  <a:schemeClr val="dk1"/>
                </a:solidFill>
                <a:latin typeface="+mn-lt"/>
                <a:ea typeface="+mn-ea"/>
                <a:cs typeface="+mn-cs"/>
              </a:endParaRPr>
            </a:p>
          </p:txBody>
        </p:sp>
        <p:sp>
          <p:nvSpPr>
            <p:cNvPr id="36" name="TextBox 36"/>
            <p:cNvSpPr txBox="1"/>
            <p:nvPr/>
          </p:nvSpPr>
          <p:spPr>
            <a:xfrm>
              <a:off x="1362456" y="4777740"/>
              <a:ext cx="1645953" cy="352044"/>
            </a:xfrm>
            <a:prstGeom prst="rect">
              <a:avLst/>
            </a:prstGeom>
            <a:noFill/>
            <a:ln>
              <a:noFill/>
            </a:ln>
          </p:spPr>
          <p:txBody>
            <a:bodyPr wrap="none" lIns="0" tIns="0" rIns="0" bIns="0" anchor="t" anchorCtr="0">
              <a:spAutoFit/>
            </a:bodyPr>
            <a:lstStyle/>
            <a:p>
              <a:pPr algn="l"/>
              <a:r>
                <a:rPr lang="en-GB" sz="1800" b="1" dirty="0">
                  <a:solidFill>
                    <a:schemeClr val="dk1"/>
                  </a:solidFill>
                  <a:latin typeface="+mn-lt"/>
                  <a:ea typeface="+mn-ea"/>
                  <a:cs typeface="+mn-cs"/>
                </a:rPr>
                <a:t>Proactive PM</a:t>
              </a:r>
              <a:endParaRPr lang="en-GB" sz="1800" b="1" dirty="0">
                <a:solidFill>
                  <a:schemeClr val="dk1"/>
                </a:solidFill>
                <a:latin typeface="+mn-lt"/>
                <a:ea typeface="+mn-ea"/>
                <a:cs typeface="+mn-cs"/>
              </a:endParaRPr>
            </a:p>
          </p:txBody>
        </p:sp>
        <p:sp>
          <p:nvSpPr>
            <p:cNvPr id="37" name="TextBox 37"/>
            <p:cNvSpPr txBox="1"/>
            <p:nvPr/>
          </p:nvSpPr>
          <p:spPr>
            <a:xfrm>
              <a:off x="831342" y="5264468"/>
              <a:ext cx="3254183" cy="264033"/>
            </a:xfrm>
            <a:prstGeom prst="rect">
              <a:avLst/>
            </a:prstGeom>
            <a:noFill/>
            <a:ln>
              <a:noFill/>
            </a:ln>
          </p:spPr>
          <p:txBody>
            <a:bodyPr wrap="none" lIns="0" tIns="0" rIns="0" bIns="0" anchor="t" anchorCtr="0">
              <a:spAutoFit/>
            </a:bodyPr>
            <a:lstStyle/>
            <a:p>
              <a:pPr algn="l"/>
              <a:r>
                <a:rPr lang="en-GB" sz="1350" dirty="0">
                  <a:solidFill>
                    <a:schemeClr val="accent5"/>
                  </a:solidFill>
                  <a:latin typeface="+mn-lt"/>
                  <a:ea typeface="+mn-ea"/>
                  <a:cs typeface="+mn-cs"/>
                </a:rPr>
                <a:t>Auto-generated incident intelligence</a:t>
              </a:r>
              <a:endParaRPr lang="en-GB" sz="1350" dirty="0">
                <a:solidFill>
                  <a:schemeClr val="accent5"/>
                </a:solidFill>
                <a:latin typeface="+mn-lt"/>
                <a:ea typeface="+mn-ea"/>
                <a:cs typeface="+mn-cs"/>
              </a:endParaRPr>
            </a:p>
          </p:txBody>
        </p:sp>
        <p:sp>
          <p:nvSpPr>
            <p:cNvPr id="38" name="TextBox 38"/>
            <p:cNvSpPr txBox="1"/>
            <p:nvPr/>
          </p:nvSpPr>
          <p:spPr>
            <a:xfrm>
              <a:off x="831342" y="5493068"/>
              <a:ext cx="3221374" cy="264033"/>
            </a:xfrm>
            <a:prstGeom prst="rect">
              <a:avLst/>
            </a:prstGeom>
            <a:noFill/>
            <a:ln>
              <a:noFill/>
            </a:ln>
          </p:spPr>
          <p:txBody>
            <a:bodyPr wrap="none" lIns="0" tIns="0" rIns="0" bIns="0" anchor="t" anchorCtr="0">
              <a:spAutoFit/>
            </a:bodyPr>
            <a:lstStyle/>
            <a:p>
              <a:pPr algn="l"/>
              <a:r>
                <a:rPr lang="en-GB" sz="1350" dirty="0">
                  <a:solidFill>
                    <a:schemeClr val="accent5"/>
                  </a:solidFill>
                  <a:latin typeface="+mn-lt"/>
                  <a:ea typeface="+mn-ea"/>
                  <a:cs typeface="+mn-cs"/>
                </a:rPr>
                <a:t>and systemic root-cause prevention</a:t>
              </a:r>
              <a:endParaRPr lang="en-GB" sz="1350" dirty="0">
                <a:solidFill>
                  <a:schemeClr val="accent5"/>
                </a:solidFill>
                <a:latin typeface="+mn-lt"/>
                <a:ea typeface="+mn-ea"/>
                <a:cs typeface="+mn-cs"/>
              </a:endParaRPr>
            </a:p>
          </p:txBody>
        </p:sp>
        <p:sp>
          <p:nvSpPr>
            <p:cNvPr id="39" name="TextBox 39"/>
            <p:cNvSpPr txBox="1"/>
            <p:nvPr/>
          </p:nvSpPr>
          <p:spPr>
            <a:xfrm>
              <a:off x="831342" y="5721668"/>
              <a:ext cx="1767478" cy="264033"/>
            </a:xfrm>
            <a:prstGeom prst="rect">
              <a:avLst/>
            </a:prstGeom>
            <a:noFill/>
            <a:ln>
              <a:noFill/>
            </a:ln>
          </p:spPr>
          <p:txBody>
            <a:bodyPr wrap="none" lIns="0" tIns="0" rIns="0" bIns="0" anchor="t" anchorCtr="0">
              <a:spAutoFit/>
            </a:bodyPr>
            <a:lstStyle/>
            <a:p>
              <a:pPr algn="l"/>
              <a:r>
                <a:rPr lang="en-GB" sz="1350" dirty="0">
                  <a:solidFill>
                    <a:schemeClr val="accent5"/>
                  </a:solidFill>
                  <a:latin typeface="+mn-lt"/>
                  <a:ea typeface="+mn-ea"/>
                  <a:cs typeface="+mn-cs"/>
                </a:rPr>
                <a:t>before recurrence.</a:t>
              </a:r>
              <a:endParaRPr lang="en-GB" sz="1350" dirty="0">
                <a:solidFill>
                  <a:schemeClr val="accent5"/>
                </a:solidFill>
                <a:latin typeface="+mn-lt"/>
                <a:ea typeface="+mn-ea"/>
                <a:cs typeface="+mn-cs"/>
              </a:endParaRPr>
            </a:p>
          </p:txBody>
        </p:sp>
      </p:grpSp>
      <p:grpSp>
        <p:nvGrpSpPr>
          <p:cNvPr id="51" name="Group 51"/>
          <p:cNvGrpSpPr/>
          <p:nvPr/>
        </p:nvGrpSpPr>
        <p:grpSpPr>
          <a:xfrm>
            <a:off x="4343400" y="4267200"/>
            <a:ext cx="3505200" cy="1981200"/>
            <a:chOff x="4343400" y="4267200"/>
            <a:chExt cx="3505200" cy="1981200"/>
          </a:xfrm>
        </p:grpSpPr>
        <p:sp>
          <p:nvSpPr>
            <p:cNvPr id="41" name="Rectangle 41"/>
            <p:cNvSpPr/>
            <p:nvPr/>
          </p:nvSpPr>
          <p:spPr>
            <a:xfrm>
              <a:off x="4343400" y="4267200"/>
              <a:ext cx="3505200" cy="1981200"/>
            </a:xfrm>
            <a:prstGeom prst="roundRect">
              <a:avLst>
                <a:gd name="adj" fmla="val 11538"/>
              </a:avLst>
            </a:prstGeom>
            <a:solidFill>
              <a:schemeClr val="lt2"/>
            </a:solidFill>
            <a:ln>
              <a:noFill/>
            </a:ln>
            <a:effectLst>
              <a:outerShdw blurRad="266700" dist="57150" dir="5400000" algn="ctr" rotWithShape="0">
                <a:srgbClr val="7C6FE0">
                  <a:alpha val="7500"/>
                </a:srgbClr>
              </a:outerShdw>
            </a:effectLst>
          </p:spPr>
        </p:sp>
        <p:sp>
          <p:nvSpPr>
            <p:cNvPr id="42" name="Ellipse 42"/>
            <p:cNvSpPr/>
            <p:nvPr/>
          </p:nvSpPr>
          <p:spPr>
            <a:xfrm>
              <a:off x="4572000" y="4495800"/>
              <a:ext cx="419100" cy="419100"/>
            </a:xfrm>
            <a:prstGeom prst="ellipse">
              <a:avLst/>
            </a:prstGeom>
            <a:solidFill>
              <a:schemeClr val="accent3">
                <a:alpha val="16000"/>
              </a:schemeClr>
            </a:solidFill>
            <a:ln>
              <a:noFill/>
            </a:ln>
          </p:spPr>
        </p:sp>
        <p:grpSp>
          <p:nvGrpSpPr>
            <p:cNvPr id="45" name="Group 45"/>
            <p:cNvGrpSpPr/>
            <p:nvPr/>
          </p:nvGrpSpPr>
          <p:grpSpPr>
            <a:xfrm>
              <a:off x="4714875" y="4610100"/>
              <a:ext cx="133350" cy="190500"/>
              <a:chOff x="4714875" y="4610100"/>
              <a:chExt cx="133350" cy="190500"/>
            </a:xfrm>
          </p:grpSpPr>
          <p:sp>
            <p:nvSpPr>
              <p:cNvPr id="43" name="Freeform 43"/>
              <p:cNvSpPr/>
              <p:nvPr/>
            </p:nvSpPr>
            <p:spPr>
              <a:xfrm>
                <a:off x="4733925" y="4610100"/>
                <a:ext cx="95250" cy="95250"/>
              </a:xfrm>
              <a:custGeom>
                <a:avLst/>
                <a:gdLst/>
                <a:ahLst/>
                <a:cxnLst/>
                <a:rect l="l" t="t" r="r" b="b"/>
                <a:pathLst>
                  <a:path w="95250" h="95250">
                    <a:moveTo>
                      <a:pt x="47625" y="0"/>
                    </a:moveTo>
                    <a:cubicBezTo>
                      <a:pt x="73928" y="0"/>
                      <a:pt x="95250" y="21322"/>
                      <a:pt x="95250" y="47625"/>
                    </a:cubicBezTo>
                    <a:cubicBezTo>
                      <a:pt x="95250" y="73928"/>
                      <a:pt x="73928" y="95250"/>
                      <a:pt x="47625" y="95250"/>
                    </a:cubicBezTo>
                    <a:cubicBezTo>
                      <a:pt x="21322" y="95250"/>
                      <a:pt x="0" y="73928"/>
                      <a:pt x="0" y="47625"/>
                    </a:cubicBezTo>
                    <a:lnTo>
                      <a:pt x="48" y="45558"/>
                    </a:lnTo>
                    <a:cubicBezTo>
                      <a:pt x="1154" y="20084"/>
                      <a:pt x="22127" y="1"/>
                      <a:pt x="47625" y="0"/>
                    </a:cubicBezTo>
                    <a:close/>
                  </a:path>
                </a:pathLst>
              </a:custGeom>
              <a:solidFill>
                <a:srgbClr val="B9862E"/>
              </a:solidFill>
              <a:ln>
                <a:noFill/>
              </a:ln>
            </p:spPr>
          </p:sp>
          <p:sp>
            <p:nvSpPr>
              <p:cNvPr id="44" name="Freeform 44"/>
              <p:cNvSpPr/>
              <p:nvPr/>
            </p:nvSpPr>
            <p:spPr>
              <a:xfrm>
                <a:off x="4714875" y="4724400"/>
                <a:ext cx="133350" cy="76200"/>
              </a:xfrm>
              <a:custGeom>
                <a:avLst/>
                <a:gdLst/>
                <a:ahLst/>
                <a:cxnLst/>
                <a:rect l="l" t="t" r="r" b="b"/>
                <a:pathLst>
                  <a:path w="133350" h="76200">
                    <a:moveTo>
                      <a:pt x="85725" y="0"/>
                    </a:moveTo>
                    <a:cubicBezTo>
                      <a:pt x="112028" y="0"/>
                      <a:pt x="133350" y="21322"/>
                      <a:pt x="133350" y="47625"/>
                    </a:cubicBezTo>
                    <a:lnTo>
                      <a:pt x="133350" y="57150"/>
                    </a:lnTo>
                    <a:cubicBezTo>
                      <a:pt x="133350" y="67671"/>
                      <a:pt x="124821" y="76200"/>
                      <a:pt x="114300" y="76200"/>
                    </a:cubicBezTo>
                    <a:lnTo>
                      <a:pt x="19050" y="76200"/>
                    </a:lnTo>
                    <a:cubicBezTo>
                      <a:pt x="8529" y="76200"/>
                      <a:pt x="0" y="67671"/>
                      <a:pt x="0" y="57150"/>
                    </a:cubicBezTo>
                    <a:lnTo>
                      <a:pt x="0" y="47625"/>
                    </a:lnTo>
                    <a:cubicBezTo>
                      <a:pt x="0" y="21322"/>
                      <a:pt x="21322" y="0"/>
                      <a:pt x="47625" y="0"/>
                    </a:cubicBezTo>
                    <a:lnTo>
                      <a:pt x="85725" y="0"/>
                    </a:lnTo>
                    <a:close/>
                  </a:path>
                </a:pathLst>
              </a:custGeom>
              <a:solidFill>
                <a:srgbClr val="B9862E"/>
              </a:solidFill>
              <a:ln>
                <a:noFill/>
              </a:ln>
            </p:spPr>
          </p:sp>
        </p:grpSp>
        <p:sp>
          <p:nvSpPr>
            <p:cNvPr id="46" name="TextBox 46"/>
            <p:cNvSpPr txBox="1"/>
            <p:nvPr/>
          </p:nvSpPr>
          <p:spPr>
            <a:xfrm>
              <a:off x="5096256" y="4530090"/>
              <a:ext cx="2403638" cy="352044"/>
            </a:xfrm>
            <a:prstGeom prst="rect">
              <a:avLst/>
            </a:prstGeom>
            <a:noFill/>
            <a:ln>
              <a:noFill/>
            </a:ln>
          </p:spPr>
          <p:txBody>
            <a:bodyPr wrap="none" lIns="0" tIns="0" rIns="0" bIns="0" anchor="t" anchorCtr="0">
              <a:spAutoFit/>
            </a:bodyPr>
            <a:lstStyle/>
            <a:p>
              <a:pPr algn="l"/>
              <a:r>
                <a:rPr lang="en-GB" sz="1800" b="1" dirty="0">
                  <a:solidFill>
                    <a:schemeClr val="dk1"/>
                  </a:solidFill>
                  <a:latin typeface="+mn-lt"/>
                  <a:ea typeface="+mn-ea"/>
                  <a:cs typeface="+mn-cs"/>
                </a:rPr>
                <a:t>Human-in-the-Loop</a:t>
              </a:r>
              <a:endParaRPr lang="en-GB" sz="1800" b="1" dirty="0">
                <a:solidFill>
                  <a:schemeClr val="dk1"/>
                </a:solidFill>
                <a:latin typeface="+mn-lt"/>
                <a:ea typeface="+mn-ea"/>
                <a:cs typeface="+mn-cs"/>
              </a:endParaRPr>
            </a:p>
          </p:txBody>
        </p:sp>
        <p:sp>
          <p:nvSpPr>
            <p:cNvPr id="47" name="TextBox 47"/>
            <p:cNvSpPr txBox="1"/>
            <p:nvPr/>
          </p:nvSpPr>
          <p:spPr>
            <a:xfrm>
              <a:off x="5096256" y="4777740"/>
              <a:ext cx="1425584" cy="352044"/>
            </a:xfrm>
            <a:prstGeom prst="rect">
              <a:avLst/>
            </a:prstGeom>
            <a:noFill/>
            <a:ln>
              <a:noFill/>
            </a:ln>
          </p:spPr>
          <p:txBody>
            <a:bodyPr wrap="none" lIns="0" tIns="0" rIns="0" bIns="0" anchor="t" anchorCtr="0">
              <a:spAutoFit/>
            </a:bodyPr>
            <a:lstStyle/>
            <a:p>
              <a:pPr algn="l"/>
              <a:r>
                <a:rPr lang="en-GB" sz="1800" b="1" dirty="0">
                  <a:solidFill>
                    <a:schemeClr val="dk1"/>
                  </a:solidFill>
                  <a:latin typeface="+mn-lt"/>
                  <a:ea typeface="+mn-ea"/>
                  <a:cs typeface="+mn-cs"/>
                </a:rPr>
                <a:t>Governance</a:t>
              </a:r>
              <a:endParaRPr lang="en-GB" sz="1800" b="1" dirty="0">
                <a:solidFill>
                  <a:schemeClr val="dk1"/>
                </a:solidFill>
                <a:latin typeface="+mn-lt"/>
                <a:ea typeface="+mn-ea"/>
                <a:cs typeface="+mn-cs"/>
              </a:endParaRPr>
            </a:p>
          </p:txBody>
        </p:sp>
        <p:sp>
          <p:nvSpPr>
            <p:cNvPr id="48" name="TextBox 48"/>
            <p:cNvSpPr txBox="1"/>
            <p:nvPr/>
          </p:nvSpPr>
          <p:spPr>
            <a:xfrm>
              <a:off x="4565142" y="5264468"/>
              <a:ext cx="2954702" cy="264033"/>
            </a:xfrm>
            <a:prstGeom prst="rect">
              <a:avLst/>
            </a:prstGeom>
            <a:noFill/>
            <a:ln>
              <a:noFill/>
            </a:ln>
          </p:spPr>
          <p:txBody>
            <a:bodyPr wrap="none" lIns="0" tIns="0" rIns="0" bIns="0" anchor="t" anchorCtr="0">
              <a:spAutoFit/>
            </a:bodyPr>
            <a:lstStyle/>
            <a:p>
              <a:pPr algn="l"/>
              <a:r>
                <a:rPr lang="en-GB" sz="1350" dirty="0">
                  <a:solidFill>
                    <a:schemeClr val="accent5"/>
                  </a:solidFill>
                  <a:latin typeface="+mn-lt"/>
                  <a:ea typeface="+mn-ea"/>
                  <a:cs typeface="+mn-cs"/>
                </a:rPr>
                <a:t>Every novel action is approved or</a:t>
              </a:r>
              <a:endParaRPr lang="en-GB" sz="1350" dirty="0">
                <a:solidFill>
                  <a:schemeClr val="accent5"/>
                </a:solidFill>
                <a:latin typeface="+mn-lt"/>
                <a:ea typeface="+mn-ea"/>
                <a:cs typeface="+mn-cs"/>
              </a:endParaRPr>
            </a:p>
          </p:txBody>
        </p:sp>
        <p:sp>
          <p:nvSpPr>
            <p:cNvPr id="49" name="TextBox 49"/>
            <p:cNvSpPr txBox="1"/>
            <p:nvPr/>
          </p:nvSpPr>
          <p:spPr>
            <a:xfrm>
              <a:off x="4565142" y="5493068"/>
              <a:ext cx="2994203" cy="264033"/>
            </a:xfrm>
            <a:prstGeom prst="rect">
              <a:avLst/>
            </a:prstGeom>
            <a:noFill/>
            <a:ln>
              <a:noFill/>
            </a:ln>
          </p:spPr>
          <p:txBody>
            <a:bodyPr wrap="none" lIns="0" tIns="0" rIns="0" bIns="0" anchor="t" anchorCtr="0">
              <a:spAutoFit/>
            </a:bodyPr>
            <a:lstStyle/>
            <a:p>
              <a:pPr algn="l"/>
              <a:r>
                <a:rPr lang="en-GB" sz="1350" dirty="0">
                  <a:solidFill>
                    <a:schemeClr val="accent5"/>
                  </a:solidFill>
                  <a:latin typeface="+mn-lt"/>
                  <a:ea typeface="+mn-ea"/>
                  <a:cs typeface="+mn-cs"/>
                </a:rPr>
                <a:t>rejected by an operator before it</a:t>
              </a:r>
              <a:endParaRPr lang="en-GB" sz="1350" dirty="0">
                <a:solidFill>
                  <a:schemeClr val="accent5"/>
                </a:solidFill>
                <a:latin typeface="+mn-lt"/>
                <a:ea typeface="+mn-ea"/>
                <a:cs typeface="+mn-cs"/>
              </a:endParaRPr>
            </a:p>
          </p:txBody>
        </p:sp>
        <p:sp>
          <p:nvSpPr>
            <p:cNvPr id="50" name="TextBox 50"/>
            <p:cNvSpPr txBox="1"/>
            <p:nvPr/>
          </p:nvSpPr>
          <p:spPr>
            <a:xfrm>
              <a:off x="4565142" y="5721668"/>
              <a:ext cx="513493" cy="264033"/>
            </a:xfrm>
            <a:prstGeom prst="rect">
              <a:avLst/>
            </a:prstGeom>
            <a:noFill/>
            <a:ln>
              <a:noFill/>
            </a:ln>
          </p:spPr>
          <p:txBody>
            <a:bodyPr wrap="none" lIns="0" tIns="0" rIns="0" bIns="0" anchor="t" anchorCtr="0">
              <a:spAutoFit/>
            </a:bodyPr>
            <a:lstStyle/>
            <a:p>
              <a:pPr algn="l"/>
              <a:r>
                <a:rPr lang="en-GB" sz="1350" dirty="0">
                  <a:solidFill>
                    <a:schemeClr val="accent5"/>
                  </a:solidFill>
                  <a:latin typeface="+mn-lt"/>
                  <a:ea typeface="+mn-ea"/>
                  <a:cs typeface="+mn-cs"/>
                </a:rPr>
                <a:t>runs.</a:t>
              </a:r>
              <a:endParaRPr lang="en-GB" sz="1350" dirty="0">
                <a:solidFill>
                  <a:schemeClr val="accent5"/>
                </a:solidFill>
                <a:latin typeface="+mn-lt"/>
                <a:ea typeface="+mn-ea"/>
                <a:cs typeface="+mn-cs"/>
              </a:endParaRPr>
            </a:p>
          </p:txBody>
        </p:sp>
      </p:grpSp>
      <p:grpSp>
        <p:nvGrpSpPr>
          <p:cNvPr id="58" name="Group 58"/>
          <p:cNvGrpSpPr/>
          <p:nvPr/>
        </p:nvGrpSpPr>
        <p:grpSpPr>
          <a:xfrm>
            <a:off x="8086725" y="4276725"/>
            <a:ext cx="3505200" cy="1981200"/>
            <a:chOff x="8086725" y="4276725"/>
            <a:chExt cx="3505200" cy="1981200"/>
          </a:xfrm>
        </p:grpSpPr>
        <p:sp>
          <p:nvSpPr>
            <p:cNvPr id="52" name="Rectangle 52"/>
            <p:cNvSpPr/>
            <p:nvPr/>
          </p:nvSpPr>
          <p:spPr>
            <a:xfrm>
              <a:off x="8086725" y="4276725"/>
              <a:ext cx="3505200" cy="1981200"/>
            </a:xfrm>
            <a:prstGeom prst="roundRect">
              <a:avLst>
                <a:gd name="adj" fmla="val 11538"/>
              </a:avLst>
            </a:prstGeom>
            <a:solidFill>
              <a:schemeClr val="lt2"/>
            </a:solidFill>
            <a:ln>
              <a:noFill/>
            </a:ln>
            <a:effectLst>
              <a:outerShdw blurRad="266700" dist="57150" dir="5400000" algn="ctr" rotWithShape="0">
                <a:srgbClr val="7C6FE0">
                  <a:alpha val="7500"/>
                </a:srgbClr>
              </a:outerShdw>
            </a:effectLst>
          </p:spPr>
        </p:sp>
        <p:sp>
          <p:nvSpPr>
            <p:cNvPr id="53" name="Ellipse 53"/>
            <p:cNvSpPr/>
            <p:nvPr/>
          </p:nvSpPr>
          <p:spPr>
            <a:xfrm>
              <a:off x="8305800" y="4495800"/>
              <a:ext cx="419100" cy="419100"/>
            </a:xfrm>
            <a:prstGeom prst="ellipse">
              <a:avLst/>
            </a:prstGeom>
            <a:solidFill>
              <a:schemeClr val="accent1">
                <a:alpha val="15000"/>
              </a:schemeClr>
            </a:solidFill>
            <a:ln>
              <a:noFill/>
            </a:ln>
          </p:spPr>
        </p:sp>
        <p:sp>
          <p:nvSpPr>
            <p:cNvPr id="54" name="Freeform 54"/>
            <p:cNvSpPr/>
            <p:nvPr/>
          </p:nvSpPr>
          <p:spPr>
            <a:xfrm>
              <a:off x="8401050" y="4629750"/>
              <a:ext cx="228600" cy="151200"/>
            </a:xfrm>
            <a:custGeom>
              <a:avLst/>
              <a:gdLst/>
              <a:ahLst/>
              <a:cxnLst/>
              <a:rect l="l" t="t" r="r" b="b"/>
              <a:pathLst>
                <a:path w="228600" h="151200">
                  <a:moveTo>
                    <a:pt x="85230" y="45101"/>
                  </a:moveTo>
                  <a:lnTo>
                    <a:pt x="85230" y="31480"/>
                  </a:lnTo>
                  <a:cubicBezTo>
                    <a:pt x="86574" y="31380"/>
                    <a:pt x="87921" y="31323"/>
                    <a:pt x="89268" y="31309"/>
                  </a:cubicBezTo>
                  <a:cubicBezTo>
                    <a:pt x="126625" y="30128"/>
                    <a:pt x="151114" y="63446"/>
                    <a:pt x="151114" y="63446"/>
                  </a:cubicBezTo>
                  <a:cubicBezTo>
                    <a:pt x="151114" y="63446"/>
                    <a:pt x="124692" y="100127"/>
                    <a:pt x="96345" y="100127"/>
                  </a:cubicBezTo>
                  <a:cubicBezTo>
                    <a:pt x="92554" y="100127"/>
                    <a:pt x="88849" y="99536"/>
                    <a:pt x="85315" y="98365"/>
                  </a:cubicBezTo>
                  <a:lnTo>
                    <a:pt x="85315" y="56969"/>
                  </a:lnTo>
                  <a:cubicBezTo>
                    <a:pt x="99870" y="58731"/>
                    <a:pt x="102813" y="65132"/>
                    <a:pt x="111481" y="79686"/>
                  </a:cubicBezTo>
                  <a:lnTo>
                    <a:pt x="130912" y="63360"/>
                  </a:lnTo>
                  <a:cubicBezTo>
                    <a:pt x="130912" y="63360"/>
                    <a:pt x="116700" y="44767"/>
                    <a:pt x="92812" y="44767"/>
                  </a:cubicBezTo>
                  <a:cubicBezTo>
                    <a:pt x="90280" y="44711"/>
                    <a:pt x="87747" y="44822"/>
                    <a:pt x="85230" y="45101"/>
                  </a:cubicBezTo>
                  <a:moveTo>
                    <a:pt x="85230" y="0"/>
                  </a:moveTo>
                  <a:lnTo>
                    <a:pt x="85230" y="20364"/>
                  </a:lnTo>
                  <a:lnTo>
                    <a:pt x="89268" y="20107"/>
                  </a:lnTo>
                  <a:cubicBezTo>
                    <a:pt x="141180" y="18345"/>
                    <a:pt x="175089" y="62684"/>
                    <a:pt x="175089" y="62684"/>
                  </a:cubicBezTo>
                  <a:cubicBezTo>
                    <a:pt x="175089" y="62684"/>
                    <a:pt x="136227" y="109966"/>
                    <a:pt x="95745" y="109966"/>
                  </a:cubicBezTo>
                  <a:cubicBezTo>
                    <a:pt x="92221" y="109966"/>
                    <a:pt x="88763" y="109633"/>
                    <a:pt x="85315" y="109042"/>
                  </a:cubicBezTo>
                  <a:lnTo>
                    <a:pt x="85315" y="121663"/>
                  </a:lnTo>
                  <a:cubicBezTo>
                    <a:pt x="88173" y="121996"/>
                    <a:pt x="91126" y="122253"/>
                    <a:pt x="93983" y="122253"/>
                  </a:cubicBezTo>
                  <a:cubicBezTo>
                    <a:pt x="131674" y="122253"/>
                    <a:pt x="158944" y="102984"/>
                    <a:pt x="185357" y="80267"/>
                  </a:cubicBezTo>
                  <a:cubicBezTo>
                    <a:pt x="189728" y="83801"/>
                    <a:pt x="207645" y="92297"/>
                    <a:pt x="211360" y="96002"/>
                  </a:cubicBezTo>
                  <a:cubicBezTo>
                    <a:pt x="186280" y="117034"/>
                    <a:pt x="127806" y="133950"/>
                    <a:pt x="94650" y="133950"/>
                  </a:cubicBezTo>
                  <a:cubicBezTo>
                    <a:pt x="91459" y="133950"/>
                    <a:pt x="88430" y="133779"/>
                    <a:pt x="85401" y="133445"/>
                  </a:cubicBezTo>
                  <a:lnTo>
                    <a:pt x="85401" y="151200"/>
                  </a:lnTo>
                  <a:lnTo>
                    <a:pt x="228600" y="151200"/>
                  </a:lnTo>
                  <a:lnTo>
                    <a:pt x="228600" y="0"/>
                  </a:lnTo>
                  <a:close/>
                  <a:moveTo>
                    <a:pt x="85230" y="98355"/>
                  </a:moveTo>
                  <a:lnTo>
                    <a:pt x="85230" y="109128"/>
                  </a:lnTo>
                  <a:cubicBezTo>
                    <a:pt x="50397" y="102899"/>
                    <a:pt x="40719" y="66646"/>
                    <a:pt x="40719" y="66646"/>
                  </a:cubicBezTo>
                  <a:cubicBezTo>
                    <a:pt x="40719" y="66646"/>
                    <a:pt x="57464" y="48130"/>
                    <a:pt x="85230" y="45101"/>
                  </a:cubicBezTo>
                  <a:lnTo>
                    <a:pt x="85230" y="56883"/>
                  </a:lnTo>
                  <a:lnTo>
                    <a:pt x="85154" y="56883"/>
                  </a:lnTo>
                  <a:cubicBezTo>
                    <a:pt x="70599" y="55112"/>
                    <a:pt x="59150" y="68742"/>
                    <a:pt x="59150" y="68742"/>
                  </a:cubicBezTo>
                  <a:cubicBezTo>
                    <a:pt x="59150" y="68742"/>
                    <a:pt x="65627" y="91716"/>
                    <a:pt x="85239" y="98365"/>
                  </a:cubicBezTo>
                  <a:moveTo>
                    <a:pt x="23393" y="65122"/>
                  </a:moveTo>
                  <a:cubicBezTo>
                    <a:pt x="23393" y="65122"/>
                    <a:pt x="44006" y="34671"/>
                    <a:pt x="85306" y="31471"/>
                  </a:cubicBezTo>
                  <a:lnTo>
                    <a:pt x="85306" y="20364"/>
                  </a:lnTo>
                  <a:cubicBezTo>
                    <a:pt x="39557" y="24070"/>
                    <a:pt x="0" y="62770"/>
                    <a:pt x="0" y="62770"/>
                  </a:cubicBezTo>
                  <a:cubicBezTo>
                    <a:pt x="0" y="62770"/>
                    <a:pt x="22384" y="127559"/>
                    <a:pt x="85230" y="133445"/>
                  </a:cubicBezTo>
                  <a:lnTo>
                    <a:pt x="85230" y="121663"/>
                  </a:lnTo>
                  <a:cubicBezTo>
                    <a:pt x="39129" y="115948"/>
                    <a:pt x="23393" y="65122"/>
                    <a:pt x="23393" y="65122"/>
                  </a:cubicBezTo>
                  <a:close/>
                </a:path>
              </a:pathLst>
            </a:custGeom>
            <a:solidFill>
              <a:schemeClr val="accent1"/>
            </a:solidFill>
            <a:ln>
              <a:noFill/>
            </a:ln>
          </p:spPr>
        </p:sp>
        <p:sp>
          <p:nvSpPr>
            <p:cNvPr id="55" name="TextBox 55"/>
            <p:cNvSpPr txBox="1"/>
            <p:nvPr/>
          </p:nvSpPr>
          <p:spPr>
            <a:xfrm>
              <a:off x="8830056" y="4568190"/>
              <a:ext cx="2760711" cy="352044"/>
            </a:xfrm>
            <a:prstGeom prst="rect">
              <a:avLst/>
            </a:prstGeom>
            <a:noFill/>
            <a:ln>
              <a:noFill/>
            </a:ln>
          </p:spPr>
          <p:txBody>
            <a:bodyPr wrap="none" lIns="0" tIns="0" rIns="0" bIns="0" anchor="t" anchorCtr="0">
              <a:spAutoFit/>
            </a:bodyPr>
            <a:lstStyle/>
            <a:p>
              <a:pPr algn="l"/>
              <a:r>
                <a:rPr lang="en-GB" sz="1800" b="1" dirty="0">
                  <a:solidFill>
                    <a:schemeClr val="dk1"/>
                  </a:solidFill>
                  <a:latin typeface="+mn-lt"/>
                  <a:ea typeface="+mn-ea"/>
                  <a:cs typeface="+mn-cs"/>
                </a:rPr>
                <a:t>Powered by NVIDIA NIM</a:t>
              </a:r>
              <a:endParaRPr lang="en-GB" sz="1800" b="1" dirty="0">
                <a:solidFill>
                  <a:schemeClr val="dk1"/>
                </a:solidFill>
                <a:latin typeface="+mn-lt"/>
                <a:ea typeface="+mn-ea"/>
                <a:cs typeface="+mn-cs"/>
              </a:endParaRPr>
            </a:p>
          </p:txBody>
        </p:sp>
        <p:sp>
          <p:nvSpPr>
            <p:cNvPr id="56" name="TextBox 56"/>
            <p:cNvSpPr txBox="1"/>
            <p:nvPr/>
          </p:nvSpPr>
          <p:spPr>
            <a:xfrm>
              <a:off x="8298942" y="5054918"/>
              <a:ext cx="2181641" cy="264033"/>
            </a:xfrm>
            <a:prstGeom prst="rect">
              <a:avLst/>
            </a:prstGeom>
            <a:noFill/>
            <a:ln>
              <a:noFill/>
            </a:ln>
          </p:spPr>
          <p:txBody>
            <a:bodyPr wrap="none" lIns="0" tIns="0" rIns="0" bIns="0" anchor="t" anchorCtr="0">
              <a:spAutoFit/>
            </a:bodyPr>
            <a:lstStyle/>
            <a:p>
              <a:pPr algn="l"/>
              <a:r>
                <a:rPr lang="en-GB" sz="1350" dirty="0">
                  <a:solidFill>
                    <a:schemeClr val="accent5"/>
                  </a:solidFill>
                  <a:latin typeface="+mn-lt"/>
                  <a:ea typeface="+mn-ea"/>
                  <a:cs typeface="+mn-cs"/>
                </a:rPr>
                <a:t>Nemotron 3.5 Lightning,</a:t>
              </a:r>
              <a:endParaRPr lang="en-GB" sz="1350" dirty="0">
                <a:solidFill>
                  <a:schemeClr val="accent5"/>
                </a:solidFill>
                <a:latin typeface="+mn-lt"/>
                <a:ea typeface="+mn-ea"/>
                <a:cs typeface="+mn-cs"/>
              </a:endParaRPr>
            </a:p>
          </p:txBody>
        </p:sp>
        <p:sp>
          <p:nvSpPr>
            <p:cNvPr id="57" name="TextBox 57"/>
            <p:cNvSpPr txBox="1"/>
            <p:nvPr/>
          </p:nvSpPr>
          <p:spPr>
            <a:xfrm>
              <a:off x="8298942" y="5283518"/>
              <a:ext cx="2569007" cy="264033"/>
            </a:xfrm>
            <a:prstGeom prst="rect">
              <a:avLst/>
            </a:prstGeom>
            <a:noFill/>
            <a:ln>
              <a:noFill/>
            </a:ln>
          </p:spPr>
          <p:txBody>
            <a:bodyPr wrap="none" lIns="0" tIns="0" rIns="0" bIns="0" anchor="t" anchorCtr="0">
              <a:spAutoFit/>
            </a:bodyPr>
            <a:lstStyle/>
            <a:p>
              <a:pPr algn="l"/>
              <a:r>
                <a:rPr lang="en-GB" sz="1350" dirty="0">
                  <a:solidFill>
                    <a:schemeClr val="accent5"/>
                  </a:solidFill>
                  <a:latin typeface="+mn-lt"/>
                  <a:ea typeface="+mn-ea"/>
                  <a:cs typeface="+mn-cs"/>
                </a:rPr>
                <a:t>Llama 3.3 70B, DeepSeek R1.</a:t>
              </a:r>
              <a:endParaRPr lang="en-GB" sz="1350" dirty="0">
                <a:solidFill>
                  <a:schemeClr val="accent5"/>
                </a:solidFill>
                <a:latin typeface="+mn-lt"/>
                <a:ea typeface="+mn-ea"/>
                <a:cs typeface="+mn-cs"/>
              </a:endParaRPr>
            </a:p>
          </p:txBody>
        </p:sp>
      </p:grpSp>
      <p:sp>
        <p:nvSpPr>
          <p:cNvPr id="63" name="Footer Placeholder 62"/>
          <p:cNvSpPr>
            <a:spLocks noGrp="1"/>
          </p:cNvSpPr>
          <p:nvPr>
            <p:ph type="ftr" sz="quarter" idx="11"/>
          </p:nvPr>
        </p:nvSpPr>
        <p:spPr/>
        <p:txBody>
          <a:bodyPr/>
          <a:p>
            <a:r>
              <a:rPr lang="en-US"/>
              <a:t>TCS | Confidential</a:t>
            </a:r>
            <a:endParaRPr lang="en-US"/>
          </a:p>
        </p:txBody>
      </p:sp>
    </p:spTree>
  </p:cSld>
  <p:clrMapOvr>
    <a:masterClrMapping/>
  </p:clrMapOvr>
  <mc:AlternateContent xmlns:mc="http://schemas.openxmlformats.org/markup-compatibility/2006">
    <mc:Choice xmlns:p14="http://schemas.microsoft.com/office/powerpoint/2010/main" Requires="p14">
      <p:transition spd="slow" p14:dur="2000"/>
    </mc:Choice>
    <mc:Fallback>
      <p:transition spd="slow"/>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609600" y="628650"/>
            <a:ext cx="2171700" cy="314706"/>
            <a:chOff x="609600" y="628650"/>
            <a:chExt cx="2171700" cy="314706"/>
          </a:xfrm>
        </p:grpSpPr>
        <p:sp>
          <p:nvSpPr>
            <p:cNvPr id="2" name="Rectangle 2"/>
            <p:cNvSpPr/>
            <p:nvPr/>
          </p:nvSpPr>
          <p:spPr>
            <a:xfrm>
              <a:off x="609600" y="628650"/>
              <a:ext cx="2171700" cy="304800"/>
            </a:xfrm>
            <a:prstGeom prst="roundRect">
              <a:avLst>
                <a:gd name="adj" fmla="val 50000"/>
              </a:avLst>
            </a:prstGeom>
            <a:solidFill>
              <a:schemeClr val="accent1">
                <a:alpha val="14000"/>
              </a:schemeClr>
            </a:solidFill>
            <a:ln>
              <a:noFill/>
            </a:ln>
          </p:spPr>
        </p:sp>
        <p:sp>
          <p:nvSpPr>
            <p:cNvPr id="3" name="TextBox 3"/>
            <p:cNvSpPr txBox="1"/>
            <p:nvPr/>
          </p:nvSpPr>
          <p:spPr>
            <a:xfrm>
              <a:off x="794004" y="708660"/>
              <a:ext cx="1423355" cy="234696"/>
            </a:xfrm>
            <a:prstGeom prst="rect">
              <a:avLst/>
            </a:prstGeom>
            <a:noFill/>
            <a:ln>
              <a:noFill/>
            </a:ln>
          </p:spPr>
          <p:txBody>
            <a:bodyPr wrap="none" lIns="0" tIns="0" rIns="0" bIns="0" anchor="t" anchorCtr="0">
              <a:spAutoFit/>
            </a:bodyPr>
            <a:lstStyle/>
            <a:p>
              <a:pPr algn="l"/>
              <a:r>
                <a:rPr lang="en-GB" sz="1200" b="1" spc="75" dirty="0">
                  <a:solidFill>
                    <a:schemeClr val="accent1"/>
                  </a:solidFill>
                  <a:latin typeface="+mn-lt"/>
                  <a:ea typeface="+mn-ea"/>
                  <a:cs typeface="+mn-cs"/>
                </a:rPr>
                <a:t>HOW IT’S BUILT</a:t>
              </a:r>
              <a:endParaRPr lang="en-GB" sz="1200" b="1" spc="75" dirty="0">
                <a:solidFill>
                  <a:schemeClr val="accent1"/>
                </a:solidFill>
                <a:latin typeface="+mn-lt"/>
                <a:ea typeface="+mn-ea"/>
                <a:cs typeface="+mn-cs"/>
              </a:endParaRPr>
            </a:p>
          </p:txBody>
        </p:sp>
      </p:grpSp>
      <p:grpSp>
        <p:nvGrpSpPr>
          <p:cNvPr id="6" name="Group 6"/>
          <p:cNvGrpSpPr/>
          <p:nvPr/>
        </p:nvGrpSpPr>
        <p:grpSpPr>
          <a:xfrm>
            <a:off x="590550" y="975360"/>
            <a:ext cx="7936230" cy="645795"/>
            <a:chOff x="590550" y="975360"/>
            <a:chExt cx="7936230" cy="645795"/>
          </a:xfrm>
        </p:grpSpPr>
        <p:sp>
          <p:nvSpPr>
            <p:cNvPr id="5" name="TextBox 5"/>
            <p:cNvSpPr txBox="1"/>
            <p:nvPr/>
          </p:nvSpPr>
          <p:spPr>
            <a:xfrm>
              <a:off x="590550" y="975360"/>
              <a:ext cx="7936230" cy="645795"/>
            </a:xfrm>
            <a:prstGeom prst="rect">
              <a:avLst/>
            </a:prstGeom>
            <a:noFill/>
            <a:ln>
              <a:noFill/>
            </a:ln>
          </p:spPr>
          <p:txBody>
            <a:bodyPr wrap="none" lIns="0" tIns="0" rIns="0" bIns="0" anchor="t" anchorCtr="0">
              <a:spAutoFit/>
            </a:bodyPr>
            <a:lstStyle/>
            <a:p>
              <a:pPr algn="l"/>
              <a:r>
                <a:rPr lang="en-US" altLang="en-GB" sz="4200" b="1" dirty="0">
                  <a:solidFill>
                    <a:schemeClr val="dk1"/>
                  </a:solidFill>
                  <a:latin typeface="+mn-lt"/>
                  <a:ea typeface="+mn-ea"/>
                  <a:cs typeface="+mn-cs"/>
                </a:rPr>
                <a:t>System Architecture at a Glance</a:t>
              </a:r>
              <a:endParaRPr lang="en-US" altLang="en-GB" sz="4200" b="1" dirty="0">
                <a:solidFill>
                  <a:schemeClr val="dk1"/>
                </a:solidFill>
                <a:latin typeface="+mn-lt"/>
                <a:ea typeface="+mn-ea"/>
                <a:cs typeface="+mn-cs"/>
              </a:endParaRPr>
            </a:p>
          </p:txBody>
        </p:sp>
      </p:grpSp>
      <p:grpSp>
        <p:nvGrpSpPr>
          <p:cNvPr id="8" name="Group 8"/>
          <p:cNvGrpSpPr/>
          <p:nvPr/>
        </p:nvGrpSpPr>
        <p:grpSpPr>
          <a:xfrm>
            <a:off x="602742" y="1721168"/>
            <a:ext cx="10665100" cy="264033"/>
            <a:chOff x="602742" y="1721168"/>
            <a:chExt cx="10665100" cy="264033"/>
          </a:xfrm>
        </p:grpSpPr>
        <p:sp>
          <p:nvSpPr>
            <p:cNvPr id="7" name="TextBox 7"/>
            <p:cNvSpPr txBox="1"/>
            <p:nvPr/>
          </p:nvSpPr>
          <p:spPr>
            <a:xfrm>
              <a:off x="602742" y="1721168"/>
              <a:ext cx="10665100" cy="264033"/>
            </a:xfrm>
            <a:prstGeom prst="rect">
              <a:avLst/>
            </a:prstGeom>
            <a:noFill/>
            <a:ln>
              <a:noFill/>
            </a:ln>
          </p:spPr>
          <p:txBody>
            <a:bodyPr wrap="none" lIns="0" tIns="0" rIns="0" bIns="0" anchor="t" anchorCtr="0">
              <a:spAutoFit/>
            </a:bodyPr>
            <a:lstStyle/>
            <a:p>
              <a:pPr algn="l"/>
              <a:r>
                <a:rPr lang="en-GB" sz="1350" dirty="0">
                  <a:solidFill>
                    <a:schemeClr val="accent5"/>
                  </a:solidFill>
                  <a:latin typeface="+mn-lt"/>
                  <a:ea typeface="+mn-ea"/>
                  <a:cs typeface="+mn-cs"/>
                </a:rPr>
                <a:t>Presentation, services, AI &amp; RAG, persistence, and target-infrastructure tiers form one continuous autonomous loop.</a:t>
              </a:r>
              <a:endParaRPr lang="en-GB" sz="1350" dirty="0">
                <a:solidFill>
                  <a:schemeClr val="accent5"/>
                </a:solidFill>
                <a:latin typeface="+mn-lt"/>
                <a:ea typeface="+mn-ea"/>
                <a:cs typeface="+mn-cs"/>
              </a:endParaRPr>
            </a:p>
          </p:txBody>
        </p:sp>
      </p:grpSp>
      <p:pic>
        <p:nvPicPr>
          <p:cNvPr id="12" name="Picture 11" descr="AD"/>
          <p:cNvPicPr>
            <a:picLocks noChangeAspect="1"/>
          </p:cNvPicPr>
          <p:nvPr/>
        </p:nvPicPr>
        <p:blipFill>
          <a:blip r:embed="rId1"/>
          <a:stretch>
            <a:fillRect/>
          </a:stretch>
        </p:blipFill>
        <p:spPr>
          <a:xfrm>
            <a:off x="1457325" y="2085340"/>
            <a:ext cx="9277985" cy="4568825"/>
          </a:xfrm>
          <a:prstGeom prst="rect">
            <a:avLst/>
          </a:prstGeom>
        </p:spPr>
      </p:pic>
      <p:sp>
        <p:nvSpPr>
          <p:cNvPr id="17" name="Footer Placeholder 16"/>
          <p:cNvSpPr>
            <a:spLocks noGrp="1"/>
          </p:cNvSpPr>
          <p:nvPr>
            <p:ph type="ftr" sz="quarter" idx="11"/>
          </p:nvPr>
        </p:nvSpPr>
        <p:spPr>
          <a:xfrm>
            <a:off x="3829050" y="6492875"/>
            <a:ext cx="2895600" cy="365125"/>
          </a:xfrm>
        </p:spPr>
        <p:txBody>
          <a:bodyPr/>
          <a:p>
            <a:r>
              <a:rPr lang="en-US"/>
              <a:t>TCS | Confidential</a:t>
            </a:r>
            <a:endParaRPr lang="en-US"/>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609600" y="628650"/>
            <a:ext cx="2171700" cy="346901"/>
            <a:chOff x="609600" y="628650"/>
            <a:chExt cx="2171700" cy="346901"/>
          </a:xfrm>
        </p:grpSpPr>
        <p:sp>
          <p:nvSpPr>
            <p:cNvPr id="2" name="Rectangle 2"/>
            <p:cNvSpPr/>
            <p:nvPr/>
          </p:nvSpPr>
          <p:spPr>
            <a:xfrm>
              <a:off x="609600" y="628650"/>
              <a:ext cx="2171700" cy="342900"/>
            </a:xfrm>
            <a:prstGeom prst="roundRect">
              <a:avLst>
                <a:gd name="adj" fmla="val 50000"/>
              </a:avLst>
            </a:prstGeom>
            <a:solidFill>
              <a:schemeClr val="accent1">
                <a:alpha val="14000"/>
              </a:schemeClr>
            </a:solidFill>
            <a:ln>
              <a:noFill/>
            </a:ln>
          </p:spPr>
        </p:sp>
        <p:sp>
          <p:nvSpPr>
            <p:cNvPr id="3" name="TextBox 3"/>
            <p:cNvSpPr txBox="1"/>
            <p:nvPr/>
          </p:nvSpPr>
          <p:spPr>
            <a:xfrm>
              <a:off x="793242" y="711518"/>
              <a:ext cx="1583939" cy="264033"/>
            </a:xfrm>
            <a:prstGeom prst="rect">
              <a:avLst/>
            </a:prstGeom>
            <a:noFill/>
            <a:ln>
              <a:noFill/>
            </a:ln>
          </p:spPr>
          <p:txBody>
            <a:bodyPr wrap="none" lIns="0" tIns="0" rIns="0" bIns="0" anchor="t" anchorCtr="0">
              <a:spAutoFit/>
            </a:bodyPr>
            <a:lstStyle/>
            <a:p>
              <a:pPr algn="l"/>
              <a:r>
                <a:rPr lang="en-GB" sz="1350" b="1" spc="75" dirty="0">
                  <a:solidFill>
                    <a:schemeClr val="accent1"/>
                  </a:solidFill>
                  <a:latin typeface="+mn-lt"/>
                  <a:ea typeface="+mn-ea"/>
                  <a:cs typeface="+mn-cs"/>
                </a:rPr>
                <a:t>HOW IT’S BUILT</a:t>
              </a:r>
              <a:endParaRPr lang="en-GB" sz="1350" b="1" spc="75" dirty="0">
                <a:solidFill>
                  <a:schemeClr val="accent1"/>
                </a:solidFill>
                <a:latin typeface="+mn-lt"/>
                <a:ea typeface="+mn-ea"/>
                <a:cs typeface="+mn-cs"/>
              </a:endParaRPr>
            </a:p>
          </p:txBody>
        </p:sp>
      </p:grpSp>
      <p:grpSp>
        <p:nvGrpSpPr>
          <p:cNvPr id="6" name="Group 6"/>
          <p:cNvGrpSpPr/>
          <p:nvPr/>
        </p:nvGrpSpPr>
        <p:grpSpPr>
          <a:xfrm>
            <a:off x="590550" y="1165860"/>
            <a:ext cx="7152781" cy="819150"/>
            <a:chOff x="590550" y="1165860"/>
            <a:chExt cx="7152781" cy="819150"/>
          </a:xfrm>
        </p:grpSpPr>
        <p:sp>
          <p:nvSpPr>
            <p:cNvPr id="5" name="TextBox 5"/>
            <p:cNvSpPr txBox="1"/>
            <p:nvPr/>
          </p:nvSpPr>
          <p:spPr>
            <a:xfrm>
              <a:off x="590550" y="1165860"/>
              <a:ext cx="7152781" cy="819150"/>
            </a:xfrm>
            <a:prstGeom prst="rect">
              <a:avLst/>
            </a:prstGeom>
            <a:noFill/>
            <a:ln>
              <a:noFill/>
            </a:ln>
          </p:spPr>
          <p:txBody>
            <a:bodyPr wrap="none" lIns="0" tIns="0" rIns="0" bIns="0" anchor="t" anchorCtr="0">
              <a:spAutoFit/>
            </a:bodyPr>
            <a:lstStyle/>
            <a:p>
              <a:pPr algn="l"/>
              <a:r>
                <a:rPr lang="en-GB" sz="4200" b="1" dirty="0">
                  <a:solidFill>
                    <a:schemeClr val="dk1"/>
                  </a:solidFill>
                  <a:latin typeface="+mn-lt"/>
                  <a:ea typeface="+mn-ea"/>
                  <a:cs typeface="+mn-cs"/>
                </a:rPr>
                <a:t>The Agent Control Tower</a:t>
              </a:r>
              <a:endParaRPr lang="en-GB" sz="4200" b="1" dirty="0">
                <a:solidFill>
                  <a:schemeClr val="dk1"/>
                </a:solidFill>
                <a:latin typeface="+mn-lt"/>
                <a:ea typeface="+mn-ea"/>
                <a:cs typeface="+mn-cs"/>
              </a:endParaRPr>
            </a:p>
          </p:txBody>
        </p:sp>
      </p:grpSp>
      <p:grpSp>
        <p:nvGrpSpPr>
          <p:cNvPr id="8" name="Group 8"/>
          <p:cNvGrpSpPr/>
          <p:nvPr/>
        </p:nvGrpSpPr>
        <p:grpSpPr>
          <a:xfrm>
            <a:off x="600456" y="1844040"/>
            <a:ext cx="8604504" cy="352044"/>
            <a:chOff x="600456" y="1844040"/>
            <a:chExt cx="8604504" cy="352044"/>
          </a:xfrm>
        </p:grpSpPr>
        <p:sp>
          <p:nvSpPr>
            <p:cNvPr id="7" name="TextBox 7"/>
            <p:cNvSpPr txBox="1"/>
            <p:nvPr/>
          </p:nvSpPr>
          <p:spPr>
            <a:xfrm>
              <a:off x="600456" y="1844040"/>
              <a:ext cx="8604504" cy="352044"/>
            </a:xfrm>
            <a:prstGeom prst="rect">
              <a:avLst/>
            </a:prstGeom>
            <a:noFill/>
            <a:ln>
              <a:noFill/>
            </a:ln>
          </p:spPr>
          <p:txBody>
            <a:bodyPr wrap="none" lIns="0" tIns="0" rIns="0" bIns="0" anchor="t" anchorCtr="0">
              <a:spAutoFit/>
            </a:bodyPr>
            <a:lstStyle/>
            <a:p>
              <a:pPr algn="l"/>
              <a:r>
                <a:rPr lang="en-GB" sz="1800" dirty="0">
                  <a:solidFill>
                    <a:schemeClr val="accent5"/>
                  </a:solidFill>
                  <a:latin typeface="+mn-lt"/>
                  <a:ea typeface="+mn-ea"/>
                  <a:cs typeface="+mn-cs"/>
                </a:rPr>
                <a:t>One dashboard commands every autonomous asset and compliance signal.</a:t>
              </a:r>
              <a:endParaRPr lang="en-GB" sz="1800" dirty="0">
                <a:solidFill>
                  <a:schemeClr val="accent5"/>
                </a:solidFill>
                <a:latin typeface="+mn-lt"/>
                <a:ea typeface="+mn-ea"/>
                <a:cs typeface="+mn-cs"/>
              </a:endParaRPr>
            </a:p>
          </p:txBody>
        </p:sp>
      </p:grpSp>
      <p:grpSp>
        <p:nvGrpSpPr>
          <p:cNvPr id="16" name="Group 16"/>
          <p:cNvGrpSpPr/>
          <p:nvPr/>
        </p:nvGrpSpPr>
        <p:grpSpPr>
          <a:xfrm>
            <a:off x="609600" y="2419350"/>
            <a:ext cx="4000500" cy="904875"/>
            <a:chOff x="609600" y="2419350"/>
            <a:chExt cx="4000500" cy="904875"/>
          </a:xfrm>
        </p:grpSpPr>
        <p:sp>
          <p:nvSpPr>
            <p:cNvPr id="9" name="Rectangle 9"/>
            <p:cNvSpPr/>
            <p:nvPr/>
          </p:nvSpPr>
          <p:spPr>
            <a:xfrm>
              <a:off x="609600" y="2419350"/>
              <a:ext cx="4000500" cy="904875"/>
            </a:xfrm>
            <a:prstGeom prst="roundRect">
              <a:avLst>
                <a:gd name="adj" fmla="val 23158"/>
              </a:avLst>
            </a:prstGeom>
            <a:solidFill>
              <a:schemeClr val="lt2"/>
            </a:solidFill>
            <a:ln>
              <a:noFill/>
            </a:ln>
            <a:effectLst>
              <a:outerShdw blurRad="266700" dist="57150" dir="5400000" algn="ctr" rotWithShape="0">
                <a:srgbClr val="7C6FE0">
                  <a:alpha val="7500"/>
                </a:srgbClr>
              </a:outerShdw>
            </a:effectLst>
          </p:spPr>
        </p:sp>
        <p:sp>
          <p:nvSpPr>
            <p:cNvPr id="10" name="Ellipse 10"/>
            <p:cNvSpPr/>
            <p:nvPr/>
          </p:nvSpPr>
          <p:spPr>
            <a:xfrm>
              <a:off x="781050" y="2638425"/>
              <a:ext cx="457200" cy="457200"/>
            </a:xfrm>
            <a:prstGeom prst="ellipse">
              <a:avLst/>
            </a:prstGeom>
            <a:solidFill>
              <a:schemeClr val="accent1">
                <a:alpha val="15000"/>
              </a:schemeClr>
            </a:solidFill>
            <a:ln>
              <a:noFill/>
            </a:ln>
          </p:spPr>
        </p:sp>
        <p:grpSp>
          <p:nvGrpSpPr>
            <p:cNvPr id="13" name="Group 13"/>
            <p:cNvGrpSpPr/>
            <p:nvPr/>
          </p:nvGrpSpPr>
          <p:grpSpPr>
            <a:xfrm>
              <a:off x="914400" y="2771775"/>
              <a:ext cx="192350" cy="190500"/>
              <a:chOff x="914400" y="2771775"/>
              <a:chExt cx="192350" cy="190500"/>
            </a:xfrm>
          </p:grpSpPr>
          <p:sp>
            <p:nvSpPr>
              <p:cNvPr id="11" name="Freeform 11"/>
              <p:cNvSpPr/>
              <p:nvPr/>
            </p:nvSpPr>
            <p:spPr>
              <a:xfrm>
                <a:off x="914400" y="2771775"/>
                <a:ext cx="190500" cy="190500"/>
              </a:xfrm>
              <a:custGeom>
                <a:avLst/>
                <a:gdLst/>
                <a:ahLst/>
                <a:cxnLst/>
                <a:rect l="l" t="t" r="r" b="b"/>
                <a:pathLst>
                  <a:path w="190500" h="190500">
                    <a:moveTo>
                      <a:pt x="9525" y="0"/>
                    </a:moveTo>
                    <a:cubicBezTo>
                      <a:pt x="14786" y="0"/>
                      <a:pt x="19050" y="4264"/>
                      <a:pt x="19050" y="9525"/>
                    </a:cubicBezTo>
                    <a:lnTo>
                      <a:pt x="19050" y="171450"/>
                    </a:lnTo>
                    <a:lnTo>
                      <a:pt x="180975" y="171450"/>
                    </a:lnTo>
                    <a:cubicBezTo>
                      <a:pt x="185804" y="171451"/>
                      <a:pt x="189868" y="175065"/>
                      <a:pt x="190433" y="179861"/>
                    </a:cubicBezTo>
                    <a:lnTo>
                      <a:pt x="190500" y="180975"/>
                    </a:lnTo>
                    <a:cubicBezTo>
                      <a:pt x="190500" y="186236"/>
                      <a:pt x="186236" y="190500"/>
                      <a:pt x="180975" y="190500"/>
                    </a:cubicBezTo>
                    <a:lnTo>
                      <a:pt x="9525" y="190500"/>
                    </a:lnTo>
                    <a:cubicBezTo>
                      <a:pt x="4264" y="190500"/>
                      <a:pt x="0" y="186236"/>
                      <a:pt x="0" y="180975"/>
                    </a:cubicBezTo>
                    <a:lnTo>
                      <a:pt x="0" y="9525"/>
                    </a:lnTo>
                    <a:cubicBezTo>
                      <a:pt x="0" y="4264"/>
                      <a:pt x="4264" y="0"/>
                      <a:pt x="9525" y="0"/>
                    </a:cubicBezTo>
                    <a:close/>
                  </a:path>
                </a:pathLst>
              </a:custGeom>
              <a:solidFill>
                <a:schemeClr val="accent1"/>
              </a:solidFill>
              <a:ln>
                <a:noFill/>
              </a:ln>
            </p:spPr>
          </p:sp>
          <p:sp>
            <p:nvSpPr>
              <p:cNvPr id="12" name="Freeform 12"/>
              <p:cNvSpPr/>
              <p:nvPr/>
            </p:nvSpPr>
            <p:spPr>
              <a:xfrm>
                <a:off x="949376" y="2790825"/>
                <a:ext cx="157374" cy="136230"/>
              </a:xfrm>
              <a:custGeom>
                <a:avLst/>
                <a:gdLst/>
                <a:ahLst/>
                <a:cxnLst/>
                <a:rect l="l" t="t" r="r" b="b"/>
                <a:pathLst>
                  <a:path w="157374" h="136230">
                    <a:moveTo>
                      <a:pt x="126949" y="0"/>
                    </a:moveTo>
                    <a:cubicBezTo>
                      <a:pt x="137890" y="25"/>
                      <a:pt x="147857" y="6295"/>
                      <a:pt x="152616" y="16147"/>
                    </a:cubicBezTo>
                    <a:cubicBezTo>
                      <a:pt x="157374" y="25999"/>
                      <a:pt x="156089" y="37704"/>
                      <a:pt x="149307" y="46289"/>
                    </a:cubicBezTo>
                    <a:cubicBezTo>
                      <a:pt x="142524" y="54874"/>
                      <a:pt x="131434" y="58833"/>
                      <a:pt x="120748" y="56483"/>
                    </a:cubicBezTo>
                    <a:lnTo>
                      <a:pt x="101679" y="86982"/>
                    </a:lnTo>
                    <a:cubicBezTo>
                      <a:pt x="110677" y="98287"/>
                      <a:pt x="109821" y="114529"/>
                      <a:pt x="99685" y="124825"/>
                    </a:cubicBezTo>
                    <a:cubicBezTo>
                      <a:pt x="89549" y="135121"/>
                      <a:pt x="73322" y="136230"/>
                      <a:pt x="61878" y="127411"/>
                    </a:cubicBezTo>
                    <a:cubicBezTo>
                      <a:pt x="50434" y="118591"/>
                      <a:pt x="47375" y="102616"/>
                      <a:pt x="54750" y="90192"/>
                    </a:cubicBezTo>
                    <a:lnTo>
                      <a:pt x="41624" y="74428"/>
                    </a:lnTo>
                    <a:cubicBezTo>
                      <a:pt x="28575" y="79260"/>
                      <a:pt x="13943" y="73990"/>
                      <a:pt x="6971" y="61947"/>
                    </a:cubicBezTo>
                    <a:cubicBezTo>
                      <a:pt x="0" y="49905"/>
                      <a:pt x="2717" y="34591"/>
                      <a:pt x="13405" y="25682"/>
                    </a:cubicBezTo>
                    <a:cubicBezTo>
                      <a:pt x="24094" y="16772"/>
                      <a:pt x="39646" y="16858"/>
                      <a:pt x="50237" y="25883"/>
                    </a:cubicBezTo>
                    <a:cubicBezTo>
                      <a:pt x="60827" y="34909"/>
                      <a:pt x="63376" y="50252"/>
                      <a:pt x="56274" y="62217"/>
                    </a:cubicBezTo>
                    <a:lnTo>
                      <a:pt x="69399" y="77972"/>
                    </a:lnTo>
                    <a:cubicBezTo>
                      <a:pt x="74556" y="76059"/>
                      <a:pt x="80156" y="75679"/>
                      <a:pt x="85525" y="76876"/>
                    </a:cubicBezTo>
                    <a:lnTo>
                      <a:pt x="104594" y="46368"/>
                    </a:lnTo>
                    <a:cubicBezTo>
                      <a:pt x="97763" y="37784"/>
                      <a:pt x="96450" y="26047"/>
                      <a:pt x="101214" y="16165"/>
                    </a:cubicBezTo>
                    <a:cubicBezTo>
                      <a:pt x="105978" y="6284"/>
                      <a:pt x="115979" y="2"/>
                      <a:pt x="126949" y="0"/>
                    </a:cubicBezTo>
                    <a:close/>
                  </a:path>
                </a:pathLst>
              </a:custGeom>
              <a:solidFill>
                <a:schemeClr val="accent1"/>
              </a:solidFill>
              <a:ln>
                <a:noFill/>
              </a:ln>
            </p:spPr>
          </p:sp>
        </p:grpSp>
        <p:sp>
          <p:nvSpPr>
            <p:cNvPr id="14" name="TextBox 14"/>
            <p:cNvSpPr txBox="1"/>
            <p:nvPr/>
          </p:nvSpPr>
          <p:spPr>
            <a:xfrm>
              <a:off x="1383030" y="2581275"/>
              <a:ext cx="2899258" cy="293370"/>
            </a:xfrm>
            <a:prstGeom prst="rect">
              <a:avLst/>
            </a:prstGeom>
            <a:noFill/>
            <a:ln>
              <a:noFill/>
            </a:ln>
          </p:spPr>
          <p:txBody>
            <a:bodyPr wrap="none" lIns="0" tIns="0" rIns="0" bIns="0" anchor="t" anchorCtr="0">
              <a:spAutoFit/>
            </a:bodyPr>
            <a:lstStyle/>
            <a:p>
              <a:pPr algn="l"/>
              <a:r>
                <a:rPr lang="en-GB" sz="1500" dirty="0">
                  <a:solidFill>
                    <a:schemeClr val="dk1"/>
                  </a:solidFill>
                  <a:latin typeface="+mn-lt"/>
                  <a:ea typeface="+mn-ea"/>
                  <a:cs typeface="+mn-cs"/>
                </a:rPr>
                <a:t>Live remediation stream with</a:t>
              </a:r>
              <a:endParaRPr lang="en-GB" sz="1500" dirty="0">
                <a:solidFill>
                  <a:schemeClr val="dk1"/>
                </a:solidFill>
                <a:latin typeface="+mn-lt"/>
                <a:ea typeface="+mn-ea"/>
                <a:cs typeface="+mn-cs"/>
              </a:endParaRPr>
            </a:p>
          </p:txBody>
        </p:sp>
        <p:sp>
          <p:nvSpPr>
            <p:cNvPr id="15" name="TextBox 15"/>
            <p:cNvSpPr txBox="1"/>
            <p:nvPr/>
          </p:nvSpPr>
          <p:spPr>
            <a:xfrm>
              <a:off x="1383030" y="2809875"/>
              <a:ext cx="3155252" cy="293370"/>
            </a:xfrm>
            <a:prstGeom prst="rect">
              <a:avLst/>
            </a:prstGeom>
            <a:noFill/>
            <a:ln>
              <a:noFill/>
            </a:ln>
          </p:spPr>
          <p:txBody>
            <a:bodyPr wrap="none" lIns="0" tIns="0" rIns="0" bIns="0" anchor="t" anchorCtr="0">
              <a:spAutoFit/>
            </a:bodyPr>
            <a:lstStyle/>
            <a:p>
              <a:pPr algn="l"/>
              <a:r>
                <a:rPr lang="en-GB" sz="1500" dirty="0">
                  <a:solidFill>
                    <a:schemeClr val="dk1"/>
                  </a:solidFill>
                  <a:latin typeface="+mn-lt"/>
                  <a:ea typeface="+mn-ea"/>
                  <a:cs typeface="+mn-cs"/>
                </a:rPr>
                <a:t>per-incident resolution status.</a:t>
              </a:r>
              <a:endParaRPr lang="en-GB" sz="1500" dirty="0">
                <a:solidFill>
                  <a:schemeClr val="dk1"/>
                </a:solidFill>
                <a:latin typeface="+mn-lt"/>
                <a:ea typeface="+mn-ea"/>
                <a:cs typeface="+mn-cs"/>
              </a:endParaRPr>
            </a:p>
          </p:txBody>
        </p:sp>
      </p:grpSp>
      <p:grpSp>
        <p:nvGrpSpPr>
          <p:cNvPr id="25" name="Group 25"/>
          <p:cNvGrpSpPr/>
          <p:nvPr/>
        </p:nvGrpSpPr>
        <p:grpSpPr>
          <a:xfrm>
            <a:off x="609600" y="3514725"/>
            <a:ext cx="4000500" cy="904875"/>
            <a:chOff x="609600" y="3514725"/>
            <a:chExt cx="4000500" cy="904875"/>
          </a:xfrm>
        </p:grpSpPr>
        <p:sp>
          <p:nvSpPr>
            <p:cNvPr id="17" name="Rectangle 17"/>
            <p:cNvSpPr/>
            <p:nvPr/>
          </p:nvSpPr>
          <p:spPr>
            <a:xfrm>
              <a:off x="609600" y="3514725"/>
              <a:ext cx="4000500" cy="904875"/>
            </a:xfrm>
            <a:prstGeom prst="roundRect">
              <a:avLst>
                <a:gd name="adj" fmla="val 23158"/>
              </a:avLst>
            </a:prstGeom>
            <a:solidFill>
              <a:schemeClr val="lt2"/>
            </a:solidFill>
            <a:ln>
              <a:noFill/>
            </a:ln>
            <a:effectLst>
              <a:outerShdw blurRad="266700" dist="57150" dir="5400000" algn="ctr" rotWithShape="0">
                <a:srgbClr val="7C6FE0">
                  <a:alpha val="7500"/>
                </a:srgbClr>
              </a:outerShdw>
            </a:effectLst>
          </p:spPr>
        </p:sp>
        <p:sp>
          <p:nvSpPr>
            <p:cNvPr id="18" name="Ellipse 18"/>
            <p:cNvSpPr/>
            <p:nvPr/>
          </p:nvSpPr>
          <p:spPr>
            <a:xfrm>
              <a:off x="781050" y="3733800"/>
              <a:ext cx="457200" cy="457200"/>
            </a:xfrm>
            <a:prstGeom prst="ellipse">
              <a:avLst/>
            </a:prstGeom>
            <a:solidFill>
              <a:schemeClr val="accent1">
                <a:alpha val="15000"/>
              </a:schemeClr>
            </a:solidFill>
            <a:ln>
              <a:noFill/>
            </a:ln>
          </p:spPr>
        </p:sp>
        <p:grpSp>
          <p:nvGrpSpPr>
            <p:cNvPr id="22" name="Group 22"/>
            <p:cNvGrpSpPr/>
            <p:nvPr/>
          </p:nvGrpSpPr>
          <p:grpSpPr>
            <a:xfrm>
              <a:off x="911228" y="3873503"/>
              <a:ext cx="187319" cy="177794"/>
              <a:chOff x="911228" y="3873503"/>
              <a:chExt cx="187319" cy="177794"/>
            </a:xfrm>
          </p:grpSpPr>
          <p:sp>
            <p:nvSpPr>
              <p:cNvPr id="19" name="Freeform 19"/>
              <p:cNvSpPr/>
              <p:nvPr/>
            </p:nvSpPr>
            <p:spPr>
              <a:xfrm>
                <a:off x="1038225" y="3987803"/>
                <a:ext cx="60322" cy="63494"/>
              </a:xfrm>
              <a:custGeom>
                <a:avLst/>
                <a:gdLst/>
                <a:ahLst/>
                <a:cxnLst/>
                <a:rect l="l" t="t" r="r" b="b"/>
                <a:pathLst>
                  <a:path w="60322" h="63494">
                    <a:moveTo>
                      <a:pt x="9525" y="41272"/>
                    </a:moveTo>
                    <a:cubicBezTo>
                      <a:pt x="4264" y="41272"/>
                      <a:pt x="0" y="37007"/>
                      <a:pt x="0" y="31747"/>
                    </a:cubicBezTo>
                    <a:cubicBezTo>
                      <a:pt x="0" y="26486"/>
                      <a:pt x="4264" y="22222"/>
                      <a:pt x="9525" y="22222"/>
                    </a:cubicBezTo>
                    <a:cubicBezTo>
                      <a:pt x="14786" y="22222"/>
                      <a:pt x="19050" y="17957"/>
                      <a:pt x="19050" y="12697"/>
                    </a:cubicBezTo>
                    <a:cubicBezTo>
                      <a:pt x="19050" y="0"/>
                      <a:pt x="38100" y="0"/>
                      <a:pt x="38100" y="12697"/>
                    </a:cubicBezTo>
                    <a:cubicBezTo>
                      <a:pt x="38100" y="17957"/>
                      <a:pt x="42364" y="22222"/>
                      <a:pt x="47625" y="22222"/>
                    </a:cubicBezTo>
                    <a:cubicBezTo>
                      <a:pt x="60322" y="22222"/>
                      <a:pt x="60322" y="41272"/>
                      <a:pt x="47625" y="41272"/>
                    </a:cubicBezTo>
                    <a:cubicBezTo>
                      <a:pt x="42364" y="41272"/>
                      <a:pt x="38100" y="45536"/>
                      <a:pt x="38100" y="50797"/>
                    </a:cubicBezTo>
                    <a:cubicBezTo>
                      <a:pt x="38100" y="63494"/>
                      <a:pt x="19050" y="63494"/>
                      <a:pt x="19050" y="50797"/>
                    </a:cubicBezTo>
                    <a:cubicBezTo>
                      <a:pt x="19050" y="45536"/>
                      <a:pt x="14786" y="41272"/>
                      <a:pt x="9525" y="41272"/>
                    </a:cubicBezTo>
                  </a:path>
                </a:pathLst>
              </a:custGeom>
              <a:solidFill>
                <a:schemeClr val="accent1"/>
              </a:solidFill>
              <a:ln>
                <a:noFill/>
              </a:ln>
            </p:spPr>
          </p:sp>
          <p:sp>
            <p:nvSpPr>
              <p:cNvPr id="20" name="Freeform 20"/>
              <p:cNvSpPr/>
              <p:nvPr/>
            </p:nvSpPr>
            <p:spPr>
              <a:xfrm>
                <a:off x="911228" y="3892553"/>
                <a:ext cx="139694" cy="136522"/>
              </a:xfrm>
              <a:custGeom>
                <a:avLst/>
                <a:gdLst/>
                <a:ahLst/>
                <a:cxnLst/>
                <a:rect l="l" t="t" r="r" b="b"/>
                <a:pathLst>
                  <a:path w="139694" h="136522">
                    <a:moveTo>
                      <a:pt x="12697" y="60322"/>
                    </a:moveTo>
                    <a:cubicBezTo>
                      <a:pt x="38999" y="60322"/>
                      <a:pt x="60322" y="38999"/>
                      <a:pt x="60322" y="12697"/>
                    </a:cubicBezTo>
                    <a:cubicBezTo>
                      <a:pt x="60322" y="0"/>
                      <a:pt x="79372" y="0"/>
                      <a:pt x="79372" y="12697"/>
                    </a:cubicBezTo>
                    <a:cubicBezTo>
                      <a:pt x="79372" y="38999"/>
                      <a:pt x="100694" y="60322"/>
                      <a:pt x="126997" y="60322"/>
                    </a:cubicBezTo>
                    <a:cubicBezTo>
                      <a:pt x="139694" y="60322"/>
                      <a:pt x="139694" y="79372"/>
                      <a:pt x="126997" y="79372"/>
                    </a:cubicBezTo>
                    <a:cubicBezTo>
                      <a:pt x="100694" y="79372"/>
                      <a:pt x="79372" y="100694"/>
                      <a:pt x="79372" y="126997"/>
                    </a:cubicBezTo>
                    <a:cubicBezTo>
                      <a:pt x="79372" y="132257"/>
                      <a:pt x="75107" y="136522"/>
                      <a:pt x="69847" y="136522"/>
                    </a:cubicBezTo>
                    <a:cubicBezTo>
                      <a:pt x="64586" y="136522"/>
                      <a:pt x="60322" y="132257"/>
                      <a:pt x="60322" y="126997"/>
                    </a:cubicBezTo>
                    <a:cubicBezTo>
                      <a:pt x="60322" y="100694"/>
                      <a:pt x="38999" y="79372"/>
                      <a:pt x="12697" y="79372"/>
                    </a:cubicBezTo>
                    <a:cubicBezTo>
                      <a:pt x="0" y="79372"/>
                      <a:pt x="0" y="60322"/>
                      <a:pt x="12697" y="60322"/>
                    </a:cubicBezTo>
                  </a:path>
                </a:pathLst>
              </a:custGeom>
              <a:solidFill>
                <a:schemeClr val="accent1"/>
              </a:solidFill>
              <a:ln>
                <a:noFill/>
              </a:ln>
            </p:spPr>
          </p:sp>
          <p:sp>
            <p:nvSpPr>
              <p:cNvPr id="21" name="Freeform 21"/>
              <p:cNvSpPr/>
              <p:nvPr/>
            </p:nvSpPr>
            <p:spPr>
              <a:xfrm>
                <a:off x="1038225" y="3873503"/>
                <a:ext cx="60322" cy="63494"/>
              </a:xfrm>
              <a:custGeom>
                <a:avLst/>
                <a:gdLst/>
                <a:ahLst/>
                <a:cxnLst/>
                <a:rect l="l" t="t" r="r" b="b"/>
                <a:pathLst>
                  <a:path w="60322" h="63494">
                    <a:moveTo>
                      <a:pt x="9525" y="41272"/>
                    </a:moveTo>
                    <a:cubicBezTo>
                      <a:pt x="4264" y="41272"/>
                      <a:pt x="0" y="37007"/>
                      <a:pt x="0" y="31747"/>
                    </a:cubicBezTo>
                    <a:cubicBezTo>
                      <a:pt x="0" y="26486"/>
                      <a:pt x="4264" y="22222"/>
                      <a:pt x="9525" y="22222"/>
                    </a:cubicBezTo>
                    <a:cubicBezTo>
                      <a:pt x="14786" y="22222"/>
                      <a:pt x="19050" y="17957"/>
                      <a:pt x="19050" y="12697"/>
                    </a:cubicBezTo>
                    <a:cubicBezTo>
                      <a:pt x="19050" y="0"/>
                      <a:pt x="38100" y="0"/>
                      <a:pt x="38100" y="12697"/>
                    </a:cubicBezTo>
                    <a:cubicBezTo>
                      <a:pt x="38100" y="17957"/>
                      <a:pt x="42364" y="22222"/>
                      <a:pt x="47625" y="22222"/>
                    </a:cubicBezTo>
                    <a:cubicBezTo>
                      <a:pt x="60322" y="22222"/>
                      <a:pt x="60322" y="41272"/>
                      <a:pt x="47625" y="41272"/>
                    </a:cubicBezTo>
                    <a:cubicBezTo>
                      <a:pt x="42364" y="41272"/>
                      <a:pt x="38100" y="45536"/>
                      <a:pt x="38100" y="50797"/>
                    </a:cubicBezTo>
                    <a:cubicBezTo>
                      <a:pt x="38100" y="63494"/>
                      <a:pt x="19050" y="63494"/>
                      <a:pt x="19050" y="50797"/>
                    </a:cubicBezTo>
                    <a:cubicBezTo>
                      <a:pt x="19050" y="45536"/>
                      <a:pt x="14786" y="41272"/>
                      <a:pt x="9525" y="41272"/>
                    </a:cubicBezTo>
                  </a:path>
                </a:pathLst>
              </a:custGeom>
              <a:solidFill>
                <a:schemeClr val="accent1"/>
              </a:solidFill>
              <a:ln>
                <a:noFill/>
              </a:ln>
            </p:spPr>
          </p:sp>
        </p:grpSp>
        <p:sp>
          <p:nvSpPr>
            <p:cNvPr id="23" name="TextBox 23"/>
            <p:cNvSpPr txBox="1"/>
            <p:nvPr/>
          </p:nvSpPr>
          <p:spPr>
            <a:xfrm>
              <a:off x="1383030" y="3676650"/>
              <a:ext cx="2600488" cy="293370"/>
            </a:xfrm>
            <a:prstGeom prst="rect">
              <a:avLst/>
            </a:prstGeom>
            <a:noFill/>
            <a:ln>
              <a:noFill/>
            </a:ln>
          </p:spPr>
          <p:txBody>
            <a:bodyPr wrap="none" lIns="0" tIns="0" rIns="0" bIns="0" anchor="t" anchorCtr="0">
              <a:spAutoFit/>
            </a:bodyPr>
            <a:lstStyle/>
            <a:p>
              <a:pPr algn="l"/>
              <a:r>
                <a:rPr lang="en-GB" sz="1500" dirty="0">
                  <a:solidFill>
                    <a:schemeClr val="dk1"/>
                  </a:solidFill>
                  <a:latin typeface="+mn-lt"/>
                  <a:ea typeface="+mn-ea"/>
                  <a:cs typeface="+mn-cs"/>
                </a:rPr>
                <a:t>Managed AI assets, active</a:t>
              </a:r>
              <a:endParaRPr lang="en-GB" sz="1500" dirty="0">
                <a:solidFill>
                  <a:schemeClr val="dk1"/>
                </a:solidFill>
                <a:latin typeface="+mn-lt"/>
                <a:ea typeface="+mn-ea"/>
                <a:cs typeface="+mn-cs"/>
              </a:endParaRPr>
            </a:p>
          </p:txBody>
        </p:sp>
        <p:sp>
          <p:nvSpPr>
            <p:cNvPr id="24" name="TextBox 24"/>
            <p:cNvSpPr txBox="1"/>
            <p:nvPr/>
          </p:nvSpPr>
          <p:spPr>
            <a:xfrm>
              <a:off x="1383030" y="3905250"/>
              <a:ext cx="2751392" cy="293370"/>
            </a:xfrm>
            <a:prstGeom prst="rect">
              <a:avLst/>
            </a:prstGeom>
            <a:noFill/>
            <a:ln>
              <a:noFill/>
            </a:ln>
          </p:spPr>
          <p:txBody>
            <a:bodyPr wrap="none" lIns="0" tIns="0" rIns="0" bIns="0" anchor="t" anchorCtr="0">
              <a:spAutoFit/>
            </a:bodyPr>
            <a:lstStyle/>
            <a:p>
              <a:pPr algn="l"/>
              <a:r>
                <a:rPr lang="en-GB" sz="1500" dirty="0">
                  <a:solidFill>
                    <a:schemeClr val="dk1"/>
                  </a:solidFill>
                  <a:latin typeface="+mn-lt"/>
                  <a:ea typeface="+mn-ea"/>
                  <a:cs typeface="+mn-cs"/>
                </a:rPr>
                <a:t>model, and fallback router.</a:t>
              </a:r>
              <a:endParaRPr lang="en-GB" sz="1500" dirty="0">
                <a:solidFill>
                  <a:schemeClr val="dk1"/>
                </a:solidFill>
                <a:latin typeface="+mn-lt"/>
                <a:ea typeface="+mn-ea"/>
                <a:cs typeface="+mn-cs"/>
              </a:endParaRPr>
            </a:p>
          </p:txBody>
        </p:sp>
      </p:grpSp>
      <p:grpSp>
        <p:nvGrpSpPr>
          <p:cNvPr id="31" name="Group 31"/>
          <p:cNvGrpSpPr/>
          <p:nvPr/>
        </p:nvGrpSpPr>
        <p:grpSpPr>
          <a:xfrm>
            <a:off x="609600" y="4610100"/>
            <a:ext cx="4000500" cy="904875"/>
            <a:chOff x="609600" y="4610100"/>
            <a:chExt cx="4000500" cy="904875"/>
          </a:xfrm>
        </p:grpSpPr>
        <p:sp>
          <p:nvSpPr>
            <p:cNvPr id="26" name="Rectangle 26"/>
            <p:cNvSpPr/>
            <p:nvPr/>
          </p:nvSpPr>
          <p:spPr>
            <a:xfrm>
              <a:off x="609600" y="4610100"/>
              <a:ext cx="4000500" cy="904875"/>
            </a:xfrm>
            <a:prstGeom prst="roundRect">
              <a:avLst>
                <a:gd name="adj" fmla="val 23158"/>
              </a:avLst>
            </a:prstGeom>
            <a:solidFill>
              <a:schemeClr val="lt2"/>
            </a:solidFill>
            <a:ln>
              <a:noFill/>
            </a:ln>
            <a:effectLst>
              <a:outerShdw blurRad="266700" dist="57150" dir="5400000" algn="ctr" rotWithShape="0">
                <a:srgbClr val="7C6FE0">
                  <a:alpha val="7500"/>
                </a:srgbClr>
              </a:outerShdw>
            </a:effectLst>
          </p:spPr>
        </p:sp>
        <p:sp>
          <p:nvSpPr>
            <p:cNvPr id="27" name="Ellipse 27"/>
            <p:cNvSpPr/>
            <p:nvPr/>
          </p:nvSpPr>
          <p:spPr>
            <a:xfrm>
              <a:off x="781050" y="4829175"/>
              <a:ext cx="457200" cy="457200"/>
            </a:xfrm>
            <a:prstGeom prst="ellipse">
              <a:avLst/>
            </a:prstGeom>
            <a:solidFill>
              <a:srgbClr val="E0607A">
                <a:alpha val="16000"/>
              </a:srgbClr>
            </a:solidFill>
            <a:ln>
              <a:noFill/>
            </a:ln>
          </p:spPr>
        </p:sp>
        <p:sp>
          <p:nvSpPr>
            <p:cNvPr id="28" name="Freeform 28"/>
            <p:cNvSpPr/>
            <p:nvPr/>
          </p:nvSpPr>
          <p:spPr>
            <a:xfrm>
              <a:off x="933019" y="4962525"/>
              <a:ext cx="153263" cy="194034"/>
            </a:xfrm>
            <a:custGeom>
              <a:avLst/>
              <a:gdLst/>
              <a:ahLst/>
              <a:cxnLst/>
              <a:rect l="l" t="t" r="r" b="b"/>
              <a:pathLst>
                <a:path w="153263" h="194034">
                  <a:moveTo>
                    <a:pt x="86156" y="0"/>
                  </a:moveTo>
                  <a:lnTo>
                    <a:pt x="86328" y="10"/>
                  </a:lnTo>
                  <a:lnTo>
                    <a:pt x="86480" y="19"/>
                  </a:lnTo>
                  <a:lnTo>
                    <a:pt x="87271" y="67"/>
                  </a:lnTo>
                  <a:lnTo>
                    <a:pt x="87375" y="86"/>
                  </a:lnTo>
                  <a:lnTo>
                    <a:pt x="87480" y="86"/>
                  </a:lnTo>
                  <a:lnTo>
                    <a:pt x="87842" y="171"/>
                  </a:lnTo>
                  <a:lnTo>
                    <a:pt x="88337" y="248"/>
                  </a:lnTo>
                  <a:lnTo>
                    <a:pt x="88490" y="305"/>
                  </a:lnTo>
                  <a:lnTo>
                    <a:pt x="88595" y="314"/>
                  </a:lnTo>
                  <a:lnTo>
                    <a:pt x="88871" y="419"/>
                  </a:lnTo>
                  <a:lnTo>
                    <a:pt x="89366" y="552"/>
                  </a:lnTo>
                  <a:lnTo>
                    <a:pt x="89547" y="638"/>
                  </a:lnTo>
                  <a:lnTo>
                    <a:pt x="89690" y="676"/>
                  </a:lnTo>
                  <a:lnTo>
                    <a:pt x="89957" y="810"/>
                  </a:lnTo>
                  <a:lnTo>
                    <a:pt x="90338" y="972"/>
                  </a:lnTo>
                  <a:lnTo>
                    <a:pt x="90538" y="1086"/>
                  </a:lnTo>
                  <a:lnTo>
                    <a:pt x="90747" y="1181"/>
                  </a:lnTo>
                  <a:lnTo>
                    <a:pt x="90966" y="1324"/>
                  </a:lnTo>
                  <a:lnTo>
                    <a:pt x="91262" y="1486"/>
                  </a:lnTo>
                  <a:lnTo>
                    <a:pt x="91586" y="1714"/>
                  </a:lnTo>
                  <a:lnTo>
                    <a:pt x="91757" y="1819"/>
                  </a:lnTo>
                  <a:lnTo>
                    <a:pt x="91881" y="1934"/>
                  </a:lnTo>
                  <a:lnTo>
                    <a:pt x="92109" y="2096"/>
                  </a:lnTo>
                  <a:lnTo>
                    <a:pt x="92471" y="2419"/>
                  </a:lnTo>
                  <a:lnTo>
                    <a:pt x="92681" y="2581"/>
                  </a:lnTo>
                  <a:lnTo>
                    <a:pt x="92757" y="2677"/>
                  </a:lnTo>
                  <a:lnTo>
                    <a:pt x="92890" y="2791"/>
                  </a:lnTo>
                  <a:lnTo>
                    <a:pt x="93233" y="3181"/>
                  </a:lnTo>
                  <a:lnTo>
                    <a:pt x="93481" y="3439"/>
                  </a:lnTo>
                  <a:lnTo>
                    <a:pt x="93538" y="3524"/>
                  </a:lnTo>
                  <a:cubicBezTo>
                    <a:pt x="94681" y="4924"/>
                    <a:pt x="95405" y="6591"/>
                    <a:pt x="95615" y="8411"/>
                  </a:cubicBezTo>
                  <a:lnTo>
                    <a:pt x="95624" y="8525"/>
                  </a:lnTo>
                  <a:lnTo>
                    <a:pt x="95643" y="8915"/>
                  </a:lnTo>
                  <a:lnTo>
                    <a:pt x="95681" y="9525"/>
                  </a:lnTo>
                  <a:lnTo>
                    <a:pt x="95681" y="66675"/>
                  </a:lnTo>
                  <a:lnTo>
                    <a:pt x="143306" y="66675"/>
                  </a:lnTo>
                  <a:cubicBezTo>
                    <a:pt x="146704" y="66674"/>
                    <a:pt x="149844" y="68483"/>
                    <a:pt x="151549" y="71422"/>
                  </a:cubicBezTo>
                  <a:cubicBezTo>
                    <a:pt x="153253" y="74361"/>
                    <a:pt x="153263" y="77986"/>
                    <a:pt x="151574" y="80934"/>
                  </a:cubicBezTo>
                  <a:lnTo>
                    <a:pt x="151002" y="81801"/>
                  </a:lnTo>
                  <a:lnTo>
                    <a:pt x="74802" y="186576"/>
                  </a:lnTo>
                  <a:cubicBezTo>
                    <a:pt x="69392" y="194034"/>
                    <a:pt x="57581" y="190195"/>
                    <a:pt x="57581" y="180975"/>
                  </a:cubicBezTo>
                  <a:lnTo>
                    <a:pt x="57581" y="123825"/>
                  </a:lnTo>
                  <a:lnTo>
                    <a:pt x="9956" y="123825"/>
                  </a:lnTo>
                  <a:cubicBezTo>
                    <a:pt x="6559" y="123826"/>
                    <a:pt x="3418" y="122017"/>
                    <a:pt x="1714" y="119078"/>
                  </a:cubicBezTo>
                  <a:cubicBezTo>
                    <a:pt x="10" y="116139"/>
                    <a:pt x="0" y="112514"/>
                    <a:pt x="1689" y="109566"/>
                  </a:cubicBezTo>
                  <a:lnTo>
                    <a:pt x="2260" y="108699"/>
                  </a:lnTo>
                  <a:lnTo>
                    <a:pt x="78460" y="3924"/>
                  </a:lnTo>
                  <a:lnTo>
                    <a:pt x="78555" y="3800"/>
                  </a:lnTo>
                  <a:lnTo>
                    <a:pt x="78727" y="3572"/>
                  </a:lnTo>
                  <a:lnTo>
                    <a:pt x="79041" y="3210"/>
                  </a:lnTo>
                  <a:lnTo>
                    <a:pt x="79213" y="3000"/>
                  </a:lnTo>
                  <a:lnTo>
                    <a:pt x="79298" y="2924"/>
                  </a:lnTo>
                  <a:lnTo>
                    <a:pt x="79422" y="2791"/>
                  </a:lnTo>
                  <a:lnTo>
                    <a:pt x="79803" y="2448"/>
                  </a:lnTo>
                  <a:lnTo>
                    <a:pt x="80070" y="2200"/>
                  </a:lnTo>
                  <a:lnTo>
                    <a:pt x="80146" y="2143"/>
                  </a:lnTo>
                  <a:cubicBezTo>
                    <a:pt x="81262" y="1229"/>
                    <a:pt x="82572" y="581"/>
                    <a:pt x="83975" y="248"/>
                  </a:cubicBezTo>
                  <a:lnTo>
                    <a:pt x="84080" y="238"/>
                  </a:lnTo>
                  <a:lnTo>
                    <a:pt x="84337" y="190"/>
                  </a:lnTo>
                  <a:lnTo>
                    <a:pt x="85042" y="67"/>
                  </a:lnTo>
                  <a:lnTo>
                    <a:pt x="85147" y="57"/>
                  </a:lnTo>
                  <a:lnTo>
                    <a:pt x="85537" y="38"/>
                  </a:lnTo>
                  <a:close/>
                </a:path>
              </a:pathLst>
            </a:custGeom>
            <a:solidFill>
              <a:srgbClr val="C4415C"/>
            </a:solidFill>
            <a:ln>
              <a:noFill/>
            </a:ln>
          </p:spPr>
        </p:sp>
        <p:sp>
          <p:nvSpPr>
            <p:cNvPr id="29" name="TextBox 29"/>
            <p:cNvSpPr txBox="1"/>
            <p:nvPr/>
          </p:nvSpPr>
          <p:spPr>
            <a:xfrm>
              <a:off x="1383030" y="4772025"/>
              <a:ext cx="2532057" cy="293370"/>
            </a:xfrm>
            <a:prstGeom prst="rect">
              <a:avLst/>
            </a:prstGeom>
            <a:noFill/>
            <a:ln>
              <a:noFill/>
            </a:ln>
          </p:spPr>
          <p:txBody>
            <a:bodyPr wrap="none" lIns="0" tIns="0" rIns="0" bIns="0" anchor="t" anchorCtr="0">
              <a:spAutoFit/>
            </a:bodyPr>
            <a:lstStyle/>
            <a:p>
              <a:pPr algn="l"/>
              <a:r>
                <a:rPr lang="en-GB" sz="1500" dirty="0">
                  <a:solidFill>
                    <a:schemeClr val="dk1"/>
                  </a:solidFill>
                  <a:latin typeface="+mn-lt"/>
                  <a:ea typeface="+mn-ea"/>
                  <a:cs typeface="+mn-cs"/>
                </a:rPr>
                <a:t>Fleet-wide emergency Kill</a:t>
              </a:r>
              <a:endParaRPr lang="en-GB" sz="1500" dirty="0">
                <a:solidFill>
                  <a:schemeClr val="dk1"/>
                </a:solidFill>
                <a:latin typeface="+mn-lt"/>
                <a:ea typeface="+mn-ea"/>
                <a:cs typeface="+mn-cs"/>
              </a:endParaRPr>
            </a:p>
          </p:txBody>
        </p:sp>
        <p:sp>
          <p:nvSpPr>
            <p:cNvPr id="30" name="TextBox 30"/>
            <p:cNvSpPr txBox="1"/>
            <p:nvPr/>
          </p:nvSpPr>
          <p:spPr>
            <a:xfrm>
              <a:off x="1383030" y="5000625"/>
              <a:ext cx="2415635" cy="293370"/>
            </a:xfrm>
            <a:prstGeom prst="rect">
              <a:avLst/>
            </a:prstGeom>
            <a:noFill/>
            <a:ln>
              <a:noFill/>
            </a:ln>
          </p:spPr>
          <p:txBody>
            <a:bodyPr wrap="none" lIns="0" tIns="0" rIns="0" bIns="0" anchor="t" anchorCtr="0">
              <a:spAutoFit/>
            </a:bodyPr>
            <a:lstStyle/>
            <a:p>
              <a:pPr algn="l"/>
              <a:r>
                <a:rPr lang="en-GB" sz="1500" dirty="0">
                  <a:solidFill>
                    <a:schemeClr val="dk1"/>
                  </a:solidFill>
                  <a:latin typeface="+mn-lt"/>
                  <a:ea typeface="+mn-ea"/>
                  <a:cs typeface="+mn-cs"/>
                </a:rPr>
                <a:t>Switch — one click away.</a:t>
              </a:r>
              <a:endParaRPr lang="en-GB" sz="1500" dirty="0">
                <a:solidFill>
                  <a:schemeClr val="dk1"/>
                </a:solidFill>
                <a:latin typeface="+mn-lt"/>
                <a:ea typeface="+mn-ea"/>
                <a:cs typeface="+mn-cs"/>
              </a:endParaRPr>
            </a:p>
          </p:txBody>
        </p:sp>
      </p:grpSp>
      <p:grpSp>
        <p:nvGrpSpPr>
          <p:cNvPr id="38" name="Group 38"/>
          <p:cNvGrpSpPr/>
          <p:nvPr/>
        </p:nvGrpSpPr>
        <p:grpSpPr>
          <a:xfrm>
            <a:off x="609600" y="5705475"/>
            <a:ext cx="4000500" cy="542925"/>
            <a:chOff x="609600" y="5705475"/>
            <a:chExt cx="4000500" cy="542925"/>
          </a:xfrm>
        </p:grpSpPr>
        <p:sp>
          <p:nvSpPr>
            <p:cNvPr id="32" name="Rectangle 32"/>
            <p:cNvSpPr/>
            <p:nvPr/>
          </p:nvSpPr>
          <p:spPr>
            <a:xfrm>
              <a:off x="609600" y="5705475"/>
              <a:ext cx="4000500" cy="542925"/>
            </a:xfrm>
            <a:prstGeom prst="roundRect">
              <a:avLst>
                <a:gd name="adj" fmla="val 38596"/>
              </a:avLst>
            </a:prstGeom>
            <a:solidFill>
              <a:schemeClr val="lt2"/>
            </a:solidFill>
            <a:ln>
              <a:noFill/>
            </a:ln>
            <a:effectLst>
              <a:outerShdw blurRad="266700" dist="57150" dir="5400000" algn="ctr" rotWithShape="0">
                <a:srgbClr val="7C6FE0">
                  <a:alpha val="7500"/>
                </a:srgbClr>
              </a:outerShdw>
            </a:effectLst>
          </p:spPr>
        </p:sp>
        <p:sp>
          <p:nvSpPr>
            <p:cNvPr id="33" name="Ellipse 33"/>
            <p:cNvSpPr/>
            <p:nvPr/>
          </p:nvSpPr>
          <p:spPr>
            <a:xfrm>
              <a:off x="819150" y="5781675"/>
              <a:ext cx="381000" cy="381000"/>
            </a:xfrm>
            <a:prstGeom prst="ellipse">
              <a:avLst/>
            </a:prstGeom>
            <a:solidFill>
              <a:schemeClr val="accent2">
                <a:alpha val="15000"/>
              </a:schemeClr>
            </a:solidFill>
            <a:ln>
              <a:noFill/>
            </a:ln>
          </p:spPr>
        </p:sp>
        <p:grpSp>
          <p:nvGrpSpPr>
            <p:cNvPr id="36" name="Group 36"/>
            <p:cNvGrpSpPr/>
            <p:nvPr/>
          </p:nvGrpSpPr>
          <p:grpSpPr>
            <a:xfrm>
              <a:off x="937273" y="5899779"/>
              <a:ext cx="144588" cy="135896"/>
              <a:chOff x="937273" y="5899779"/>
              <a:chExt cx="144588" cy="135896"/>
            </a:xfrm>
          </p:grpSpPr>
          <p:sp>
            <p:nvSpPr>
              <p:cNvPr id="34" name="Freeform 34"/>
              <p:cNvSpPr/>
              <p:nvPr/>
            </p:nvSpPr>
            <p:spPr>
              <a:xfrm>
                <a:off x="938212" y="5947374"/>
                <a:ext cx="142875" cy="88301"/>
              </a:xfrm>
              <a:custGeom>
                <a:avLst/>
                <a:gdLst/>
                <a:ahLst/>
                <a:cxnLst/>
                <a:rect l="l" t="t" r="r" b="b"/>
                <a:pathLst>
                  <a:path w="142875" h="88301">
                    <a:moveTo>
                      <a:pt x="96996" y="3965"/>
                    </a:moveTo>
                    <a:cubicBezTo>
                      <a:pt x="99706" y="583"/>
                      <a:pt x="104628" y="0"/>
                      <a:pt x="108053" y="2655"/>
                    </a:cubicBezTo>
                    <a:lnTo>
                      <a:pt x="108799" y="3314"/>
                    </a:lnTo>
                    <a:lnTo>
                      <a:pt x="140549" y="35064"/>
                    </a:lnTo>
                    <a:cubicBezTo>
                      <a:pt x="141783" y="36299"/>
                      <a:pt x="142575" y="37905"/>
                      <a:pt x="142804" y="39636"/>
                    </a:cubicBezTo>
                    <a:lnTo>
                      <a:pt x="142875" y="40676"/>
                    </a:lnTo>
                    <a:lnTo>
                      <a:pt x="142875" y="80363"/>
                    </a:lnTo>
                    <a:cubicBezTo>
                      <a:pt x="142874" y="84387"/>
                      <a:pt x="139863" y="87774"/>
                      <a:pt x="135866" y="88245"/>
                    </a:cubicBezTo>
                    <a:lnTo>
                      <a:pt x="134937" y="88301"/>
                    </a:lnTo>
                    <a:lnTo>
                      <a:pt x="7763" y="88301"/>
                    </a:lnTo>
                    <a:lnTo>
                      <a:pt x="6890" y="88229"/>
                    </a:lnTo>
                    <a:lnTo>
                      <a:pt x="6017" y="88070"/>
                    </a:lnTo>
                    <a:lnTo>
                      <a:pt x="5167" y="87801"/>
                    </a:lnTo>
                    <a:lnTo>
                      <a:pt x="4334" y="87435"/>
                    </a:lnTo>
                    <a:lnTo>
                      <a:pt x="3540" y="86967"/>
                    </a:lnTo>
                    <a:lnTo>
                      <a:pt x="2794" y="86412"/>
                    </a:lnTo>
                    <a:lnTo>
                      <a:pt x="2318" y="85975"/>
                    </a:lnTo>
                    <a:lnTo>
                      <a:pt x="1746" y="85324"/>
                    </a:lnTo>
                    <a:lnTo>
                      <a:pt x="1238" y="84618"/>
                    </a:lnTo>
                    <a:lnTo>
                      <a:pt x="810" y="83856"/>
                    </a:lnTo>
                    <a:lnTo>
                      <a:pt x="683" y="83578"/>
                    </a:lnTo>
                    <a:lnTo>
                      <a:pt x="365" y="82760"/>
                    </a:lnTo>
                    <a:lnTo>
                      <a:pt x="151" y="81919"/>
                    </a:lnTo>
                    <a:lnTo>
                      <a:pt x="32" y="81062"/>
                    </a:lnTo>
                    <a:lnTo>
                      <a:pt x="0" y="80189"/>
                    </a:lnTo>
                    <a:lnTo>
                      <a:pt x="71" y="79315"/>
                    </a:lnTo>
                    <a:lnTo>
                      <a:pt x="222" y="78482"/>
                    </a:lnTo>
                    <a:cubicBezTo>
                      <a:pt x="302" y="78164"/>
                      <a:pt x="397" y="77871"/>
                      <a:pt x="500" y="77593"/>
                    </a:cubicBezTo>
                    <a:lnTo>
                      <a:pt x="865" y="76760"/>
                    </a:lnTo>
                    <a:lnTo>
                      <a:pt x="1333" y="75966"/>
                    </a:lnTo>
                    <a:lnTo>
                      <a:pt x="33083" y="28341"/>
                    </a:lnTo>
                    <a:cubicBezTo>
                      <a:pt x="35094" y="25314"/>
                      <a:pt x="38903" y="24039"/>
                      <a:pt x="42331" y="25245"/>
                    </a:cubicBezTo>
                    <a:lnTo>
                      <a:pt x="43236" y="25642"/>
                    </a:lnTo>
                    <a:lnTo>
                      <a:pt x="69247" y="38644"/>
                    </a:lnTo>
                    <a:lnTo>
                      <a:pt x="96988" y="3965"/>
                    </a:lnTo>
                    <a:close/>
                  </a:path>
                </a:pathLst>
              </a:custGeom>
              <a:solidFill>
                <a:schemeClr val="accent2"/>
              </a:solidFill>
              <a:ln>
                <a:noFill/>
              </a:ln>
            </p:spPr>
          </p:sp>
          <p:sp>
            <p:nvSpPr>
              <p:cNvPr id="35" name="Freeform 35"/>
              <p:cNvSpPr/>
              <p:nvPr/>
            </p:nvSpPr>
            <p:spPr>
              <a:xfrm>
                <a:off x="937273" y="5899779"/>
                <a:ext cx="144588" cy="81273"/>
              </a:xfrm>
              <a:custGeom>
                <a:avLst/>
                <a:gdLst/>
                <a:ahLst/>
                <a:cxnLst/>
                <a:rect l="l" t="t" r="r" b="b"/>
                <a:pathLst>
                  <a:path w="144588" h="81273">
                    <a:moveTo>
                      <a:pt x="98031" y="3816"/>
                    </a:moveTo>
                    <a:cubicBezTo>
                      <a:pt x="100769" y="527"/>
                      <a:pt x="105621" y="0"/>
                      <a:pt x="109001" y="2625"/>
                    </a:cubicBezTo>
                    <a:lnTo>
                      <a:pt x="109739" y="3284"/>
                    </a:lnTo>
                    <a:lnTo>
                      <a:pt x="141489" y="35034"/>
                    </a:lnTo>
                    <a:cubicBezTo>
                      <a:pt x="144443" y="37998"/>
                      <a:pt x="144588" y="42747"/>
                      <a:pt x="141820" y="45887"/>
                    </a:cubicBezTo>
                    <a:cubicBezTo>
                      <a:pt x="139052" y="49026"/>
                      <a:pt x="134322" y="49476"/>
                      <a:pt x="131011" y="46916"/>
                    </a:cubicBezTo>
                    <a:lnTo>
                      <a:pt x="130265" y="46257"/>
                    </a:lnTo>
                    <a:lnTo>
                      <a:pt x="104659" y="20659"/>
                    </a:lnTo>
                    <a:lnTo>
                      <a:pt x="70536" y="61601"/>
                    </a:lnTo>
                    <a:cubicBezTo>
                      <a:pt x="68413" y="64147"/>
                      <a:pt x="64931" y="65106"/>
                      <a:pt x="61804" y="64006"/>
                    </a:cubicBezTo>
                    <a:lnTo>
                      <a:pt x="60891" y="63617"/>
                    </a:lnTo>
                    <a:lnTo>
                      <a:pt x="35063" y="50710"/>
                    </a:lnTo>
                    <a:lnTo>
                      <a:pt x="15227" y="77158"/>
                    </a:lnTo>
                    <a:cubicBezTo>
                      <a:pt x="12828" y="80358"/>
                      <a:pt x="8423" y="81273"/>
                      <a:pt x="4948" y="79293"/>
                    </a:cubicBezTo>
                    <a:lnTo>
                      <a:pt x="4115" y="78746"/>
                    </a:lnTo>
                    <a:cubicBezTo>
                      <a:pt x="915" y="76346"/>
                      <a:pt x="0" y="71942"/>
                      <a:pt x="1979" y="68467"/>
                    </a:cubicBezTo>
                    <a:lnTo>
                      <a:pt x="2527" y="67633"/>
                    </a:lnTo>
                    <a:lnTo>
                      <a:pt x="26340" y="35883"/>
                    </a:lnTo>
                    <a:cubicBezTo>
                      <a:pt x="28429" y="33100"/>
                      <a:pt x="32088" y="32003"/>
                      <a:pt x="35364" y="33176"/>
                    </a:cubicBezTo>
                    <a:lnTo>
                      <a:pt x="36238" y="33550"/>
                    </a:lnTo>
                    <a:lnTo>
                      <a:pt x="62360" y="46607"/>
                    </a:lnTo>
                    <a:lnTo>
                      <a:pt x="98031" y="3816"/>
                    </a:lnTo>
                    <a:close/>
                  </a:path>
                </a:pathLst>
              </a:custGeom>
              <a:solidFill>
                <a:schemeClr val="accent2"/>
              </a:solidFill>
              <a:ln>
                <a:noFill/>
              </a:ln>
            </p:spPr>
          </p:sp>
        </p:grpSp>
        <p:sp>
          <p:nvSpPr>
            <p:cNvPr id="37" name="TextBox 37"/>
            <p:cNvSpPr txBox="1"/>
            <p:nvPr/>
          </p:nvSpPr>
          <p:spPr>
            <a:xfrm>
              <a:off x="1383792" y="5883592"/>
              <a:ext cx="3092501" cy="264033"/>
            </a:xfrm>
            <a:prstGeom prst="rect">
              <a:avLst/>
            </a:prstGeom>
            <a:noFill/>
            <a:ln>
              <a:noFill/>
            </a:ln>
          </p:spPr>
          <p:txBody>
            <a:bodyPr wrap="none" lIns="0" tIns="0" rIns="0" bIns="0" anchor="t" anchorCtr="0">
              <a:spAutoFit/>
            </a:bodyPr>
            <a:lstStyle/>
            <a:p>
              <a:pPr algn="l"/>
              <a:r>
                <a:rPr lang="en-GB" sz="1350" dirty="0">
                  <a:solidFill>
                    <a:schemeClr val="dk1"/>
                  </a:solidFill>
                  <a:latin typeface="+mn-lt"/>
                  <a:ea typeface="+mn-ea"/>
                  <a:cs typeface="+mn-cs"/>
                </a:rPr>
                <a:t>MTTR tracked vs. manual baseline.</a:t>
              </a:r>
              <a:endParaRPr lang="en-GB" sz="1350" dirty="0">
                <a:solidFill>
                  <a:schemeClr val="dk1"/>
                </a:solidFill>
                <a:latin typeface="+mn-lt"/>
                <a:ea typeface="+mn-ea"/>
                <a:cs typeface="+mn-cs"/>
              </a:endParaRPr>
            </a:p>
          </p:txBody>
        </p:sp>
      </p:grpSp>
      <p:grpSp>
        <p:nvGrpSpPr>
          <p:cNvPr id="41" name="Group 41"/>
          <p:cNvGrpSpPr/>
          <p:nvPr/>
        </p:nvGrpSpPr>
        <p:grpSpPr>
          <a:xfrm>
            <a:off x="4838700" y="2190750"/>
            <a:ext cx="6743700" cy="3924300"/>
            <a:chOff x="4838700" y="2190750"/>
            <a:chExt cx="6743700" cy="3924300"/>
          </a:xfrm>
        </p:grpSpPr>
        <p:sp>
          <p:nvSpPr>
            <p:cNvPr id="39" name="Rectangle 39"/>
            <p:cNvSpPr/>
            <p:nvPr/>
          </p:nvSpPr>
          <p:spPr>
            <a:xfrm>
              <a:off x="4838700" y="2190750"/>
              <a:ext cx="6743700" cy="3924300"/>
            </a:xfrm>
            <a:prstGeom prst="roundRect">
              <a:avLst>
                <a:gd name="adj" fmla="val 6311"/>
              </a:avLst>
            </a:prstGeom>
            <a:solidFill>
              <a:schemeClr val="lt2"/>
            </a:solidFill>
            <a:ln>
              <a:noFill/>
            </a:ln>
            <a:effectLst>
              <a:outerShdw blurRad="266700" dist="57150" dir="5400000" algn="ctr" rotWithShape="0">
                <a:srgbClr val="7C6FE0">
                  <a:alpha val="7500"/>
                </a:srgbClr>
              </a:outerShdw>
            </a:effectLst>
          </p:spPr>
        </p:sp>
        <p:pic>
          <p:nvPicPr>
            <p:cNvPr id="40" name="Image 40"/>
            <p:cNvPicPr>
              <a:picLocks noChangeAspect="1"/>
            </p:cNvPicPr>
            <p:nvPr/>
          </p:nvPicPr>
          <p:blipFill>
            <a:blip r:embed="rId1"/>
            <a:stretch>
              <a:fillRect/>
            </a:stretch>
          </p:blipFill>
          <p:spPr>
            <a:xfrm>
              <a:off x="4991100" y="2343150"/>
              <a:ext cx="6438900" cy="3619500"/>
            </a:xfrm>
            <a:prstGeom prst="rect">
              <a:avLst/>
            </a:prstGeom>
          </p:spPr>
        </p:pic>
      </p:grpSp>
      <p:sp>
        <p:nvSpPr>
          <p:cNvPr id="46" name="Footer Placeholder 45"/>
          <p:cNvSpPr>
            <a:spLocks noGrp="1"/>
          </p:cNvSpPr>
          <p:nvPr>
            <p:ph type="ftr" sz="quarter" idx="11"/>
          </p:nvPr>
        </p:nvSpPr>
        <p:spPr/>
        <p:txBody>
          <a:bodyPr/>
          <a:p>
            <a:r>
              <a:rPr lang="en-US"/>
              <a:t>TCS | Confidential</a:t>
            </a:r>
            <a:endParaRPr lang="en-US"/>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615950" y="681038"/>
            <a:ext cx="2552830" cy="343217"/>
            <a:chOff x="609600" y="628333"/>
            <a:chExt cx="2552830" cy="343217"/>
          </a:xfrm>
        </p:grpSpPr>
        <p:sp>
          <p:nvSpPr>
            <p:cNvPr id="2" name="Rectangle 2"/>
            <p:cNvSpPr/>
            <p:nvPr/>
          </p:nvSpPr>
          <p:spPr>
            <a:xfrm>
              <a:off x="609600" y="628650"/>
              <a:ext cx="2552700" cy="342900"/>
            </a:xfrm>
            <a:prstGeom prst="roundRect">
              <a:avLst>
                <a:gd name="adj" fmla="val 50000"/>
              </a:avLst>
            </a:prstGeom>
            <a:solidFill>
              <a:schemeClr val="accent1">
                <a:alpha val="14000"/>
              </a:schemeClr>
            </a:solidFill>
            <a:ln>
              <a:noFill/>
            </a:ln>
          </p:spPr>
        </p:sp>
        <p:sp>
          <p:nvSpPr>
            <p:cNvPr id="3" name="TextBox 3"/>
            <p:cNvSpPr txBox="1"/>
            <p:nvPr/>
          </p:nvSpPr>
          <p:spPr>
            <a:xfrm>
              <a:off x="616077" y="628333"/>
              <a:ext cx="2546353" cy="264033"/>
            </a:xfrm>
            <a:prstGeom prst="rect">
              <a:avLst/>
            </a:prstGeom>
            <a:noFill/>
            <a:ln>
              <a:noFill/>
            </a:ln>
          </p:spPr>
          <p:txBody>
            <a:bodyPr wrap="none" lIns="0" tIns="0" rIns="0" bIns="0" anchor="t" anchorCtr="0">
              <a:spAutoFit/>
            </a:bodyPr>
            <a:lstStyle/>
            <a:p>
              <a:pPr algn="l"/>
              <a:r>
                <a:rPr lang="en-GB" sz="1350" b="1" spc="75" dirty="0">
                  <a:solidFill>
                    <a:schemeClr val="accent1"/>
                  </a:solidFill>
                  <a:latin typeface="+mn-lt"/>
                  <a:ea typeface="+mn-ea"/>
                  <a:cs typeface="+mn-cs"/>
                </a:rPr>
                <a:t>THE PLATFORM IN ACTION</a:t>
              </a:r>
              <a:endParaRPr lang="en-GB" sz="1350" b="1" spc="75" dirty="0">
                <a:solidFill>
                  <a:schemeClr val="accent1"/>
                </a:solidFill>
                <a:latin typeface="+mn-lt"/>
                <a:ea typeface="+mn-ea"/>
                <a:cs typeface="+mn-cs"/>
              </a:endParaRPr>
            </a:p>
          </p:txBody>
        </p:sp>
      </p:grpSp>
      <p:grpSp>
        <p:nvGrpSpPr>
          <p:cNvPr id="6" name="Group 6"/>
          <p:cNvGrpSpPr/>
          <p:nvPr/>
        </p:nvGrpSpPr>
        <p:grpSpPr>
          <a:xfrm>
            <a:off x="590550" y="1165860"/>
            <a:ext cx="7861815" cy="819150"/>
            <a:chOff x="590550" y="1165860"/>
            <a:chExt cx="7861815" cy="819150"/>
          </a:xfrm>
        </p:grpSpPr>
        <p:sp>
          <p:nvSpPr>
            <p:cNvPr id="5" name="TextBox 5"/>
            <p:cNvSpPr txBox="1"/>
            <p:nvPr/>
          </p:nvSpPr>
          <p:spPr>
            <a:xfrm>
              <a:off x="590550" y="1165860"/>
              <a:ext cx="7861815" cy="819150"/>
            </a:xfrm>
            <a:prstGeom prst="rect">
              <a:avLst/>
            </a:prstGeom>
            <a:noFill/>
            <a:ln>
              <a:noFill/>
            </a:ln>
          </p:spPr>
          <p:txBody>
            <a:bodyPr wrap="none" lIns="0" tIns="0" rIns="0" bIns="0" anchor="t" anchorCtr="0">
              <a:spAutoFit/>
            </a:bodyPr>
            <a:lstStyle/>
            <a:p>
              <a:pPr algn="l"/>
              <a:r>
                <a:rPr lang="en-GB" sz="4200" b="1" dirty="0">
                  <a:solidFill>
                    <a:schemeClr val="dk1"/>
                  </a:solidFill>
                  <a:latin typeface="+mn-lt"/>
                  <a:ea typeface="+mn-ea"/>
                  <a:cs typeface="+mn-cs"/>
                </a:rPr>
                <a:t>From Ticket to Verified Fix</a:t>
              </a:r>
              <a:endParaRPr lang="en-GB" sz="4200" b="1" dirty="0">
                <a:solidFill>
                  <a:schemeClr val="dk1"/>
                </a:solidFill>
                <a:latin typeface="+mn-lt"/>
                <a:ea typeface="+mn-ea"/>
                <a:cs typeface="+mn-cs"/>
              </a:endParaRPr>
            </a:p>
          </p:txBody>
        </p:sp>
      </p:grpSp>
      <p:grpSp>
        <p:nvGrpSpPr>
          <p:cNvPr id="14" name="Group 14"/>
          <p:cNvGrpSpPr/>
          <p:nvPr/>
        </p:nvGrpSpPr>
        <p:grpSpPr>
          <a:xfrm>
            <a:off x="609600" y="2419350"/>
            <a:ext cx="2066925" cy="3829050"/>
            <a:chOff x="609600" y="2419350"/>
            <a:chExt cx="2066925" cy="3829050"/>
          </a:xfrm>
        </p:grpSpPr>
        <p:sp>
          <p:nvSpPr>
            <p:cNvPr id="7" name="Ellipse 7"/>
            <p:cNvSpPr/>
            <p:nvPr/>
          </p:nvSpPr>
          <p:spPr>
            <a:xfrm>
              <a:off x="1390650" y="2419350"/>
              <a:ext cx="495300" cy="495300"/>
            </a:xfrm>
            <a:prstGeom prst="ellipse">
              <a:avLst/>
            </a:prstGeom>
            <a:solidFill>
              <a:schemeClr val="accent1"/>
            </a:solidFill>
            <a:ln>
              <a:noFill/>
            </a:ln>
          </p:spPr>
        </p:sp>
        <p:sp>
          <p:nvSpPr>
            <p:cNvPr id="8" name="TextBox 8"/>
            <p:cNvSpPr txBox="1"/>
            <p:nvPr/>
          </p:nvSpPr>
          <p:spPr>
            <a:xfrm>
              <a:off x="1565780" y="2565082"/>
              <a:ext cx="145040" cy="322707"/>
            </a:xfrm>
            <a:prstGeom prst="rect">
              <a:avLst/>
            </a:prstGeom>
            <a:noFill/>
            <a:ln>
              <a:noFill/>
            </a:ln>
          </p:spPr>
          <p:txBody>
            <a:bodyPr wrap="none" lIns="0" tIns="0" rIns="0" bIns="0" anchor="t" anchorCtr="0">
              <a:spAutoFit/>
            </a:bodyPr>
            <a:lstStyle/>
            <a:p>
              <a:pPr algn="ctr"/>
              <a:r>
                <a:rPr lang="en-GB" sz="1650" b="1" dirty="0">
                  <a:solidFill>
                    <a:srgbClr val="FFFFFF"/>
                  </a:solidFill>
                  <a:latin typeface="+mn-lt"/>
                  <a:ea typeface="+mn-ea"/>
                  <a:cs typeface="+mn-cs"/>
                </a:rPr>
                <a:t>1</a:t>
              </a:r>
              <a:endParaRPr lang="en-GB" sz="1650" b="1" dirty="0">
                <a:solidFill>
                  <a:srgbClr val="FFFFFF"/>
                </a:solidFill>
                <a:latin typeface="+mn-lt"/>
                <a:ea typeface="+mn-ea"/>
                <a:cs typeface="+mn-cs"/>
              </a:endParaRPr>
            </a:p>
          </p:txBody>
        </p:sp>
        <p:sp>
          <p:nvSpPr>
            <p:cNvPr id="9" name="Rectangle 9"/>
            <p:cNvSpPr/>
            <p:nvPr/>
          </p:nvSpPr>
          <p:spPr>
            <a:xfrm>
              <a:off x="609600" y="3276600"/>
              <a:ext cx="2066925" cy="2971800"/>
            </a:xfrm>
            <a:prstGeom prst="roundRect">
              <a:avLst>
                <a:gd name="adj" fmla="val 11060"/>
              </a:avLst>
            </a:prstGeom>
            <a:solidFill>
              <a:schemeClr val="lt2"/>
            </a:solidFill>
            <a:ln>
              <a:noFill/>
            </a:ln>
            <a:effectLst>
              <a:outerShdw blurRad="266700" dist="57150" dir="5400000" algn="ctr" rotWithShape="0">
                <a:srgbClr val="7C6FE0">
                  <a:alpha val="7500"/>
                </a:srgbClr>
              </a:outerShdw>
            </a:effectLst>
          </p:spPr>
        </p:sp>
        <p:sp>
          <p:nvSpPr>
            <p:cNvPr id="10" name="Freeform 10"/>
            <p:cNvSpPr/>
            <p:nvPr/>
          </p:nvSpPr>
          <p:spPr>
            <a:xfrm>
              <a:off x="823900" y="3552825"/>
              <a:ext cx="238137" cy="190500"/>
            </a:xfrm>
            <a:custGeom>
              <a:avLst/>
              <a:gdLst/>
              <a:ahLst/>
              <a:cxnLst/>
              <a:rect l="l" t="t" r="r" b="b"/>
              <a:pathLst>
                <a:path w="238137" h="190500">
                  <a:moveTo>
                    <a:pt x="142887" y="0"/>
                  </a:moveTo>
                  <a:lnTo>
                    <a:pt x="142887" y="23812"/>
                  </a:lnTo>
                  <a:cubicBezTo>
                    <a:pt x="142887" y="30388"/>
                    <a:pt x="148218" y="35719"/>
                    <a:pt x="154794" y="35719"/>
                  </a:cubicBezTo>
                  <a:cubicBezTo>
                    <a:pt x="161369" y="35719"/>
                    <a:pt x="166700" y="30388"/>
                    <a:pt x="166700" y="23812"/>
                  </a:cubicBezTo>
                  <a:lnTo>
                    <a:pt x="166700" y="0"/>
                  </a:lnTo>
                  <a:lnTo>
                    <a:pt x="202419" y="0"/>
                  </a:lnTo>
                  <a:cubicBezTo>
                    <a:pt x="222146" y="0"/>
                    <a:pt x="238137" y="15992"/>
                    <a:pt x="238137" y="35719"/>
                  </a:cubicBezTo>
                  <a:lnTo>
                    <a:pt x="238137" y="71438"/>
                  </a:lnTo>
                  <a:cubicBezTo>
                    <a:pt x="238137" y="77474"/>
                    <a:pt x="233619" y="82554"/>
                    <a:pt x="227624" y="83260"/>
                  </a:cubicBezTo>
                  <a:lnTo>
                    <a:pt x="226231" y="83344"/>
                  </a:lnTo>
                  <a:cubicBezTo>
                    <a:pt x="219932" y="83351"/>
                    <a:pt x="214728" y="88264"/>
                    <a:pt x="214359" y="94552"/>
                  </a:cubicBezTo>
                  <a:cubicBezTo>
                    <a:pt x="213989" y="100841"/>
                    <a:pt x="218583" y="106329"/>
                    <a:pt x="224838" y="107073"/>
                  </a:cubicBezTo>
                  <a:lnTo>
                    <a:pt x="226231" y="107156"/>
                  </a:lnTo>
                  <a:cubicBezTo>
                    <a:pt x="232807" y="107156"/>
                    <a:pt x="238137" y="112487"/>
                    <a:pt x="238137" y="119062"/>
                  </a:cubicBezTo>
                  <a:lnTo>
                    <a:pt x="238137" y="154781"/>
                  </a:lnTo>
                  <a:cubicBezTo>
                    <a:pt x="238137" y="174508"/>
                    <a:pt x="222146" y="190500"/>
                    <a:pt x="202419" y="190500"/>
                  </a:cubicBezTo>
                  <a:lnTo>
                    <a:pt x="166700" y="190500"/>
                  </a:lnTo>
                  <a:lnTo>
                    <a:pt x="166700" y="166688"/>
                  </a:lnTo>
                  <a:cubicBezTo>
                    <a:pt x="166699" y="160651"/>
                    <a:pt x="162181" y="155571"/>
                    <a:pt x="156187" y="154865"/>
                  </a:cubicBezTo>
                  <a:lnTo>
                    <a:pt x="154794" y="154781"/>
                  </a:lnTo>
                  <a:cubicBezTo>
                    <a:pt x="148218" y="154781"/>
                    <a:pt x="142887" y="160112"/>
                    <a:pt x="142887" y="166688"/>
                  </a:cubicBezTo>
                  <a:lnTo>
                    <a:pt x="142887" y="190500"/>
                  </a:lnTo>
                  <a:lnTo>
                    <a:pt x="35731" y="190500"/>
                  </a:lnTo>
                  <a:cubicBezTo>
                    <a:pt x="16004" y="190500"/>
                    <a:pt x="12" y="174508"/>
                    <a:pt x="12" y="154781"/>
                  </a:cubicBezTo>
                  <a:lnTo>
                    <a:pt x="12" y="119062"/>
                  </a:lnTo>
                  <a:cubicBezTo>
                    <a:pt x="13" y="113026"/>
                    <a:pt x="4531" y="107946"/>
                    <a:pt x="10526" y="107240"/>
                  </a:cubicBezTo>
                  <a:lnTo>
                    <a:pt x="11919" y="107156"/>
                  </a:lnTo>
                  <a:cubicBezTo>
                    <a:pt x="18218" y="107149"/>
                    <a:pt x="23422" y="102236"/>
                    <a:pt x="23791" y="95948"/>
                  </a:cubicBezTo>
                  <a:cubicBezTo>
                    <a:pt x="24160" y="89659"/>
                    <a:pt x="19567" y="84171"/>
                    <a:pt x="13312" y="83427"/>
                  </a:cubicBezTo>
                  <a:lnTo>
                    <a:pt x="11919" y="83344"/>
                  </a:lnTo>
                  <a:cubicBezTo>
                    <a:pt x="5343" y="83344"/>
                    <a:pt x="12" y="78013"/>
                    <a:pt x="12" y="71438"/>
                  </a:cubicBezTo>
                  <a:lnTo>
                    <a:pt x="12" y="35719"/>
                  </a:lnTo>
                  <a:cubicBezTo>
                    <a:pt x="0" y="17252"/>
                    <a:pt x="14088" y="1831"/>
                    <a:pt x="32481" y="179"/>
                  </a:cubicBezTo>
                  <a:lnTo>
                    <a:pt x="35124" y="12"/>
                  </a:lnTo>
                  <a:close/>
                  <a:moveTo>
                    <a:pt x="154794" y="71438"/>
                  </a:moveTo>
                  <a:cubicBezTo>
                    <a:pt x="148218" y="71438"/>
                    <a:pt x="142887" y="76768"/>
                    <a:pt x="142887" y="83344"/>
                  </a:cubicBezTo>
                  <a:lnTo>
                    <a:pt x="142887" y="107156"/>
                  </a:lnTo>
                  <a:cubicBezTo>
                    <a:pt x="142887" y="113732"/>
                    <a:pt x="148218" y="119062"/>
                    <a:pt x="154794" y="119062"/>
                  </a:cubicBezTo>
                  <a:cubicBezTo>
                    <a:pt x="161369" y="119062"/>
                    <a:pt x="166700" y="113732"/>
                    <a:pt x="166700" y="107156"/>
                  </a:cubicBezTo>
                  <a:lnTo>
                    <a:pt x="166700" y="83344"/>
                  </a:lnTo>
                  <a:cubicBezTo>
                    <a:pt x="166700" y="76768"/>
                    <a:pt x="161369" y="71438"/>
                    <a:pt x="154794" y="71438"/>
                  </a:cubicBezTo>
                </a:path>
              </a:pathLst>
            </a:custGeom>
            <a:solidFill>
              <a:schemeClr val="accent1"/>
            </a:solidFill>
            <a:ln>
              <a:noFill/>
            </a:ln>
          </p:spPr>
        </p:sp>
        <p:sp>
          <p:nvSpPr>
            <p:cNvPr id="11" name="TextBox 11"/>
            <p:cNvSpPr txBox="1"/>
            <p:nvPr/>
          </p:nvSpPr>
          <p:spPr>
            <a:xfrm>
              <a:off x="791718" y="3898582"/>
              <a:ext cx="1710637" cy="322707"/>
            </a:xfrm>
            <a:prstGeom prst="rect">
              <a:avLst/>
            </a:prstGeom>
            <a:noFill/>
            <a:ln>
              <a:noFill/>
            </a:ln>
          </p:spPr>
          <p:txBody>
            <a:bodyPr wrap="none" lIns="0" tIns="0" rIns="0" bIns="0" anchor="t" anchorCtr="0">
              <a:spAutoFit/>
            </a:bodyPr>
            <a:lstStyle/>
            <a:p>
              <a:pPr algn="l"/>
              <a:r>
                <a:rPr lang="en-GB" sz="1650" b="1" dirty="0">
                  <a:solidFill>
                    <a:schemeClr val="dk1"/>
                  </a:solidFill>
                  <a:latin typeface="+mn-lt"/>
                  <a:ea typeface="+mn-ea"/>
                  <a:cs typeface="+mn-cs"/>
                </a:rPr>
                <a:t>Ticket Created</a:t>
              </a:r>
              <a:endParaRPr lang="en-GB" sz="1650" b="1" dirty="0">
                <a:solidFill>
                  <a:schemeClr val="dk1"/>
                </a:solidFill>
                <a:latin typeface="+mn-lt"/>
                <a:ea typeface="+mn-ea"/>
                <a:cs typeface="+mn-cs"/>
              </a:endParaRPr>
            </a:p>
          </p:txBody>
        </p:sp>
        <p:sp>
          <p:nvSpPr>
            <p:cNvPr id="12" name="TextBox 12"/>
            <p:cNvSpPr txBox="1"/>
            <p:nvPr/>
          </p:nvSpPr>
          <p:spPr>
            <a:xfrm>
              <a:off x="793242" y="4216718"/>
              <a:ext cx="1585385" cy="264033"/>
            </a:xfrm>
            <a:prstGeom prst="rect">
              <a:avLst/>
            </a:prstGeom>
            <a:noFill/>
            <a:ln>
              <a:noFill/>
            </a:ln>
          </p:spPr>
          <p:txBody>
            <a:bodyPr wrap="none" lIns="0" tIns="0" rIns="0" bIns="0" anchor="t" anchorCtr="0">
              <a:spAutoFit/>
            </a:bodyPr>
            <a:lstStyle/>
            <a:p>
              <a:pPr algn="l"/>
              <a:r>
                <a:rPr lang="en-GB" sz="1350" dirty="0">
                  <a:solidFill>
                    <a:schemeClr val="accent5"/>
                  </a:solidFill>
                  <a:latin typeface="+mn-lt"/>
                  <a:ea typeface="+mn-ea"/>
                  <a:cs typeface="+mn-cs"/>
                </a:rPr>
                <a:t>State NEW, group</a:t>
              </a:r>
              <a:endParaRPr lang="en-GB" sz="1350" dirty="0">
                <a:solidFill>
                  <a:schemeClr val="accent5"/>
                </a:solidFill>
                <a:latin typeface="+mn-lt"/>
                <a:ea typeface="+mn-ea"/>
                <a:cs typeface="+mn-cs"/>
              </a:endParaRPr>
            </a:p>
          </p:txBody>
        </p:sp>
        <p:sp>
          <p:nvSpPr>
            <p:cNvPr id="13" name="TextBox 13"/>
            <p:cNvSpPr txBox="1"/>
            <p:nvPr/>
          </p:nvSpPr>
          <p:spPr>
            <a:xfrm>
              <a:off x="793242" y="4426268"/>
              <a:ext cx="1127455" cy="264033"/>
            </a:xfrm>
            <a:prstGeom prst="rect">
              <a:avLst/>
            </a:prstGeom>
            <a:noFill/>
            <a:ln>
              <a:noFill/>
            </a:ln>
          </p:spPr>
          <p:txBody>
            <a:bodyPr wrap="none" lIns="0" tIns="0" rIns="0" bIns="0" anchor="t" anchorCtr="0">
              <a:spAutoFit/>
            </a:bodyPr>
            <a:lstStyle/>
            <a:p>
              <a:pPr algn="l"/>
              <a:r>
                <a:rPr lang="en-GB" sz="1350" dirty="0">
                  <a:solidFill>
                    <a:schemeClr val="accent5"/>
                  </a:solidFill>
                  <a:latin typeface="+mn-lt"/>
                  <a:ea typeface="+mn-ea"/>
                  <a:cs typeface="+mn-cs"/>
                </a:rPr>
                <a:t>UNASSIGNED.</a:t>
              </a:r>
              <a:endParaRPr lang="en-GB" sz="1350" dirty="0">
                <a:solidFill>
                  <a:schemeClr val="accent5"/>
                </a:solidFill>
                <a:latin typeface="+mn-lt"/>
                <a:ea typeface="+mn-ea"/>
                <a:cs typeface="+mn-cs"/>
              </a:endParaRPr>
            </a:p>
          </p:txBody>
        </p:sp>
      </p:grpSp>
      <p:grpSp>
        <p:nvGrpSpPr>
          <p:cNvPr id="23" name="Group 23"/>
          <p:cNvGrpSpPr/>
          <p:nvPr/>
        </p:nvGrpSpPr>
        <p:grpSpPr>
          <a:xfrm>
            <a:off x="2828925" y="2419350"/>
            <a:ext cx="2066925" cy="3829050"/>
            <a:chOff x="2828925" y="2419350"/>
            <a:chExt cx="2066925" cy="3829050"/>
          </a:xfrm>
        </p:grpSpPr>
        <p:sp>
          <p:nvSpPr>
            <p:cNvPr id="15" name="Ellipse 15"/>
            <p:cNvSpPr/>
            <p:nvPr/>
          </p:nvSpPr>
          <p:spPr>
            <a:xfrm>
              <a:off x="3609975" y="2419350"/>
              <a:ext cx="495300" cy="495300"/>
            </a:xfrm>
            <a:prstGeom prst="ellipse">
              <a:avLst/>
            </a:prstGeom>
            <a:solidFill>
              <a:schemeClr val="accent1"/>
            </a:solidFill>
            <a:ln>
              <a:noFill/>
            </a:ln>
          </p:spPr>
        </p:sp>
        <p:sp>
          <p:nvSpPr>
            <p:cNvPr id="16" name="TextBox 16"/>
            <p:cNvSpPr txBox="1"/>
            <p:nvPr/>
          </p:nvSpPr>
          <p:spPr>
            <a:xfrm>
              <a:off x="3785105" y="2565082"/>
              <a:ext cx="145040" cy="322707"/>
            </a:xfrm>
            <a:prstGeom prst="rect">
              <a:avLst/>
            </a:prstGeom>
            <a:noFill/>
            <a:ln>
              <a:noFill/>
            </a:ln>
          </p:spPr>
          <p:txBody>
            <a:bodyPr wrap="none" lIns="0" tIns="0" rIns="0" bIns="0" anchor="t" anchorCtr="0">
              <a:spAutoFit/>
            </a:bodyPr>
            <a:lstStyle/>
            <a:p>
              <a:pPr algn="ctr"/>
              <a:r>
                <a:rPr lang="en-GB" sz="1650" b="1" dirty="0">
                  <a:solidFill>
                    <a:srgbClr val="FFFFFF"/>
                  </a:solidFill>
                  <a:latin typeface="+mn-lt"/>
                  <a:ea typeface="+mn-ea"/>
                  <a:cs typeface="+mn-cs"/>
                </a:rPr>
                <a:t>2</a:t>
              </a:r>
              <a:endParaRPr lang="en-GB" sz="1650" b="1" dirty="0">
                <a:solidFill>
                  <a:srgbClr val="FFFFFF"/>
                </a:solidFill>
                <a:latin typeface="+mn-lt"/>
                <a:ea typeface="+mn-ea"/>
                <a:cs typeface="+mn-cs"/>
              </a:endParaRPr>
            </a:p>
          </p:txBody>
        </p:sp>
        <p:sp>
          <p:nvSpPr>
            <p:cNvPr id="17" name="Rectangle 17"/>
            <p:cNvSpPr/>
            <p:nvPr/>
          </p:nvSpPr>
          <p:spPr>
            <a:xfrm>
              <a:off x="2828925" y="3276600"/>
              <a:ext cx="2066925" cy="2971800"/>
            </a:xfrm>
            <a:prstGeom prst="roundRect">
              <a:avLst>
                <a:gd name="adj" fmla="val 11060"/>
              </a:avLst>
            </a:prstGeom>
            <a:solidFill>
              <a:schemeClr val="lt2"/>
            </a:solidFill>
            <a:ln>
              <a:noFill/>
            </a:ln>
            <a:effectLst>
              <a:outerShdw blurRad="266700" dist="57150" dir="5400000" algn="ctr" rotWithShape="0">
                <a:srgbClr val="7C6FE0">
                  <a:alpha val="7500"/>
                </a:srgbClr>
              </a:outerShdw>
            </a:effectLst>
          </p:spPr>
        </p:sp>
        <p:sp>
          <p:nvSpPr>
            <p:cNvPr id="18" name="Freeform 18"/>
            <p:cNvSpPr/>
            <p:nvPr/>
          </p:nvSpPr>
          <p:spPr>
            <a:xfrm>
              <a:off x="3053984" y="3529012"/>
              <a:ext cx="228538" cy="238125"/>
            </a:xfrm>
            <a:custGeom>
              <a:avLst/>
              <a:gdLst/>
              <a:ahLst/>
              <a:cxnLst/>
              <a:rect l="l" t="t" r="r" b="b"/>
              <a:pathLst>
                <a:path w="228538" h="238125">
                  <a:moveTo>
                    <a:pt x="84503" y="238125"/>
                  </a:moveTo>
                  <a:cubicBezTo>
                    <a:pt x="77928" y="238125"/>
                    <a:pt x="72597" y="232794"/>
                    <a:pt x="72597" y="226219"/>
                  </a:cubicBezTo>
                  <a:cubicBezTo>
                    <a:pt x="72597" y="219643"/>
                    <a:pt x="77928" y="214312"/>
                    <a:pt x="84503" y="214312"/>
                  </a:cubicBezTo>
                  <a:lnTo>
                    <a:pt x="96409" y="214312"/>
                  </a:lnTo>
                  <a:lnTo>
                    <a:pt x="96409" y="190488"/>
                  </a:lnTo>
                  <a:lnTo>
                    <a:pt x="36878" y="190500"/>
                  </a:lnTo>
                  <a:cubicBezTo>
                    <a:pt x="33721" y="190499"/>
                    <a:pt x="30693" y="189244"/>
                    <a:pt x="28460" y="187011"/>
                  </a:cubicBezTo>
                  <a:lnTo>
                    <a:pt x="4648" y="163199"/>
                  </a:lnTo>
                  <a:cubicBezTo>
                    <a:pt x="0" y="158550"/>
                    <a:pt x="0" y="151013"/>
                    <a:pt x="4648" y="146364"/>
                  </a:cubicBezTo>
                  <a:lnTo>
                    <a:pt x="28460" y="122551"/>
                  </a:lnTo>
                  <a:cubicBezTo>
                    <a:pt x="30693" y="120318"/>
                    <a:pt x="33721" y="119063"/>
                    <a:pt x="36878" y="119062"/>
                  </a:cubicBezTo>
                  <a:lnTo>
                    <a:pt x="96409" y="119051"/>
                  </a:lnTo>
                  <a:lnTo>
                    <a:pt x="96409" y="95250"/>
                  </a:lnTo>
                  <a:lnTo>
                    <a:pt x="60691" y="95250"/>
                  </a:lnTo>
                  <a:cubicBezTo>
                    <a:pt x="54115" y="95250"/>
                    <a:pt x="48784" y="89919"/>
                    <a:pt x="48784" y="83344"/>
                  </a:cubicBezTo>
                  <a:lnTo>
                    <a:pt x="48784" y="35719"/>
                  </a:lnTo>
                  <a:cubicBezTo>
                    <a:pt x="48784" y="29143"/>
                    <a:pt x="54115" y="23812"/>
                    <a:pt x="60691" y="23812"/>
                  </a:cubicBezTo>
                  <a:lnTo>
                    <a:pt x="96409" y="23812"/>
                  </a:lnTo>
                  <a:lnTo>
                    <a:pt x="96409" y="11906"/>
                  </a:lnTo>
                  <a:cubicBezTo>
                    <a:pt x="96409" y="5331"/>
                    <a:pt x="101740" y="0"/>
                    <a:pt x="108316" y="0"/>
                  </a:cubicBezTo>
                  <a:cubicBezTo>
                    <a:pt x="114891" y="0"/>
                    <a:pt x="120222" y="5331"/>
                    <a:pt x="120222" y="11906"/>
                  </a:cubicBezTo>
                  <a:lnTo>
                    <a:pt x="120222" y="23812"/>
                  </a:lnTo>
                  <a:lnTo>
                    <a:pt x="191659" y="23812"/>
                  </a:lnTo>
                  <a:cubicBezTo>
                    <a:pt x="194817" y="23813"/>
                    <a:pt x="197845" y="25068"/>
                    <a:pt x="200077" y="27301"/>
                  </a:cubicBezTo>
                  <a:lnTo>
                    <a:pt x="223890" y="51114"/>
                  </a:lnTo>
                  <a:cubicBezTo>
                    <a:pt x="228538" y="55763"/>
                    <a:pt x="228538" y="63300"/>
                    <a:pt x="223890" y="67949"/>
                  </a:cubicBezTo>
                  <a:lnTo>
                    <a:pt x="200077" y="91761"/>
                  </a:lnTo>
                  <a:cubicBezTo>
                    <a:pt x="197845" y="93994"/>
                    <a:pt x="194817" y="95249"/>
                    <a:pt x="191659" y="95250"/>
                  </a:cubicBezTo>
                  <a:lnTo>
                    <a:pt x="120222" y="95250"/>
                  </a:lnTo>
                  <a:lnTo>
                    <a:pt x="120222" y="119051"/>
                  </a:lnTo>
                  <a:lnTo>
                    <a:pt x="132128" y="119062"/>
                  </a:lnTo>
                  <a:cubicBezTo>
                    <a:pt x="138704" y="119062"/>
                    <a:pt x="144034" y="124393"/>
                    <a:pt x="144034" y="130969"/>
                  </a:cubicBezTo>
                  <a:lnTo>
                    <a:pt x="144034" y="178594"/>
                  </a:lnTo>
                  <a:cubicBezTo>
                    <a:pt x="144034" y="185169"/>
                    <a:pt x="138704" y="190500"/>
                    <a:pt x="132128" y="190500"/>
                  </a:cubicBezTo>
                  <a:lnTo>
                    <a:pt x="120222" y="190488"/>
                  </a:lnTo>
                  <a:lnTo>
                    <a:pt x="120222" y="214312"/>
                  </a:lnTo>
                  <a:lnTo>
                    <a:pt x="132128" y="214312"/>
                  </a:lnTo>
                  <a:cubicBezTo>
                    <a:pt x="138704" y="214312"/>
                    <a:pt x="144034" y="219643"/>
                    <a:pt x="144034" y="226219"/>
                  </a:cubicBezTo>
                  <a:cubicBezTo>
                    <a:pt x="144034" y="232794"/>
                    <a:pt x="138704" y="238125"/>
                    <a:pt x="132128" y="238125"/>
                  </a:cubicBezTo>
                  <a:close/>
                </a:path>
              </a:pathLst>
            </a:custGeom>
            <a:solidFill>
              <a:schemeClr val="accent1"/>
            </a:solidFill>
            <a:ln>
              <a:noFill/>
            </a:ln>
          </p:spPr>
        </p:sp>
        <p:sp>
          <p:nvSpPr>
            <p:cNvPr id="19" name="TextBox 19"/>
            <p:cNvSpPr txBox="1"/>
            <p:nvPr/>
          </p:nvSpPr>
          <p:spPr>
            <a:xfrm>
              <a:off x="3011043" y="3898582"/>
              <a:ext cx="1076664" cy="322707"/>
            </a:xfrm>
            <a:prstGeom prst="rect">
              <a:avLst/>
            </a:prstGeom>
            <a:noFill/>
            <a:ln>
              <a:noFill/>
            </a:ln>
          </p:spPr>
          <p:txBody>
            <a:bodyPr wrap="none" lIns="0" tIns="0" rIns="0" bIns="0" anchor="t" anchorCtr="0">
              <a:spAutoFit/>
            </a:bodyPr>
            <a:lstStyle/>
            <a:p>
              <a:pPr algn="l"/>
              <a:r>
                <a:rPr lang="en-GB" sz="1650" b="1" dirty="0">
                  <a:solidFill>
                    <a:schemeClr val="dk1"/>
                  </a:solidFill>
                  <a:latin typeface="+mn-lt"/>
                  <a:ea typeface="+mn-ea"/>
                  <a:cs typeface="+mn-cs"/>
                </a:rPr>
                <a:t>AI Router</a:t>
              </a:r>
              <a:endParaRPr lang="en-GB" sz="1650" b="1" dirty="0">
                <a:solidFill>
                  <a:schemeClr val="dk1"/>
                </a:solidFill>
                <a:latin typeface="+mn-lt"/>
                <a:ea typeface="+mn-ea"/>
                <a:cs typeface="+mn-cs"/>
              </a:endParaRPr>
            </a:p>
          </p:txBody>
        </p:sp>
        <p:sp>
          <p:nvSpPr>
            <p:cNvPr id="20" name="TextBox 20"/>
            <p:cNvSpPr txBox="1"/>
            <p:nvPr/>
          </p:nvSpPr>
          <p:spPr>
            <a:xfrm>
              <a:off x="3012567" y="4216718"/>
              <a:ext cx="1636897" cy="264033"/>
            </a:xfrm>
            <a:prstGeom prst="rect">
              <a:avLst/>
            </a:prstGeom>
            <a:noFill/>
            <a:ln>
              <a:noFill/>
            </a:ln>
          </p:spPr>
          <p:txBody>
            <a:bodyPr wrap="none" lIns="0" tIns="0" rIns="0" bIns="0" anchor="t" anchorCtr="0">
              <a:spAutoFit/>
            </a:bodyPr>
            <a:lstStyle/>
            <a:p>
              <a:pPr algn="l"/>
              <a:r>
                <a:rPr lang="en-GB" sz="1350" dirty="0">
                  <a:solidFill>
                    <a:schemeClr val="accent5"/>
                  </a:solidFill>
                  <a:latin typeface="+mn-lt"/>
                  <a:ea typeface="+mn-ea"/>
                  <a:cs typeface="+mn-cs"/>
                </a:rPr>
                <a:t>Grounds routing in</a:t>
              </a:r>
              <a:endParaRPr lang="en-GB" sz="1350" dirty="0">
                <a:solidFill>
                  <a:schemeClr val="accent5"/>
                </a:solidFill>
                <a:latin typeface="+mn-lt"/>
                <a:ea typeface="+mn-ea"/>
                <a:cs typeface="+mn-cs"/>
              </a:endParaRPr>
            </a:p>
          </p:txBody>
        </p:sp>
        <p:sp>
          <p:nvSpPr>
            <p:cNvPr id="21" name="TextBox 21"/>
            <p:cNvSpPr txBox="1"/>
            <p:nvPr/>
          </p:nvSpPr>
          <p:spPr>
            <a:xfrm>
              <a:off x="3012567" y="4426268"/>
              <a:ext cx="1658436" cy="264033"/>
            </a:xfrm>
            <a:prstGeom prst="rect">
              <a:avLst/>
            </a:prstGeom>
            <a:noFill/>
            <a:ln>
              <a:noFill/>
            </a:ln>
          </p:spPr>
          <p:txBody>
            <a:bodyPr wrap="none" lIns="0" tIns="0" rIns="0" bIns="0" anchor="t" anchorCtr="0">
              <a:spAutoFit/>
            </a:bodyPr>
            <a:lstStyle/>
            <a:p>
              <a:pPr algn="l"/>
              <a:r>
                <a:rPr lang="en-GB" sz="1350" dirty="0">
                  <a:solidFill>
                    <a:schemeClr val="accent5"/>
                  </a:solidFill>
                  <a:latin typeface="+mn-lt"/>
                  <a:ea typeface="+mn-ea"/>
                  <a:cs typeface="+mn-cs"/>
                </a:rPr>
                <a:t>precedent at ≥85%</a:t>
              </a:r>
              <a:endParaRPr lang="en-GB" sz="1350" dirty="0">
                <a:solidFill>
                  <a:schemeClr val="accent5"/>
                </a:solidFill>
                <a:latin typeface="+mn-lt"/>
                <a:ea typeface="+mn-ea"/>
                <a:cs typeface="+mn-cs"/>
              </a:endParaRPr>
            </a:p>
          </p:txBody>
        </p:sp>
        <p:sp>
          <p:nvSpPr>
            <p:cNvPr id="22" name="TextBox 22"/>
            <p:cNvSpPr txBox="1"/>
            <p:nvPr/>
          </p:nvSpPr>
          <p:spPr>
            <a:xfrm>
              <a:off x="3012567" y="4635818"/>
              <a:ext cx="1067791" cy="264033"/>
            </a:xfrm>
            <a:prstGeom prst="rect">
              <a:avLst/>
            </a:prstGeom>
            <a:noFill/>
            <a:ln>
              <a:noFill/>
            </a:ln>
          </p:spPr>
          <p:txBody>
            <a:bodyPr wrap="none" lIns="0" tIns="0" rIns="0" bIns="0" anchor="t" anchorCtr="0">
              <a:spAutoFit/>
            </a:bodyPr>
            <a:lstStyle/>
            <a:p>
              <a:pPr algn="l"/>
              <a:r>
                <a:rPr lang="en-GB" sz="1350" dirty="0">
                  <a:solidFill>
                    <a:schemeClr val="accent5"/>
                  </a:solidFill>
                  <a:latin typeface="+mn-lt"/>
                  <a:ea typeface="+mn-ea"/>
                  <a:cs typeface="+mn-cs"/>
                </a:rPr>
                <a:t>confidence.</a:t>
              </a:r>
              <a:endParaRPr lang="en-GB" sz="1350" dirty="0">
                <a:solidFill>
                  <a:schemeClr val="accent5"/>
                </a:solidFill>
                <a:latin typeface="+mn-lt"/>
                <a:ea typeface="+mn-ea"/>
                <a:cs typeface="+mn-cs"/>
              </a:endParaRPr>
            </a:p>
          </p:txBody>
        </p:sp>
      </p:grpSp>
      <p:grpSp>
        <p:nvGrpSpPr>
          <p:cNvPr id="32" name="Group 32"/>
          <p:cNvGrpSpPr/>
          <p:nvPr/>
        </p:nvGrpSpPr>
        <p:grpSpPr>
          <a:xfrm>
            <a:off x="5048250" y="2419350"/>
            <a:ext cx="2066925" cy="3829050"/>
            <a:chOff x="5048250" y="2419350"/>
            <a:chExt cx="2066925" cy="3829050"/>
          </a:xfrm>
        </p:grpSpPr>
        <p:sp>
          <p:nvSpPr>
            <p:cNvPr id="24" name="Ellipse 24"/>
            <p:cNvSpPr/>
            <p:nvPr/>
          </p:nvSpPr>
          <p:spPr>
            <a:xfrm>
              <a:off x="5829300" y="2419350"/>
              <a:ext cx="495300" cy="495300"/>
            </a:xfrm>
            <a:prstGeom prst="ellipse">
              <a:avLst/>
            </a:prstGeom>
            <a:solidFill>
              <a:schemeClr val="accent1"/>
            </a:solidFill>
            <a:ln>
              <a:noFill/>
            </a:ln>
          </p:spPr>
        </p:sp>
        <p:sp>
          <p:nvSpPr>
            <p:cNvPr id="25" name="TextBox 25"/>
            <p:cNvSpPr txBox="1"/>
            <p:nvPr/>
          </p:nvSpPr>
          <p:spPr>
            <a:xfrm>
              <a:off x="6004430" y="2565082"/>
              <a:ext cx="145040" cy="322707"/>
            </a:xfrm>
            <a:prstGeom prst="rect">
              <a:avLst/>
            </a:prstGeom>
            <a:noFill/>
            <a:ln>
              <a:noFill/>
            </a:ln>
          </p:spPr>
          <p:txBody>
            <a:bodyPr wrap="none" lIns="0" tIns="0" rIns="0" bIns="0" anchor="t" anchorCtr="0">
              <a:spAutoFit/>
            </a:bodyPr>
            <a:lstStyle/>
            <a:p>
              <a:pPr algn="ctr"/>
              <a:r>
                <a:rPr lang="en-GB" sz="1650" b="1" dirty="0">
                  <a:solidFill>
                    <a:srgbClr val="FFFFFF"/>
                  </a:solidFill>
                  <a:latin typeface="+mn-lt"/>
                  <a:ea typeface="+mn-ea"/>
                  <a:cs typeface="+mn-cs"/>
                </a:rPr>
                <a:t>3</a:t>
              </a:r>
              <a:endParaRPr lang="en-GB" sz="1650" b="1" dirty="0">
                <a:solidFill>
                  <a:srgbClr val="FFFFFF"/>
                </a:solidFill>
                <a:latin typeface="+mn-lt"/>
                <a:ea typeface="+mn-ea"/>
                <a:cs typeface="+mn-cs"/>
              </a:endParaRPr>
            </a:p>
          </p:txBody>
        </p:sp>
        <p:sp>
          <p:nvSpPr>
            <p:cNvPr id="26" name="Rectangle 26"/>
            <p:cNvSpPr/>
            <p:nvPr/>
          </p:nvSpPr>
          <p:spPr>
            <a:xfrm>
              <a:off x="5048250" y="3276600"/>
              <a:ext cx="2066925" cy="2971800"/>
            </a:xfrm>
            <a:prstGeom prst="roundRect">
              <a:avLst>
                <a:gd name="adj" fmla="val 11060"/>
              </a:avLst>
            </a:prstGeom>
            <a:solidFill>
              <a:schemeClr val="lt2"/>
            </a:solidFill>
            <a:ln>
              <a:noFill/>
            </a:ln>
            <a:effectLst>
              <a:outerShdw blurRad="266700" dist="57150" dir="5400000" algn="ctr" rotWithShape="0">
                <a:srgbClr val="7C6FE0">
                  <a:alpha val="7500"/>
                </a:srgbClr>
              </a:outerShdw>
            </a:effectLst>
          </p:spPr>
        </p:sp>
        <p:sp>
          <p:nvSpPr>
            <p:cNvPr id="27" name="Freeform 27"/>
            <p:cNvSpPr/>
            <p:nvPr/>
          </p:nvSpPr>
          <p:spPr>
            <a:xfrm>
              <a:off x="5253079" y="3517836"/>
              <a:ext cx="248632" cy="250325"/>
            </a:xfrm>
            <a:custGeom>
              <a:avLst/>
              <a:gdLst/>
              <a:ahLst/>
              <a:cxnLst/>
              <a:rect l="l" t="t" r="r" b="b"/>
              <a:pathLst>
                <a:path w="248632" h="250325">
                  <a:moveTo>
                    <a:pt x="152359" y="23940"/>
                  </a:moveTo>
                  <a:cubicBezTo>
                    <a:pt x="176196" y="37700"/>
                    <a:pt x="192915" y="61098"/>
                    <a:pt x="198210" y="88108"/>
                  </a:cubicBezTo>
                  <a:cubicBezTo>
                    <a:pt x="203505" y="115117"/>
                    <a:pt x="196858" y="143096"/>
                    <a:pt x="179981" y="164838"/>
                  </a:cubicBezTo>
                  <a:lnTo>
                    <a:pt x="244120" y="228977"/>
                  </a:lnTo>
                  <a:cubicBezTo>
                    <a:pt x="248632" y="233649"/>
                    <a:pt x="248568" y="241075"/>
                    <a:pt x="243975" y="245668"/>
                  </a:cubicBezTo>
                  <a:cubicBezTo>
                    <a:pt x="239382" y="250260"/>
                    <a:pt x="231956" y="250325"/>
                    <a:pt x="227285" y="245813"/>
                  </a:cubicBezTo>
                  <a:lnTo>
                    <a:pt x="163134" y="181674"/>
                  </a:lnTo>
                  <a:cubicBezTo>
                    <a:pt x="125319" y="211016"/>
                    <a:pt x="71602" y="207739"/>
                    <a:pt x="37635" y="174018"/>
                  </a:cubicBezTo>
                  <a:cubicBezTo>
                    <a:pt x="3667" y="140296"/>
                    <a:pt x="0" y="86605"/>
                    <a:pt x="29067" y="48578"/>
                  </a:cubicBezTo>
                  <a:cubicBezTo>
                    <a:pt x="58133" y="10551"/>
                    <a:pt x="110905" y="0"/>
                    <a:pt x="152359" y="23928"/>
                  </a:cubicBezTo>
                </a:path>
              </a:pathLst>
            </a:custGeom>
            <a:solidFill>
              <a:schemeClr val="accent1"/>
            </a:solidFill>
            <a:ln>
              <a:noFill/>
            </a:ln>
          </p:spPr>
        </p:sp>
        <p:sp>
          <p:nvSpPr>
            <p:cNvPr id="28" name="TextBox 28"/>
            <p:cNvSpPr txBox="1"/>
            <p:nvPr/>
          </p:nvSpPr>
          <p:spPr>
            <a:xfrm>
              <a:off x="5230368" y="3898582"/>
              <a:ext cx="1319840" cy="322707"/>
            </a:xfrm>
            <a:prstGeom prst="rect">
              <a:avLst/>
            </a:prstGeom>
            <a:noFill/>
            <a:ln>
              <a:noFill/>
            </a:ln>
          </p:spPr>
          <p:txBody>
            <a:bodyPr wrap="none" lIns="0" tIns="0" rIns="0" bIns="0" anchor="t" anchorCtr="0">
              <a:spAutoFit/>
            </a:bodyPr>
            <a:lstStyle/>
            <a:p>
              <a:pPr algn="l"/>
              <a:r>
                <a:rPr lang="en-GB" sz="1650" b="1" dirty="0">
                  <a:solidFill>
                    <a:schemeClr val="dk1"/>
                  </a:solidFill>
                  <a:latin typeface="+mn-lt"/>
                  <a:ea typeface="+mn-ea"/>
                  <a:cs typeface="+mn-cs"/>
                </a:rPr>
                <a:t>SRE Daemon</a:t>
              </a:r>
              <a:endParaRPr lang="en-GB" sz="1650" b="1" dirty="0">
                <a:solidFill>
                  <a:schemeClr val="dk1"/>
                </a:solidFill>
                <a:latin typeface="+mn-lt"/>
                <a:ea typeface="+mn-ea"/>
                <a:cs typeface="+mn-cs"/>
              </a:endParaRPr>
            </a:p>
          </p:txBody>
        </p:sp>
        <p:sp>
          <p:nvSpPr>
            <p:cNvPr id="29" name="TextBox 29"/>
            <p:cNvSpPr txBox="1"/>
            <p:nvPr/>
          </p:nvSpPr>
          <p:spPr>
            <a:xfrm>
              <a:off x="5231892" y="4216718"/>
              <a:ext cx="1692456" cy="264033"/>
            </a:xfrm>
            <a:prstGeom prst="rect">
              <a:avLst/>
            </a:prstGeom>
            <a:noFill/>
            <a:ln>
              <a:noFill/>
            </a:ln>
          </p:spPr>
          <p:txBody>
            <a:bodyPr wrap="none" lIns="0" tIns="0" rIns="0" bIns="0" anchor="t" anchorCtr="0">
              <a:spAutoFit/>
            </a:bodyPr>
            <a:lstStyle/>
            <a:p>
              <a:pPr algn="l"/>
              <a:r>
                <a:rPr lang="en-GB" sz="1350" dirty="0">
                  <a:solidFill>
                    <a:schemeClr val="accent5"/>
                  </a:solidFill>
                  <a:latin typeface="+mn-lt"/>
                  <a:ea typeface="+mn-ea"/>
                  <a:cs typeface="+mn-cs"/>
                </a:rPr>
                <a:t>Polls every 15s for</a:t>
              </a:r>
              <a:endParaRPr lang="en-GB" sz="1350" dirty="0">
                <a:solidFill>
                  <a:schemeClr val="accent5"/>
                </a:solidFill>
                <a:latin typeface="+mn-lt"/>
                <a:ea typeface="+mn-ea"/>
                <a:cs typeface="+mn-cs"/>
              </a:endParaRPr>
            </a:p>
          </p:txBody>
        </p:sp>
        <p:sp>
          <p:nvSpPr>
            <p:cNvPr id="30" name="TextBox 30"/>
            <p:cNvSpPr txBox="1"/>
            <p:nvPr/>
          </p:nvSpPr>
          <p:spPr>
            <a:xfrm>
              <a:off x="5231892" y="4426268"/>
              <a:ext cx="1677055" cy="264033"/>
            </a:xfrm>
            <a:prstGeom prst="rect">
              <a:avLst/>
            </a:prstGeom>
            <a:noFill/>
            <a:ln>
              <a:noFill/>
            </a:ln>
          </p:spPr>
          <p:txBody>
            <a:bodyPr wrap="none" lIns="0" tIns="0" rIns="0" bIns="0" anchor="t" anchorCtr="0">
              <a:spAutoFit/>
            </a:bodyPr>
            <a:lstStyle/>
            <a:p>
              <a:pPr algn="l"/>
              <a:r>
                <a:rPr lang="en-GB" sz="1350" dirty="0">
                  <a:solidFill>
                    <a:schemeClr val="accent5"/>
                  </a:solidFill>
                  <a:latin typeface="+mn-lt"/>
                  <a:ea typeface="+mn-ea"/>
                  <a:cs typeface="+mn-cs"/>
                </a:rPr>
                <a:t>a matching SOP via</a:t>
              </a:r>
              <a:endParaRPr lang="en-GB" sz="1350" dirty="0">
                <a:solidFill>
                  <a:schemeClr val="accent5"/>
                </a:solidFill>
                <a:latin typeface="+mn-lt"/>
                <a:ea typeface="+mn-ea"/>
                <a:cs typeface="+mn-cs"/>
              </a:endParaRPr>
            </a:p>
          </p:txBody>
        </p:sp>
        <p:sp>
          <p:nvSpPr>
            <p:cNvPr id="31" name="TextBox 31"/>
            <p:cNvSpPr txBox="1"/>
            <p:nvPr/>
          </p:nvSpPr>
          <p:spPr>
            <a:xfrm>
              <a:off x="5231892" y="4635818"/>
              <a:ext cx="1041387" cy="264033"/>
            </a:xfrm>
            <a:prstGeom prst="rect">
              <a:avLst/>
            </a:prstGeom>
            <a:noFill/>
            <a:ln>
              <a:noFill/>
            </a:ln>
          </p:spPr>
          <p:txBody>
            <a:bodyPr wrap="none" lIns="0" tIns="0" rIns="0" bIns="0" anchor="t" anchorCtr="0">
              <a:spAutoFit/>
            </a:bodyPr>
            <a:lstStyle/>
            <a:p>
              <a:pPr algn="l"/>
              <a:r>
                <a:rPr lang="en-GB" sz="1350" dirty="0">
                  <a:solidFill>
                    <a:schemeClr val="accent5"/>
                  </a:solidFill>
                  <a:latin typeface="+mn-lt"/>
                  <a:ea typeface="+mn-ea"/>
                  <a:cs typeface="+mn-cs"/>
                </a:rPr>
                <a:t>hybrid RAG.</a:t>
              </a:r>
              <a:endParaRPr lang="en-GB" sz="1350" dirty="0">
                <a:solidFill>
                  <a:schemeClr val="accent5"/>
                </a:solidFill>
                <a:latin typeface="+mn-lt"/>
                <a:ea typeface="+mn-ea"/>
                <a:cs typeface="+mn-cs"/>
              </a:endParaRPr>
            </a:p>
          </p:txBody>
        </p:sp>
      </p:grpSp>
      <p:grpSp>
        <p:nvGrpSpPr>
          <p:cNvPr id="42" name="Group 42"/>
          <p:cNvGrpSpPr/>
          <p:nvPr/>
        </p:nvGrpSpPr>
        <p:grpSpPr>
          <a:xfrm>
            <a:off x="7267575" y="2419350"/>
            <a:ext cx="2066925" cy="3829050"/>
            <a:chOff x="7267575" y="2419350"/>
            <a:chExt cx="2066925" cy="3829050"/>
          </a:xfrm>
        </p:grpSpPr>
        <p:sp>
          <p:nvSpPr>
            <p:cNvPr id="33" name="Ellipse 33"/>
            <p:cNvSpPr/>
            <p:nvPr/>
          </p:nvSpPr>
          <p:spPr>
            <a:xfrm>
              <a:off x="8048625" y="2419350"/>
              <a:ext cx="495300" cy="495300"/>
            </a:xfrm>
            <a:prstGeom prst="ellipse">
              <a:avLst/>
            </a:prstGeom>
            <a:solidFill>
              <a:schemeClr val="accent1"/>
            </a:solidFill>
            <a:ln>
              <a:noFill/>
            </a:ln>
          </p:spPr>
        </p:sp>
        <p:sp>
          <p:nvSpPr>
            <p:cNvPr id="34" name="TextBox 34"/>
            <p:cNvSpPr txBox="1"/>
            <p:nvPr/>
          </p:nvSpPr>
          <p:spPr>
            <a:xfrm>
              <a:off x="8223755" y="2565082"/>
              <a:ext cx="145040" cy="322707"/>
            </a:xfrm>
            <a:prstGeom prst="rect">
              <a:avLst/>
            </a:prstGeom>
            <a:noFill/>
            <a:ln>
              <a:noFill/>
            </a:ln>
          </p:spPr>
          <p:txBody>
            <a:bodyPr wrap="none" lIns="0" tIns="0" rIns="0" bIns="0" anchor="t" anchorCtr="0">
              <a:spAutoFit/>
            </a:bodyPr>
            <a:lstStyle/>
            <a:p>
              <a:pPr algn="ctr"/>
              <a:r>
                <a:rPr lang="en-GB" sz="1650" b="1" dirty="0">
                  <a:solidFill>
                    <a:srgbClr val="FFFFFF"/>
                  </a:solidFill>
                  <a:latin typeface="+mn-lt"/>
                  <a:ea typeface="+mn-ea"/>
                  <a:cs typeface="+mn-cs"/>
                </a:rPr>
                <a:t>4</a:t>
              </a:r>
              <a:endParaRPr lang="en-GB" sz="1650" b="1" dirty="0">
                <a:solidFill>
                  <a:srgbClr val="FFFFFF"/>
                </a:solidFill>
                <a:latin typeface="+mn-lt"/>
                <a:ea typeface="+mn-ea"/>
                <a:cs typeface="+mn-cs"/>
              </a:endParaRPr>
            </a:p>
          </p:txBody>
        </p:sp>
        <p:sp>
          <p:nvSpPr>
            <p:cNvPr id="35" name="Rectangle 35"/>
            <p:cNvSpPr/>
            <p:nvPr/>
          </p:nvSpPr>
          <p:spPr>
            <a:xfrm>
              <a:off x="7267575" y="3276600"/>
              <a:ext cx="2066925" cy="2971800"/>
            </a:xfrm>
            <a:prstGeom prst="roundRect">
              <a:avLst>
                <a:gd name="adj" fmla="val 11060"/>
              </a:avLst>
            </a:prstGeom>
            <a:solidFill>
              <a:schemeClr val="lt2"/>
            </a:solidFill>
            <a:ln>
              <a:noFill/>
            </a:ln>
            <a:effectLst>
              <a:outerShdw blurRad="266700" dist="57150" dir="5400000" algn="ctr" rotWithShape="0">
                <a:srgbClr val="7C6FE0">
                  <a:alpha val="7500"/>
                </a:srgbClr>
              </a:outerShdw>
            </a:effectLst>
          </p:spPr>
        </p:sp>
        <p:sp>
          <p:nvSpPr>
            <p:cNvPr id="36" name="Freeform 36"/>
            <p:cNvSpPr/>
            <p:nvPr/>
          </p:nvSpPr>
          <p:spPr>
            <a:xfrm>
              <a:off x="7481886" y="3523679"/>
              <a:ext cx="250708" cy="251687"/>
            </a:xfrm>
            <a:custGeom>
              <a:avLst/>
              <a:gdLst/>
              <a:ahLst/>
              <a:cxnLst/>
              <a:rect l="l" t="t" r="r" b="b"/>
              <a:pathLst>
                <a:path w="250708" h="251687">
                  <a:moveTo>
                    <a:pt x="178595" y="21288"/>
                  </a:moveTo>
                  <a:cubicBezTo>
                    <a:pt x="228635" y="50178"/>
                    <a:pt x="250708" y="110826"/>
                    <a:pt x="230946" y="165122"/>
                  </a:cubicBezTo>
                  <a:cubicBezTo>
                    <a:pt x="211183" y="219417"/>
                    <a:pt x="155290" y="251687"/>
                    <a:pt x="98387" y="241652"/>
                  </a:cubicBezTo>
                  <a:cubicBezTo>
                    <a:pt x="41484" y="231618"/>
                    <a:pt x="0" y="182176"/>
                    <a:pt x="1" y="124396"/>
                  </a:cubicBezTo>
                  <a:lnTo>
                    <a:pt x="61" y="120538"/>
                  </a:lnTo>
                  <a:cubicBezTo>
                    <a:pt x="1417" y="78711"/>
                    <a:pt x="24633" y="40667"/>
                    <a:pt x="61210" y="20334"/>
                  </a:cubicBezTo>
                  <a:cubicBezTo>
                    <a:pt x="97787" y="0"/>
                    <a:pt x="142354" y="362"/>
                    <a:pt x="178595" y="21288"/>
                  </a:cubicBezTo>
                  <a:moveTo>
                    <a:pt x="103669" y="92166"/>
                  </a:moveTo>
                  <a:cubicBezTo>
                    <a:pt x="99020" y="87518"/>
                    <a:pt x="91483" y="87518"/>
                    <a:pt x="86834" y="92166"/>
                  </a:cubicBezTo>
                  <a:lnTo>
                    <a:pt x="63021" y="115978"/>
                  </a:lnTo>
                  <a:cubicBezTo>
                    <a:pt x="58373" y="120627"/>
                    <a:pt x="58373" y="128164"/>
                    <a:pt x="63021" y="132813"/>
                  </a:cubicBezTo>
                  <a:lnTo>
                    <a:pt x="86834" y="156626"/>
                  </a:lnTo>
                  <a:cubicBezTo>
                    <a:pt x="91483" y="161274"/>
                    <a:pt x="99020" y="161274"/>
                    <a:pt x="103669" y="156626"/>
                  </a:cubicBezTo>
                  <a:lnTo>
                    <a:pt x="104657" y="155507"/>
                  </a:lnTo>
                  <a:cubicBezTo>
                    <a:pt x="108334" y="150767"/>
                    <a:pt x="107911" y="144032"/>
                    <a:pt x="103669" y="139791"/>
                  </a:cubicBezTo>
                  <a:lnTo>
                    <a:pt x="88286" y="124396"/>
                  </a:lnTo>
                  <a:lnTo>
                    <a:pt x="103669" y="109001"/>
                  </a:lnTo>
                  <a:cubicBezTo>
                    <a:pt x="108317" y="104352"/>
                    <a:pt x="108317" y="96815"/>
                    <a:pt x="103669" y="92166"/>
                  </a:cubicBezTo>
                  <a:moveTo>
                    <a:pt x="151294" y="92166"/>
                  </a:moveTo>
                  <a:cubicBezTo>
                    <a:pt x="146645" y="87518"/>
                    <a:pt x="139108" y="87518"/>
                    <a:pt x="134459" y="92166"/>
                  </a:cubicBezTo>
                  <a:lnTo>
                    <a:pt x="133471" y="93285"/>
                  </a:lnTo>
                  <a:cubicBezTo>
                    <a:pt x="129794" y="98024"/>
                    <a:pt x="130217" y="104759"/>
                    <a:pt x="134459" y="109001"/>
                  </a:cubicBezTo>
                  <a:lnTo>
                    <a:pt x="149842" y="124396"/>
                  </a:lnTo>
                  <a:lnTo>
                    <a:pt x="134459" y="139791"/>
                  </a:lnTo>
                  <a:cubicBezTo>
                    <a:pt x="129947" y="144462"/>
                    <a:pt x="130011" y="151888"/>
                    <a:pt x="134604" y="156481"/>
                  </a:cubicBezTo>
                  <a:cubicBezTo>
                    <a:pt x="139196" y="161074"/>
                    <a:pt x="146622" y="161138"/>
                    <a:pt x="151294" y="156626"/>
                  </a:cubicBezTo>
                  <a:lnTo>
                    <a:pt x="175107" y="132813"/>
                  </a:lnTo>
                  <a:cubicBezTo>
                    <a:pt x="179755" y="128164"/>
                    <a:pt x="179755" y="120627"/>
                    <a:pt x="175107" y="115978"/>
                  </a:cubicBezTo>
                  <a:close/>
                </a:path>
              </a:pathLst>
            </a:custGeom>
            <a:solidFill>
              <a:schemeClr val="accent1"/>
            </a:solidFill>
            <a:ln>
              <a:noFill/>
            </a:ln>
          </p:spPr>
        </p:sp>
        <p:sp>
          <p:nvSpPr>
            <p:cNvPr id="37" name="TextBox 37"/>
            <p:cNvSpPr txBox="1"/>
            <p:nvPr/>
          </p:nvSpPr>
          <p:spPr>
            <a:xfrm>
              <a:off x="7449693" y="3898582"/>
              <a:ext cx="1248918" cy="322707"/>
            </a:xfrm>
            <a:prstGeom prst="rect">
              <a:avLst/>
            </a:prstGeom>
            <a:noFill/>
            <a:ln>
              <a:noFill/>
            </a:ln>
          </p:spPr>
          <p:txBody>
            <a:bodyPr wrap="none" lIns="0" tIns="0" rIns="0" bIns="0" anchor="t" anchorCtr="0">
              <a:spAutoFit/>
            </a:bodyPr>
            <a:lstStyle/>
            <a:p>
              <a:pPr algn="l"/>
              <a:r>
                <a:rPr lang="en-GB" sz="1650" b="1" dirty="0">
                  <a:solidFill>
                    <a:schemeClr val="dk1"/>
                  </a:solidFill>
                  <a:latin typeface="+mn-lt"/>
                  <a:ea typeface="+mn-ea"/>
                  <a:cs typeface="+mn-cs"/>
                </a:rPr>
                <a:t>Execute or</a:t>
              </a:r>
              <a:endParaRPr lang="en-GB" sz="1650" b="1" dirty="0">
                <a:solidFill>
                  <a:schemeClr val="dk1"/>
                </a:solidFill>
                <a:latin typeface="+mn-lt"/>
                <a:ea typeface="+mn-ea"/>
                <a:cs typeface="+mn-cs"/>
              </a:endParaRPr>
            </a:p>
          </p:txBody>
        </p:sp>
        <p:sp>
          <p:nvSpPr>
            <p:cNvPr id="38" name="TextBox 38"/>
            <p:cNvSpPr txBox="1"/>
            <p:nvPr/>
          </p:nvSpPr>
          <p:spPr>
            <a:xfrm>
              <a:off x="7449693" y="4127182"/>
              <a:ext cx="921957" cy="322707"/>
            </a:xfrm>
            <a:prstGeom prst="rect">
              <a:avLst/>
            </a:prstGeom>
            <a:noFill/>
            <a:ln>
              <a:noFill/>
            </a:ln>
          </p:spPr>
          <p:txBody>
            <a:bodyPr wrap="none" lIns="0" tIns="0" rIns="0" bIns="0" anchor="t" anchorCtr="0">
              <a:spAutoFit/>
            </a:bodyPr>
            <a:lstStyle/>
            <a:p>
              <a:pPr algn="l"/>
              <a:r>
                <a:rPr lang="en-GB" sz="1650" b="1" dirty="0">
                  <a:solidFill>
                    <a:schemeClr val="dk1"/>
                  </a:solidFill>
                  <a:latin typeface="+mn-lt"/>
                  <a:ea typeface="+mn-ea"/>
                  <a:cs typeface="+mn-cs"/>
                </a:rPr>
                <a:t>Propose</a:t>
              </a:r>
              <a:endParaRPr lang="en-GB" sz="1650" b="1" dirty="0">
                <a:solidFill>
                  <a:schemeClr val="dk1"/>
                </a:solidFill>
                <a:latin typeface="+mn-lt"/>
                <a:ea typeface="+mn-ea"/>
                <a:cs typeface="+mn-cs"/>
              </a:endParaRPr>
            </a:p>
          </p:txBody>
        </p:sp>
        <p:sp>
          <p:nvSpPr>
            <p:cNvPr id="39" name="TextBox 39"/>
            <p:cNvSpPr txBox="1"/>
            <p:nvPr/>
          </p:nvSpPr>
          <p:spPr>
            <a:xfrm>
              <a:off x="7451217" y="4445318"/>
              <a:ext cx="1449781" cy="264033"/>
            </a:xfrm>
            <a:prstGeom prst="rect">
              <a:avLst/>
            </a:prstGeom>
            <a:noFill/>
            <a:ln>
              <a:noFill/>
            </a:ln>
          </p:spPr>
          <p:txBody>
            <a:bodyPr wrap="none" lIns="0" tIns="0" rIns="0" bIns="0" anchor="t" anchorCtr="0">
              <a:spAutoFit/>
            </a:bodyPr>
            <a:lstStyle/>
            <a:p>
              <a:pPr algn="l"/>
              <a:r>
                <a:rPr lang="en-GB" sz="1350" dirty="0">
                  <a:solidFill>
                    <a:schemeClr val="accent5"/>
                  </a:solidFill>
                  <a:latin typeface="+mn-lt"/>
                  <a:ea typeface="+mn-ea"/>
                  <a:cs typeface="+mn-cs"/>
                </a:rPr>
                <a:t>RAG hit runs the</a:t>
              </a:r>
              <a:endParaRPr lang="en-GB" sz="1350" dirty="0">
                <a:solidFill>
                  <a:schemeClr val="accent5"/>
                </a:solidFill>
                <a:latin typeface="+mn-lt"/>
                <a:ea typeface="+mn-ea"/>
                <a:cs typeface="+mn-cs"/>
              </a:endParaRPr>
            </a:p>
          </p:txBody>
        </p:sp>
        <p:sp>
          <p:nvSpPr>
            <p:cNvPr id="40" name="TextBox 40"/>
            <p:cNvSpPr txBox="1"/>
            <p:nvPr/>
          </p:nvSpPr>
          <p:spPr>
            <a:xfrm>
              <a:off x="7451217" y="4654868"/>
              <a:ext cx="1525048" cy="264033"/>
            </a:xfrm>
            <a:prstGeom prst="rect">
              <a:avLst/>
            </a:prstGeom>
            <a:noFill/>
            <a:ln>
              <a:noFill/>
            </a:ln>
          </p:spPr>
          <p:txBody>
            <a:bodyPr wrap="none" lIns="0" tIns="0" rIns="0" bIns="0" anchor="t" anchorCtr="0">
              <a:spAutoFit/>
            </a:bodyPr>
            <a:lstStyle/>
            <a:p>
              <a:pPr algn="l"/>
              <a:r>
                <a:rPr lang="en-GB" sz="1350" dirty="0">
                  <a:solidFill>
                    <a:schemeClr val="accent5"/>
                  </a:solidFill>
                  <a:latin typeface="+mn-lt"/>
                  <a:ea typeface="+mn-ea"/>
                  <a:cs typeface="+mn-cs"/>
                </a:rPr>
                <a:t>SOP; a miss asks</a:t>
              </a:r>
              <a:endParaRPr lang="en-GB" sz="1350" dirty="0">
                <a:solidFill>
                  <a:schemeClr val="accent5"/>
                </a:solidFill>
                <a:latin typeface="+mn-lt"/>
                <a:ea typeface="+mn-ea"/>
                <a:cs typeface="+mn-cs"/>
              </a:endParaRPr>
            </a:p>
          </p:txBody>
        </p:sp>
        <p:sp>
          <p:nvSpPr>
            <p:cNvPr id="41" name="TextBox 41"/>
            <p:cNvSpPr txBox="1"/>
            <p:nvPr/>
          </p:nvSpPr>
          <p:spPr>
            <a:xfrm>
              <a:off x="7451217" y="4864418"/>
              <a:ext cx="1222267" cy="264033"/>
            </a:xfrm>
            <a:prstGeom prst="rect">
              <a:avLst/>
            </a:prstGeom>
            <a:noFill/>
            <a:ln>
              <a:noFill/>
            </a:ln>
          </p:spPr>
          <p:txBody>
            <a:bodyPr wrap="none" lIns="0" tIns="0" rIns="0" bIns="0" anchor="t" anchorCtr="0">
              <a:spAutoFit/>
            </a:bodyPr>
            <a:lstStyle/>
            <a:p>
              <a:pPr algn="l"/>
              <a:r>
                <a:rPr lang="en-GB" sz="1350" dirty="0">
                  <a:solidFill>
                    <a:schemeClr val="accent5"/>
                  </a:solidFill>
                  <a:latin typeface="+mn-lt"/>
                  <a:ea typeface="+mn-ea"/>
                  <a:cs typeface="+mn-cs"/>
                </a:rPr>
                <a:t>for approval.</a:t>
              </a:r>
              <a:endParaRPr lang="en-GB" sz="1350" dirty="0">
                <a:solidFill>
                  <a:schemeClr val="accent5"/>
                </a:solidFill>
                <a:latin typeface="+mn-lt"/>
                <a:ea typeface="+mn-ea"/>
                <a:cs typeface="+mn-cs"/>
              </a:endParaRPr>
            </a:p>
          </p:txBody>
        </p:sp>
      </p:grpSp>
      <p:grpSp>
        <p:nvGrpSpPr>
          <p:cNvPr id="52" name="Group 52"/>
          <p:cNvGrpSpPr/>
          <p:nvPr/>
        </p:nvGrpSpPr>
        <p:grpSpPr>
          <a:xfrm>
            <a:off x="9486900" y="2419350"/>
            <a:ext cx="2066925" cy="3829050"/>
            <a:chOff x="9486900" y="2419350"/>
            <a:chExt cx="2066925" cy="3829050"/>
          </a:xfrm>
        </p:grpSpPr>
        <p:sp>
          <p:nvSpPr>
            <p:cNvPr id="43" name="Ellipse 43"/>
            <p:cNvSpPr/>
            <p:nvPr/>
          </p:nvSpPr>
          <p:spPr>
            <a:xfrm>
              <a:off x="10267950" y="2419350"/>
              <a:ext cx="495300" cy="495300"/>
            </a:xfrm>
            <a:prstGeom prst="ellipse">
              <a:avLst/>
            </a:prstGeom>
            <a:solidFill>
              <a:schemeClr val="accent2"/>
            </a:solidFill>
            <a:ln>
              <a:noFill/>
            </a:ln>
          </p:spPr>
        </p:sp>
        <p:sp>
          <p:nvSpPr>
            <p:cNvPr id="44" name="TextBox 44"/>
            <p:cNvSpPr txBox="1"/>
            <p:nvPr/>
          </p:nvSpPr>
          <p:spPr>
            <a:xfrm>
              <a:off x="10443080" y="2565082"/>
              <a:ext cx="145040" cy="322707"/>
            </a:xfrm>
            <a:prstGeom prst="rect">
              <a:avLst/>
            </a:prstGeom>
            <a:noFill/>
            <a:ln>
              <a:noFill/>
            </a:ln>
          </p:spPr>
          <p:txBody>
            <a:bodyPr wrap="none" lIns="0" tIns="0" rIns="0" bIns="0" anchor="t" anchorCtr="0">
              <a:spAutoFit/>
            </a:bodyPr>
            <a:lstStyle/>
            <a:p>
              <a:pPr algn="ctr"/>
              <a:r>
                <a:rPr lang="en-GB" sz="1650" b="1" dirty="0">
                  <a:solidFill>
                    <a:srgbClr val="FFFFFF"/>
                  </a:solidFill>
                  <a:latin typeface="+mn-lt"/>
                  <a:ea typeface="+mn-ea"/>
                  <a:cs typeface="+mn-cs"/>
                </a:rPr>
                <a:t>5</a:t>
              </a:r>
              <a:endParaRPr lang="en-GB" sz="1650" b="1" dirty="0">
                <a:solidFill>
                  <a:srgbClr val="FFFFFF"/>
                </a:solidFill>
                <a:latin typeface="+mn-lt"/>
                <a:ea typeface="+mn-ea"/>
                <a:cs typeface="+mn-cs"/>
              </a:endParaRPr>
            </a:p>
          </p:txBody>
        </p:sp>
        <p:sp>
          <p:nvSpPr>
            <p:cNvPr id="45" name="Rectangle 45"/>
            <p:cNvSpPr/>
            <p:nvPr/>
          </p:nvSpPr>
          <p:spPr>
            <a:xfrm>
              <a:off x="9486900" y="3276600"/>
              <a:ext cx="2066925" cy="2971800"/>
            </a:xfrm>
            <a:prstGeom prst="roundRect">
              <a:avLst>
                <a:gd name="adj" fmla="val 11060"/>
              </a:avLst>
            </a:prstGeom>
            <a:solidFill>
              <a:schemeClr val="lt2"/>
            </a:solidFill>
            <a:ln>
              <a:noFill/>
            </a:ln>
            <a:effectLst>
              <a:outerShdw blurRad="266700" dist="57150" dir="5400000" algn="ctr" rotWithShape="0">
                <a:srgbClr val="2FA875">
                  <a:alpha val="9000"/>
                </a:srgbClr>
              </a:outerShdw>
            </a:effectLst>
          </p:spPr>
        </p:sp>
        <p:sp>
          <p:nvSpPr>
            <p:cNvPr id="46" name="Freeform 46"/>
            <p:cNvSpPr/>
            <p:nvPr/>
          </p:nvSpPr>
          <p:spPr>
            <a:xfrm>
              <a:off x="9695821" y="3529012"/>
              <a:ext cx="248896" cy="238252"/>
            </a:xfrm>
            <a:custGeom>
              <a:avLst/>
              <a:gdLst/>
              <a:ahLst/>
              <a:cxnLst/>
              <a:rect l="l" t="t" r="r" b="b"/>
              <a:pathLst>
                <a:path w="248896" h="238252">
                  <a:moveTo>
                    <a:pt x="124430" y="0"/>
                  </a:moveTo>
                  <a:lnTo>
                    <a:pt x="125835" y="83"/>
                  </a:lnTo>
                  <a:lnTo>
                    <a:pt x="126537" y="179"/>
                  </a:lnTo>
                  <a:lnTo>
                    <a:pt x="127263" y="333"/>
                  </a:lnTo>
                  <a:lnTo>
                    <a:pt x="128585" y="738"/>
                  </a:lnTo>
                  <a:cubicBezTo>
                    <a:pt x="129498" y="1075"/>
                    <a:pt x="130366" y="1523"/>
                    <a:pt x="131169" y="2072"/>
                  </a:cubicBezTo>
                  <a:lnTo>
                    <a:pt x="132407" y="3048"/>
                  </a:lnTo>
                  <a:lnTo>
                    <a:pt x="135443" y="5644"/>
                  </a:lnTo>
                  <a:cubicBezTo>
                    <a:pt x="159462" y="25593"/>
                    <a:pt x="189817" y="36306"/>
                    <a:pt x="221037" y="35850"/>
                  </a:cubicBezTo>
                  <a:lnTo>
                    <a:pt x="225109" y="35731"/>
                  </a:lnTo>
                  <a:cubicBezTo>
                    <a:pt x="230588" y="35481"/>
                    <a:pt x="235528" y="39006"/>
                    <a:pt x="237075" y="44267"/>
                  </a:cubicBezTo>
                  <a:cubicBezTo>
                    <a:pt x="248896" y="84478"/>
                    <a:pt x="243904" y="127764"/>
                    <a:pt x="223241" y="164229"/>
                  </a:cubicBezTo>
                  <a:cubicBezTo>
                    <a:pt x="202579" y="200693"/>
                    <a:pt x="168012" y="227220"/>
                    <a:pt x="127442" y="237744"/>
                  </a:cubicBezTo>
                  <a:cubicBezTo>
                    <a:pt x="125482" y="238252"/>
                    <a:pt x="123425" y="238252"/>
                    <a:pt x="121465" y="237744"/>
                  </a:cubicBezTo>
                  <a:cubicBezTo>
                    <a:pt x="80893" y="227223"/>
                    <a:pt x="46323" y="200697"/>
                    <a:pt x="25658" y="164232"/>
                  </a:cubicBezTo>
                  <a:cubicBezTo>
                    <a:pt x="4993" y="127767"/>
                    <a:pt x="0" y="84480"/>
                    <a:pt x="11820" y="44267"/>
                  </a:cubicBezTo>
                  <a:cubicBezTo>
                    <a:pt x="13367" y="39006"/>
                    <a:pt x="18308" y="35481"/>
                    <a:pt x="23786" y="35731"/>
                  </a:cubicBezTo>
                  <a:cubicBezTo>
                    <a:pt x="56379" y="37221"/>
                    <a:pt x="88355" y="26491"/>
                    <a:pt x="113452" y="5644"/>
                  </a:cubicBezTo>
                  <a:lnTo>
                    <a:pt x="116584" y="2965"/>
                  </a:lnTo>
                  <a:lnTo>
                    <a:pt x="117727" y="2072"/>
                  </a:lnTo>
                  <a:cubicBezTo>
                    <a:pt x="118530" y="1523"/>
                    <a:pt x="119397" y="1075"/>
                    <a:pt x="120310" y="738"/>
                  </a:cubicBezTo>
                  <a:lnTo>
                    <a:pt x="121644" y="333"/>
                  </a:lnTo>
                  <a:cubicBezTo>
                    <a:pt x="122110" y="221"/>
                    <a:pt x="122584" y="137"/>
                    <a:pt x="123061" y="83"/>
                  </a:cubicBezTo>
                  <a:lnTo>
                    <a:pt x="124430" y="0"/>
                  </a:lnTo>
                  <a:close/>
                  <a:moveTo>
                    <a:pt x="168602" y="86832"/>
                  </a:moveTo>
                  <a:cubicBezTo>
                    <a:pt x="166369" y="84597"/>
                    <a:pt x="163338" y="83340"/>
                    <a:pt x="160178" y="83340"/>
                  </a:cubicBezTo>
                  <a:cubicBezTo>
                    <a:pt x="157018" y="83340"/>
                    <a:pt x="153988" y="84597"/>
                    <a:pt x="151755" y="86832"/>
                  </a:cubicBezTo>
                  <a:lnTo>
                    <a:pt x="112547" y="126028"/>
                  </a:lnTo>
                  <a:lnTo>
                    <a:pt x="97153" y="110645"/>
                  </a:lnTo>
                  <a:lnTo>
                    <a:pt x="96033" y="109657"/>
                  </a:lnTo>
                  <a:cubicBezTo>
                    <a:pt x="91067" y="105816"/>
                    <a:pt x="83972" y="106492"/>
                    <a:pt x="79820" y="111201"/>
                  </a:cubicBezTo>
                  <a:cubicBezTo>
                    <a:pt x="75668" y="115910"/>
                    <a:pt x="75885" y="123034"/>
                    <a:pt x="80317" y="127480"/>
                  </a:cubicBezTo>
                  <a:lnTo>
                    <a:pt x="104130" y="151293"/>
                  </a:lnTo>
                  <a:lnTo>
                    <a:pt x="105249" y="152281"/>
                  </a:lnTo>
                  <a:cubicBezTo>
                    <a:pt x="109989" y="155958"/>
                    <a:pt x="116723" y="155534"/>
                    <a:pt x="120965" y="151293"/>
                  </a:cubicBezTo>
                  <a:lnTo>
                    <a:pt x="168590" y="103668"/>
                  </a:lnTo>
                  <a:lnTo>
                    <a:pt x="169578" y="102549"/>
                  </a:lnTo>
                  <a:cubicBezTo>
                    <a:pt x="173255" y="97809"/>
                    <a:pt x="172831" y="91074"/>
                    <a:pt x="168590" y="86832"/>
                  </a:cubicBezTo>
                  <a:close/>
                </a:path>
              </a:pathLst>
            </a:custGeom>
            <a:solidFill>
              <a:schemeClr val="accent2"/>
            </a:solidFill>
            <a:ln>
              <a:noFill/>
            </a:ln>
          </p:spPr>
        </p:sp>
        <p:sp>
          <p:nvSpPr>
            <p:cNvPr id="47" name="TextBox 47"/>
            <p:cNvSpPr txBox="1"/>
            <p:nvPr/>
          </p:nvSpPr>
          <p:spPr>
            <a:xfrm>
              <a:off x="9669018" y="3898582"/>
              <a:ext cx="1132441" cy="322707"/>
            </a:xfrm>
            <a:prstGeom prst="rect">
              <a:avLst/>
            </a:prstGeom>
            <a:noFill/>
            <a:ln>
              <a:noFill/>
            </a:ln>
          </p:spPr>
          <p:txBody>
            <a:bodyPr wrap="none" lIns="0" tIns="0" rIns="0" bIns="0" anchor="t" anchorCtr="0">
              <a:spAutoFit/>
            </a:bodyPr>
            <a:lstStyle/>
            <a:p>
              <a:pPr algn="l"/>
              <a:r>
                <a:rPr lang="en-GB" sz="1650" b="1" dirty="0">
                  <a:solidFill>
                    <a:schemeClr val="dk1"/>
                  </a:solidFill>
                  <a:latin typeface="+mn-lt"/>
                  <a:ea typeface="+mn-ea"/>
                  <a:cs typeface="+mn-cs"/>
                </a:rPr>
                <a:t>Verified &amp;</a:t>
              </a:r>
              <a:endParaRPr lang="en-GB" sz="1650" b="1" dirty="0">
                <a:solidFill>
                  <a:schemeClr val="dk1"/>
                </a:solidFill>
                <a:latin typeface="+mn-lt"/>
                <a:ea typeface="+mn-ea"/>
                <a:cs typeface="+mn-cs"/>
              </a:endParaRPr>
            </a:p>
          </p:txBody>
        </p:sp>
        <p:sp>
          <p:nvSpPr>
            <p:cNvPr id="48" name="TextBox 48"/>
            <p:cNvSpPr txBox="1"/>
            <p:nvPr/>
          </p:nvSpPr>
          <p:spPr>
            <a:xfrm>
              <a:off x="9669018" y="4127182"/>
              <a:ext cx="863178" cy="322707"/>
            </a:xfrm>
            <a:prstGeom prst="rect">
              <a:avLst/>
            </a:prstGeom>
            <a:noFill/>
            <a:ln>
              <a:noFill/>
            </a:ln>
          </p:spPr>
          <p:txBody>
            <a:bodyPr wrap="none" lIns="0" tIns="0" rIns="0" bIns="0" anchor="t" anchorCtr="0">
              <a:spAutoFit/>
            </a:bodyPr>
            <a:lstStyle/>
            <a:p>
              <a:pPr algn="l"/>
              <a:r>
                <a:rPr lang="en-GB" sz="1650" b="1" dirty="0">
                  <a:solidFill>
                    <a:schemeClr val="dk1"/>
                  </a:solidFill>
                  <a:latin typeface="+mn-lt"/>
                  <a:ea typeface="+mn-ea"/>
                  <a:cs typeface="+mn-cs"/>
                </a:rPr>
                <a:t>Indexed</a:t>
              </a:r>
              <a:endParaRPr lang="en-GB" sz="1650" b="1" dirty="0">
                <a:solidFill>
                  <a:schemeClr val="dk1"/>
                </a:solidFill>
                <a:latin typeface="+mn-lt"/>
                <a:ea typeface="+mn-ea"/>
                <a:cs typeface="+mn-cs"/>
              </a:endParaRPr>
            </a:p>
          </p:txBody>
        </p:sp>
        <p:sp>
          <p:nvSpPr>
            <p:cNvPr id="49" name="TextBox 49"/>
            <p:cNvSpPr txBox="1"/>
            <p:nvPr/>
          </p:nvSpPr>
          <p:spPr>
            <a:xfrm>
              <a:off x="9670542" y="4445318"/>
              <a:ext cx="1328395" cy="264033"/>
            </a:xfrm>
            <a:prstGeom prst="rect">
              <a:avLst/>
            </a:prstGeom>
            <a:noFill/>
            <a:ln>
              <a:noFill/>
            </a:ln>
          </p:spPr>
          <p:txBody>
            <a:bodyPr wrap="none" lIns="0" tIns="0" rIns="0" bIns="0" anchor="t" anchorCtr="0">
              <a:spAutoFit/>
            </a:bodyPr>
            <a:lstStyle/>
            <a:p>
              <a:pPr algn="l"/>
              <a:r>
                <a:rPr lang="en-GB" sz="1350" dirty="0">
                  <a:solidFill>
                    <a:schemeClr val="accent5"/>
                  </a:solidFill>
                  <a:latin typeface="+mn-lt"/>
                  <a:ea typeface="+mn-ea"/>
                  <a:cs typeface="+mn-cs"/>
                </a:rPr>
                <a:t>In-guest proof</a:t>
              </a:r>
              <a:endParaRPr lang="en-GB" sz="1350" dirty="0">
                <a:solidFill>
                  <a:schemeClr val="accent5"/>
                </a:solidFill>
                <a:latin typeface="+mn-lt"/>
                <a:ea typeface="+mn-ea"/>
                <a:cs typeface="+mn-cs"/>
              </a:endParaRPr>
            </a:p>
          </p:txBody>
        </p:sp>
        <p:sp>
          <p:nvSpPr>
            <p:cNvPr id="50" name="TextBox 50"/>
            <p:cNvSpPr txBox="1"/>
            <p:nvPr/>
          </p:nvSpPr>
          <p:spPr>
            <a:xfrm>
              <a:off x="9670542" y="4654868"/>
              <a:ext cx="1567567" cy="264033"/>
            </a:xfrm>
            <a:prstGeom prst="rect">
              <a:avLst/>
            </a:prstGeom>
            <a:noFill/>
            <a:ln>
              <a:noFill/>
            </a:ln>
          </p:spPr>
          <p:txBody>
            <a:bodyPr wrap="none" lIns="0" tIns="0" rIns="0" bIns="0" anchor="t" anchorCtr="0">
              <a:spAutoFit/>
            </a:bodyPr>
            <a:lstStyle/>
            <a:p>
              <a:pPr algn="l"/>
              <a:r>
                <a:rPr lang="en-GB" sz="1350" dirty="0">
                  <a:solidFill>
                    <a:schemeClr val="accent5"/>
                  </a:solidFill>
                  <a:latin typeface="+mn-lt"/>
                  <a:ea typeface="+mn-ea"/>
                  <a:cs typeface="+mn-cs"/>
                </a:rPr>
                <a:t>confirms the fix;</a:t>
              </a:r>
              <a:endParaRPr lang="en-GB" sz="1350" dirty="0">
                <a:solidFill>
                  <a:schemeClr val="accent5"/>
                </a:solidFill>
                <a:latin typeface="+mn-lt"/>
                <a:ea typeface="+mn-ea"/>
                <a:cs typeface="+mn-cs"/>
              </a:endParaRPr>
            </a:p>
          </p:txBody>
        </p:sp>
        <p:sp>
          <p:nvSpPr>
            <p:cNvPr id="51" name="TextBox 51"/>
            <p:cNvSpPr txBox="1"/>
            <p:nvPr/>
          </p:nvSpPr>
          <p:spPr>
            <a:xfrm>
              <a:off x="9670542" y="4864418"/>
              <a:ext cx="1322222" cy="264033"/>
            </a:xfrm>
            <a:prstGeom prst="rect">
              <a:avLst/>
            </a:prstGeom>
            <a:noFill/>
            <a:ln>
              <a:noFill/>
            </a:ln>
          </p:spPr>
          <p:txBody>
            <a:bodyPr wrap="none" lIns="0" tIns="0" rIns="0" bIns="0" anchor="t" anchorCtr="0">
              <a:spAutoFit/>
            </a:bodyPr>
            <a:lstStyle/>
            <a:p>
              <a:pPr algn="l"/>
              <a:r>
                <a:rPr lang="en-GB" sz="1350" dirty="0">
                  <a:solidFill>
                    <a:schemeClr val="accent5"/>
                  </a:solidFill>
                  <a:latin typeface="+mn-lt"/>
                  <a:ea typeface="+mn-ea"/>
                  <a:cs typeface="+mn-cs"/>
                </a:rPr>
                <a:t>trace indexed.</a:t>
              </a:r>
              <a:endParaRPr lang="en-GB" sz="1350" dirty="0">
                <a:solidFill>
                  <a:schemeClr val="accent5"/>
                </a:solidFill>
                <a:latin typeface="+mn-lt"/>
                <a:ea typeface="+mn-ea"/>
                <a:cs typeface="+mn-cs"/>
              </a:endParaRPr>
            </a:p>
          </p:txBody>
        </p:sp>
      </p:grpSp>
      <p:sp>
        <p:nvSpPr>
          <p:cNvPr id="57" name="Footer Placeholder 56"/>
          <p:cNvSpPr>
            <a:spLocks noGrp="1"/>
          </p:cNvSpPr>
          <p:nvPr>
            <p:ph type="ftr" sz="quarter" idx="11"/>
          </p:nvPr>
        </p:nvSpPr>
        <p:spPr/>
        <p:txBody>
          <a:bodyPr/>
          <a:p>
            <a:r>
              <a:rPr lang="en-US"/>
              <a:t>TCS | Confidential</a:t>
            </a:r>
            <a:endParaRPr lang="en-US"/>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609600" y="628650"/>
            <a:ext cx="2729995" cy="346901"/>
            <a:chOff x="609600" y="628650"/>
            <a:chExt cx="2729995" cy="346901"/>
          </a:xfrm>
        </p:grpSpPr>
        <p:sp>
          <p:nvSpPr>
            <p:cNvPr id="2" name="Rectangle 2"/>
            <p:cNvSpPr/>
            <p:nvPr/>
          </p:nvSpPr>
          <p:spPr>
            <a:xfrm>
              <a:off x="609600" y="628650"/>
              <a:ext cx="2552700" cy="342900"/>
            </a:xfrm>
            <a:prstGeom prst="roundRect">
              <a:avLst>
                <a:gd name="adj" fmla="val 50000"/>
              </a:avLst>
            </a:prstGeom>
            <a:solidFill>
              <a:schemeClr val="accent1">
                <a:alpha val="14000"/>
              </a:schemeClr>
            </a:solidFill>
            <a:ln>
              <a:noFill/>
            </a:ln>
          </p:spPr>
        </p:sp>
        <p:sp>
          <p:nvSpPr>
            <p:cNvPr id="3" name="TextBox 3"/>
            <p:cNvSpPr txBox="1"/>
            <p:nvPr/>
          </p:nvSpPr>
          <p:spPr>
            <a:xfrm>
              <a:off x="793242" y="711518"/>
              <a:ext cx="2546353" cy="264033"/>
            </a:xfrm>
            <a:prstGeom prst="rect">
              <a:avLst/>
            </a:prstGeom>
            <a:noFill/>
            <a:ln>
              <a:noFill/>
            </a:ln>
          </p:spPr>
          <p:txBody>
            <a:bodyPr wrap="none" lIns="0" tIns="0" rIns="0" bIns="0" anchor="t" anchorCtr="0">
              <a:spAutoFit/>
            </a:bodyPr>
            <a:lstStyle/>
            <a:p>
              <a:pPr algn="l"/>
              <a:r>
                <a:rPr lang="en-GB" sz="1350" b="1" spc="75" dirty="0">
                  <a:solidFill>
                    <a:schemeClr val="accent1"/>
                  </a:solidFill>
                  <a:latin typeface="+mn-lt"/>
                  <a:ea typeface="+mn-ea"/>
                  <a:cs typeface="+mn-cs"/>
                </a:rPr>
                <a:t>THE PLATFORM IN ACTION</a:t>
              </a:r>
              <a:endParaRPr lang="en-GB" sz="1350" b="1" spc="75" dirty="0">
                <a:solidFill>
                  <a:schemeClr val="accent1"/>
                </a:solidFill>
                <a:latin typeface="+mn-lt"/>
                <a:ea typeface="+mn-ea"/>
                <a:cs typeface="+mn-cs"/>
              </a:endParaRPr>
            </a:p>
          </p:txBody>
        </p:sp>
      </p:grpSp>
      <p:grpSp>
        <p:nvGrpSpPr>
          <p:cNvPr id="6" name="Group 6"/>
          <p:cNvGrpSpPr/>
          <p:nvPr/>
        </p:nvGrpSpPr>
        <p:grpSpPr>
          <a:xfrm>
            <a:off x="590550" y="1165860"/>
            <a:ext cx="7535401" cy="819150"/>
            <a:chOff x="590550" y="1165860"/>
            <a:chExt cx="7535401" cy="819150"/>
          </a:xfrm>
        </p:grpSpPr>
        <p:sp>
          <p:nvSpPr>
            <p:cNvPr id="5" name="TextBox 5"/>
            <p:cNvSpPr txBox="1"/>
            <p:nvPr/>
          </p:nvSpPr>
          <p:spPr>
            <a:xfrm>
              <a:off x="590550" y="1165860"/>
              <a:ext cx="7535401" cy="819150"/>
            </a:xfrm>
            <a:prstGeom prst="rect">
              <a:avLst/>
            </a:prstGeom>
            <a:noFill/>
            <a:ln>
              <a:noFill/>
            </a:ln>
          </p:spPr>
          <p:txBody>
            <a:bodyPr wrap="none" lIns="0" tIns="0" rIns="0" bIns="0" anchor="t" anchorCtr="0">
              <a:spAutoFit/>
            </a:bodyPr>
            <a:lstStyle/>
            <a:p>
              <a:pPr algn="l"/>
              <a:r>
                <a:rPr lang="en-GB" sz="4200" b="1" dirty="0">
                  <a:solidFill>
                    <a:schemeClr val="dk1"/>
                  </a:solidFill>
                  <a:latin typeface="+mn-lt"/>
                  <a:ea typeface="+mn-ea"/>
                  <a:cs typeface="+mn-cs"/>
                </a:rPr>
                <a:t>The Core Helpdesk Console</a:t>
              </a:r>
              <a:endParaRPr lang="en-GB" sz="4200" b="1" dirty="0">
                <a:solidFill>
                  <a:schemeClr val="dk1"/>
                </a:solidFill>
                <a:latin typeface="+mn-lt"/>
                <a:ea typeface="+mn-ea"/>
                <a:cs typeface="+mn-cs"/>
              </a:endParaRPr>
            </a:p>
          </p:txBody>
        </p:sp>
      </p:grpSp>
      <p:grpSp>
        <p:nvGrpSpPr>
          <p:cNvPr id="8" name="Group 8"/>
          <p:cNvGrpSpPr/>
          <p:nvPr/>
        </p:nvGrpSpPr>
        <p:grpSpPr>
          <a:xfrm>
            <a:off x="600456" y="1844040"/>
            <a:ext cx="7069758" cy="352044"/>
            <a:chOff x="600456" y="1844040"/>
            <a:chExt cx="7069758" cy="352044"/>
          </a:xfrm>
        </p:grpSpPr>
        <p:sp>
          <p:nvSpPr>
            <p:cNvPr id="7" name="TextBox 7"/>
            <p:cNvSpPr txBox="1"/>
            <p:nvPr/>
          </p:nvSpPr>
          <p:spPr>
            <a:xfrm>
              <a:off x="600456" y="1844040"/>
              <a:ext cx="7069758" cy="352044"/>
            </a:xfrm>
            <a:prstGeom prst="rect">
              <a:avLst/>
            </a:prstGeom>
            <a:noFill/>
            <a:ln>
              <a:noFill/>
            </a:ln>
          </p:spPr>
          <p:txBody>
            <a:bodyPr wrap="none" lIns="0" tIns="0" rIns="0" bIns="0" anchor="t" anchorCtr="0">
              <a:spAutoFit/>
            </a:bodyPr>
            <a:lstStyle/>
            <a:p>
              <a:pPr algn="l"/>
              <a:r>
                <a:rPr lang="en-GB" sz="1800" dirty="0">
                  <a:solidFill>
                    <a:schemeClr val="accent5"/>
                  </a:solidFill>
                  <a:latin typeface="+mn-lt"/>
                  <a:ea typeface="+mn-ea"/>
                  <a:cs typeface="+mn-cs"/>
                </a:rPr>
                <a:t>A full Next.js ITIL service portal underneath the autonomy.</a:t>
              </a:r>
              <a:endParaRPr lang="en-GB" sz="1800" dirty="0">
                <a:solidFill>
                  <a:schemeClr val="accent5"/>
                </a:solidFill>
                <a:latin typeface="+mn-lt"/>
                <a:ea typeface="+mn-ea"/>
                <a:cs typeface="+mn-cs"/>
              </a:endParaRPr>
            </a:p>
          </p:txBody>
        </p:sp>
      </p:grpSp>
      <p:grpSp>
        <p:nvGrpSpPr>
          <p:cNvPr id="11" name="Group 11"/>
          <p:cNvGrpSpPr/>
          <p:nvPr/>
        </p:nvGrpSpPr>
        <p:grpSpPr>
          <a:xfrm>
            <a:off x="590550" y="2397125"/>
            <a:ext cx="10991850" cy="2879725"/>
            <a:chOff x="609600" y="2419350"/>
            <a:chExt cx="10972800" cy="2857500"/>
          </a:xfrm>
        </p:grpSpPr>
        <p:sp>
          <p:nvSpPr>
            <p:cNvPr id="9" name="Rectangle 9"/>
            <p:cNvSpPr/>
            <p:nvPr/>
          </p:nvSpPr>
          <p:spPr>
            <a:xfrm>
              <a:off x="609600" y="2419350"/>
              <a:ext cx="10972800" cy="2857500"/>
            </a:xfrm>
            <a:prstGeom prst="roundRect">
              <a:avLst>
                <a:gd name="adj" fmla="val 8667"/>
              </a:avLst>
            </a:prstGeom>
            <a:solidFill>
              <a:schemeClr val="lt2"/>
            </a:solidFill>
            <a:ln>
              <a:noFill/>
            </a:ln>
            <a:effectLst>
              <a:outerShdw blurRad="304800" dist="76200" dir="5400000" algn="ctr" rotWithShape="0">
                <a:srgbClr val="7C6FE0">
                  <a:alpha val="7500"/>
                </a:srgbClr>
              </a:outerShdw>
            </a:effectLst>
          </p:spPr>
        </p:sp>
        <p:pic>
          <p:nvPicPr>
            <p:cNvPr id="10" name="Image 10"/>
            <p:cNvPicPr>
              <a:picLocks noChangeAspect="1"/>
            </p:cNvPicPr>
            <p:nvPr/>
          </p:nvPicPr>
          <p:blipFill>
            <a:blip r:embed="rId1"/>
            <a:stretch>
              <a:fillRect/>
            </a:stretch>
          </p:blipFill>
          <p:spPr>
            <a:xfrm>
              <a:off x="3400391" y="2571750"/>
              <a:ext cx="5438775" cy="2552700"/>
            </a:xfrm>
            <a:prstGeom prst="rect">
              <a:avLst/>
            </a:prstGeom>
          </p:spPr>
        </p:pic>
      </p:grpSp>
      <p:grpSp>
        <p:nvGrpSpPr>
          <p:cNvPr id="16" name="Group 16"/>
          <p:cNvGrpSpPr/>
          <p:nvPr/>
        </p:nvGrpSpPr>
        <p:grpSpPr>
          <a:xfrm>
            <a:off x="609600" y="5505450"/>
            <a:ext cx="2600325" cy="742950"/>
            <a:chOff x="609600" y="5505450"/>
            <a:chExt cx="2600325" cy="742950"/>
          </a:xfrm>
        </p:grpSpPr>
        <p:sp>
          <p:nvSpPr>
            <p:cNvPr id="12" name="Rectangle 12"/>
            <p:cNvSpPr/>
            <p:nvPr/>
          </p:nvSpPr>
          <p:spPr>
            <a:xfrm>
              <a:off x="609600" y="5505450"/>
              <a:ext cx="2600325" cy="742950"/>
            </a:xfrm>
            <a:prstGeom prst="roundRect">
              <a:avLst>
                <a:gd name="adj" fmla="val 25641"/>
              </a:avLst>
            </a:prstGeom>
            <a:solidFill>
              <a:schemeClr val="lt2"/>
            </a:solidFill>
            <a:ln>
              <a:noFill/>
            </a:ln>
            <a:effectLst>
              <a:outerShdw blurRad="304800" dist="76200" dir="5400000" algn="ctr" rotWithShape="0">
                <a:srgbClr val="7C6FE0">
                  <a:alpha val="7500"/>
                </a:srgbClr>
              </a:outerShdw>
            </a:effectLst>
          </p:spPr>
        </p:sp>
        <p:sp>
          <p:nvSpPr>
            <p:cNvPr id="13" name="Ellipse 13"/>
            <p:cNvSpPr/>
            <p:nvPr/>
          </p:nvSpPr>
          <p:spPr>
            <a:xfrm>
              <a:off x="800100" y="5686425"/>
              <a:ext cx="381000" cy="381000"/>
            </a:xfrm>
            <a:prstGeom prst="ellipse">
              <a:avLst/>
            </a:prstGeom>
            <a:solidFill>
              <a:schemeClr val="accent1">
                <a:alpha val="15000"/>
              </a:schemeClr>
            </a:solidFill>
            <a:ln>
              <a:noFill/>
            </a:ln>
          </p:spPr>
        </p:sp>
        <p:sp>
          <p:nvSpPr>
            <p:cNvPr id="14" name="Freeform 14"/>
            <p:cNvSpPr/>
            <p:nvPr/>
          </p:nvSpPr>
          <p:spPr>
            <a:xfrm>
              <a:off x="911217" y="5813425"/>
              <a:ext cx="158758" cy="127000"/>
            </a:xfrm>
            <a:custGeom>
              <a:avLst/>
              <a:gdLst/>
              <a:ahLst/>
              <a:cxnLst/>
              <a:rect l="l" t="t" r="r" b="b"/>
              <a:pathLst>
                <a:path w="158758" h="127000">
                  <a:moveTo>
                    <a:pt x="95258" y="0"/>
                  </a:moveTo>
                  <a:lnTo>
                    <a:pt x="95258" y="15875"/>
                  </a:lnTo>
                  <a:cubicBezTo>
                    <a:pt x="95258" y="20259"/>
                    <a:pt x="98812" y="23812"/>
                    <a:pt x="103196" y="23812"/>
                  </a:cubicBezTo>
                  <a:cubicBezTo>
                    <a:pt x="107579" y="23812"/>
                    <a:pt x="111133" y="20259"/>
                    <a:pt x="111133" y="15875"/>
                  </a:cubicBezTo>
                  <a:lnTo>
                    <a:pt x="111133" y="0"/>
                  </a:lnTo>
                  <a:lnTo>
                    <a:pt x="134946" y="0"/>
                  </a:lnTo>
                  <a:cubicBezTo>
                    <a:pt x="148097" y="0"/>
                    <a:pt x="158758" y="10661"/>
                    <a:pt x="158758" y="23812"/>
                  </a:cubicBezTo>
                  <a:lnTo>
                    <a:pt x="158758" y="47625"/>
                  </a:lnTo>
                  <a:cubicBezTo>
                    <a:pt x="158758" y="51649"/>
                    <a:pt x="155746" y="55036"/>
                    <a:pt x="151749" y="55507"/>
                  </a:cubicBezTo>
                  <a:lnTo>
                    <a:pt x="150821" y="55562"/>
                  </a:lnTo>
                  <a:cubicBezTo>
                    <a:pt x="146621" y="55567"/>
                    <a:pt x="143152" y="58842"/>
                    <a:pt x="142906" y="63035"/>
                  </a:cubicBezTo>
                  <a:cubicBezTo>
                    <a:pt x="142660" y="67227"/>
                    <a:pt x="145722" y="70886"/>
                    <a:pt x="149892" y="71382"/>
                  </a:cubicBezTo>
                  <a:lnTo>
                    <a:pt x="150821" y="71437"/>
                  </a:lnTo>
                  <a:cubicBezTo>
                    <a:pt x="155204" y="71437"/>
                    <a:pt x="158758" y="74991"/>
                    <a:pt x="158758" y="79375"/>
                  </a:cubicBezTo>
                  <a:lnTo>
                    <a:pt x="158758" y="103187"/>
                  </a:lnTo>
                  <a:cubicBezTo>
                    <a:pt x="158758" y="116339"/>
                    <a:pt x="148097" y="127000"/>
                    <a:pt x="134946" y="127000"/>
                  </a:cubicBezTo>
                  <a:lnTo>
                    <a:pt x="111133" y="127000"/>
                  </a:lnTo>
                  <a:lnTo>
                    <a:pt x="111133" y="111125"/>
                  </a:lnTo>
                  <a:cubicBezTo>
                    <a:pt x="111133" y="107101"/>
                    <a:pt x="108121" y="103714"/>
                    <a:pt x="104124" y="103243"/>
                  </a:cubicBezTo>
                  <a:lnTo>
                    <a:pt x="103196" y="103187"/>
                  </a:lnTo>
                  <a:cubicBezTo>
                    <a:pt x="98812" y="103187"/>
                    <a:pt x="95258" y="106741"/>
                    <a:pt x="95258" y="111125"/>
                  </a:cubicBezTo>
                  <a:lnTo>
                    <a:pt x="95258" y="127000"/>
                  </a:lnTo>
                  <a:lnTo>
                    <a:pt x="23821" y="127000"/>
                  </a:lnTo>
                  <a:cubicBezTo>
                    <a:pt x="10669" y="127000"/>
                    <a:pt x="8" y="116339"/>
                    <a:pt x="8" y="103187"/>
                  </a:cubicBezTo>
                  <a:lnTo>
                    <a:pt x="8" y="79375"/>
                  </a:lnTo>
                  <a:cubicBezTo>
                    <a:pt x="9" y="75351"/>
                    <a:pt x="3021" y="71964"/>
                    <a:pt x="7017" y="71493"/>
                  </a:cubicBezTo>
                  <a:lnTo>
                    <a:pt x="7946" y="71437"/>
                  </a:lnTo>
                  <a:cubicBezTo>
                    <a:pt x="12145" y="71433"/>
                    <a:pt x="15615" y="68158"/>
                    <a:pt x="15861" y="63965"/>
                  </a:cubicBezTo>
                  <a:cubicBezTo>
                    <a:pt x="16107" y="59773"/>
                    <a:pt x="13045" y="56114"/>
                    <a:pt x="8874" y="55618"/>
                  </a:cubicBezTo>
                  <a:lnTo>
                    <a:pt x="7946" y="55562"/>
                  </a:lnTo>
                  <a:cubicBezTo>
                    <a:pt x="3562" y="55562"/>
                    <a:pt x="8" y="52009"/>
                    <a:pt x="8" y="47625"/>
                  </a:cubicBezTo>
                  <a:lnTo>
                    <a:pt x="8" y="23812"/>
                  </a:lnTo>
                  <a:cubicBezTo>
                    <a:pt x="0" y="11501"/>
                    <a:pt x="9392" y="1221"/>
                    <a:pt x="21654" y="119"/>
                  </a:cubicBezTo>
                  <a:lnTo>
                    <a:pt x="23416" y="8"/>
                  </a:lnTo>
                  <a:close/>
                  <a:moveTo>
                    <a:pt x="103196" y="47625"/>
                  </a:moveTo>
                  <a:cubicBezTo>
                    <a:pt x="98812" y="47625"/>
                    <a:pt x="95258" y="51179"/>
                    <a:pt x="95258" y="55562"/>
                  </a:cubicBezTo>
                  <a:lnTo>
                    <a:pt x="95258" y="71437"/>
                  </a:lnTo>
                  <a:cubicBezTo>
                    <a:pt x="95258" y="75821"/>
                    <a:pt x="98812" y="79375"/>
                    <a:pt x="103196" y="79375"/>
                  </a:cubicBezTo>
                  <a:cubicBezTo>
                    <a:pt x="107579" y="79375"/>
                    <a:pt x="111133" y="75821"/>
                    <a:pt x="111133" y="71437"/>
                  </a:cubicBezTo>
                  <a:lnTo>
                    <a:pt x="111133" y="55562"/>
                  </a:lnTo>
                  <a:cubicBezTo>
                    <a:pt x="111133" y="51179"/>
                    <a:pt x="107579" y="47625"/>
                    <a:pt x="103196" y="47625"/>
                  </a:cubicBezTo>
                </a:path>
              </a:pathLst>
            </a:custGeom>
            <a:solidFill>
              <a:schemeClr val="accent1"/>
            </a:solidFill>
            <a:ln>
              <a:noFill/>
            </a:ln>
          </p:spPr>
        </p:sp>
        <p:sp>
          <p:nvSpPr>
            <p:cNvPr id="15" name="TextBox 15"/>
            <p:cNvSpPr txBox="1"/>
            <p:nvPr/>
          </p:nvSpPr>
          <p:spPr>
            <a:xfrm>
              <a:off x="1326642" y="5788342"/>
              <a:ext cx="1303369" cy="264033"/>
            </a:xfrm>
            <a:prstGeom prst="rect">
              <a:avLst/>
            </a:prstGeom>
            <a:noFill/>
            <a:ln>
              <a:noFill/>
            </a:ln>
          </p:spPr>
          <p:txBody>
            <a:bodyPr wrap="none" lIns="0" tIns="0" rIns="0" bIns="0" anchor="t" anchorCtr="0">
              <a:spAutoFit/>
            </a:bodyPr>
            <a:lstStyle/>
            <a:p>
              <a:pPr algn="l"/>
              <a:r>
                <a:rPr lang="en-GB" sz="1350" b="1" dirty="0">
                  <a:solidFill>
                    <a:schemeClr val="dk1"/>
                  </a:solidFill>
                  <a:latin typeface="+mn-lt"/>
                  <a:ea typeface="+mn-ea"/>
                  <a:cs typeface="+mn-cs"/>
                </a:rPr>
                <a:t>Live Incidents</a:t>
              </a:r>
              <a:endParaRPr lang="en-GB" sz="1350" b="1" dirty="0">
                <a:solidFill>
                  <a:schemeClr val="dk1"/>
                </a:solidFill>
                <a:latin typeface="+mn-lt"/>
                <a:ea typeface="+mn-ea"/>
                <a:cs typeface="+mn-cs"/>
              </a:endParaRPr>
            </a:p>
          </p:txBody>
        </p:sp>
      </p:grpSp>
      <p:grpSp>
        <p:nvGrpSpPr>
          <p:cNvPr id="23" name="Group 23"/>
          <p:cNvGrpSpPr/>
          <p:nvPr/>
        </p:nvGrpSpPr>
        <p:grpSpPr>
          <a:xfrm>
            <a:off x="3400425" y="5505450"/>
            <a:ext cx="2600325" cy="742950"/>
            <a:chOff x="3400425" y="5505450"/>
            <a:chExt cx="2600325" cy="742950"/>
          </a:xfrm>
        </p:grpSpPr>
        <p:sp>
          <p:nvSpPr>
            <p:cNvPr id="17" name="Rectangle 17"/>
            <p:cNvSpPr/>
            <p:nvPr/>
          </p:nvSpPr>
          <p:spPr>
            <a:xfrm>
              <a:off x="3400425" y="5505450"/>
              <a:ext cx="2600325" cy="742950"/>
            </a:xfrm>
            <a:prstGeom prst="roundRect">
              <a:avLst>
                <a:gd name="adj" fmla="val 25641"/>
              </a:avLst>
            </a:prstGeom>
            <a:solidFill>
              <a:schemeClr val="lt2"/>
            </a:solidFill>
            <a:ln>
              <a:noFill/>
            </a:ln>
            <a:effectLst>
              <a:outerShdw blurRad="304800" dist="76200" dir="5400000" algn="ctr" rotWithShape="0">
                <a:srgbClr val="7C6FE0">
                  <a:alpha val="7500"/>
                </a:srgbClr>
              </a:outerShdw>
            </a:effectLst>
          </p:spPr>
        </p:sp>
        <p:sp>
          <p:nvSpPr>
            <p:cNvPr id="18" name="Ellipse 18"/>
            <p:cNvSpPr/>
            <p:nvPr/>
          </p:nvSpPr>
          <p:spPr>
            <a:xfrm>
              <a:off x="3590925" y="5686425"/>
              <a:ext cx="381000" cy="381000"/>
            </a:xfrm>
            <a:prstGeom prst="ellipse">
              <a:avLst/>
            </a:prstGeom>
            <a:solidFill>
              <a:schemeClr val="accent1">
                <a:alpha val="15000"/>
              </a:schemeClr>
            </a:solidFill>
            <a:ln>
              <a:noFill/>
            </a:ln>
          </p:spPr>
        </p:sp>
        <p:grpSp>
          <p:nvGrpSpPr>
            <p:cNvPr id="21" name="Group 21"/>
            <p:cNvGrpSpPr/>
            <p:nvPr/>
          </p:nvGrpSpPr>
          <p:grpSpPr>
            <a:xfrm>
              <a:off x="3702050" y="5797550"/>
              <a:ext cx="160292" cy="158750"/>
              <a:chOff x="3702050" y="5797550"/>
              <a:chExt cx="160292" cy="158750"/>
            </a:xfrm>
          </p:grpSpPr>
          <p:sp>
            <p:nvSpPr>
              <p:cNvPr id="19" name="Freeform 19"/>
              <p:cNvSpPr/>
              <p:nvPr/>
            </p:nvSpPr>
            <p:spPr>
              <a:xfrm>
                <a:off x="3702050" y="5797550"/>
                <a:ext cx="158750" cy="158750"/>
              </a:xfrm>
              <a:custGeom>
                <a:avLst/>
                <a:gdLst/>
                <a:ahLst/>
                <a:cxnLst/>
                <a:rect l="l" t="t" r="r" b="b"/>
                <a:pathLst>
                  <a:path w="158750" h="158750">
                    <a:moveTo>
                      <a:pt x="7937" y="0"/>
                    </a:moveTo>
                    <a:cubicBezTo>
                      <a:pt x="12321" y="0"/>
                      <a:pt x="15875" y="3554"/>
                      <a:pt x="15875" y="7937"/>
                    </a:cubicBezTo>
                    <a:lnTo>
                      <a:pt x="15875" y="142875"/>
                    </a:lnTo>
                    <a:lnTo>
                      <a:pt x="150812" y="142875"/>
                    </a:lnTo>
                    <a:cubicBezTo>
                      <a:pt x="154837" y="142875"/>
                      <a:pt x="158224" y="145887"/>
                      <a:pt x="158694" y="149884"/>
                    </a:cubicBezTo>
                    <a:lnTo>
                      <a:pt x="158750" y="150812"/>
                    </a:lnTo>
                    <a:cubicBezTo>
                      <a:pt x="158750" y="155196"/>
                      <a:pt x="155196" y="158750"/>
                      <a:pt x="150812" y="158750"/>
                    </a:cubicBezTo>
                    <a:lnTo>
                      <a:pt x="7937" y="158750"/>
                    </a:lnTo>
                    <a:cubicBezTo>
                      <a:pt x="3554" y="158750"/>
                      <a:pt x="0" y="155196"/>
                      <a:pt x="0" y="150812"/>
                    </a:cubicBezTo>
                    <a:lnTo>
                      <a:pt x="0" y="7937"/>
                    </a:lnTo>
                    <a:cubicBezTo>
                      <a:pt x="0" y="3554"/>
                      <a:pt x="3554" y="0"/>
                      <a:pt x="7937" y="0"/>
                    </a:cubicBezTo>
                    <a:close/>
                  </a:path>
                </a:pathLst>
              </a:custGeom>
              <a:solidFill>
                <a:schemeClr val="accent1"/>
              </a:solidFill>
              <a:ln>
                <a:noFill/>
              </a:ln>
            </p:spPr>
          </p:sp>
          <p:sp>
            <p:nvSpPr>
              <p:cNvPr id="20" name="Freeform 20"/>
              <p:cNvSpPr/>
              <p:nvPr/>
            </p:nvSpPr>
            <p:spPr>
              <a:xfrm>
                <a:off x="3731197" y="5813425"/>
                <a:ext cx="131145" cy="113525"/>
              </a:xfrm>
              <a:custGeom>
                <a:avLst/>
                <a:gdLst/>
                <a:ahLst/>
                <a:cxnLst/>
                <a:rect l="l" t="t" r="r" b="b"/>
                <a:pathLst>
                  <a:path w="131145" h="113525">
                    <a:moveTo>
                      <a:pt x="105791" y="0"/>
                    </a:moveTo>
                    <a:cubicBezTo>
                      <a:pt x="114909" y="21"/>
                      <a:pt x="123214" y="5246"/>
                      <a:pt x="127180" y="13456"/>
                    </a:cubicBezTo>
                    <a:cubicBezTo>
                      <a:pt x="131145" y="21666"/>
                      <a:pt x="130074" y="31420"/>
                      <a:pt x="124422" y="38574"/>
                    </a:cubicBezTo>
                    <a:cubicBezTo>
                      <a:pt x="118770" y="45729"/>
                      <a:pt x="109529" y="49027"/>
                      <a:pt x="100624" y="47069"/>
                    </a:cubicBezTo>
                    <a:lnTo>
                      <a:pt x="84733" y="72485"/>
                    </a:lnTo>
                    <a:cubicBezTo>
                      <a:pt x="92231" y="81906"/>
                      <a:pt x="91517" y="95441"/>
                      <a:pt x="83071" y="104021"/>
                    </a:cubicBezTo>
                    <a:cubicBezTo>
                      <a:pt x="74624" y="112600"/>
                      <a:pt x="61101" y="113525"/>
                      <a:pt x="51565" y="106175"/>
                    </a:cubicBezTo>
                    <a:cubicBezTo>
                      <a:pt x="42029" y="98826"/>
                      <a:pt x="39479" y="85514"/>
                      <a:pt x="45625" y="75160"/>
                    </a:cubicBezTo>
                    <a:lnTo>
                      <a:pt x="34687" y="62024"/>
                    </a:lnTo>
                    <a:cubicBezTo>
                      <a:pt x="23813" y="66050"/>
                      <a:pt x="11619" y="61658"/>
                      <a:pt x="5809" y="51623"/>
                    </a:cubicBezTo>
                    <a:cubicBezTo>
                      <a:pt x="0" y="41587"/>
                      <a:pt x="2264" y="28826"/>
                      <a:pt x="11171" y="21402"/>
                    </a:cubicBezTo>
                    <a:cubicBezTo>
                      <a:pt x="20078" y="13977"/>
                      <a:pt x="33039" y="14048"/>
                      <a:pt x="41864" y="21570"/>
                    </a:cubicBezTo>
                    <a:cubicBezTo>
                      <a:pt x="50689" y="29091"/>
                      <a:pt x="52814" y="41876"/>
                      <a:pt x="46895" y="51848"/>
                    </a:cubicBezTo>
                    <a:lnTo>
                      <a:pt x="57832" y="64976"/>
                    </a:lnTo>
                    <a:cubicBezTo>
                      <a:pt x="62130" y="63382"/>
                      <a:pt x="66797" y="63065"/>
                      <a:pt x="71271" y="64064"/>
                    </a:cubicBezTo>
                    <a:lnTo>
                      <a:pt x="87162" y="38640"/>
                    </a:lnTo>
                    <a:cubicBezTo>
                      <a:pt x="81469" y="31486"/>
                      <a:pt x="80375" y="21706"/>
                      <a:pt x="84345" y="13471"/>
                    </a:cubicBezTo>
                    <a:cubicBezTo>
                      <a:pt x="88315" y="5236"/>
                      <a:pt x="96649" y="1"/>
                      <a:pt x="105791" y="0"/>
                    </a:cubicBezTo>
                    <a:close/>
                  </a:path>
                </a:pathLst>
              </a:custGeom>
              <a:solidFill>
                <a:schemeClr val="accent1"/>
              </a:solidFill>
              <a:ln>
                <a:noFill/>
              </a:ln>
            </p:spPr>
          </p:sp>
        </p:grpSp>
        <p:sp>
          <p:nvSpPr>
            <p:cNvPr id="22" name="TextBox 22"/>
            <p:cNvSpPr txBox="1"/>
            <p:nvPr/>
          </p:nvSpPr>
          <p:spPr>
            <a:xfrm>
              <a:off x="4117467" y="5788342"/>
              <a:ext cx="1601722" cy="264033"/>
            </a:xfrm>
            <a:prstGeom prst="rect">
              <a:avLst/>
            </a:prstGeom>
            <a:noFill/>
            <a:ln>
              <a:noFill/>
            </a:ln>
          </p:spPr>
          <p:txBody>
            <a:bodyPr wrap="none" lIns="0" tIns="0" rIns="0" bIns="0" anchor="t" anchorCtr="0">
              <a:spAutoFit/>
            </a:bodyPr>
            <a:lstStyle/>
            <a:p>
              <a:pPr algn="l"/>
              <a:r>
                <a:rPr lang="en-GB" sz="1350" b="1" dirty="0">
                  <a:solidFill>
                    <a:schemeClr val="dk1"/>
                  </a:solidFill>
                  <a:latin typeface="+mn-lt"/>
                  <a:ea typeface="+mn-ea"/>
                  <a:cs typeface="+mn-cs"/>
                </a:rPr>
                <a:t>Impact × Urgency</a:t>
              </a:r>
              <a:endParaRPr lang="en-GB" sz="1350" b="1" dirty="0">
                <a:solidFill>
                  <a:schemeClr val="dk1"/>
                </a:solidFill>
                <a:latin typeface="+mn-lt"/>
                <a:ea typeface="+mn-ea"/>
                <a:cs typeface="+mn-cs"/>
              </a:endParaRPr>
            </a:p>
          </p:txBody>
        </p:sp>
      </p:grpSp>
      <p:grpSp>
        <p:nvGrpSpPr>
          <p:cNvPr id="30" name="Group 30"/>
          <p:cNvGrpSpPr/>
          <p:nvPr/>
        </p:nvGrpSpPr>
        <p:grpSpPr>
          <a:xfrm>
            <a:off x="6191250" y="5505450"/>
            <a:ext cx="2600325" cy="742950"/>
            <a:chOff x="6191250" y="5505450"/>
            <a:chExt cx="2600325" cy="742950"/>
          </a:xfrm>
        </p:grpSpPr>
        <p:sp>
          <p:nvSpPr>
            <p:cNvPr id="24" name="Rectangle 24"/>
            <p:cNvSpPr/>
            <p:nvPr/>
          </p:nvSpPr>
          <p:spPr>
            <a:xfrm>
              <a:off x="6191250" y="5505450"/>
              <a:ext cx="2600325" cy="742950"/>
            </a:xfrm>
            <a:prstGeom prst="roundRect">
              <a:avLst>
                <a:gd name="adj" fmla="val 25641"/>
              </a:avLst>
            </a:prstGeom>
            <a:solidFill>
              <a:schemeClr val="lt2"/>
            </a:solidFill>
            <a:ln>
              <a:noFill/>
            </a:ln>
            <a:effectLst>
              <a:outerShdw blurRad="304800" dist="76200" dir="5400000" algn="ctr" rotWithShape="0">
                <a:srgbClr val="7C6FE0">
                  <a:alpha val="7500"/>
                </a:srgbClr>
              </a:outerShdw>
            </a:effectLst>
          </p:spPr>
        </p:sp>
        <p:sp>
          <p:nvSpPr>
            <p:cNvPr id="25" name="Ellipse 25"/>
            <p:cNvSpPr/>
            <p:nvPr/>
          </p:nvSpPr>
          <p:spPr>
            <a:xfrm>
              <a:off x="6381750" y="5686425"/>
              <a:ext cx="381000" cy="381000"/>
            </a:xfrm>
            <a:prstGeom prst="ellipse">
              <a:avLst/>
            </a:prstGeom>
            <a:solidFill>
              <a:schemeClr val="accent1">
                <a:alpha val="15000"/>
              </a:schemeClr>
            </a:solidFill>
            <a:ln>
              <a:noFill/>
            </a:ln>
          </p:spPr>
        </p:sp>
        <p:grpSp>
          <p:nvGrpSpPr>
            <p:cNvPr id="28" name="Group 28"/>
            <p:cNvGrpSpPr/>
            <p:nvPr/>
          </p:nvGrpSpPr>
          <p:grpSpPr>
            <a:xfrm>
              <a:off x="6499873" y="5804529"/>
              <a:ext cx="144588" cy="135896"/>
              <a:chOff x="6499873" y="5804529"/>
              <a:chExt cx="144588" cy="135896"/>
            </a:xfrm>
          </p:grpSpPr>
          <p:sp>
            <p:nvSpPr>
              <p:cNvPr id="26" name="Freeform 26"/>
              <p:cNvSpPr/>
              <p:nvPr/>
            </p:nvSpPr>
            <p:spPr>
              <a:xfrm>
                <a:off x="6500812" y="5852124"/>
                <a:ext cx="142875" cy="88301"/>
              </a:xfrm>
              <a:custGeom>
                <a:avLst/>
                <a:gdLst/>
                <a:ahLst/>
                <a:cxnLst/>
                <a:rect l="l" t="t" r="r" b="b"/>
                <a:pathLst>
                  <a:path w="142875" h="88301">
                    <a:moveTo>
                      <a:pt x="96996" y="3965"/>
                    </a:moveTo>
                    <a:cubicBezTo>
                      <a:pt x="99706" y="583"/>
                      <a:pt x="104628" y="0"/>
                      <a:pt x="108053" y="2655"/>
                    </a:cubicBezTo>
                    <a:lnTo>
                      <a:pt x="108799" y="3314"/>
                    </a:lnTo>
                    <a:lnTo>
                      <a:pt x="140549" y="35064"/>
                    </a:lnTo>
                    <a:cubicBezTo>
                      <a:pt x="141783" y="36299"/>
                      <a:pt x="142575" y="37905"/>
                      <a:pt x="142804" y="39636"/>
                    </a:cubicBezTo>
                    <a:lnTo>
                      <a:pt x="142875" y="40676"/>
                    </a:lnTo>
                    <a:lnTo>
                      <a:pt x="142875" y="80363"/>
                    </a:lnTo>
                    <a:cubicBezTo>
                      <a:pt x="142874" y="84387"/>
                      <a:pt x="139863" y="87774"/>
                      <a:pt x="135866" y="88245"/>
                    </a:cubicBezTo>
                    <a:lnTo>
                      <a:pt x="134937" y="88301"/>
                    </a:lnTo>
                    <a:lnTo>
                      <a:pt x="7763" y="88301"/>
                    </a:lnTo>
                    <a:lnTo>
                      <a:pt x="6890" y="88229"/>
                    </a:lnTo>
                    <a:lnTo>
                      <a:pt x="6017" y="88070"/>
                    </a:lnTo>
                    <a:lnTo>
                      <a:pt x="5167" y="87801"/>
                    </a:lnTo>
                    <a:lnTo>
                      <a:pt x="4334" y="87435"/>
                    </a:lnTo>
                    <a:lnTo>
                      <a:pt x="3540" y="86967"/>
                    </a:lnTo>
                    <a:lnTo>
                      <a:pt x="2794" y="86412"/>
                    </a:lnTo>
                    <a:lnTo>
                      <a:pt x="2318" y="85975"/>
                    </a:lnTo>
                    <a:lnTo>
                      <a:pt x="1746" y="85324"/>
                    </a:lnTo>
                    <a:lnTo>
                      <a:pt x="1238" y="84618"/>
                    </a:lnTo>
                    <a:lnTo>
                      <a:pt x="810" y="83856"/>
                    </a:lnTo>
                    <a:lnTo>
                      <a:pt x="683" y="83578"/>
                    </a:lnTo>
                    <a:lnTo>
                      <a:pt x="365" y="82760"/>
                    </a:lnTo>
                    <a:lnTo>
                      <a:pt x="151" y="81919"/>
                    </a:lnTo>
                    <a:lnTo>
                      <a:pt x="32" y="81062"/>
                    </a:lnTo>
                    <a:lnTo>
                      <a:pt x="0" y="80189"/>
                    </a:lnTo>
                    <a:lnTo>
                      <a:pt x="71" y="79315"/>
                    </a:lnTo>
                    <a:lnTo>
                      <a:pt x="222" y="78482"/>
                    </a:lnTo>
                    <a:cubicBezTo>
                      <a:pt x="302" y="78164"/>
                      <a:pt x="397" y="77871"/>
                      <a:pt x="500" y="77593"/>
                    </a:cubicBezTo>
                    <a:lnTo>
                      <a:pt x="865" y="76760"/>
                    </a:lnTo>
                    <a:lnTo>
                      <a:pt x="1333" y="75966"/>
                    </a:lnTo>
                    <a:lnTo>
                      <a:pt x="33083" y="28341"/>
                    </a:lnTo>
                    <a:cubicBezTo>
                      <a:pt x="35094" y="25314"/>
                      <a:pt x="38903" y="24039"/>
                      <a:pt x="42331" y="25245"/>
                    </a:cubicBezTo>
                    <a:lnTo>
                      <a:pt x="43236" y="25642"/>
                    </a:lnTo>
                    <a:lnTo>
                      <a:pt x="69247" y="38644"/>
                    </a:lnTo>
                    <a:lnTo>
                      <a:pt x="96988" y="3965"/>
                    </a:lnTo>
                    <a:close/>
                  </a:path>
                </a:pathLst>
              </a:custGeom>
              <a:solidFill>
                <a:schemeClr val="accent1"/>
              </a:solidFill>
              <a:ln>
                <a:noFill/>
              </a:ln>
            </p:spPr>
          </p:sp>
          <p:sp>
            <p:nvSpPr>
              <p:cNvPr id="27" name="Freeform 27"/>
              <p:cNvSpPr/>
              <p:nvPr/>
            </p:nvSpPr>
            <p:spPr>
              <a:xfrm>
                <a:off x="6499873" y="5804529"/>
                <a:ext cx="144588" cy="81273"/>
              </a:xfrm>
              <a:custGeom>
                <a:avLst/>
                <a:gdLst/>
                <a:ahLst/>
                <a:cxnLst/>
                <a:rect l="l" t="t" r="r" b="b"/>
                <a:pathLst>
                  <a:path w="144588" h="81273">
                    <a:moveTo>
                      <a:pt x="98031" y="3816"/>
                    </a:moveTo>
                    <a:cubicBezTo>
                      <a:pt x="100769" y="527"/>
                      <a:pt x="105621" y="0"/>
                      <a:pt x="109001" y="2625"/>
                    </a:cubicBezTo>
                    <a:lnTo>
                      <a:pt x="109739" y="3284"/>
                    </a:lnTo>
                    <a:lnTo>
                      <a:pt x="141489" y="35034"/>
                    </a:lnTo>
                    <a:cubicBezTo>
                      <a:pt x="144443" y="37998"/>
                      <a:pt x="144588" y="42747"/>
                      <a:pt x="141820" y="45887"/>
                    </a:cubicBezTo>
                    <a:cubicBezTo>
                      <a:pt x="139052" y="49026"/>
                      <a:pt x="134322" y="49476"/>
                      <a:pt x="131011" y="46916"/>
                    </a:cubicBezTo>
                    <a:lnTo>
                      <a:pt x="130265" y="46257"/>
                    </a:lnTo>
                    <a:lnTo>
                      <a:pt x="104659" y="20659"/>
                    </a:lnTo>
                    <a:lnTo>
                      <a:pt x="70536" y="61601"/>
                    </a:lnTo>
                    <a:cubicBezTo>
                      <a:pt x="68413" y="64147"/>
                      <a:pt x="64931" y="65106"/>
                      <a:pt x="61804" y="64006"/>
                    </a:cubicBezTo>
                    <a:lnTo>
                      <a:pt x="60891" y="63617"/>
                    </a:lnTo>
                    <a:lnTo>
                      <a:pt x="35063" y="50710"/>
                    </a:lnTo>
                    <a:lnTo>
                      <a:pt x="15227" y="77158"/>
                    </a:lnTo>
                    <a:cubicBezTo>
                      <a:pt x="12828" y="80358"/>
                      <a:pt x="8423" y="81273"/>
                      <a:pt x="4948" y="79293"/>
                    </a:cubicBezTo>
                    <a:lnTo>
                      <a:pt x="4115" y="78746"/>
                    </a:lnTo>
                    <a:cubicBezTo>
                      <a:pt x="915" y="76346"/>
                      <a:pt x="0" y="71942"/>
                      <a:pt x="1979" y="68467"/>
                    </a:cubicBezTo>
                    <a:lnTo>
                      <a:pt x="2527" y="67633"/>
                    </a:lnTo>
                    <a:lnTo>
                      <a:pt x="26340" y="35883"/>
                    </a:lnTo>
                    <a:cubicBezTo>
                      <a:pt x="28429" y="33100"/>
                      <a:pt x="32088" y="32003"/>
                      <a:pt x="35364" y="33176"/>
                    </a:cubicBezTo>
                    <a:lnTo>
                      <a:pt x="36238" y="33550"/>
                    </a:lnTo>
                    <a:lnTo>
                      <a:pt x="62360" y="46607"/>
                    </a:lnTo>
                    <a:lnTo>
                      <a:pt x="98031" y="3816"/>
                    </a:lnTo>
                    <a:close/>
                  </a:path>
                </a:pathLst>
              </a:custGeom>
              <a:solidFill>
                <a:schemeClr val="accent1"/>
              </a:solidFill>
              <a:ln>
                <a:noFill/>
              </a:ln>
            </p:spPr>
          </p:sp>
        </p:grpSp>
        <p:sp>
          <p:nvSpPr>
            <p:cNvPr id="29" name="TextBox 29"/>
            <p:cNvSpPr txBox="1"/>
            <p:nvPr/>
          </p:nvSpPr>
          <p:spPr>
            <a:xfrm>
              <a:off x="6908292" y="5788342"/>
              <a:ext cx="1305557" cy="264033"/>
            </a:xfrm>
            <a:prstGeom prst="rect">
              <a:avLst/>
            </a:prstGeom>
            <a:noFill/>
            <a:ln>
              <a:noFill/>
            </a:ln>
          </p:spPr>
          <p:txBody>
            <a:bodyPr wrap="none" lIns="0" tIns="0" rIns="0" bIns="0" anchor="t" anchorCtr="0">
              <a:spAutoFit/>
            </a:bodyPr>
            <a:lstStyle/>
            <a:p>
              <a:pPr algn="l"/>
              <a:r>
                <a:rPr lang="en-GB" sz="1350" b="1" dirty="0">
                  <a:solidFill>
                    <a:schemeClr val="dk1"/>
                  </a:solidFill>
                  <a:latin typeface="+mn-lt"/>
                  <a:ea typeface="+mn-ea"/>
                  <a:cs typeface="+mn-cs"/>
                </a:rPr>
                <a:t>Real-Time SLA</a:t>
              </a:r>
              <a:endParaRPr lang="en-GB" sz="1350" b="1" dirty="0">
                <a:solidFill>
                  <a:schemeClr val="dk1"/>
                </a:solidFill>
                <a:latin typeface="+mn-lt"/>
                <a:ea typeface="+mn-ea"/>
                <a:cs typeface="+mn-cs"/>
              </a:endParaRPr>
            </a:p>
          </p:txBody>
        </p:sp>
      </p:grpSp>
      <p:grpSp>
        <p:nvGrpSpPr>
          <p:cNvPr id="35" name="Group 35"/>
          <p:cNvGrpSpPr/>
          <p:nvPr/>
        </p:nvGrpSpPr>
        <p:grpSpPr>
          <a:xfrm>
            <a:off x="8982075" y="5505450"/>
            <a:ext cx="2600325" cy="742950"/>
            <a:chOff x="8982075" y="5505450"/>
            <a:chExt cx="2600325" cy="742950"/>
          </a:xfrm>
        </p:grpSpPr>
        <p:sp>
          <p:nvSpPr>
            <p:cNvPr id="31" name="Rectangle 31"/>
            <p:cNvSpPr/>
            <p:nvPr/>
          </p:nvSpPr>
          <p:spPr>
            <a:xfrm>
              <a:off x="8982075" y="5505450"/>
              <a:ext cx="2600325" cy="742950"/>
            </a:xfrm>
            <a:prstGeom prst="roundRect">
              <a:avLst>
                <a:gd name="adj" fmla="val 25641"/>
              </a:avLst>
            </a:prstGeom>
            <a:solidFill>
              <a:schemeClr val="lt2"/>
            </a:solidFill>
            <a:ln>
              <a:noFill/>
            </a:ln>
            <a:effectLst>
              <a:outerShdw blurRad="304800" dist="76200" dir="5400000" algn="ctr" rotWithShape="0">
                <a:srgbClr val="7C6FE0">
                  <a:alpha val="7500"/>
                </a:srgbClr>
              </a:outerShdw>
            </a:effectLst>
          </p:spPr>
        </p:sp>
        <p:sp>
          <p:nvSpPr>
            <p:cNvPr id="32" name="Ellipse 32"/>
            <p:cNvSpPr/>
            <p:nvPr/>
          </p:nvSpPr>
          <p:spPr>
            <a:xfrm>
              <a:off x="9172575" y="5686425"/>
              <a:ext cx="381000" cy="381000"/>
            </a:xfrm>
            <a:prstGeom prst="ellipse">
              <a:avLst/>
            </a:prstGeom>
            <a:solidFill>
              <a:schemeClr val="accent1">
                <a:alpha val="15000"/>
              </a:schemeClr>
            </a:solidFill>
            <a:ln>
              <a:noFill/>
            </a:ln>
          </p:spPr>
        </p:sp>
        <p:sp>
          <p:nvSpPr>
            <p:cNvPr id="33" name="Freeform 33"/>
            <p:cNvSpPr/>
            <p:nvPr/>
          </p:nvSpPr>
          <p:spPr>
            <a:xfrm>
              <a:off x="9283700" y="5808514"/>
              <a:ext cx="158750" cy="132266"/>
            </a:xfrm>
            <a:custGeom>
              <a:avLst/>
              <a:gdLst/>
              <a:ahLst/>
              <a:cxnLst/>
              <a:rect l="l" t="t" r="r" b="b"/>
              <a:pathLst>
                <a:path w="158750" h="132266">
                  <a:moveTo>
                    <a:pt x="154781" y="13913"/>
                  </a:moveTo>
                  <a:cubicBezTo>
                    <a:pt x="156949" y="15164"/>
                    <a:pt x="158399" y="17364"/>
                    <a:pt x="158694" y="19850"/>
                  </a:cubicBezTo>
                  <a:lnTo>
                    <a:pt x="158750" y="20786"/>
                  </a:lnTo>
                  <a:lnTo>
                    <a:pt x="158750" y="123974"/>
                  </a:lnTo>
                  <a:cubicBezTo>
                    <a:pt x="158750" y="126810"/>
                    <a:pt x="157237" y="129430"/>
                    <a:pt x="154781" y="130848"/>
                  </a:cubicBezTo>
                  <a:cubicBezTo>
                    <a:pt x="152325" y="132266"/>
                    <a:pt x="149300" y="132266"/>
                    <a:pt x="146844" y="130848"/>
                  </a:cubicBezTo>
                  <a:cubicBezTo>
                    <a:pt x="128582" y="120303"/>
                    <a:pt x="106276" y="119511"/>
                    <a:pt x="87312" y="128736"/>
                  </a:cubicBezTo>
                  <a:lnTo>
                    <a:pt x="87312" y="8293"/>
                  </a:lnTo>
                  <a:cubicBezTo>
                    <a:pt x="109513" y="0"/>
                    <a:pt x="134258" y="2061"/>
                    <a:pt x="154781" y="13913"/>
                  </a:cubicBezTo>
                  <a:moveTo>
                    <a:pt x="71437" y="8301"/>
                  </a:moveTo>
                  <a:lnTo>
                    <a:pt x="71445" y="128744"/>
                  </a:lnTo>
                  <a:cubicBezTo>
                    <a:pt x="53251" y="119887"/>
                    <a:pt x="31924" y="120232"/>
                    <a:pt x="14026" y="129673"/>
                  </a:cubicBezTo>
                  <a:lnTo>
                    <a:pt x="11430" y="131102"/>
                  </a:lnTo>
                  <a:lnTo>
                    <a:pt x="10612" y="131451"/>
                  </a:lnTo>
                  <a:lnTo>
                    <a:pt x="10223" y="131578"/>
                  </a:lnTo>
                  <a:lnTo>
                    <a:pt x="9350" y="131784"/>
                  </a:lnTo>
                  <a:lnTo>
                    <a:pt x="8866" y="131864"/>
                  </a:lnTo>
                  <a:lnTo>
                    <a:pt x="7937" y="131911"/>
                  </a:lnTo>
                  <a:lnTo>
                    <a:pt x="7604" y="131911"/>
                  </a:lnTo>
                  <a:lnTo>
                    <a:pt x="6731" y="131816"/>
                  </a:lnTo>
                  <a:lnTo>
                    <a:pt x="6120" y="131705"/>
                  </a:lnTo>
                  <a:lnTo>
                    <a:pt x="5263" y="131451"/>
                  </a:lnTo>
                  <a:lnTo>
                    <a:pt x="4262" y="131006"/>
                  </a:lnTo>
                  <a:lnTo>
                    <a:pt x="3508" y="130562"/>
                  </a:lnTo>
                  <a:lnTo>
                    <a:pt x="2802" y="130030"/>
                  </a:lnTo>
                  <a:lnTo>
                    <a:pt x="2326" y="129586"/>
                  </a:lnTo>
                  <a:lnTo>
                    <a:pt x="1746" y="128935"/>
                  </a:lnTo>
                  <a:lnTo>
                    <a:pt x="1238" y="128228"/>
                  </a:lnTo>
                  <a:lnTo>
                    <a:pt x="1064" y="127943"/>
                  </a:lnTo>
                  <a:lnTo>
                    <a:pt x="810" y="127466"/>
                  </a:lnTo>
                  <a:lnTo>
                    <a:pt x="460" y="126649"/>
                  </a:lnTo>
                  <a:lnTo>
                    <a:pt x="333" y="126260"/>
                  </a:lnTo>
                  <a:lnTo>
                    <a:pt x="127" y="125387"/>
                  </a:lnTo>
                  <a:lnTo>
                    <a:pt x="48" y="124903"/>
                  </a:lnTo>
                  <a:lnTo>
                    <a:pt x="16" y="124514"/>
                  </a:lnTo>
                  <a:lnTo>
                    <a:pt x="0" y="20786"/>
                  </a:lnTo>
                  <a:cubicBezTo>
                    <a:pt x="0" y="17951"/>
                    <a:pt x="1513" y="15330"/>
                    <a:pt x="3969" y="13913"/>
                  </a:cubicBezTo>
                  <a:cubicBezTo>
                    <a:pt x="24493" y="2064"/>
                    <a:pt x="49238" y="6"/>
                    <a:pt x="71437" y="8301"/>
                  </a:cubicBezTo>
                </a:path>
              </a:pathLst>
            </a:custGeom>
            <a:solidFill>
              <a:schemeClr val="accent1"/>
            </a:solidFill>
            <a:ln>
              <a:noFill/>
            </a:ln>
          </p:spPr>
        </p:sp>
        <p:sp>
          <p:nvSpPr>
            <p:cNvPr id="34" name="TextBox 34"/>
            <p:cNvSpPr txBox="1"/>
            <p:nvPr/>
          </p:nvSpPr>
          <p:spPr>
            <a:xfrm>
              <a:off x="9699117" y="5788342"/>
              <a:ext cx="1413211" cy="264033"/>
            </a:xfrm>
            <a:prstGeom prst="rect">
              <a:avLst/>
            </a:prstGeom>
            <a:noFill/>
            <a:ln>
              <a:noFill/>
            </a:ln>
          </p:spPr>
          <p:txBody>
            <a:bodyPr wrap="none" lIns="0" tIns="0" rIns="0" bIns="0" anchor="t" anchorCtr="0">
              <a:spAutoFit/>
            </a:bodyPr>
            <a:lstStyle/>
            <a:p>
              <a:pPr algn="l"/>
              <a:r>
                <a:rPr lang="en-GB" sz="1350" b="1" dirty="0">
                  <a:solidFill>
                    <a:schemeClr val="dk1"/>
                  </a:solidFill>
                  <a:latin typeface="+mn-lt"/>
                  <a:ea typeface="+mn-ea"/>
                  <a:cs typeface="+mn-cs"/>
                </a:rPr>
                <a:t>CMDB &amp; Catalog</a:t>
              </a:r>
              <a:endParaRPr lang="en-GB" sz="1350" b="1" dirty="0">
                <a:solidFill>
                  <a:schemeClr val="dk1"/>
                </a:solidFill>
                <a:latin typeface="+mn-lt"/>
                <a:ea typeface="+mn-ea"/>
                <a:cs typeface="+mn-cs"/>
              </a:endParaRPr>
            </a:p>
          </p:txBody>
        </p:sp>
      </p:grpSp>
      <p:sp>
        <p:nvSpPr>
          <p:cNvPr id="40" name="Footer Placeholder 39"/>
          <p:cNvSpPr>
            <a:spLocks noGrp="1"/>
          </p:cNvSpPr>
          <p:nvPr>
            <p:ph type="ftr" sz="quarter" idx="11"/>
          </p:nvPr>
        </p:nvSpPr>
        <p:spPr/>
        <p:txBody>
          <a:bodyPr/>
          <a:p>
            <a:r>
              <a:rPr lang="en-US"/>
              <a:t>TCS | Confidential</a:t>
            </a:r>
            <a:endParaRPr lang="en-US"/>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609600" y="628650"/>
            <a:ext cx="2729995" cy="346901"/>
            <a:chOff x="609600" y="628650"/>
            <a:chExt cx="2729995" cy="346901"/>
          </a:xfrm>
        </p:grpSpPr>
        <p:sp>
          <p:nvSpPr>
            <p:cNvPr id="2" name="Rectangle 2"/>
            <p:cNvSpPr/>
            <p:nvPr/>
          </p:nvSpPr>
          <p:spPr>
            <a:xfrm>
              <a:off x="609600" y="628650"/>
              <a:ext cx="2552700" cy="342900"/>
            </a:xfrm>
            <a:prstGeom prst="roundRect">
              <a:avLst>
                <a:gd name="adj" fmla="val 50000"/>
              </a:avLst>
            </a:prstGeom>
            <a:solidFill>
              <a:schemeClr val="accent1">
                <a:alpha val="14000"/>
              </a:schemeClr>
            </a:solidFill>
            <a:ln>
              <a:noFill/>
            </a:ln>
          </p:spPr>
        </p:sp>
        <p:sp>
          <p:nvSpPr>
            <p:cNvPr id="3" name="TextBox 3"/>
            <p:cNvSpPr txBox="1"/>
            <p:nvPr/>
          </p:nvSpPr>
          <p:spPr>
            <a:xfrm>
              <a:off x="793242" y="711518"/>
              <a:ext cx="2546353" cy="264033"/>
            </a:xfrm>
            <a:prstGeom prst="rect">
              <a:avLst/>
            </a:prstGeom>
            <a:noFill/>
            <a:ln>
              <a:noFill/>
            </a:ln>
          </p:spPr>
          <p:txBody>
            <a:bodyPr wrap="none" lIns="0" tIns="0" rIns="0" bIns="0" anchor="t" anchorCtr="0">
              <a:spAutoFit/>
            </a:bodyPr>
            <a:lstStyle/>
            <a:p>
              <a:pPr algn="l"/>
              <a:r>
                <a:rPr lang="en-GB" sz="1350" b="1" spc="75" dirty="0">
                  <a:solidFill>
                    <a:schemeClr val="accent1"/>
                  </a:solidFill>
                  <a:latin typeface="+mn-lt"/>
                  <a:ea typeface="+mn-ea"/>
                  <a:cs typeface="+mn-cs"/>
                </a:rPr>
                <a:t>THE PLATFORM IN ACTION</a:t>
              </a:r>
              <a:endParaRPr lang="en-GB" sz="1350" b="1" spc="75" dirty="0">
                <a:solidFill>
                  <a:schemeClr val="accent1"/>
                </a:solidFill>
                <a:latin typeface="+mn-lt"/>
                <a:ea typeface="+mn-ea"/>
                <a:cs typeface="+mn-cs"/>
              </a:endParaRPr>
            </a:p>
          </p:txBody>
        </p:sp>
      </p:grpSp>
      <p:grpSp>
        <p:nvGrpSpPr>
          <p:cNvPr id="6" name="Group 6"/>
          <p:cNvGrpSpPr/>
          <p:nvPr/>
        </p:nvGrpSpPr>
        <p:grpSpPr>
          <a:xfrm>
            <a:off x="590550" y="1165860"/>
            <a:ext cx="7962360" cy="819150"/>
            <a:chOff x="590550" y="1165860"/>
            <a:chExt cx="7962360" cy="819150"/>
          </a:xfrm>
        </p:grpSpPr>
        <p:sp>
          <p:nvSpPr>
            <p:cNvPr id="5" name="TextBox 5"/>
            <p:cNvSpPr txBox="1"/>
            <p:nvPr/>
          </p:nvSpPr>
          <p:spPr>
            <a:xfrm>
              <a:off x="590550" y="1165860"/>
              <a:ext cx="7962360" cy="819150"/>
            </a:xfrm>
            <a:prstGeom prst="rect">
              <a:avLst/>
            </a:prstGeom>
            <a:noFill/>
            <a:ln>
              <a:noFill/>
            </a:ln>
          </p:spPr>
          <p:txBody>
            <a:bodyPr wrap="none" lIns="0" tIns="0" rIns="0" bIns="0" anchor="t" anchorCtr="0">
              <a:spAutoFit/>
            </a:bodyPr>
            <a:lstStyle/>
            <a:p>
              <a:pPr algn="l"/>
              <a:r>
                <a:rPr lang="en-GB" sz="4200" b="1" dirty="0">
                  <a:solidFill>
                    <a:schemeClr val="dk1"/>
                  </a:solidFill>
                  <a:latin typeface="+mn-lt"/>
                  <a:ea typeface="+mn-ea"/>
                  <a:cs typeface="+mn-cs"/>
                </a:rPr>
                <a:t>Precedent-Grounded Triage</a:t>
              </a:r>
              <a:endParaRPr lang="en-GB" sz="4200" b="1" dirty="0">
                <a:solidFill>
                  <a:schemeClr val="dk1"/>
                </a:solidFill>
                <a:latin typeface="+mn-lt"/>
                <a:ea typeface="+mn-ea"/>
                <a:cs typeface="+mn-cs"/>
              </a:endParaRPr>
            </a:p>
          </p:txBody>
        </p:sp>
      </p:grpSp>
      <p:grpSp>
        <p:nvGrpSpPr>
          <p:cNvPr id="8" name="Group 8"/>
          <p:cNvGrpSpPr/>
          <p:nvPr/>
        </p:nvGrpSpPr>
        <p:grpSpPr>
          <a:xfrm>
            <a:off x="600456" y="1844040"/>
            <a:ext cx="7519670" cy="276860"/>
            <a:chOff x="600456" y="1844040"/>
            <a:chExt cx="7519670" cy="276860"/>
          </a:xfrm>
        </p:grpSpPr>
        <p:sp>
          <p:nvSpPr>
            <p:cNvPr id="7" name="TextBox 7"/>
            <p:cNvSpPr txBox="1"/>
            <p:nvPr/>
          </p:nvSpPr>
          <p:spPr>
            <a:xfrm>
              <a:off x="600456" y="1844040"/>
              <a:ext cx="7519670" cy="276860"/>
            </a:xfrm>
            <a:prstGeom prst="rect">
              <a:avLst/>
            </a:prstGeom>
            <a:noFill/>
            <a:ln>
              <a:noFill/>
            </a:ln>
          </p:spPr>
          <p:txBody>
            <a:bodyPr wrap="none" lIns="0" tIns="0" rIns="0" bIns="0" anchor="t" anchorCtr="0">
              <a:spAutoFit/>
            </a:bodyPr>
            <a:lstStyle/>
            <a:p>
              <a:pPr algn="l"/>
              <a:r>
                <a:rPr lang="en-GB" sz="1800" dirty="0">
                  <a:solidFill>
                    <a:schemeClr val="accent5"/>
                  </a:solidFill>
                  <a:latin typeface="+mn-lt"/>
                  <a:ea typeface="+mn-ea"/>
                  <a:cs typeface="+mn-cs"/>
                </a:rPr>
                <a:t>Sub-second search across </a:t>
              </a:r>
              <a:r>
                <a:rPr lang="en-US" altLang="en-GB" sz="1800" dirty="0">
                  <a:solidFill>
                    <a:schemeClr val="accent5"/>
                  </a:solidFill>
                  <a:latin typeface="+mn-lt"/>
                  <a:ea typeface="+mn-ea"/>
                  <a:cs typeface="+mn-cs"/>
                </a:rPr>
                <a:t>1700</a:t>
              </a:r>
              <a:r>
                <a:rPr lang="en-GB" sz="1800" dirty="0">
                  <a:solidFill>
                    <a:schemeClr val="accent5"/>
                  </a:solidFill>
                  <a:latin typeface="+mn-lt"/>
                  <a:ea typeface="+mn-ea"/>
                  <a:cs typeface="+mn-cs"/>
                </a:rPr>
                <a:t>+ incidents grounds every routing decision.</a:t>
              </a:r>
              <a:endParaRPr lang="en-GB" sz="1800" dirty="0">
                <a:solidFill>
                  <a:schemeClr val="accent5"/>
                </a:solidFill>
                <a:latin typeface="+mn-lt"/>
                <a:ea typeface="+mn-ea"/>
                <a:cs typeface="+mn-cs"/>
              </a:endParaRPr>
            </a:p>
          </p:txBody>
        </p:sp>
      </p:grpSp>
      <p:grpSp>
        <p:nvGrpSpPr>
          <p:cNvPr id="17" name="Group 17"/>
          <p:cNvGrpSpPr/>
          <p:nvPr/>
        </p:nvGrpSpPr>
        <p:grpSpPr>
          <a:xfrm>
            <a:off x="609600" y="2419350"/>
            <a:ext cx="4000500" cy="904875"/>
            <a:chOff x="609600" y="2419350"/>
            <a:chExt cx="4000500" cy="904875"/>
          </a:xfrm>
        </p:grpSpPr>
        <p:sp>
          <p:nvSpPr>
            <p:cNvPr id="9" name="Rectangle 9"/>
            <p:cNvSpPr/>
            <p:nvPr/>
          </p:nvSpPr>
          <p:spPr>
            <a:xfrm>
              <a:off x="609600" y="2419350"/>
              <a:ext cx="4000500" cy="904875"/>
            </a:xfrm>
            <a:prstGeom prst="roundRect">
              <a:avLst>
                <a:gd name="adj" fmla="val 23158"/>
              </a:avLst>
            </a:prstGeom>
            <a:solidFill>
              <a:schemeClr val="lt2"/>
            </a:solidFill>
            <a:ln>
              <a:noFill/>
            </a:ln>
            <a:effectLst>
              <a:outerShdw blurRad="266700" dist="57150" dir="5400000" algn="ctr" rotWithShape="0">
                <a:srgbClr val="7C6FE0">
                  <a:alpha val="7500"/>
                </a:srgbClr>
              </a:outerShdw>
            </a:effectLst>
          </p:spPr>
        </p:sp>
        <p:sp>
          <p:nvSpPr>
            <p:cNvPr id="10" name="Ellipse 10"/>
            <p:cNvSpPr/>
            <p:nvPr/>
          </p:nvSpPr>
          <p:spPr>
            <a:xfrm>
              <a:off x="781050" y="2638425"/>
              <a:ext cx="457200" cy="457200"/>
            </a:xfrm>
            <a:prstGeom prst="ellipse">
              <a:avLst/>
            </a:prstGeom>
            <a:solidFill>
              <a:schemeClr val="accent1">
                <a:alpha val="15000"/>
              </a:schemeClr>
            </a:solidFill>
            <a:ln>
              <a:noFill/>
            </a:ln>
          </p:spPr>
        </p:sp>
        <p:grpSp>
          <p:nvGrpSpPr>
            <p:cNvPr id="14" name="Group 14"/>
            <p:cNvGrpSpPr/>
            <p:nvPr/>
          </p:nvGrpSpPr>
          <p:grpSpPr>
            <a:xfrm>
              <a:off x="911228" y="2778128"/>
              <a:ext cx="187319" cy="177794"/>
              <a:chOff x="911228" y="2778128"/>
              <a:chExt cx="187319" cy="177794"/>
            </a:xfrm>
          </p:grpSpPr>
          <p:sp>
            <p:nvSpPr>
              <p:cNvPr id="11" name="Freeform 11"/>
              <p:cNvSpPr/>
              <p:nvPr/>
            </p:nvSpPr>
            <p:spPr>
              <a:xfrm>
                <a:off x="1038225" y="2892428"/>
                <a:ext cx="60322" cy="63494"/>
              </a:xfrm>
              <a:custGeom>
                <a:avLst/>
                <a:gdLst/>
                <a:ahLst/>
                <a:cxnLst/>
                <a:rect l="l" t="t" r="r" b="b"/>
                <a:pathLst>
                  <a:path w="60322" h="63494">
                    <a:moveTo>
                      <a:pt x="9525" y="41272"/>
                    </a:moveTo>
                    <a:cubicBezTo>
                      <a:pt x="4264" y="41272"/>
                      <a:pt x="0" y="37007"/>
                      <a:pt x="0" y="31747"/>
                    </a:cubicBezTo>
                    <a:cubicBezTo>
                      <a:pt x="0" y="26486"/>
                      <a:pt x="4264" y="22222"/>
                      <a:pt x="9525" y="22222"/>
                    </a:cubicBezTo>
                    <a:cubicBezTo>
                      <a:pt x="14786" y="22222"/>
                      <a:pt x="19050" y="17957"/>
                      <a:pt x="19050" y="12697"/>
                    </a:cubicBezTo>
                    <a:cubicBezTo>
                      <a:pt x="19050" y="0"/>
                      <a:pt x="38100" y="0"/>
                      <a:pt x="38100" y="12697"/>
                    </a:cubicBezTo>
                    <a:cubicBezTo>
                      <a:pt x="38100" y="17957"/>
                      <a:pt x="42364" y="22222"/>
                      <a:pt x="47625" y="22222"/>
                    </a:cubicBezTo>
                    <a:cubicBezTo>
                      <a:pt x="60322" y="22222"/>
                      <a:pt x="60322" y="41272"/>
                      <a:pt x="47625" y="41272"/>
                    </a:cubicBezTo>
                    <a:cubicBezTo>
                      <a:pt x="42364" y="41272"/>
                      <a:pt x="38100" y="45536"/>
                      <a:pt x="38100" y="50797"/>
                    </a:cubicBezTo>
                    <a:cubicBezTo>
                      <a:pt x="38100" y="63494"/>
                      <a:pt x="19050" y="63494"/>
                      <a:pt x="19050" y="50797"/>
                    </a:cubicBezTo>
                    <a:cubicBezTo>
                      <a:pt x="19050" y="45536"/>
                      <a:pt x="14786" y="41272"/>
                      <a:pt x="9525" y="41272"/>
                    </a:cubicBezTo>
                  </a:path>
                </a:pathLst>
              </a:custGeom>
              <a:solidFill>
                <a:schemeClr val="accent1"/>
              </a:solidFill>
              <a:ln>
                <a:noFill/>
              </a:ln>
            </p:spPr>
          </p:sp>
          <p:sp>
            <p:nvSpPr>
              <p:cNvPr id="12" name="Freeform 12"/>
              <p:cNvSpPr/>
              <p:nvPr/>
            </p:nvSpPr>
            <p:spPr>
              <a:xfrm>
                <a:off x="911228" y="2797178"/>
                <a:ext cx="139694" cy="136522"/>
              </a:xfrm>
              <a:custGeom>
                <a:avLst/>
                <a:gdLst/>
                <a:ahLst/>
                <a:cxnLst/>
                <a:rect l="l" t="t" r="r" b="b"/>
                <a:pathLst>
                  <a:path w="139694" h="136522">
                    <a:moveTo>
                      <a:pt x="12697" y="60322"/>
                    </a:moveTo>
                    <a:cubicBezTo>
                      <a:pt x="38999" y="60322"/>
                      <a:pt x="60322" y="38999"/>
                      <a:pt x="60322" y="12697"/>
                    </a:cubicBezTo>
                    <a:cubicBezTo>
                      <a:pt x="60322" y="0"/>
                      <a:pt x="79372" y="0"/>
                      <a:pt x="79372" y="12697"/>
                    </a:cubicBezTo>
                    <a:cubicBezTo>
                      <a:pt x="79372" y="38999"/>
                      <a:pt x="100694" y="60322"/>
                      <a:pt x="126997" y="60322"/>
                    </a:cubicBezTo>
                    <a:cubicBezTo>
                      <a:pt x="139694" y="60322"/>
                      <a:pt x="139694" y="79372"/>
                      <a:pt x="126997" y="79372"/>
                    </a:cubicBezTo>
                    <a:cubicBezTo>
                      <a:pt x="100694" y="79372"/>
                      <a:pt x="79372" y="100694"/>
                      <a:pt x="79372" y="126997"/>
                    </a:cubicBezTo>
                    <a:cubicBezTo>
                      <a:pt x="79372" y="132257"/>
                      <a:pt x="75107" y="136522"/>
                      <a:pt x="69847" y="136522"/>
                    </a:cubicBezTo>
                    <a:cubicBezTo>
                      <a:pt x="64586" y="136522"/>
                      <a:pt x="60322" y="132257"/>
                      <a:pt x="60322" y="126997"/>
                    </a:cubicBezTo>
                    <a:cubicBezTo>
                      <a:pt x="60322" y="100694"/>
                      <a:pt x="38999" y="79372"/>
                      <a:pt x="12697" y="79372"/>
                    </a:cubicBezTo>
                    <a:cubicBezTo>
                      <a:pt x="0" y="79372"/>
                      <a:pt x="0" y="60322"/>
                      <a:pt x="12697" y="60322"/>
                    </a:cubicBezTo>
                  </a:path>
                </a:pathLst>
              </a:custGeom>
              <a:solidFill>
                <a:schemeClr val="accent1"/>
              </a:solidFill>
              <a:ln>
                <a:noFill/>
              </a:ln>
            </p:spPr>
          </p:sp>
          <p:sp>
            <p:nvSpPr>
              <p:cNvPr id="13" name="Freeform 13"/>
              <p:cNvSpPr/>
              <p:nvPr/>
            </p:nvSpPr>
            <p:spPr>
              <a:xfrm>
                <a:off x="1038225" y="2778128"/>
                <a:ext cx="60322" cy="63494"/>
              </a:xfrm>
              <a:custGeom>
                <a:avLst/>
                <a:gdLst/>
                <a:ahLst/>
                <a:cxnLst/>
                <a:rect l="l" t="t" r="r" b="b"/>
                <a:pathLst>
                  <a:path w="60322" h="63494">
                    <a:moveTo>
                      <a:pt x="9525" y="41272"/>
                    </a:moveTo>
                    <a:cubicBezTo>
                      <a:pt x="4264" y="41272"/>
                      <a:pt x="0" y="37007"/>
                      <a:pt x="0" y="31747"/>
                    </a:cubicBezTo>
                    <a:cubicBezTo>
                      <a:pt x="0" y="26486"/>
                      <a:pt x="4264" y="22222"/>
                      <a:pt x="9525" y="22222"/>
                    </a:cubicBezTo>
                    <a:cubicBezTo>
                      <a:pt x="14786" y="22222"/>
                      <a:pt x="19050" y="17957"/>
                      <a:pt x="19050" y="12697"/>
                    </a:cubicBezTo>
                    <a:cubicBezTo>
                      <a:pt x="19050" y="0"/>
                      <a:pt x="38100" y="0"/>
                      <a:pt x="38100" y="12697"/>
                    </a:cubicBezTo>
                    <a:cubicBezTo>
                      <a:pt x="38100" y="17957"/>
                      <a:pt x="42364" y="22222"/>
                      <a:pt x="47625" y="22222"/>
                    </a:cubicBezTo>
                    <a:cubicBezTo>
                      <a:pt x="60322" y="22222"/>
                      <a:pt x="60322" y="41272"/>
                      <a:pt x="47625" y="41272"/>
                    </a:cubicBezTo>
                    <a:cubicBezTo>
                      <a:pt x="42364" y="41272"/>
                      <a:pt x="38100" y="45536"/>
                      <a:pt x="38100" y="50797"/>
                    </a:cubicBezTo>
                    <a:cubicBezTo>
                      <a:pt x="38100" y="63494"/>
                      <a:pt x="19050" y="63494"/>
                      <a:pt x="19050" y="50797"/>
                    </a:cubicBezTo>
                    <a:cubicBezTo>
                      <a:pt x="19050" y="45536"/>
                      <a:pt x="14786" y="41272"/>
                      <a:pt x="9525" y="41272"/>
                    </a:cubicBezTo>
                  </a:path>
                </a:pathLst>
              </a:custGeom>
              <a:solidFill>
                <a:schemeClr val="accent1"/>
              </a:solidFill>
              <a:ln>
                <a:noFill/>
              </a:ln>
            </p:spPr>
          </p:sp>
        </p:grpSp>
        <p:sp>
          <p:nvSpPr>
            <p:cNvPr id="15" name="TextBox 15"/>
            <p:cNvSpPr txBox="1"/>
            <p:nvPr/>
          </p:nvSpPr>
          <p:spPr>
            <a:xfrm>
              <a:off x="1383030" y="2581275"/>
              <a:ext cx="1630680" cy="230505"/>
            </a:xfrm>
            <a:prstGeom prst="rect">
              <a:avLst/>
            </a:prstGeom>
            <a:noFill/>
            <a:ln>
              <a:noFill/>
            </a:ln>
          </p:spPr>
          <p:txBody>
            <a:bodyPr wrap="none" lIns="0" tIns="0" rIns="0" bIns="0" anchor="t" anchorCtr="0">
              <a:spAutoFit/>
            </a:bodyPr>
            <a:lstStyle/>
            <a:p>
              <a:pPr algn="l"/>
              <a:r>
                <a:rPr lang="en-US" altLang="en-GB" sz="1500" dirty="0">
                  <a:solidFill>
                    <a:schemeClr val="dk1"/>
                  </a:solidFill>
                  <a:latin typeface="+mn-lt"/>
                  <a:ea typeface="+mn-ea"/>
                  <a:cs typeface="+mn-cs"/>
                </a:rPr>
                <a:t>The LLM (the brain)</a:t>
              </a:r>
              <a:endParaRPr lang="en-US" altLang="en-GB" sz="1500" dirty="0">
                <a:solidFill>
                  <a:schemeClr val="dk1"/>
                </a:solidFill>
                <a:latin typeface="+mn-lt"/>
                <a:ea typeface="+mn-ea"/>
                <a:cs typeface="+mn-cs"/>
              </a:endParaRPr>
            </a:p>
          </p:txBody>
        </p:sp>
        <p:sp>
          <p:nvSpPr>
            <p:cNvPr id="16" name="TextBox 16"/>
            <p:cNvSpPr txBox="1"/>
            <p:nvPr/>
          </p:nvSpPr>
          <p:spPr>
            <a:xfrm>
              <a:off x="1383030" y="2809875"/>
              <a:ext cx="2832164" cy="293370"/>
            </a:xfrm>
            <a:prstGeom prst="rect">
              <a:avLst/>
            </a:prstGeom>
            <a:noFill/>
            <a:ln>
              <a:noFill/>
            </a:ln>
          </p:spPr>
          <p:txBody>
            <a:bodyPr wrap="none" lIns="0" tIns="0" rIns="0" bIns="0" anchor="t" anchorCtr="0">
              <a:spAutoFit/>
            </a:bodyPr>
            <a:lstStyle/>
            <a:p>
              <a:pPr algn="l"/>
              <a:r>
                <a:rPr lang="en-GB" sz="1500" dirty="0">
                  <a:solidFill>
                    <a:schemeClr val="dk1"/>
                  </a:solidFill>
                  <a:latin typeface="+mn-lt"/>
                  <a:ea typeface="+mn-ea"/>
                  <a:cs typeface="+mn-cs"/>
                </a:rPr>
                <a:t>classifies priority and dept.</a:t>
              </a:r>
              <a:endParaRPr lang="en-GB" sz="1500" dirty="0">
                <a:solidFill>
                  <a:schemeClr val="dk1"/>
                </a:solidFill>
                <a:latin typeface="+mn-lt"/>
                <a:ea typeface="+mn-ea"/>
                <a:cs typeface="+mn-cs"/>
              </a:endParaRPr>
            </a:p>
          </p:txBody>
        </p:sp>
      </p:grpSp>
      <p:grpSp>
        <p:nvGrpSpPr>
          <p:cNvPr id="23" name="Group 23"/>
          <p:cNvGrpSpPr/>
          <p:nvPr/>
        </p:nvGrpSpPr>
        <p:grpSpPr>
          <a:xfrm>
            <a:off x="609600" y="3514725"/>
            <a:ext cx="4000500" cy="904875"/>
            <a:chOff x="609600" y="3514725"/>
            <a:chExt cx="4000500" cy="904875"/>
          </a:xfrm>
        </p:grpSpPr>
        <p:sp>
          <p:nvSpPr>
            <p:cNvPr id="18" name="Rectangle 18"/>
            <p:cNvSpPr/>
            <p:nvPr/>
          </p:nvSpPr>
          <p:spPr>
            <a:xfrm>
              <a:off x="609600" y="3514725"/>
              <a:ext cx="4000500" cy="904875"/>
            </a:xfrm>
            <a:prstGeom prst="roundRect">
              <a:avLst>
                <a:gd name="adj" fmla="val 23158"/>
              </a:avLst>
            </a:prstGeom>
            <a:solidFill>
              <a:schemeClr val="lt2"/>
            </a:solidFill>
            <a:ln>
              <a:noFill/>
            </a:ln>
            <a:effectLst>
              <a:outerShdw blurRad="266700" dist="57150" dir="5400000" algn="ctr" rotWithShape="0">
                <a:srgbClr val="7C6FE0">
                  <a:alpha val="7500"/>
                </a:srgbClr>
              </a:outerShdw>
            </a:effectLst>
          </p:spPr>
        </p:sp>
        <p:sp>
          <p:nvSpPr>
            <p:cNvPr id="19" name="Ellipse 19"/>
            <p:cNvSpPr/>
            <p:nvPr/>
          </p:nvSpPr>
          <p:spPr>
            <a:xfrm>
              <a:off x="781050" y="3733800"/>
              <a:ext cx="457200" cy="457200"/>
            </a:xfrm>
            <a:prstGeom prst="ellipse">
              <a:avLst/>
            </a:prstGeom>
            <a:solidFill>
              <a:schemeClr val="accent2">
                <a:alpha val="15000"/>
              </a:schemeClr>
            </a:solidFill>
            <a:ln>
              <a:noFill/>
            </a:ln>
          </p:spPr>
        </p:sp>
        <p:sp>
          <p:nvSpPr>
            <p:cNvPr id="20" name="Freeform 20"/>
            <p:cNvSpPr/>
            <p:nvPr/>
          </p:nvSpPr>
          <p:spPr>
            <a:xfrm>
              <a:off x="910087" y="3867150"/>
              <a:ext cx="199117" cy="190602"/>
            </a:xfrm>
            <a:custGeom>
              <a:avLst/>
              <a:gdLst/>
              <a:ahLst/>
              <a:cxnLst/>
              <a:rect l="l" t="t" r="r" b="b"/>
              <a:pathLst>
                <a:path w="199117" h="190602">
                  <a:moveTo>
                    <a:pt x="99544" y="0"/>
                  </a:moveTo>
                  <a:lnTo>
                    <a:pt x="100668" y="67"/>
                  </a:lnTo>
                  <a:lnTo>
                    <a:pt x="101230" y="143"/>
                  </a:lnTo>
                  <a:lnTo>
                    <a:pt x="101811" y="267"/>
                  </a:lnTo>
                  <a:lnTo>
                    <a:pt x="102868" y="591"/>
                  </a:lnTo>
                  <a:cubicBezTo>
                    <a:pt x="103598" y="860"/>
                    <a:pt x="104293" y="1218"/>
                    <a:pt x="104935" y="1657"/>
                  </a:cubicBezTo>
                  <a:lnTo>
                    <a:pt x="105926" y="2438"/>
                  </a:lnTo>
                  <a:lnTo>
                    <a:pt x="108354" y="4515"/>
                  </a:lnTo>
                  <a:cubicBezTo>
                    <a:pt x="127569" y="20475"/>
                    <a:pt x="151854" y="29045"/>
                    <a:pt x="176830" y="28680"/>
                  </a:cubicBezTo>
                  <a:lnTo>
                    <a:pt x="180087" y="28585"/>
                  </a:lnTo>
                  <a:cubicBezTo>
                    <a:pt x="184470" y="28385"/>
                    <a:pt x="188423" y="31204"/>
                    <a:pt x="189660" y="35414"/>
                  </a:cubicBezTo>
                  <a:cubicBezTo>
                    <a:pt x="199117" y="67583"/>
                    <a:pt x="195123" y="102211"/>
                    <a:pt x="178593" y="131383"/>
                  </a:cubicBezTo>
                  <a:cubicBezTo>
                    <a:pt x="162063" y="160555"/>
                    <a:pt x="134409" y="181776"/>
                    <a:pt x="101954" y="190195"/>
                  </a:cubicBezTo>
                  <a:cubicBezTo>
                    <a:pt x="100386" y="190602"/>
                    <a:pt x="98740" y="190602"/>
                    <a:pt x="97172" y="190195"/>
                  </a:cubicBezTo>
                  <a:cubicBezTo>
                    <a:pt x="64715" y="181778"/>
                    <a:pt x="37059" y="160558"/>
                    <a:pt x="20527" y="131386"/>
                  </a:cubicBezTo>
                  <a:cubicBezTo>
                    <a:pt x="3994" y="102213"/>
                    <a:pt x="0" y="67584"/>
                    <a:pt x="9456" y="35414"/>
                  </a:cubicBezTo>
                  <a:cubicBezTo>
                    <a:pt x="10693" y="31204"/>
                    <a:pt x="14646" y="28385"/>
                    <a:pt x="19029" y="28585"/>
                  </a:cubicBezTo>
                  <a:cubicBezTo>
                    <a:pt x="45103" y="29776"/>
                    <a:pt x="70684" y="21193"/>
                    <a:pt x="90762" y="4515"/>
                  </a:cubicBezTo>
                  <a:lnTo>
                    <a:pt x="93267" y="2372"/>
                  </a:lnTo>
                  <a:lnTo>
                    <a:pt x="94181" y="1657"/>
                  </a:lnTo>
                  <a:cubicBezTo>
                    <a:pt x="94824" y="1218"/>
                    <a:pt x="95518" y="860"/>
                    <a:pt x="96248" y="591"/>
                  </a:cubicBezTo>
                  <a:lnTo>
                    <a:pt x="97315" y="267"/>
                  </a:lnTo>
                  <a:cubicBezTo>
                    <a:pt x="97688" y="177"/>
                    <a:pt x="98067" y="110"/>
                    <a:pt x="98448" y="67"/>
                  </a:cubicBezTo>
                  <a:lnTo>
                    <a:pt x="99544" y="0"/>
                  </a:lnTo>
                  <a:close/>
                  <a:moveTo>
                    <a:pt x="134882" y="69466"/>
                  </a:moveTo>
                  <a:cubicBezTo>
                    <a:pt x="133095" y="67677"/>
                    <a:pt x="130671" y="66672"/>
                    <a:pt x="128143" y="66672"/>
                  </a:cubicBezTo>
                  <a:cubicBezTo>
                    <a:pt x="125615" y="66672"/>
                    <a:pt x="123190" y="67677"/>
                    <a:pt x="121404" y="69466"/>
                  </a:cubicBezTo>
                  <a:lnTo>
                    <a:pt x="90038" y="100822"/>
                  </a:lnTo>
                  <a:lnTo>
                    <a:pt x="77722" y="88516"/>
                  </a:lnTo>
                  <a:lnTo>
                    <a:pt x="76827" y="87725"/>
                  </a:lnTo>
                  <a:cubicBezTo>
                    <a:pt x="72854" y="84653"/>
                    <a:pt x="67178" y="85194"/>
                    <a:pt x="63856" y="88961"/>
                  </a:cubicBezTo>
                  <a:cubicBezTo>
                    <a:pt x="60534" y="92728"/>
                    <a:pt x="60708" y="98427"/>
                    <a:pt x="64254" y="101984"/>
                  </a:cubicBezTo>
                  <a:lnTo>
                    <a:pt x="83304" y="121034"/>
                  </a:lnTo>
                  <a:lnTo>
                    <a:pt x="84199" y="121825"/>
                  </a:lnTo>
                  <a:cubicBezTo>
                    <a:pt x="87991" y="124766"/>
                    <a:pt x="93379" y="124427"/>
                    <a:pt x="96772" y="121034"/>
                  </a:cubicBezTo>
                  <a:lnTo>
                    <a:pt x="134872" y="82934"/>
                  </a:lnTo>
                  <a:lnTo>
                    <a:pt x="135663" y="82039"/>
                  </a:lnTo>
                  <a:cubicBezTo>
                    <a:pt x="138604" y="78247"/>
                    <a:pt x="138265" y="72859"/>
                    <a:pt x="134872" y="69466"/>
                  </a:cubicBezTo>
                  <a:close/>
                </a:path>
              </a:pathLst>
            </a:custGeom>
            <a:solidFill>
              <a:schemeClr val="accent2"/>
            </a:solidFill>
            <a:ln>
              <a:noFill/>
            </a:ln>
          </p:spPr>
        </p:sp>
        <p:sp>
          <p:nvSpPr>
            <p:cNvPr id="21" name="TextBox 21"/>
            <p:cNvSpPr txBox="1"/>
            <p:nvPr/>
          </p:nvSpPr>
          <p:spPr>
            <a:xfrm>
              <a:off x="1383030" y="3676650"/>
              <a:ext cx="2245451" cy="293370"/>
            </a:xfrm>
            <a:prstGeom prst="rect">
              <a:avLst/>
            </a:prstGeom>
            <a:noFill/>
            <a:ln>
              <a:noFill/>
            </a:ln>
          </p:spPr>
          <p:txBody>
            <a:bodyPr wrap="none" lIns="0" tIns="0" rIns="0" bIns="0" anchor="t" anchorCtr="0">
              <a:spAutoFit/>
            </a:bodyPr>
            <a:lstStyle/>
            <a:p>
              <a:pPr algn="l"/>
              <a:r>
                <a:rPr lang="en-GB" sz="1500" dirty="0">
                  <a:solidFill>
                    <a:schemeClr val="dk1"/>
                  </a:solidFill>
                  <a:latin typeface="+mn-lt"/>
                  <a:ea typeface="+mn-ea"/>
                  <a:cs typeface="+mn-cs"/>
                </a:rPr>
                <a:t>Confidence ≥85% auto-</a:t>
              </a:r>
              <a:endParaRPr lang="en-GB" sz="1500" dirty="0">
                <a:solidFill>
                  <a:schemeClr val="dk1"/>
                </a:solidFill>
                <a:latin typeface="+mn-lt"/>
                <a:ea typeface="+mn-ea"/>
                <a:cs typeface="+mn-cs"/>
              </a:endParaRPr>
            </a:p>
          </p:txBody>
        </p:sp>
        <p:sp>
          <p:nvSpPr>
            <p:cNvPr id="22" name="TextBox 22"/>
            <p:cNvSpPr txBox="1"/>
            <p:nvPr/>
          </p:nvSpPr>
          <p:spPr>
            <a:xfrm>
              <a:off x="1383030" y="3905250"/>
              <a:ext cx="2479398" cy="293370"/>
            </a:xfrm>
            <a:prstGeom prst="rect">
              <a:avLst/>
            </a:prstGeom>
            <a:noFill/>
            <a:ln>
              <a:noFill/>
            </a:ln>
          </p:spPr>
          <p:txBody>
            <a:bodyPr wrap="none" lIns="0" tIns="0" rIns="0" bIns="0" anchor="t" anchorCtr="0">
              <a:spAutoFit/>
            </a:bodyPr>
            <a:lstStyle/>
            <a:p>
              <a:pPr algn="l"/>
              <a:r>
                <a:rPr lang="en-GB" sz="1500" dirty="0">
                  <a:solidFill>
                    <a:schemeClr val="dk1"/>
                  </a:solidFill>
                  <a:latin typeface="+mn-lt"/>
                  <a:ea typeface="+mn-ea"/>
                  <a:cs typeface="+mn-cs"/>
                </a:rPr>
                <a:t>assigns to IN_PROGRESS.</a:t>
              </a:r>
              <a:endParaRPr lang="en-GB" sz="1500" dirty="0">
                <a:solidFill>
                  <a:schemeClr val="dk1"/>
                </a:solidFill>
                <a:latin typeface="+mn-lt"/>
                <a:ea typeface="+mn-ea"/>
                <a:cs typeface="+mn-cs"/>
              </a:endParaRPr>
            </a:p>
          </p:txBody>
        </p:sp>
      </p:grpSp>
      <p:grpSp>
        <p:nvGrpSpPr>
          <p:cNvPr id="31" name="Group 31"/>
          <p:cNvGrpSpPr/>
          <p:nvPr/>
        </p:nvGrpSpPr>
        <p:grpSpPr>
          <a:xfrm>
            <a:off x="609600" y="4610100"/>
            <a:ext cx="4000500" cy="904875"/>
            <a:chOff x="609600" y="4610100"/>
            <a:chExt cx="4000500" cy="904875"/>
          </a:xfrm>
        </p:grpSpPr>
        <p:sp>
          <p:nvSpPr>
            <p:cNvPr id="24" name="Rectangle 24"/>
            <p:cNvSpPr/>
            <p:nvPr/>
          </p:nvSpPr>
          <p:spPr>
            <a:xfrm>
              <a:off x="609600" y="4610100"/>
              <a:ext cx="4000500" cy="904875"/>
            </a:xfrm>
            <a:prstGeom prst="roundRect">
              <a:avLst>
                <a:gd name="adj" fmla="val 23158"/>
              </a:avLst>
            </a:prstGeom>
            <a:solidFill>
              <a:schemeClr val="lt2"/>
            </a:solidFill>
            <a:ln>
              <a:noFill/>
            </a:ln>
            <a:effectLst>
              <a:outerShdw blurRad="266700" dist="57150" dir="5400000" algn="ctr" rotWithShape="0">
                <a:srgbClr val="7C6FE0">
                  <a:alpha val="7500"/>
                </a:srgbClr>
              </a:outerShdw>
            </a:effectLst>
          </p:spPr>
        </p:sp>
        <p:sp>
          <p:nvSpPr>
            <p:cNvPr id="25" name="Ellipse 25"/>
            <p:cNvSpPr/>
            <p:nvPr/>
          </p:nvSpPr>
          <p:spPr>
            <a:xfrm>
              <a:off x="781050" y="4829175"/>
              <a:ext cx="457200" cy="457200"/>
            </a:xfrm>
            <a:prstGeom prst="ellipse">
              <a:avLst/>
            </a:prstGeom>
            <a:solidFill>
              <a:schemeClr val="accent3">
                <a:alpha val="16000"/>
              </a:schemeClr>
            </a:solidFill>
            <a:ln>
              <a:noFill/>
            </a:ln>
          </p:spPr>
        </p:sp>
        <p:grpSp>
          <p:nvGrpSpPr>
            <p:cNvPr id="28" name="Group 28"/>
            <p:cNvGrpSpPr/>
            <p:nvPr/>
          </p:nvGrpSpPr>
          <p:grpSpPr>
            <a:xfrm>
              <a:off x="942975" y="4962525"/>
              <a:ext cx="133350" cy="190500"/>
              <a:chOff x="942975" y="4962525"/>
              <a:chExt cx="133350" cy="190500"/>
            </a:xfrm>
          </p:grpSpPr>
          <p:sp>
            <p:nvSpPr>
              <p:cNvPr id="26" name="Freeform 26"/>
              <p:cNvSpPr/>
              <p:nvPr/>
            </p:nvSpPr>
            <p:spPr>
              <a:xfrm>
                <a:off x="962025" y="4962525"/>
                <a:ext cx="95250" cy="95250"/>
              </a:xfrm>
              <a:custGeom>
                <a:avLst/>
                <a:gdLst/>
                <a:ahLst/>
                <a:cxnLst/>
                <a:rect l="l" t="t" r="r" b="b"/>
                <a:pathLst>
                  <a:path w="95250" h="95250">
                    <a:moveTo>
                      <a:pt x="47625" y="0"/>
                    </a:moveTo>
                    <a:cubicBezTo>
                      <a:pt x="73928" y="0"/>
                      <a:pt x="95250" y="21322"/>
                      <a:pt x="95250" y="47625"/>
                    </a:cubicBezTo>
                    <a:cubicBezTo>
                      <a:pt x="95250" y="73928"/>
                      <a:pt x="73928" y="95250"/>
                      <a:pt x="47625" y="95250"/>
                    </a:cubicBezTo>
                    <a:cubicBezTo>
                      <a:pt x="21322" y="95250"/>
                      <a:pt x="0" y="73928"/>
                      <a:pt x="0" y="47625"/>
                    </a:cubicBezTo>
                    <a:lnTo>
                      <a:pt x="48" y="45558"/>
                    </a:lnTo>
                    <a:cubicBezTo>
                      <a:pt x="1154" y="20084"/>
                      <a:pt x="22127" y="1"/>
                      <a:pt x="47625" y="0"/>
                    </a:cubicBezTo>
                    <a:close/>
                  </a:path>
                </a:pathLst>
              </a:custGeom>
              <a:solidFill>
                <a:srgbClr val="B9862E"/>
              </a:solidFill>
              <a:ln>
                <a:noFill/>
              </a:ln>
            </p:spPr>
          </p:sp>
          <p:sp>
            <p:nvSpPr>
              <p:cNvPr id="27" name="Freeform 27"/>
              <p:cNvSpPr/>
              <p:nvPr/>
            </p:nvSpPr>
            <p:spPr>
              <a:xfrm>
                <a:off x="942975" y="5076825"/>
                <a:ext cx="133350" cy="76200"/>
              </a:xfrm>
              <a:custGeom>
                <a:avLst/>
                <a:gdLst/>
                <a:ahLst/>
                <a:cxnLst/>
                <a:rect l="l" t="t" r="r" b="b"/>
                <a:pathLst>
                  <a:path w="133350" h="76200">
                    <a:moveTo>
                      <a:pt x="85725" y="0"/>
                    </a:moveTo>
                    <a:cubicBezTo>
                      <a:pt x="112028" y="0"/>
                      <a:pt x="133350" y="21322"/>
                      <a:pt x="133350" y="47625"/>
                    </a:cubicBezTo>
                    <a:lnTo>
                      <a:pt x="133350" y="57150"/>
                    </a:lnTo>
                    <a:cubicBezTo>
                      <a:pt x="133350" y="67671"/>
                      <a:pt x="124821" y="76200"/>
                      <a:pt x="114300" y="76200"/>
                    </a:cubicBezTo>
                    <a:lnTo>
                      <a:pt x="19050" y="76200"/>
                    </a:lnTo>
                    <a:cubicBezTo>
                      <a:pt x="8529" y="76200"/>
                      <a:pt x="0" y="67671"/>
                      <a:pt x="0" y="57150"/>
                    </a:cubicBezTo>
                    <a:lnTo>
                      <a:pt x="0" y="47625"/>
                    </a:lnTo>
                    <a:cubicBezTo>
                      <a:pt x="0" y="21322"/>
                      <a:pt x="21322" y="0"/>
                      <a:pt x="47625" y="0"/>
                    </a:cubicBezTo>
                    <a:lnTo>
                      <a:pt x="85725" y="0"/>
                    </a:lnTo>
                    <a:close/>
                  </a:path>
                </a:pathLst>
              </a:custGeom>
              <a:solidFill>
                <a:srgbClr val="B9862E"/>
              </a:solidFill>
              <a:ln>
                <a:noFill/>
              </a:ln>
            </p:spPr>
          </p:sp>
        </p:grpSp>
        <p:sp>
          <p:nvSpPr>
            <p:cNvPr id="29" name="TextBox 29"/>
            <p:cNvSpPr txBox="1"/>
            <p:nvPr/>
          </p:nvSpPr>
          <p:spPr>
            <a:xfrm>
              <a:off x="1383030" y="4772025"/>
              <a:ext cx="2303847" cy="293370"/>
            </a:xfrm>
            <a:prstGeom prst="rect">
              <a:avLst/>
            </a:prstGeom>
            <a:noFill/>
            <a:ln>
              <a:noFill/>
            </a:ln>
          </p:spPr>
          <p:txBody>
            <a:bodyPr wrap="none" lIns="0" tIns="0" rIns="0" bIns="0" anchor="t" anchorCtr="0">
              <a:spAutoFit/>
            </a:bodyPr>
            <a:lstStyle/>
            <a:p>
              <a:pPr algn="l"/>
              <a:r>
                <a:rPr lang="en-GB" sz="1500" dirty="0">
                  <a:solidFill>
                    <a:schemeClr val="dk1"/>
                  </a:solidFill>
                  <a:latin typeface="+mn-lt"/>
                  <a:ea typeface="+mn-ea"/>
                  <a:cs typeface="+mn-cs"/>
                </a:rPr>
                <a:t>Below threshold, stays</a:t>
              </a:r>
              <a:endParaRPr lang="en-GB" sz="1500" dirty="0">
                <a:solidFill>
                  <a:schemeClr val="dk1"/>
                </a:solidFill>
                <a:latin typeface="+mn-lt"/>
                <a:ea typeface="+mn-ea"/>
                <a:cs typeface="+mn-cs"/>
              </a:endParaRPr>
            </a:p>
          </p:txBody>
        </p:sp>
        <p:sp>
          <p:nvSpPr>
            <p:cNvPr id="30" name="TextBox 30"/>
            <p:cNvSpPr txBox="1"/>
            <p:nvPr/>
          </p:nvSpPr>
          <p:spPr>
            <a:xfrm>
              <a:off x="1383030" y="5000625"/>
              <a:ext cx="2835511" cy="293370"/>
            </a:xfrm>
            <a:prstGeom prst="rect">
              <a:avLst/>
            </a:prstGeom>
            <a:noFill/>
            <a:ln>
              <a:noFill/>
            </a:ln>
          </p:spPr>
          <p:txBody>
            <a:bodyPr wrap="none" lIns="0" tIns="0" rIns="0" bIns="0" anchor="t" anchorCtr="0">
              <a:spAutoFit/>
            </a:bodyPr>
            <a:lstStyle/>
            <a:p>
              <a:pPr algn="l"/>
              <a:r>
                <a:rPr lang="en-GB" sz="1500" dirty="0">
                  <a:solidFill>
                    <a:schemeClr val="dk1"/>
                  </a:solidFill>
                  <a:latin typeface="+mn-lt"/>
                  <a:ea typeface="+mn-ea"/>
                  <a:cs typeface="+mn-cs"/>
                </a:rPr>
                <a:t>UNASSIGNED — never a guess.</a:t>
              </a:r>
              <a:endParaRPr lang="en-GB" sz="1500" dirty="0">
                <a:solidFill>
                  <a:schemeClr val="dk1"/>
                </a:solidFill>
                <a:latin typeface="+mn-lt"/>
                <a:ea typeface="+mn-ea"/>
                <a:cs typeface="+mn-cs"/>
              </a:endParaRPr>
            </a:p>
          </p:txBody>
        </p:sp>
      </p:grpSp>
      <p:grpSp>
        <p:nvGrpSpPr>
          <p:cNvPr id="38" name="Group 38"/>
          <p:cNvGrpSpPr/>
          <p:nvPr/>
        </p:nvGrpSpPr>
        <p:grpSpPr>
          <a:xfrm>
            <a:off x="609600" y="5705475"/>
            <a:ext cx="4000500" cy="542925"/>
            <a:chOff x="609600" y="5705475"/>
            <a:chExt cx="4000500" cy="542925"/>
          </a:xfrm>
        </p:grpSpPr>
        <p:sp>
          <p:nvSpPr>
            <p:cNvPr id="32" name="Rectangle 32"/>
            <p:cNvSpPr/>
            <p:nvPr/>
          </p:nvSpPr>
          <p:spPr>
            <a:xfrm>
              <a:off x="609600" y="5705475"/>
              <a:ext cx="4000500" cy="542925"/>
            </a:xfrm>
            <a:prstGeom prst="roundRect">
              <a:avLst>
                <a:gd name="adj" fmla="val 38596"/>
              </a:avLst>
            </a:prstGeom>
            <a:solidFill>
              <a:schemeClr val="lt2"/>
            </a:solidFill>
            <a:ln>
              <a:noFill/>
            </a:ln>
            <a:effectLst>
              <a:outerShdw blurRad="266700" dist="57150" dir="5400000" algn="ctr" rotWithShape="0">
                <a:srgbClr val="7C6FE0">
                  <a:alpha val="7500"/>
                </a:srgbClr>
              </a:outerShdw>
            </a:effectLst>
          </p:spPr>
        </p:sp>
        <p:sp>
          <p:nvSpPr>
            <p:cNvPr id="33" name="Ellipse 33"/>
            <p:cNvSpPr/>
            <p:nvPr/>
          </p:nvSpPr>
          <p:spPr>
            <a:xfrm>
              <a:off x="819150" y="5781675"/>
              <a:ext cx="381000" cy="381000"/>
            </a:xfrm>
            <a:prstGeom prst="ellipse">
              <a:avLst/>
            </a:prstGeom>
            <a:solidFill>
              <a:schemeClr val="accent1">
                <a:alpha val="15000"/>
              </a:schemeClr>
            </a:solidFill>
            <a:ln>
              <a:noFill/>
            </a:ln>
          </p:spPr>
        </p:sp>
        <p:grpSp>
          <p:nvGrpSpPr>
            <p:cNvPr id="36" name="Group 36"/>
            <p:cNvGrpSpPr/>
            <p:nvPr/>
          </p:nvGrpSpPr>
          <p:grpSpPr>
            <a:xfrm>
              <a:off x="937273" y="5899779"/>
              <a:ext cx="144588" cy="135896"/>
              <a:chOff x="937273" y="5899779"/>
              <a:chExt cx="144588" cy="135896"/>
            </a:xfrm>
          </p:grpSpPr>
          <p:sp>
            <p:nvSpPr>
              <p:cNvPr id="34" name="Freeform 34"/>
              <p:cNvSpPr/>
              <p:nvPr/>
            </p:nvSpPr>
            <p:spPr>
              <a:xfrm>
                <a:off x="938212" y="5947374"/>
                <a:ext cx="142875" cy="88301"/>
              </a:xfrm>
              <a:custGeom>
                <a:avLst/>
                <a:gdLst/>
                <a:ahLst/>
                <a:cxnLst/>
                <a:rect l="l" t="t" r="r" b="b"/>
                <a:pathLst>
                  <a:path w="142875" h="88301">
                    <a:moveTo>
                      <a:pt x="96996" y="3965"/>
                    </a:moveTo>
                    <a:cubicBezTo>
                      <a:pt x="99706" y="583"/>
                      <a:pt x="104628" y="0"/>
                      <a:pt x="108053" y="2655"/>
                    </a:cubicBezTo>
                    <a:lnTo>
                      <a:pt x="108799" y="3314"/>
                    </a:lnTo>
                    <a:lnTo>
                      <a:pt x="140549" y="35064"/>
                    </a:lnTo>
                    <a:cubicBezTo>
                      <a:pt x="141783" y="36299"/>
                      <a:pt x="142575" y="37905"/>
                      <a:pt x="142804" y="39636"/>
                    </a:cubicBezTo>
                    <a:lnTo>
                      <a:pt x="142875" y="40676"/>
                    </a:lnTo>
                    <a:lnTo>
                      <a:pt x="142875" y="80363"/>
                    </a:lnTo>
                    <a:cubicBezTo>
                      <a:pt x="142874" y="84387"/>
                      <a:pt x="139863" y="87774"/>
                      <a:pt x="135866" y="88245"/>
                    </a:cubicBezTo>
                    <a:lnTo>
                      <a:pt x="134937" y="88301"/>
                    </a:lnTo>
                    <a:lnTo>
                      <a:pt x="7763" y="88301"/>
                    </a:lnTo>
                    <a:lnTo>
                      <a:pt x="6890" y="88229"/>
                    </a:lnTo>
                    <a:lnTo>
                      <a:pt x="6017" y="88070"/>
                    </a:lnTo>
                    <a:lnTo>
                      <a:pt x="5167" y="87801"/>
                    </a:lnTo>
                    <a:lnTo>
                      <a:pt x="4334" y="87435"/>
                    </a:lnTo>
                    <a:lnTo>
                      <a:pt x="3540" y="86967"/>
                    </a:lnTo>
                    <a:lnTo>
                      <a:pt x="2794" y="86412"/>
                    </a:lnTo>
                    <a:lnTo>
                      <a:pt x="2318" y="85975"/>
                    </a:lnTo>
                    <a:lnTo>
                      <a:pt x="1746" y="85324"/>
                    </a:lnTo>
                    <a:lnTo>
                      <a:pt x="1238" y="84618"/>
                    </a:lnTo>
                    <a:lnTo>
                      <a:pt x="810" y="83856"/>
                    </a:lnTo>
                    <a:lnTo>
                      <a:pt x="683" y="83578"/>
                    </a:lnTo>
                    <a:lnTo>
                      <a:pt x="365" y="82760"/>
                    </a:lnTo>
                    <a:lnTo>
                      <a:pt x="151" y="81919"/>
                    </a:lnTo>
                    <a:lnTo>
                      <a:pt x="32" y="81062"/>
                    </a:lnTo>
                    <a:lnTo>
                      <a:pt x="0" y="80189"/>
                    </a:lnTo>
                    <a:lnTo>
                      <a:pt x="71" y="79315"/>
                    </a:lnTo>
                    <a:lnTo>
                      <a:pt x="222" y="78482"/>
                    </a:lnTo>
                    <a:cubicBezTo>
                      <a:pt x="302" y="78164"/>
                      <a:pt x="397" y="77871"/>
                      <a:pt x="500" y="77593"/>
                    </a:cubicBezTo>
                    <a:lnTo>
                      <a:pt x="865" y="76760"/>
                    </a:lnTo>
                    <a:lnTo>
                      <a:pt x="1333" y="75966"/>
                    </a:lnTo>
                    <a:lnTo>
                      <a:pt x="33083" y="28341"/>
                    </a:lnTo>
                    <a:cubicBezTo>
                      <a:pt x="35094" y="25314"/>
                      <a:pt x="38903" y="24039"/>
                      <a:pt x="42331" y="25245"/>
                    </a:cubicBezTo>
                    <a:lnTo>
                      <a:pt x="43236" y="25642"/>
                    </a:lnTo>
                    <a:lnTo>
                      <a:pt x="69247" y="38644"/>
                    </a:lnTo>
                    <a:lnTo>
                      <a:pt x="96988" y="3965"/>
                    </a:lnTo>
                    <a:close/>
                  </a:path>
                </a:pathLst>
              </a:custGeom>
              <a:solidFill>
                <a:schemeClr val="accent1"/>
              </a:solidFill>
              <a:ln>
                <a:noFill/>
              </a:ln>
            </p:spPr>
          </p:sp>
          <p:sp>
            <p:nvSpPr>
              <p:cNvPr id="35" name="Freeform 35"/>
              <p:cNvSpPr/>
              <p:nvPr/>
            </p:nvSpPr>
            <p:spPr>
              <a:xfrm>
                <a:off x="937273" y="5899779"/>
                <a:ext cx="144588" cy="81273"/>
              </a:xfrm>
              <a:custGeom>
                <a:avLst/>
                <a:gdLst/>
                <a:ahLst/>
                <a:cxnLst/>
                <a:rect l="l" t="t" r="r" b="b"/>
                <a:pathLst>
                  <a:path w="144588" h="81273">
                    <a:moveTo>
                      <a:pt x="98031" y="3816"/>
                    </a:moveTo>
                    <a:cubicBezTo>
                      <a:pt x="100769" y="527"/>
                      <a:pt x="105621" y="0"/>
                      <a:pt x="109001" y="2625"/>
                    </a:cubicBezTo>
                    <a:lnTo>
                      <a:pt x="109739" y="3284"/>
                    </a:lnTo>
                    <a:lnTo>
                      <a:pt x="141489" y="35034"/>
                    </a:lnTo>
                    <a:cubicBezTo>
                      <a:pt x="144443" y="37998"/>
                      <a:pt x="144588" y="42747"/>
                      <a:pt x="141820" y="45887"/>
                    </a:cubicBezTo>
                    <a:cubicBezTo>
                      <a:pt x="139052" y="49026"/>
                      <a:pt x="134322" y="49476"/>
                      <a:pt x="131011" y="46916"/>
                    </a:cubicBezTo>
                    <a:lnTo>
                      <a:pt x="130265" y="46257"/>
                    </a:lnTo>
                    <a:lnTo>
                      <a:pt x="104659" y="20659"/>
                    </a:lnTo>
                    <a:lnTo>
                      <a:pt x="70536" y="61601"/>
                    </a:lnTo>
                    <a:cubicBezTo>
                      <a:pt x="68413" y="64147"/>
                      <a:pt x="64931" y="65106"/>
                      <a:pt x="61804" y="64006"/>
                    </a:cubicBezTo>
                    <a:lnTo>
                      <a:pt x="60891" y="63617"/>
                    </a:lnTo>
                    <a:lnTo>
                      <a:pt x="35063" y="50710"/>
                    </a:lnTo>
                    <a:lnTo>
                      <a:pt x="15227" y="77158"/>
                    </a:lnTo>
                    <a:cubicBezTo>
                      <a:pt x="12828" y="80358"/>
                      <a:pt x="8423" y="81273"/>
                      <a:pt x="4948" y="79293"/>
                    </a:cubicBezTo>
                    <a:lnTo>
                      <a:pt x="4115" y="78746"/>
                    </a:lnTo>
                    <a:cubicBezTo>
                      <a:pt x="915" y="76346"/>
                      <a:pt x="0" y="71942"/>
                      <a:pt x="1979" y="68467"/>
                    </a:cubicBezTo>
                    <a:lnTo>
                      <a:pt x="2527" y="67633"/>
                    </a:lnTo>
                    <a:lnTo>
                      <a:pt x="26340" y="35883"/>
                    </a:lnTo>
                    <a:cubicBezTo>
                      <a:pt x="28429" y="33100"/>
                      <a:pt x="32088" y="32003"/>
                      <a:pt x="35364" y="33176"/>
                    </a:cubicBezTo>
                    <a:lnTo>
                      <a:pt x="36238" y="33550"/>
                    </a:lnTo>
                    <a:lnTo>
                      <a:pt x="62360" y="46607"/>
                    </a:lnTo>
                    <a:lnTo>
                      <a:pt x="98031" y="3816"/>
                    </a:lnTo>
                    <a:close/>
                  </a:path>
                </a:pathLst>
              </a:custGeom>
              <a:solidFill>
                <a:schemeClr val="accent1"/>
              </a:solidFill>
              <a:ln>
                <a:noFill/>
              </a:ln>
            </p:spPr>
          </p:sp>
        </p:grpSp>
        <p:sp>
          <p:nvSpPr>
            <p:cNvPr id="37" name="TextBox 37"/>
            <p:cNvSpPr txBox="1"/>
            <p:nvPr/>
          </p:nvSpPr>
          <p:spPr>
            <a:xfrm>
              <a:off x="1383792" y="5883592"/>
              <a:ext cx="3173463" cy="264033"/>
            </a:xfrm>
            <a:prstGeom prst="rect">
              <a:avLst/>
            </a:prstGeom>
            <a:noFill/>
            <a:ln>
              <a:noFill/>
            </a:ln>
          </p:spPr>
          <p:txBody>
            <a:bodyPr wrap="none" lIns="0" tIns="0" rIns="0" bIns="0" anchor="t" anchorCtr="0">
              <a:spAutoFit/>
            </a:bodyPr>
            <a:lstStyle/>
            <a:p>
              <a:pPr algn="l"/>
              <a:r>
                <a:rPr lang="en-GB" sz="1350" dirty="0">
                  <a:solidFill>
                    <a:schemeClr val="dk1"/>
                  </a:solidFill>
                  <a:latin typeface="+mn-lt"/>
                  <a:ea typeface="+mn-ea"/>
                  <a:cs typeface="+mn-cs"/>
                </a:rPr>
                <a:t>Always-on scan, no manual trigger.</a:t>
              </a:r>
              <a:endParaRPr lang="en-GB" sz="1350" dirty="0">
                <a:solidFill>
                  <a:schemeClr val="dk1"/>
                </a:solidFill>
                <a:latin typeface="+mn-lt"/>
                <a:ea typeface="+mn-ea"/>
                <a:cs typeface="+mn-cs"/>
              </a:endParaRPr>
            </a:p>
          </p:txBody>
        </p:sp>
      </p:grpSp>
      <p:grpSp>
        <p:nvGrpSpPr>
          <p:cNvPr id="41" name="Group 41"/>
          <p:cNvGrpSpPr/>
          <p:nvPr/>
        </p:nvGrpSpPr>
        <p:grpSpPr>
          <a:xfrm>
            <a:off x="4838700" y="2190750"/>
            <a:ext cx="6743700" cy="3924300"/>
            <a:chOff x="4838700" y="2190750"/>
            <a:chExt cx="6743700" cy="3924300"/>
          </a:xfrm>
        </p:grpSpPr>
        <p:sp>
          <p:nvSpPr>
            <p:cNvPr id="39" name="Rectangle 39"/>
            <p:cNvSpPr/>
            <p:nvPr/>
          </p:nvSpPr>
          <p:spPr>
            <a:xfrm>
              <a:off x="4838700" y="2190750"/>
              <a:ext cx="6743700" cy="3924300"/>
            </a:xfrm>
            <a:prstGeom prst="roundRect">
              <a:avLst>
                <a:gd name="adj" fmla="val 6311"/>
              </a:avLst>
            </a:prstGeom>
            <a:solidFill>
              <a:schemeClr val="lt2"/>
            </a:solidFill>
            <a:ln>
              <a:noFill/>
            </a:ln>
            <a:effectLst>
              <a:outerShdw blurRad="266700" dist="57150" dir="5400000" algn="ctr" rotWithShape="0">
                <a:srgbClr val="7C6FE0">
                  <a:alpha val="7500"/>
                </a:srgbClr>
              </a:outerShdw>
            </a:effectLst>
          </p:spPr>
        </p:sp>
        <p:pic>
          <p:nvPicPr>
            <p:cNvPr id="40" name="Image 40"/>
            <p:cNvPicPr>
              <a:picLocks noChangeAspect="1"/>
            </p:cNvPicPr>
            <p:nvPr/>
          </p:nvPicPr>
          <p:blipFill>
            <a:blip r:embed="rId1"/>
            <a:stretch>
              <a:fillRect/>
            </a:stretch>
          </p:blipFill>
          <p:spPr>
            <a:xfrm>
              <a:off x="4991100" y="2343150"/>
              <a:ext cx="6438900" cy="3619500"/>
            </a:xfrm>
            <a:prstGeom prst="rect">
              <a:avLst/>
            </a:prstGeom>
          </p:spPr>
        </p:pic>
      </p:grpSp>
      <p:sp>
        <p:nvSpPr>
          <p:cNvPr id="46" name="Footer Placeholder 45"/>
          <p:cNvSpPr>
            <a:spLocks noGrp="1"/>
          </p:cNvSpPr>
          <p:nvPr>
            <p:ph type="ftr" sz="quarter" idx="11"/>
          </p:nvPr>
        </p:nvSpPr>
        <p:spPr/>
        <p:txBody>
          <a:bodyPr/>
          <a:p>
            <a:r>
              <a:rPr lang="en-US"/>
              <a:t>TCS | Confidential</a:t>
            </a:r>
            <a:endParaRPr lang="en-US"/>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685165" y="628650"/>
            <a:ext cx="2477135" cy="342900"/>
            <a:chOff x="609600" y="628650"/>
            <a:chExt cx="2552830" cy="342900"/>
          </a:xfrm>
        </p:grpSpPr>
        <p:sp>
          <p:nvSpPr>
            <p:cNvPr id="2" name="Rectangle 2"/>
            <p:cNvSpPr/>
            <p:nvPr/>
          </p:nvSpPr>
          <p:spPr>
            <a:xfrm>
              <a:off x="609600" y="628650"/>
              <a:ext cx="2552700" cy="342900"/>
            </a:xfrm>
            <a:prstGeom prst="roundRect">
              <a:avLst>
                <a:gd name="adj" fmla="val 50000"/>
              </a:avLst>
            </a:prstGeom>
            <a:solidFill>
              <a:schemeClr val="accent1">
                <a:alpha val="14000"/>
              </a:schemeClr>
            </a:solidFill>
            <a:ln>
              <a:noFill/>
            </a:ln>
          </p:spPr>
        </p:sp>
        <p:sp>
          <p:nvSpPr>
            <p:cNvPr id="3" name="TextBox 3"/>
            <p:cNvSpPr txBox="1"/>
            <p:nvPr/>
          </p:nvSpPr>
          <p:spPr>
            <a:xfrm>
              <a:off x="616077" y="695643"/>
              <a:ext cx="2546353" cy="207645"/>
            </a:xfrm>
            <a:prstGeom prst="rect">
              <a:avLst/>
            </a:prstGeom>
            <a:noFill/>
            <a:ln>
              <a:noFill/>
            </a:ln>
          </p:spPr>
          <p:txBody>
            <a:bodyPr wrap="square" lIns="0" tIns="0" rIns="0" bIns="0" anchor="t" anchorCtr="0">
              <a:spAutoFit/>
            </a:bodyPr>
            <a:lstStyle/>
            <a:p>
              <a:pPr algn="l"/>
              <a:r>
                <a:rPr lang="en-GB" sz="1350" b="1" spc="75" dirty="0">
                  <a:solidFill>
                    <a:schemeClr val="accent1"/>
                  </a:solidFill>
                  <a:latin typeface="+mn-lt"/>
                  <a:ea typeface="+mn-ea"/>
                  <a:cs typeface="+mn-cs"/>
                </a:rPr>
                <a:t>THE PLATFORM IN ACTION</a:t>
              </a:r>
              <a:endParaRPr lang="en-GB" sz="1350" b="1" spc="75" dirty="0">
                <a:solidFill>
                  <a:schemeClr val="accent1"/>
                </a:solidFill>
                <a:latin typeface="+mn-lt"/>
                <a:ea typeface="+mn-ea"/>
                <a:cs typeface="+mn-cs"/>
              </a:endParaRPr>
            </a:p>
          </p:txBody>
        </p:sp>
      </p:grpSp>
      <p:grpSp>
        <p:nvGrpSpPr>
          <p:cNvPr id="6" name="Group 6"/>
          <p:cNvGrpSpPr/>
          <p:nvPr/>
        </p:nvGrpSpPr>
        <p:grpSpPr>
          <a:xfrm>
            <a:off x="590550" y="1165860"/>
            <a:ext cx="9227417" cy="819150"/>
            <a:chOff x="590550" y="1165860"/>
            <a:chExt cx="9227417" cy="819150"/>
          </a:xfrm>
        </p:grpSpPr>
        <p:sp>
          <p:nvSpPr>
            <p:cNvPr id="5" name="TextBox 5"/>
            <p:cNvSpPr txBox="1"/>
            <p:nvPr/>
          </p:nvSpPr>
          <p:spPr>
            <a:xfrm>
              <a:off x="590550" y="1165860"/>
              <a:ext cx="9227417" cy="819150"/>
            </a:xfrm>
            <a:prstGeom prst="rect">
              <a:avLst/>
            </a:prstGeom>
            <a:noFill/>
            <a:ln>
              <a:noFill/>
            </a:ln>
          </p:spPr>
          <p:txBody>
            <a:bodyPr wrap="none" lIns="0" tIns="0" rIns="0" bIns="0" anchor="t" anchorCtr="0">
              <a:spAutoFit/>
            </a:bodyPr>
            <a:lstStyle/>
            <a:p>
              <a:pPr algn="l"/>
              <a:r>
                <a:rPr lang="en-GB" sz="4200" b="1" dirty="0">
                  <a:solidFill>
                    <a:schemeClr val="dk1"/>
                  </a:solidFill>
                  <a:latin typeface="+mn-lt"/>
                  <a:ea typeface="+mn-ea"/>
                  <a:cs typeface="+mn-cs"/>
                </a:rPr>
                <a:t>Hybrid Dense + Lexical Retrieval</a:t>
              </a:r>
              <a:endParaRPr lang="en-GB" sz="4200" b="1" dirty="0">
                <a:solidFill>
                  <a:schemeClr val="dk1"/>
                </a:solidFill>
                <a:latin typeface="+mn-lt"/>
                <a:ea typeface="+mn-ea"/>
                <a:cs typeface="+mn-cs"/>
              </a:endParaRPr>
            </a:p>
          </p:txBody>
        </p:sp>
      </p:grpSp>
      <p:grpSp>
        <p:nvGrpSpPr>
          <p:cNvPr id="8" name="Group 8"/>
          <p:cNvGrpSpPr/>
          <p:nvPr/>
        </p:nvGrpSpPr>
        <p:grpSpPr>
          <a:xfrm>
            <a:off x="600456" y="1844040"/>
            <a:ext cx="8914436" cy="352044"/>
            <a:chOff x="600456" y="1844040"/>
            <a:chExt cx="8914436" cy="352044"/>
          </a:xfrm>
        </p:grpSpPr>
        <p:sp>
          <p:nvSpPr>
            <p:cNvPr id="7" name="TextBox 7"/>
            <p:cNvSpPr txBox="1"/>
            <p:nvPr/>
          </p:nvSpPr>
          <p:spPr>
            <a:xfrm>
              <a:off x="600456" y="1844040"/>
              <a:ext cx="8914436" cy="352044"/>
            </a:xfrm>
            <a:prstGeom prst="rect">
              <a:avLst/>
            </a:prstGeom>
            <a:noFill/>
            <a:ln>
              <a:noFill/>
            </a:ln>
          </p:spPr>
          <p:txBody>
            <a:bodyPr wrap="none" lIns="0" tIns="0" rIns="0" bIns="0" anchor="t" anchorCtr="0">
              <a:spAutoFit/>
            </a:bodyPr>
            <a:lstStyle/>
            <a:p>
              <a:pPr algn="l"/>
              <a:r>
                <a:rPr lang="en-GB" sz="1800" dirty="0">
                  <a:solidFill>
                    <a:schemeClr val="accent5"/>
                  </a:solidFill>
                  <a:latin typeface="+mn-lt"/>
                  <a:ea typeface="+mn-ea"/>
                  <a:cs typeface="+mn-cs"/>
                </a:rPr>
                <a:t>4096-D semantic vectors and BM25 lexical search fuse into one ranked list.</a:t>
              </a:r>
              <a:endParaRPr lang="en-GB" sz="1800" dirty="0">
                <a:solidFill>
                  <a:schemeClr val="accent5"/>
                </a:solidFill>
                <a:latin typeface="+mn-lt"/>
                <a:ea typeface="+mn-ea"/>
                <a:cs typeface="+mn-cs"/>
              </a:endParaRPr>
            </a:p>
          </p:txBody>
        </p:sp>
      </p:grpSp>
      <p:grpSp>
        <p:nvGrpSpPr>
          <p:cNvPr id="17" name="Group 17"/>
          <p:cNvGrpSpPr/>
          <p:nvPr/>
        </p:nvGrpSpPr>
        <p:grpSpPr>
          <a:xfrm>
            <a:off x="609600" y="2419350"/>
            <a:ext cx="4000500" cy="904875"/>
            <a:chOff x="609600" y="2419350"/>
            <a:chExt cx="4000500" cy="904875"/>
          </a:xfrm>
        </p:grpSpPr>
        <p:sp>
          <p:nvSpPr>
            <p:cNvPr id="9" name="Rectangle 9"/>
            <p:cNvSpPr/>
            <p:nvPr/>
          </p:nvSpPr>
          <p:spPr>
            <a:xfrm>
              <a:off x="609600" y="2419350"/>
              <a:ext cx="4000500" cy="904875"/>
            </a:xfrm>
            <a:prstGeom prst="roundRect">
              <a:avLst>
                <a:gd name="adj" fmla="val 23158"/>
              </a:avLst>
            </a:prstGeom>
            <a:solidFill>
              <a:schemeClr val="lt2"/>
            </a:solidFill>
            <a:ln>
              <a:noFill/>
            </a:ln>
            <a:effectLst>
              <a:outerShdw blurRad="266700" dist="57150" dir="5400000" algn="ctr" rotWithShape="0">
                <a:srgbClr val="7C6FE0">
                  <a:alpha val="7500"/>
                </a:srgbClr>
              </a:outerShdw>
            </a:effectLst>
          </p:spPr>
        </p:sp>
        <p:sp>
          <p:nvSpPr>
            <p:cNvPr id="10" name="Ellipse 10"/>
            <p:cNvSpPr/>
            <p:nvPr/>
          </p:nvSpPr>
          <p:spPr>
            <a:xfrm>
              <a:off x="781050" y="2638425"/>
              <a:ext cx="457200" cy="457200"/>
            </a:xfrm>
            <a:prstGeom prst="ellipse">
              <a:avLst/>
            </a:prstGeom>
            <a:solidFill>
              <a:schemeClr val="accent1">
                <a:alpha val="15000"/>
              </a:schemeClr>
            </a:solidFill>
            <a:ln>
              <a:noFill/>
            </a:ln>
          </p:spPr>
        </p:sp>
        <p:grpSp>
          <p:nvGrpSpPr>
            <p:cNvPr id="14" name="Group 14"/>
            <p:cNvGrpSpPr/>
            <p:nvPr/>
          </p:nvGrpSpPr>
          <p:grpSpPr>
            <a:xfrm>
              <a:off x="923924" y="2771775"/>
              <a:ext cx="171451" cy="190500"/>
              <a:chOff x="923924" y="2771775"/>
              <a:chExt cx="171451" cy="190500"/>
            </a:xfrm>
          </p:grpSpPr>
          <p:sp>
            <p:nvSpPr>
              <p:cNvPr id="11" name="Freeform 11"/>
              <p:cNvSpPr/>
              <p:nvPr/>
            </p:nvSpPr>
            <p:spPr>
              <a:xfrm>
                <a:off x="923925" y="2902563"/>
                <a:ext cx="171450" cy="59712"/>
              </a:xfrm>
              <a:custGeom>
                <a:avLst/>
                <a:gdLst/>
                <a:ahLst/>
                <a:cxnLst/>
                <a:rect l="l" t="t" r="r" b="b"/>
                <a:pathLst>
                  <a:path w="171450" h="59712">
                    <a:moveTo>
                      <a:pt x="0" y="0"/>
                    </a:moveTo>
                    <a:cubicBezTo>
                      <a:pt x="18745" y="14354"/>
                      <a:pt x="49854" y="21612"/>
                      <a:pt x="85725" y="21612"/>
                    </a:cubicBezTo>
                    <a:cubicBezTo>
                      <a:pt x="121539" y="21612"/>
                      <a:pt x="152638" y="14373"/>
                      <a:pt x="171450" y="162"/>
                    </a:cubicBezTo>
                    <a:lnTo>
                      <a:pt x="171450" y="21612"/>
                    </a:lnTo>
                    <a:cubicBezTo>
                      <a:pt x="171450" y="44710"/>
                      <a:pt x="134350" y="59103"/>
                      <a:pt x="88649" y="59693"/>
                    </a:cubicBezTo>
                    <a:lnTo>
                      <a:pt x="85725" y="59712"/>
                    </a:lnTo>
                    <a:cubicBezTo>
                      <a:pt x="38691" y="59712"/>
                      <a:pt x="0" y="45206"/>
                      <a:pt x="0" y="21612"/>
                    </a:cubicBezTo>
                    <a:close/>
                  </a:path>
                </a:pathLst>
              </a:custGeom>
              <a:solidFill>
                <a:schemeClr val="accent1"/>
              </a:solidFill>
              <a:ln>
                <a:noFill/>
              </a:ln>
            </p:spPr>
          </p:sp>
          <p:sp>
            <p:nvSpPr>
              <p:cNvPr id="12" name="Freeform 12"/>
              <p:cNvSpPr/>
              <p:nvPr/>
            </p:nvSpPr>
            <p:spPr>
              <a:xfrm>
                <a:off x="923925" y="2845413"/>
                <a:ext cx="171450" cy="59712"/>
              </a:xfrm>
              <a:custGeom>
                <a:avLst/>
                <a:gdLst/>
                <a:ahLst/>
                <a:cxnLst/>
                <a:rect l="l" t="t" r="r" b="b"/>
                <a:pathLst>
                  <a:path w="171450" h="59712">
                    <a:moveTo>
                      <a:pt x="0" y="0"/>
                    </a:moveTo>
                    <a:cubicBezTo>
                      <a:pt x="18745" y="14354"/>
                      <a:pt x="49854" y="21612"/>
                      <a:pt x="85725" y="21612"/>
                    </a:cubicBezTo>
                    <a:cubicBezTo>
                      <a:pt x="121539" y="21612"/>
                      <a:pt x="152638" y="14373"/>
                      <a:pt x="171450" y="162"/>
                    </a:cubicBezTo>
                    <a:lnTo>
                      <a:pt x="171450" y="21612"/>
                    </a:lnTo>
                    <a:cubicBezTo>
                      <a:pt x="171450" y="45206"/>
                      <a:pt x="132759" y="59712"/>
                      <a:pt x="85725" y="59712"/>
                    </a:cubicBezTo>
                    <a:cubicBezTo>
                      <a:pt x="40024" y="59712"/>
                      <a:pt x="2191" y="46015"/>
                      <a:pt x="200" y="23565"/>
                    </a:cubicBezTo>
                    <a:lnTo>
                      <a:pt x="48" y="22603"/>
                    </a:lnTo>
                    <a:lnTo>
                      <a:pt x="0" y="21612"/>
                    </a:lnTo>
                    <a:close/>
                  </a:path>
                </a:pathLst>
              </a:custGeom>
              <a:solidFill>
                <a:schemeClr val="accent1"/>
              </a:solidFill>
              <a:ln>
                <a:noFill/>
              </a:ln>
            </p:spPr>
          </p:sp>
          <p:sp>
            <p:nvSpPr>
              <p:cNvPr id="13" name="Freeform 13"/>
              <p:cNvSpPr/>
              <p:nvPr/>
            </p:nvSpPr>
            <p:spPr>
              <a:xfrm>
                <a:off x="923924" y="2771775"/>
                <a:ext cx="171451" cy="76200"/>
              </a:xfrm>
              <a:custGeom>
                <a:avLst/>
                <a:gdLst/>
                <a:ahLst/>
                <a:cxnLst/>
                <a:rect l="l" t="t" r="r" b="b"/>
                <a:pathLst>
                  <a:path w="171451" h="76200">
                    <a:moveTo>
                      <a:pt x="85726" y="0"/>
                    </a:moveTo>
                    <a:cubicBezTo>
                      <a:pt x="95641" y="0"/>
                      <a:pt x="105195" y="648"/>
                      <a:pt x="114082" y="1886"/>
                    </a:cubicBezTo>
                    <a:lnTo>
                      <a:pt x="118549" y="2562"/>
                    </a:lnTo>
                    <a:cubicBezTo>
                      <a:pt x="123883" y="3451"/>
                      <a:pt x="128918" y="4556"/>
                      <a:pt x="133656" y="5877"/>
                    </a:cubicBezTo>
                    <a:lnTo>
                      <a:pt x="137847" y="7125"/>
                    </a:lnTo>
                    <a:lnTo>
                      <a:pt x="138561" y="7353"/>
                    </a:lnTo>
                    <a:cubicBezTo>
                      <a:pt x="141153" y="8206"/>
                      <a:pt x="143711" y="9159"/>
                      <a:pt x="146229" y="10211"/>
                    </a:cubicBezTo>
                    <a:lnTo>
                      <a:pt x="148124" y="11030"/>
                    </a:lnTo>
                    <a:cubicBezTo>
                      <a:pt x="151521" y="12567"/>
                      <a:pt x="154591" y="14249"/>
                      <a:pt x="157335" y="16078"/>
                    </a:cubicBezTo>
                    <a:cubicBezTo>
                      <a:pt x="158382" y="16777"/>
                      <a:pt x="159376" y="17491"/>
                      <a:pt x="160316" y="18221"/>
                    </a:cubicBezTo>
                    <a:cubicBezTo>
                      <a:pt x="162697" y="20069"/>
                      <a:pt x="164837" y="22206"/>
                      <a:pt x="166688" y="24584"/>
                    </a:cubicBezTo>
                    <a:lnTo>
                      <a:pt x="167555" y="25803"/>
                    </a:lnTo>
                    <a:cubicBezTo>
                      <a:pt x="168000" y="26470"/>
                      <a:pt x="168409" y="27140"/>
                      <a:pt x="168784" y="27813"/>
                    </a:cubicBezTo>
                    <a:lnTo>
                      <a:pt x="169450" y="29137"/>
                    </a:lnTo>
                    <a:cubicBezTo>
                      <a:pt x="170486" y="31359"/>
                      <a:pt x="171121" y="33677"/>
                      <a:pt x="171355" y="36090"/>
                    </a:cubicBezTo>
                    <a:lnTo>
                      <a:pt x="171451" y="38100"/>
                    </a:lnTo>
                    <a:cubicBezTo>
                      <a:pt x="171451" y="61693"/>
                      <a:pt x="132760" y="76200"/>
                      <a:pt x="85726" y="76200"/>
                    </a:cubicBezTo>
                    <a:cubicBezTo>
                      <a:pt x="40025" y="76200"/>
                      <a:pt x="2191" y="62503"/>
                      <a:pt x="201" y="40053"/>
                    </a:cubicBezTo>
                    <a:cubicBezTo>
                      <a:pt x="67" y="39410"/>
                      <a:pt x="0" y="38756"/>
                      <a:pt x="1" y="38100"/>
                    </a:cubicBezTo>
                    <a:lnTo>
                      <a:pt x="48" y="37109"/>
                    </a:lnTo>
                    <a:lnTo>
                      <a:pt x="201" y="36157"/>
                    </a:lnTo>
                    <a:cubicBezTo>
                      <a:pt x="2153" y="14192"/>
                      <a:pt x="38396" y="600"/>
                      <a:pt x="82754" y="19"/>
                    </a:cubicBezTo>
                    <a:close/>
                  </a:path>
                </a:pathLst>
              </a:custGeom>
              <a:solidFill>
                <a:schemeClr val="accent1"/>
              </a:solidFill>
              <a:ln>
                <a:noFill/>
              </a:ln>
            </p:spPr>
          </p:sp>
        </p:grpSp>
        <p:sp>
          <p:nvSpPr>
            <p:cNvPr id="15" name="TextBox 15"/>
            <p:cNvSpPr txBox="1"/>
            <p:nvPr/>
          </p:nvSpPr>
          <p:spPr>
            <a:xfrm>
              <a:off x="1383030" y="2581275"/>
              <a:ext cx="2124456" cy="293370"/>
            </a:xfrm>
            <a:prstGeom prst="rect">
              <a:avLst/>
            </a:prstGeom>
            <a:noFill/>
            <a:ln>
              <a:noFill/>
            </a:ln>
          </p:spPr>
          <p:txBody>
            <a:bodyPr wrap="none" lIns="0" tIns="0" rIns="0" bIns="0" anchor="t" anchorCtr="0">
              <a:spAutoFit/>
            </a:bodyPr>
            <a:lstStyle/>
            <a:p>
              <a:pPr algn="l"/>
              <a:r>
                <a:rPr lang="en-GB" sz="1500" dirty="0">
                  <a:solidFill>
                    <a:schemeClr val="dk1"/>
                  </a:solidFill>
                  <a:latin typeface="+mn-lt"/>
                  <a:ea typeface="+mn-ea"/>
                  <a:cs typeface="+mn-cs"/>
                </a:rPr>
                <a:t>Dense: nv-embed-v1,</a:t>
              </a:r>
              <a:endParaRPr lang="en-GB" sz="1500" dirty="0">
                <a:solidFill>
                  <a:schemeClr val="dk1"/>
                </a:solidFill>
                <a:latin typeface="+mn-lt"/>
                <a:ea typeface="+mn-ea"/>
                <a:cs typeface="+mn-cs"/>
              </a:endParaRPr>
            </a:p>
          </p:txBody>
        </p:sp>
        <p:sp>
          <p:nvSpPr>
            <p:cNvPr id="16" name="TextBox 16"/>
            <p:cNvSpPr txBox="1"/>
            <p:nvPr/>
          </p:nvSpPr>
          <p:spPr>
            <a:xfrm>
              <a:off x="1383030" y="2809875"/>
              <a:ext cx="2949385" cy="293370"/>
            </a:xfrm>
            <a:prstGeom prst="rect">
              <a:avLst/>
            </a:prstGeom>
            <a:noFill/>
            <a:ln>
              <a:noFill/>
            </a:ln>
          </p:spPr>
          <p:txBody>
            <a:bodyPr wrap="none" lIns="0" tIns="0" rIns="0" bIns="0" anchor="t" anchorCtr="0">
              <a:spAutoFit/>
            </a:bodyPr>
            <a:lstStyle/>
            <a:p>
              <a:pPr algn="l"/>
              <a:r>
                <a:rPr lang="en-GB" sz="1500" dirty="0">
                  <a:solidFill>
                    <a:schemeClr val="dk1"/>
                  </a:solidFill>
                  <a:latin typeface="+mn-lt"/>
                  <a:ea typeface="+mn-ea"/>
                  <a:cs typeface="+mn-cs"/>
                </a:rPr>
                <a:t>4096-D, indexed in ChromaDB.</a:t>
              </a:r>
              <a:endParaRPr lang="en-GB" sz="1500" dirty="0">
                <a:solidFill>
                  <a:schemeClr val="dk1"/>
                </a:solidFill>
                <a:latin typeface="+mn-lt"/>
                <a:ea typeface="+mn-ea"/>
                <a:cs typeface="+mn-cs"/>
              </a:endParaRPr>
            </a:p>
          </p:txBody>
        </p:sp>
      </p:grpSp>
      <p:grpSp>
        <p:nvGrpSpPr>
          <p:cNvPr id="23" name="Group 23"/>
          <p:cNvGrpSpPr/>
          <p:nvPr/>
        </p:nvGrpSpPr>
        <p:grpSpPr>
          <a:xfrm>
            <a:off x="609600" y="3514725"/>
            <a:ext cx="4000500" cy="904875"/>
            <a:chOff x="609600" y="3514725"/>
            <a:chExt cx="4000500" cy="904875"/>
          </a:xfrm>
        </p:grpSpPr>
        <p:sp>
          <p:nvSpPr>
            <p:cNvPr id="18" name="Rectangle 18"/>
            <p:cNvSpPr/>
            <p:nvPr/>
          </p:nvSpPr>
          <p:spPr>
            <a:xfrm>
              <a:off x="609600" y="3514725"/>
              <a:ext cx="4000500" cy="904875"/>
            </a:xfrm>
            <a:prstGeom prst="roundRect">
              <a:avLst>
                <a:gd name="adj" fmla="val 23158"/>
              </a:avLst>
            </a:prstGeom>
            <a:solidFill>
              <a:schemeClr val="lt2"/>
            </a:solidFill>
            <a:ln>
              <a:noFill/>
            </a:ln>
            <a:effectLst>
              <a:outerShdw blurRad="266700" dist="57150" dir="5400000" algn="ctr" rotWithShape="0">
                <a:srgbClr val="7C6FE0">
                  <a:alpha val="7500"/>
                </a:srgbClr>
              </a:outerShdw>
            </a:effectLst>
          </p:spPr>
        </p:sp>
        <p:sp>
          <p:nvSpPr>
            <p:cNvPr id="19" name="Ellipse 19"/>
            <p:cNvSpPr/>
            <p:nvPr/>
          </p:nvSpPr>
          <p:spPr>
            <a:xfrm>
              <a:off x="781050" y="3733800"/>
              <a:ext cx="457200" cy="457200"/>
            </a:xfrm>
            <a:prstGeom prst="ellipse">
              <a:avLst/>
            </a:prstGeom>
            <a:solidFill>
              <a:schemeClr val="accent1">
                <a:alpha val="15000"/>
              </a:schemeClr>
            </a:solidFill>
            <a:ln>
              <a:noFill/>
            </a:ln>
          </p:spPr>
        </p:sp>
        <p:sp>
          <p:nvSpPr>
            <p:cNvPr id="20" name="Freeform 20"/>
            <p:cNvSpPr/>
            <p:nvPr/>
          </p:nvSpPr>
          <p:spPr>
            <a:xfrm>
              <a:off x="906813" y="3858209"/>
              <a:ext cx="198906" cy="200260"/>
            </a:xfrm>
            <a:custGeom>
              <a:avLst/>
              <a:gdLst/>
              <a:ahLst/>
              <a:cxnLst/>
              <a:rect l="l" t="t" r="r" b="b"/>
              <a:pathLst>
                <a:path w="198906" h="200260">
                  <a:moveTo>
                    <a:pt x="121887" y="19152"/>
                  </a:moveTo>
                  <a:cubicBezTo>
                    <a:pt x="140957" y="30160"/>
                    <a:pt x="154332" y="48879"/>
                    <a:pt x="158568" y="70486"/>
                  </a:cubicBezTo>
                  <a:cubicBezTo>
                    <a:pt x="162804" y="92094"/>
                    <a:pt x="157487" y="114477"/>
                    <a:pt x="143985" y="131871"/>
                  </a:cubicBezTo>
                  <a:lnTo>
                    <a:pt x="195296" y="183182"/>
                  </a:lnTo>
                  <a:cubicBezTo>
                    <a:pt x="198906" y="186919"/>
                    <a:pt x="198854" y="192860"/>
                    <a:pt x="195180" y="196534"/>
                  </a:cubicBezTo>
                  <a:cubicBezTo>
                    <a:pt x="191506" y="200208"/>
                    <a:pt x="185565" y="200260"/>
                    <a:pt x="181828" y="196650"/>
                  </a:cubicBezTo>
                  <a:lnTo>
                    <a:pt x="130507" y="145339"/>
                  </a:lnTo>
                  <a:cubicBezTo>
                    <a:pt x="100255" y="168813"/>
                    <a:pt x="57282" y="166191"/>
                    <a:pt x="30108" y="139214"/>
                  </a:cubicBezTo>
                  <a:cubicBezTo>
                    <a:pt x="2934" y="112237"/>
                    <a:pt x="0" y="69284"/>
                    <a:pt x="23253" y="38862"/>
                  </a:cubicBezTo>
                  <a:cubicBezTo>
                    <a:pt x="46507" y="8441"/>
                    <a:pt x="88724" y="0"/>
                    <a:pt x="121887" y="19142"/>
                  </a:cubicBezTo>
                </a:path>
              </a:pathLst>
            </a:custGeom>
            <a:solidFill>
              <a:schemeClr val="accent1"/>
            </a:solidFill>
            <a:ln>
              <a:noFill/>
            </a:ln>
          </p:spPr>
        </p:sp>
        <p:sp>
          <p:nvSpPr>
            <p:cNvPr id="21" name="TextBox 21"/>
            <p:cNvSpPr txBox="1"/>
            <p:nvPr/>
          </p:nvSpPr>
          <p:spPr>
            <a:xfrm>
              <a:off x="1383030" y="3676650"/>
              <a:ext cx="2913561" cy="293370"/>
            </a:xfrm>
            <a:prstGeom prst="rect">
              <a:avLst/>
            </a:prstGeom>
            <a:noFill/>
            <a:ln>
              <a:noFill/>
            </a:ln>
          </p:spPr>
          <p:txBody>
            <a:bodyPr wrap="none" lIns="0" tIns="0" rIns="0" bIns="0" anchor="t" anchorCtr="0">
              <a:spAutoFit/>
            </a:bodyPr>
            <a:lstStyle/>
            <a:p>
              <a:pPr algn="l"/>
              <a:r>
                <a:rPr lang="en-GB" sz="1500" dirty="0">
                  <a:solidFill>
                    <a:schemeClr val="dk1"/>
                  </a:solidFill>
                  <a:latin typeface="+mn-lt"/>
                  <a:ea typeface="+mn-ea"/>
                  <a:cs typeface="+mn-cs"/>
                </a:rPr>
                <a:t>Lexical: BM25Okapi keyword-</a:t>
              </a:r>
              <a:endParaRPr lang="en-GB" sz="1500" dirty="0">
                <a:solidFill>
                  <a:schemeClr val="dk1"/>
                </a:solidFill>
                <a:latin typeface="+mn-lt"/>
                <a:ea typeface="+mn-ea"/>
                <a:cs typeface="+mn-cs"/>
              </a:endParaRPr>
            </a:p>
          </p:txBody>
        </p:sp>
        <p:sp>
          <p:nvSpPr>
            <p:cNvPr id="22" name="TextBox 22"/>
            <p:cNvSpPr txBox="1"/>
            <p:nvPr/>
          </p:nvSpPr>
          <p:spPr>
            <a:xfrm>
              <a:off x="1383030" y="3905250"/>
              <a:ext cx="2892743" cy="293370"/>
            </a:xfrm>
            <a:prstGeom prst="rect">
              <a:avLst/>
            </a:prstGeom>
            <a:noFill/>
            <a:ln>
              <a:noFill/>
            </a:ln>
          </p:spPr>
          <p:txBody>
            <a:bodyPr wrap="none" lIns="0" tIns="0" rIns="0" bIns="0" anchor="t" anchorCtr="0">
              <a:spAutoFit/>
            </a:bodyPr>
            <a:lstStyle/>
            <a:p>
              <a:pPr algn="l"/>
              <a:r>
                <a:rPr lang="en-GB" sz="1500" dirty="0">
                  <a:solidFill>
                    <a:schemeClr val="dk1"/>
                  </a:solidFill>
                  <a:latin typeface="+mn-lt"/>
                  <a:ea typeface="+mn-ea"/>
                  <a:cs typeface="+mn-cs"/>
                </a:rPr>
                <a:t>precision search, in parallel.</a:t>
              </a:r>
              <a:endParaRPr lang="en-GB" sz="1500" dirty="0">
                <a:solidFill>
                  <a:schemeClr val="dk1"/>
                </a:solidFill>
                <a:latin typeface="+mn-lt"/>
                <a:ea typeface="+mn-ea"/>
                <a:cs typeface="+mn-cs"/>
              </a:endParaRPr>
            </a:p>
          </p:txBody>
        </p:sp>
      </p:grpSp>
      <p:grpSp>
        <p:nvGrpSpPr>
          <p:cNvPr id="31" name="Group 31"/>
          <p:cNvGrpSpPr/>
          <p:nvPr/>
        </p:nvGrpSpPr>
        <p:grpSpPr>
          <a:xfrm>
            <a:off x="609600" y="4610100"/>
            <a:ext cx="4000500" cy="904875"/>
            <a:chOff x="609600" y="4610100"/>
            <a:chExt cx="4000500" cy="904875"/>
          </a:xfrm>
        </p:grpSpPr>
        <p:sp>
          <p:nvSpPr>
            <p:cNvPr id="24" name="Rectangle 24"/>
            <p:cNvSpPr/>
            <p:nvPr/>
          </p:nvSpPr>
          <p:spPr>
            <a:xfrm>
              <a:off x="609600" y="4610100"/>
              <a:ext cx="4000500" cy="904875"/>
            </a:xfrm>
            <a:prstGeom prst="roundRect">
              <a:avLst>
                <a:gd name="adj" fmla="val 23158"/>
              </a:avLst>
            </a:prstGeom>
            <a:solidFill>
              <a:schemeClr val="lt2"/>
            </a:solidFill>
            <a:ln>
              <a:noFill/>
            </a:ln>
            <a:effectLst>
              <a:outerShdw blurRad="266700" dist="57150" dir="5400000" algn="ctr" rotWithShape="0">
                <a:srgbClr val="7C6FE0">
                  <a:alpha val="7500"/>
                </a:srgbClr>
              </a:outerShdw>
            </a:effectLst>
          </p:spPr>
        </p:sp>
        <p:sp>
          <p:nvSpPr>
            <p:cNvPr id="25" name="Ellipse 25"/>
            <p:cNvSpPr/>
            <p:nvPr/>
          </p:nvSpPr>
          <p:spPr>
            <a:xfrm>
              <a:off x="781050" y="4829175"/>
              <a:ext cx="457200" cy="457200"/>
            </a:xfrm>
            <a:prstGeom prst="ellipse">
              <a:avLst/>
            </a:prstGeom>
            <a:solidFill>
              <a:schemeClr val="accent1">
                <a:alpha val="15000"/>
              </a:schemeClr>
            </a:solidFill>
            <a:ln>
              <a:noFill/>
            </a:ln>
          </p:spPr>
        </p:sp>
        <p:grpSp>
          <p:nvGrpSpPr>
            <p:cNvPr id="28" name="Group 28"/>
            <p:cNvGrpSpPr/>
            <p:nvPr/>
          </p:nvGrpSpPr>
          <p:grpSpPr>
            <a:xfrm>
              <a:off x="914400" y="4962525"/>
              <a:ext cx="192350" cy="190500"/>
              <a:chOff x="914400" y="4962525"/>
              <a:chExt cx="192350" cy="190500"/>
            </a:xfrm>
          </p:grpSpPr>
          <p:sp>
            <p:nvSpPr>
              <p:cNvPr id="26" name="Freeform 26"/>
              <p:cNvSpPr/>
              <p:nvPr/>
            </p:nvSpPr>
            <p:spPr>
              <a:xfrm>
                <a:off x="914400" y="4962525"/>
                <a:ext cx="190500" cy="190500"/>
              </a:xfrm>
              <a:custGeom>
                <a:avLst/>
                <a:gdLst/>
                <a:ahLst/>
                <a:cxnLst/>
                <a:rect l="l" t="t" r="r" b="b"/>
                <a:pathLst>
                  <a:path w="190500" h="190500">
                    <a:moveTo>
                      <a:pt x="9525" y="0"/>
                    </a:moveTo>
                    <a:cubicBezTo>
                      <a:pt x="14786" y="0"/>
                      <a:pt x="19050" y="4264"/>
                      <a:pt x="19050" y="9525"/>
                    </a:cubicBezTo>
                    <a:lnTo>
                      <a:pt x="19050" y="171450"/>
                    </a:lnTo>
                    <a:lnTo>
                      <a:pt x="180975" y="171450"/>
                    </a:lnTo>
                    <a:cubicBezTo>
                      <a:pt x="185804" y="171451"/>
                      <a:pt x="189868" y="175065"/>
                      <a:pt x="190433" y="179861"/>
                    </a:cubicBezTo>
                    <a:lnTo>
                      <a:pt x="190500" y="180975"/>
                    </a:lnTo>
                    <a:cubicBezTo>
                      <a:pt x="190500" y="186236"/>
                      <a:pt x="186236" y="190500"/>
                      <a:pt x="180975" y="190500"/>
                    </a:cubicBezTo>
                    <a:lnTo>
                      <a:pt x="9525" y="190500"/>
                    </a:lnTo>
                    <a:cubicBezTo>
                      <a:pt x="4264" y="190500"/>
                      <a:pt x="0" y="186236"/>
                      <a:pt x="0" y="180975"/>
                    </a:cubicBezTo>
                    <a:lnTo>
                      <a:pt x="0" y="9525"/>
                    </a:lnTo>
                    <a:cubicBezTo>
                      <a:pt x="0" y="4264"/>
                      <a:pt x="4264" y="0"/>
                      <a:pt x="9525" y="0"/>
                    </a:cubicBezTo>
                    <a:close/>
                  </a:path>
                </a:pathLst>
              </a:custGeom>
              <a:solidFill>
                <a:schemeClr val="accent1"/>
              </a:solidFill>
              <a:ln>
                <a:noFill/>
              </a:ln>
            </p:spPr>
          </p:sp>
          <p:sp>
            <p:nvSpPr>
              <p:cNvPr id="27" name="Freeform 27"/>
              <p:cNvSpPr/>
              <p:nvPr/>
            </p:nvSpPr>
            <p:spPr>
              <a:xfrm>
                <a:off x="949376" y="4981575"/>
                <a:ext cx="157374" cy="136230"/>
              </a:xfrm>
              <a:custGeom>
                <a:avLst/>
                <a:gdLst/>
                <a:ahLst/>
                <a:cxnLst/>
                <a:rect l="l" t="t" r="r" b="b"/>
                <a:pathLst>
                  <a:path w="157374" h="136230">
                    <a:moveTo>
                      <a:pt x="126949" y="0"/>
                    </a:moveTo>
                    <a:cubicBezTo>
                      <a:pt x="137890" y="25"/>
                      <a:pt x="147857" y="6295"/>
                      <a:pt x="152616" y="16147"/>
                    </a:cubicBezTo>
                    <a:cubicBezTo>
                      <a:pt x="157374" y="25999"/>
                      <a:pt x="156089" y="37704"/>
                      <a:pt x="149307" y="46289"/>
                    </a:cubicBezTo>
                    <a:cubicBezTo>
                      <a:pt x="142524" y="54874"/>
                      <a:pt x="131434" y="58833"/>
                      <a:pt x="120748" y="56483"/>
                    </a:cubicBezTo>
                    <a:lnTo>
                      <a:pt x="101679" y="86982"/>
                    </a:lnTo>
                    <a:cubicBezTo>
                      <a:pt x="110677" y="98287"/>
                      <a:pt x="109821" y="114529"/>
                      <a:pt x="99685" y="124825"/>
                    </a:cubicBezTo>
                    <a:cubicBezTo>
                      <a:pt x="89549" y="135121"/>
                      <a:pt x="73322" y="136230"/>
                      <a:pt x="61878" y="127411"/>
                    </a:cubicBezTo>
                    <a:cubicBezTo>
                      <a:pt x="50434" y="118591"/>
                      <a:pt x="47375" y="102616"/>
                      <a:pt x="54750" y="90192"/>
                    </a:cubicBezTo>
                    <a:lnTo>
                      <a:pt x="41624" y="74428"/>
                    </a:lnTo>
                    <a:cubicBezTo>
                      <a:pt x="28575" y="79260"/>
                      <a:pt x="13943" y="73990"/>
                      <a:pt x="6971" y="61947"/>
                    </a:cubicBezTo>
                    <a:cubicBezTo>
                      <a:pt x="0" y="49905"/>
                      <a:pt x="2717" y="34591"/>
                      <a:pt x="13405" y="25682"/>
                    </a:cubicBezTo>
                    <a:cubicBezTo>
                      <a:pt x="24094" y="16772"/>
                      <a:pt x="39646" y="16858"/>
                      <a:pt x="50237" y="25883"/>
                    </a:cubicBezTo>
                    <a:cubicBezTo>
                      <a:pt x="60827" y="34909"/>
                      <a:pt x="63376" y="50252"/>
                      <a:pt x="56274" y="62217"/>
                    </a:cubicBezTo>
                    <a:lnTo>
                      <a:pt x="69399" y="77972"/>
                    </a:lnTo>
                    <a:cubicBezTo>
                      <a:pt x="74556" y="76059"/>
                      <a:pt x="80156" y="75679"/>
                      <a:pt x="85525" y="76876"/>
                    </a:cubicBezTo>
                    <a:lnTo>
                      <a:pt x="104594" y="46368"/>
                    </a:lnTo>
                    <a:cubicBezTo>
                      <a:pt x="97763" y="37784"/>
                      <a:pt x="96450" y="26047"/>
                      <a:pt x="101214" y="16165"/>
                    </a:cubicBezTo>
                    <a:cubicBezTo>
                      <a:pt x="105978" y="6284"/>
                      <a:pt x="115979" y="2"/>
                      <a:pt x="126949" y="0"/>
                    </a:cubicBezTo>
                    <a:close/>
                  </a:path>
                </a:pathLst>
              </a:custGeom>
              <a:solidFill>
                <a:schemeClr val="accent1"/>
              </a:solidFill>
              <a:ln>
                <a:noFill/>
              </a:ln>
            </p:spPr>
          </p:sp>
        </p:grpSp>
        <p:sp>
          <p:nvSpPr>
            <p:cNvPr id="29" name="TextBox 29"/>
            <p:cNvSpPr txBox="1"/>
            <p:nvPr/>
          </p:nvSpPr>
          <p:spPr>
            <a:xfrm>
              <a:off x="1383030" y="4772025"/>
              <a:ext cx="2224783" cy="293370"/>
            </a:xfrm>
            <a:prstGeom prst="rect">
              <a:avLst/>
            </a:prstGeom>
            <a:noFill/>
            <a:ln>
              <a:noFill/>
            </a:ln>
          </p:spPr>
          <p:txBody>
            <a:bodyPr wrap="none" lIns="0" tIns="0" rIns="0" bIns="0" anchor="t" anchorCtr="0">
              <a:spAutoFit/>
            </a:bodyPr>
            <a:lstStyle/>
            <a:p>
              <a:pPr algn="l"/>
              <a:r>
                <a:rPr lang="en-GB" sz="1500" dirty="0">
                  <a:solidFill>
                    <a:schemeClr val="dk1"/>
                  </a:solidFill>
                  <a:latin typeface="+mn-lt"/>
                  <a:ea typeface="+mn-ea"/>
                  <a:cs typeface="+mn-cs"/>
                </a:rPr>
                <a:t>Reciprocal Rank Fusion</a:t>
              </a:r>
              <a:endParaRPr lang="en-GB" sz="1500" dirty="0">
                <a:solidFill>
                  <a:schemeClr val="dk1"/>
                </a:solidFill>
                <a:latin typeface="+mn-lt"/>
                <a:ea typeface="+mn-ea"/>
                <a:cs typeface="+mn-cs"/>
              </a:endParaRPr>
            </a:p>
          </p:txBody>
        </p:sp>
        <p:sp>
          <p:nvSpPr>
            <p:cNvPr id="30" name="TextBox 30"/>
            <p:cNvSpPr txBox="1"/>
            <p:nvPr/>
          </p:nvSpPr>
          <p:spPr>
            <a:xfrm>
              <a:off x="1383030" y="5000625"/>
              <a:ext cx="2236470" cy="293370"/>
            </a:xfrm>
            <a:prstGeom prst="rect">
              <a:avLst/>
            </a:prstGeom>
            <a:noFill/>
            <a:ln>
              <a:noFill/>
            </a:ln>
          </p:spPr>
          <p:txBody>
            <a:bodyPr wrap="none" lIns="0" tIns="0" rIns="0" bIns="0" anchor="t" anchorCtr="0">
              <a:spAutoFit/>
            </a:bodyPr>
            <a:lstStyle/>
            <a:p>
              <a:pPr algn="l"/>
              <a:r>
                <a:rPr lang="en-GB" sz="1500" dirty="0">
                  <a:solidFill>
                    <a:schemeClr val="dk1"/>
                  </a:solidFill>
                  <a:latin typeface="+mn-lt"/>
                  <a:ea typeface="+mn-ea"/>
                  <a:cs typeface="+mn-cs"/>
                </a:rPr>
                <a:t>merges both rankings.</a:t>
              </a:r>
              <a:endParaRPr lang="en-GB" sz="1500" dirty="0">
                <a:solidFill>
                  <a:schemeClr val="dk1"/>
                </a:solidFill>
                <a:latin typeface="+mn-lt"/>
                <a:ea typeface="+mn-ea"/>
                <a:cs typeface="+mn-cs"/>
              </a:endParaRPr>
            </a:p>
          </p:txBody>
        </p:sp>
      </p:grpSp>
      <p:grpSp>
        <p:nvGrpSpPr>
          <p:cNvPr id="36" name="Group 36"/>
          <p:cNvGrpSpPr/>
          <p:nvPr/>
        </p:nvGrpSpPr>
        <p:grpSpPr>
          <a:xfrm>
            <a:off x="609600" y="5705475"/>
            <a:ext cx="4000500" cy="542925"/>
            <a:chOff x="609600" y="5705475"/>
            <a:chExt cx="4000500" cy="542925"/>
          </a:xfrm>
        </p:grpSpPr>
        <p:sp>
          <p:nvSpPr>
            <p:cNvPr id="32" name="Rectangle 32"/>
            <p:cNvSpPr/>
            <p:nvPr/>
          </p:nvSpPr>
          <p:spPr>
            <a:xfrm>
              <a:off x="609600" y="5705475"/>
              <a:ext cx="4000500" cy="542925"/>
            </a:xfrm>
            <a:prstGeom prst="roundRect">
              <a:avLst>
                <a:gd name="adj" fmla="val 38596"/>
              </a:avLst>
            </a:prstGeom>
            <a:solidFill>
              <a:schemeClr val="lt2"/>
            </a:solidFill>
            <a:ln>
              <a:noFill/>
            </a:ln>
            <a:effectLst>
              <a:outerShdw blurRad="266700" dist="57150" dir="5400000" algn="ctr" rotWithShape="0">
                <a:srgbClr val="7C6FE0">
                  <a:alpha val="7500"/>
                </a:srgbClr>
              </a:outerShdw>
            </a:effectLst>
          </p:spPr>
        </p:sp>
        <p:sp>
          <p:nvSpPr>
            <p:cNvPr id="33" name="Ellipse 33"/>
            <p:cNvSpPr/>
            <p:nvPr/>
          </p:nvSpPr>
          <p:spPr>
            <a:xfrm>
              <a:off x="819150" y="5781675"/>
              <a:ext cx="381000" cy="381000"/>
            </a:xfrm>
            <a:prstGeom prst="ellipse">
              <a:avLst/>
            </a:prstGeom>
            <a:solidFill>
              <a:schemeClr val="accent2">
                <a:alpha val="15000"/>
              </a:schemeClr>
            </a:solidFill>
            <a:ln>
              <a:noFill/>
            </a:ln>
          </p:spPr>
        </p:sp>
        <p:sp>
          <p:nvSpPr>
            <p:cNvPr id="34" name="Freeform 34"/>
            <p:cNvSpPr/>
            <p:nvPr/>
          </p:nvSpPr>
          <p:spPr>
            <a:xfrm>
              <a:off x="926681" y="5892800"/>
              <a:ext cx="165930" cy="158835"/>
            </a:xfrm>
            <a:custGeom>
              <a:avLst/>
              <a:gdLst/>
              <a:ahLst/>
              <a:cxnLst/>
              <a:rect l="l" t="t" r="r" b="b"/>
              <a:pathLst>
                <a:path w="165930" h="158835">
                  <a:moveTo>
                    <a:pt x="82953" y="0"/>
                  </a:moveTo>
                  <a:lnTo>
                    <a:pt x="83890" y="56"/>
                  </a:lnTo>
                  <a:lnTo>
                    <a:pt x="84358" y="119"/>
                  </a:lnTo>
                  <a:lnTo>
                    <a:pt x="84842" y="222"/>
                  </a:lnTo>
                  <a:lnTo>
                    <a:pt x="85723" y="492"/>
                  </a:lnTo>
                  <a:cubicBezTo>
                    <a:pt x="86332" y="716"/>
                    <a:pt x="86910" y="1015"/>
                    <a:pt x="87446" y="1381"/>
                  </a:cubicBezTo>
                  <a:lnTo>
                    <a:pt x="88271" y="2032"/>
                  </a:lnTo>
                  <a:lnTo>
                    <a:pt x="90295" y="3762"/>
                  </a:lnTo>
                  <a:cubicBezTo>
                    <a:pt x="106308" y="17062"/>
                    <a:pt x="126545" y="24204"/>
                    <a:pt x="147358" y="23900"/>
                  </a:cubicBezTo>
                  <a:lnTo>
                    <a:pt x="150073" y="23820"/>
                  </a:lnTo>
                  <a:cubicBezTo>
                    <a:pt x="153725" y="23654"/>
                    <a:pt x="157019" y="26004"/>
                    <a:pt x="158050" y="29512"/>
                  </a:cubicBezTo>
                  <a:cubicBezTo>
                    <a:pt x="165930" y="56319"/>
                    <a:pt x="162603" y="85176"/>
                    <a:pt x="148828" y="109486"/>
                  </a:cubicBezTo>
                  <a:cubicBezTo>
                    <a:pt x="135052" y="133796"/>
                    <a:pt x="112008" y="151480"/>
                    <a:pt x="84961" y="158496"/>
                  </a:cubicBezTo>
                  <a:cubicBezTo>
                    <a:pt x="83655" y="158835"/>
                    <a:pt x="82283" y="158835"/>
                    <a:pt x="80977" y="158496"/>
                  </a:cubicBezTo>
                  <a:cubicBezTo>
                    <a:pt x="53929" y="151482"/>
                    <a:pt x="30882" y="133798"/>
                    <a:pt x="17105" y="109488"/>
                  </a:cubicBezTo>
                  <a:cubicBezTo>
                    <a:pt x="3329" y="85178"/>
                    <a:pt x="0" y="56320"/>
                    <a:pt x="7880" y="29512"/>
                  </a:cubicBezTo>
                  <a:cubicBezTo>
                    <a:pt x="8911" y="26004"/>
                    <a:pt x="12205" y="23654"/>
                    <a:pt x="15857" y="23820"/>
                  </a:cubicBezTo>
                  <a:cubicBezTo>
                    <a:pt x="37586" y="24814"/>
                    <a:pt x="58903" y="17661"/>
                    <a:pt x="75635" y="3762"/>
                  </a:cubicBezTo>
                  <a:lnTo>
                    <a:pt x="77722" y="1976"/>
                  </a:lnTo>
                  <a:lnTo>
                    <a:pt x="78484" y="1381"/>
                  </a:lnTo>
                  <a:cubicBezTo>
                    <a:pt x="79020" y="1015"/>
                    <a:pt x="79598" y="716"/>
                    <a:pt x="80207" y="492"/>
                  </a:cubicBezTo>
                  <a:lnTo>
                    <a:pt x="81096" y="222"/>
                  </a:lnTo>
                  <a:cubicBezTo>
                    <a:pt x="81407" y="147"/>
                    <a:pt x="81722" y="91"/>
                    <a:pt x="82040" y="56"/>
                  </a:cubicBezTo>
                  <a:lnTo>
                    <a:pt x="82953" y="0"/>
                  </a:lnTo>
                  <a:close/>
                  <a:moveTo>
                    <a:pt x="112401" y="57888"/>
                  </a:moveTo>
                  <a:cubicBezTo>
                    <a:pt x="110912" y="56398"/>
                    <a:pt x="108892" y="55560"/>
                    <a:pt x="106785" y="55560"/>
                  </a:cubicBezTo>
                  <a:cubicBezTo>
                    <a:pt x="104679" y="55560"/>
                    <a:pt x="102659" y="56398"/>
                    <a:pt x="101170" y="57888"/>
                  </a:cubicBezTo>
                  <a:lnTo>
                    <a:pt x="75032" y="84018"/>
                  </a:lnTo>
                  <a:lnTo>
                    <a:pt x="64768" y="73763"/>
                  </a:lnTo>
                  <a:lnTo>
                    <a:pt x="64022" y="73104"/>
                  </a:lnTo>
                  <a:cubicBezTo>
                    <a:pt x="60711" y="70544"/>
                    <a:pt x="55981" y="70995"/>
                    <a:pt x="53213" y="74134"/>
                  </a:cubicBezTo>
                  <a:cubicBezTo>
                    <a:pt x="50445" y="77273"/>
                    <a:pt x="50590" y="82022"/>
                    <a:pt x="53545" y="84987"/>
                  </a:cubicBezTo>
                  <a:lnTo>
                    <a:pt x="69420" y="100862"/>
                  </a:lnTo>
                  <a:lnTo>
                    <a:pt x="70166" y="101521"/>
                  </a:lnTo>
                  <a:cubicBezTo>
                    <a:pt x="73326" y="103972"/>
                    <a:pt x="77815" y="103689"/>
                    <a:pt x="80643" y="100862"/>
                  </a:cubicBezTo>
                  <a:lnTo>
                    <a:pt x="112393" y="69112"/>
                  </a:lnTo>
                  <a:lnTo>
                    <a:pt x="113052" y="68366"/>
                  </a:lnTo>
                  <a:cubicBezTo>
                    <a:pt x="115503" y="65206"/>
                    <a:pt x="115221" y="60716"/>
                    <a:pt x="112393" y="57888"/>
                  </a:cubicBezTo>
                  <a:close/>
                </a:path>
              </a:pathLst>
            </a:custGeom>
            <a:solidFill>
              <a:schemeClr val="accent2"/>
            </a:solidFill>
            <a:ln>
              <a:noFill/>
            </a:ln>
          </p:spPr>
        </p:sp>
        <p:sp>
          <p:nvSpPr>
            <p:cNvPr id="35" name="TextBox 35"/>
            <p:cNvSpPr txBox="1"/>
            <p:nvPr/>
          </p:nvSpPr>
          <p:spPr>
            <a:xfrm>
              <a:off x="1383792" y="5883592"/>
              <a:ext cx="2999089" cy="264033"/>
            </a:xfrm>
            <a:prstGeom prst="rect">
              <a:avLst/>
            </a:prstGeom>
            <a:noFill/>
            <a:ln>
              <a:noFill/>
            </a:ln>
          </p:spPr>
          <p:txBody>
            <a:bodyPr wrap="none" lIns="0" tIns="0" rIns="0" bIns="0" anchor="t" anchorCtr="0">
              <a:spAutoFit/>
            </a:bodyPr>
            <a:lstStyle/>
            <a:p>
              <a:pPr algn="l"/>
              <a:r>
                <a:rPr lang="en-GB" sz="1350" dirty="0">
                  <a:solidFill>
                    <a:schemeClr val="dk1"/>
                  </a:solidFill>
                  <a:latin typeface="+mn-lt"/>
                  <a:ea typeface="+mn-ea"/>
                  <a:cs typeface="+mn-cs"/>
                </a:rPr>
                <a:t>An LLM Judge verifies the match.</a:t>
              </a:r>
              <a:endParaRPr lang="en-GB" sz="1350" dirty="0">
                <a:solidFill>
                  <a:schemeClr val="dk1"/>
                </a:solidFill>
                <a:latin typeface="+mn-lt"/>
                <a:ea typeface="+mn-ea"/>
                <a:cs typeface="+mn-cs"/>
              </a:endParaRPr>
            </a:p>
          </p:txBody>
        </p:sp>
      </p:grpSp>
      <p:grpSp>
        <p:nvGrpSpPr>
          <p:cNvPr id="39" name="Group 39"/>
          <p:cNvGrpSpPr/>
          <p:nvPr/>
        </p:nvGrpSpPr>
        <p:grpSpPr>
          <a:xfrm>
            <a:off x="4838700" y="2190750"/>
            <a:ext cx="6743700" cy="3924300"/>
            <a:chOff x="4838700" y="2190750"/>
            <a:chExt cx="6743700" cy="3924300"/>
          </a:xfrm>
        </p:grpSpPr>
        <p:sp>
          <p:nvSpPr>
            <p:cNvPr id="37" name="Rectangle 37"/>
            <p:cNvSpPr/>
            <p:nvPr/>
          </p:nvSpPr>
          <p:spPr>
            <a:xfrm>
              <a:off x="4838700" y="2190750"/>
              <a:ext cx="6743700" cy="3924300"/>
            </a:xfrm>
            <a:prstGeom prst="roundRect">
              <a:avLst>
                <a:gd name="adj" fmla="val 6311"/>
              </a:avLst>
            </a:prstGeom>
            <a:solidFill>
              <a:schemeClr val="lt2"/>
            </a:solidFill>
            <a:ln>
              <a:noFill/>
            </a:ln>
            <a:effectLst>
              <a:outerShdw blurRad="266700" dist="57150" dir="5400000" algn="ctr" rotWithShape="0">
                <a:srgbClr val="7C6FE0">
                  <a:alpha val="7500"/>
                </a:srgbClr>
              </a:outerShdw>
            </a:effectLst>
          </p:spPr>
        </p:sp>
        <p:pic>
          <p:nvPicPr>
            <p:cNvPr id="38" name="Image 38"/>
            <p:cNvPicPr>
              <a:picLocks noChangeAspect="1"/>
            </p:cNvPicPr>
            <p:nvPr/>
          </p:nvPicPr>
          <p:blipFill>
            <a:blip r:embed="rId1"/>
            <a:stretch>
              <a:fillRect/>
            </a:stretch>
          </p:blipFill>
          <p:spPr>
            <a:xfrm>
              <a:off x="4991100" y="2343150"/>
              <a:ext cx="6438900" cy="3619500"/>
            </a:xfrm>
            <a:prstGeom prst="rect">
              <a:avLst/>
            </a:prstGeom>
          </p:spPr>
        </p:pic>
      </p:grpSp>
      <p:sp>
        <p:nvSpPr>
          <p:cNvPr id="44" name="Footer Placeholder 43"/>
          <p:cNvSpPr>
            <a:spLocks noGrp="1"/>
          </p:cNvSpPr>
          <p:nvPr>
            <p:ph type="ftr" sz="quarter" idx="11"/>
          </p:nvPr>
        </p:nvSpPr>
        <p:spPr/>
        <p:txBody>
          <a:bodyPr/>
          <a:p>
            <a:r>
              <a:rPr lang="en-US"/>
              <a:t>TCS | Confidential</a:t>
            </a:r>
            <a:endParaRPr lang="en-US"/>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609600" y="628650"/>
            <a:ext cx="2729995" cy="346901"/>
            <a:chOff x="609600" y="628650"/>
            <a:chExt cx="2729995" cy="346901"/>
          </a:xfrm>
        </p:grpSpPr>
        <p:sp>
          <p:nvSpPr>
            <p:cNvPr id="2" name="Rectangle 2"/>
            <p:cNvSpPr/>
            <p:nvPr/>
          </p:nvSpPr>
          <p:spPr>
            <a:xfrm>
              <a:off x="609600" y="628650"/>
              <a:ext cx="2552700" cy="342900"/>
            </a:xfrm>
            <a:prstGeom prst="roundRect">
              <a:avLst>
                <a:gd name="adj" fmla="val 50000"/>
              </a:avLst>
            </a:prstGeom>
            <a:solidFill>
              <a:schemeClr val="accent1">
                <a:alpha val="14000"/>
              </a:schemeClr>
            </a:solidFill>
            <a:ln>
              <a:noFill/>
            </a:ln>
          </p:spPr>
        </p:sp>
        <p:sp>
          <p:nvSpPr>
            <p:cNvPr id="3" name="TextBox 3"/>
            <p:cNvSpPr txBox="1"/>
            <p:nvPr/>
          </p:nvSpPr>
          <p:spPr>
            <a:xfrm>
              <a:off x="793242" y="711518"/>
              <a:ext cx="2546353" cy="264033"/>
            </a:xfrm>
            <a:prstGeom prst="rect">
              <a:avLst/>
            </a:prstGeom>
            <a:noFill/>
            <a:ln>
              <a:noFill/>
            </a:ln>
          </p:spPr>
          <p:txBody>
            <a:bodyPr wrap="none" lIns="0" tIns="0" rIns="0" bIns="0" anchor="t" anchorCtr="0">
              <a:spAutoFit/>
            </a:bodyPr>
            <a:lstStyle/>
            <a:p>
              <a:pPr algn="l"/>
              <a:r>
                <a:rPr lang="en-GB" sz="1350" b="1" spc="75" dirty="0">
                  <a:solidFill>
                    <a:schemeClr val="accent1"/>
                  </a:solidFill>
                  <a:latin typeface="+mn-lt"/>
                  <a:ea typeface="+mn-ea"/>
                  <a:cs typeface="+mn-cs"/>
                </a:rPr>
                <a:t>THE PLATFORM IN ACTION</a:t>
              </a:r>
              <a:endParaRPr lang="en-GB" sz="1350" b="1" spc="75" dirty="0">
                <a:solidFill>
                  <a:schemeClr val="accent1"/>
                </a:solidFill>
                <a:latin typeface="+mn-lt"/>
                <a:ea typeface="+mn-ea"/>
                <a:cs typeface="+mn-cs"/>
              </a:endParaRPr>
            </a:p>
          </p:txBody>
        </p:sp>
      </p:grpSp>
      <p:grpSp>
        <p:nvGrpSpPr>
          <p:cNvPr id="6" name="Group 6"/>
          <p:cNvGrpSpPr/>
          <p:nvPr/>
        </p:nvGrpSpPr>
        <p:grpSpPr>
          <a:xfrm>
            <a:off x="590550" y="1165860"/>
            <a:ext cx="7178993" cy="819150"/>
            <a:chOff x="590550" y="1165860"/>
            <a:chExt cx="7178993" cy="819150"/>
          </a:xfrm>
        </p:grpSpPr>
        <p:sp>
          <p:nvSpPr>
            <p:cNvPr id="5" name="TextBox 5"/>
            <p:cNvSpPr txBox="1"/>
            <p:nvPr/>
          </p:nvSpPr>
          <p:spPr>
            <a:xfrm>
              <a:off x="590550" y="1165860"/>
              <a:ext cx="7178993" cy="819150"/>
            </a:xfrm>
            <a:prstGeom prst="rect">
              <a:avLst/>
            </a:prstGeom>
            <a:noFill/>
            <a:ln>
              <a:noFill/>
            </a:ln>
          </p:spPr>
          <p:txBody>
            <a:bodyPr wrap="none" lIns="0" tIns="0" rIns="0" bIns="0" anchor="t" anchorCtr="0">
              <a:spAutoFit/>
            </a:bodyPr>
            <a:lstStyle/>
            <a:p>
              <a:pPr algn="l"/>
              <a:r>
                <a:rPr lang="en-GB" sz="4200" b="1" dirty="0">
                  <a:solidFill>
                    <a:schemeClr val="dk1"/>
                  </a:solidFill>
                  <a:latin typeface="+mn-lt"/>
                  <a:ea typeface="+mn-ea"/>
                  <a:cs typeface="+mn-cs"/>
                </a:rPr>
                <a:t>Every Novel Action Waits</a:t>
              </a:r>
              <a:endParaRPr lang="en-GB" sz="4200" b="1" dirty="0">
                <a:solidFill>
                  <a:schemeClr val="dk1"/>
                </a:solidFill>
                <a:latin typeface="+mn-lt"/>
                <a:ea typeface="+mn-ea"/>
                <a:cs typeface="+mn-cs"/>
              </a:endParaRPr>
            </a:p>
          </p:txBody>
        </p:sp>
      </p:grpSp>
      <p:grpSp>
        <p:nvGrpSpPr>
          <p:cNvPr id="8" name="Group 8"/>
          <p:cNvGrpSpPr/>
          <p:nvPr/>
        </p:nvGrpSpPr>
        <p:grpSpPr>
          <a:xfrm>
            <a:off x="600456" y="1844040"/>
            <a:ext cx="7998999" cy="352044"/>
            <a:chOff x="600456" y="1844040"/>
            <a:chExt cx="7998999" cy="352044"/>
          </a:xfrm>
        </p:grpSpPr>
        <p:sp>
          <p:nvSpPr>
            <p:cNvPr id="7" name="TextBox 7"/>
            <p:cNvSpPr txBox="1"/>
            <p:nvPr/>
          </p:nvSpPr>
          <p:spPr>
            <a:xfrm>
              <a:off x="600456" y="1844040"/>
              <a:ext cx="7998999" cy="352044"/>
            </a:xfrm>
            <a:prstGeom prst="rect">
              <a:avLst/>
            </a:prstGeom>
            <a:noFill/>
            <a:ln>
              <a:noFill/>
            </a:ln>
          </p:spPr>
          <p:txBody>
            <a:bodyPr wrap="none" lIns="0" tIns="0" rIns="0" bIns="0" anchor="t" anchorCtr="0">
              <a:spAutoFit/>
            </a:bodyPr>
            <a:lstStyle/>
            <a:p>
              <a:pPr algn="l"/>
              <a:r>
                <a:rPr lang="en-GB" sz="1800" dirty="0">
                  <a:solidFill>
                    <a:schemeClr val="accent5"/>
                  </a:solidFill>
                  <a:latin typeface="+mn-lt"/>
                  <a:ea typeface="+mn-ea"/>
                  <a:cs typeface="+mn-cs"/>
                </a:rPr>
                <a:t>When no precedent exists, the platform proposes a plan and stops.</a:t>
              </a:r>
              <a:endParaRPr lang="en-GB" sz="1800" dirty="0">
                <a:solidFill>
                  <a:schemeClr val="accent5"/>
                </a:solidFill>
                <a:latin typeface="+mn-lt"/>
                <a:ea typeface="+mn-ea"/>
                <a:cs typeface="+mn-cs"/>
              </a:endParaRPr>
            </a:p>
          </p:txBody>
        </p:sp>
      </p:grpSp>
      <p:grpSp>
        <p:nvGrpSpPr>
          <p:cNvPr id="16" name="Group 16"/>
          <p:cNvGrpSpPr/>
          <p:nvPr/>
        </p:nvGrpSpPr>
        <p:grpSpPr>
          <a:xfrm>
            <a:off x="609600" y="2419350"/>
            <a:ext cx="4000500" cy="904875"/>
            <a:chOff x="609600" y="2419350"/>
            <a:chExt cx="4000500" cy="904875"/>
          </a:xfrm>
        </p:grpSpPr>
        <p:sp>
          <p:nvSpPr>
            <p:cNvPr id="9" name="Rectangle 9"/>
            <p:cNvSpPr/>
            <p:nvPr/>
          </p:nvSpPr>
          <p:spPr>
            <a:xfrm>
              <a:off x="609600" y="2419350"/>
              <a:ext cx="4000500" cy="904875"/>
            </a:xfrm>
            <a:prstGeom prst="roundRect">
              <a:avLst>
                <a:gd name="adj" fmla="val 23158"/>
              </a:avLst>
            </a:prstGeom>
            <a:solidFill>
              <a:schemeClr val="lt2"/>
            </a:solidFill>
            <a:ln>
              <a:noFill/>
            </a:ln>
            <a:effectLst>
              <a:outerShdw blurRad="266700" dist="57150" dir="5400000" algn="ctr" rotWithShape="0">
                <a:srgbClr val="7C6FE0">
                  <a:alpha val="7500"/>
                </a:srgbClr>
              </a:outerShdw>
            </a:effectLst>
          </p:spPr>
        </p:sp>
        <p:sp>
          <p:nvSpPr>
            <p:cNvPr id="10" name="Ellipse 10"/>
            <p:cNvSpPr/>
            <p:nvPr/>
          </p:nvSpPr>
          <p:spPr>
            <a:xfrm>
              <a:off x="781050" y="2638425"/>
              <a:ext cx="457200" cy="457200"/>
            </a:xfrm>
            <a:prstGeom prst="ellipse">
              <a:avLst/>
            </a:prstGeom>
            <a:solidFill>
              <a:schemeClr val="accent3">
                <a:alpha val="16000"/>
              </a:schemeClr>
            </a:solidFill>
            <a:ln>
              <a:noFill/>
            </a:ln>
          </p:spPr>
        </p:sp>
        <p:grpSp>
          <p:nvGrpSpPr>
            <p:cNvPr id="13" name="Group 13"/>
            <p:cNvGrpSpPr/>
            <p:nvPr/>
          </p:nvGrpSpPr>
          <p:grpSpPr>
            <a:xfrm>
              <a:off x="942975" y="2771775"/>
              <a:ext cx="133350" cy="190500"/>
              <a:chOff x="942975" y="2771775"/>
              <a:chExt cx="133350" cy="190500"/>
            </a:xfrm>
          </p:grpSpPr>
          <p:sp>
            <p:nvSpPr>
              <p:cNvPr id="11" name="Freeform 11"/>
              <p:cNvSpPr/>
              <p:nvPr/>
            </p:nvSpPr>
            <p:spPr>
              <a:xfrm>
                <a:off x="962025" y="2771775"/>
                <a:ext cx="95250" cy="95250"/>
              </a:xfrm>
              <a:custGeom>
                <a:avLst/>
                <a:gdLst/>
                <a:ahLst/>
                <a:cxnLst/>
                <a:rect l="l" t="t" r="r" b="b"/>
                <a:pathLst>
                  <a:path w="95250" h="95250">
                    <a:moveTo>
                      <a:pt x="47625" y="0"/>
                    </a:moveTo>
                    <a:cubicBezTo>
                      <a:pt x="73928" y="0"/>
                      <a:pt x="95250" y="21322"/>
                      <a:pt x="95250" y="47625"/>
                    </a:cubicBezTo>
                    <a:cubicBezTo>
                      <a:pt x="95250" y="73928"/>
                      <a:pt x="73928" y="95250"/>
                      <a:pt x="47625" y="95250"/>
                    </a:cubicBezTo>
                    <a:cubicBezTo>
                      <a:pt x="21322" y="95250"/>
                      <a:pt x="0" y="73928"/>
                      <a:pt x="0" y="47625"/>
                    </a:cubicBezTo>
                    <a:lnTo>
                      <a:pt x="48" y="45558"/>
                    </a:lnTo>
                    <a:cubicBezTo>
                      <a:pt x="1154" y="20084"/>
                      <a:pt x="22127" y="1"/>
                      <a:pt x="47625" y="0"/>
                    </a:cubicBezTo>
                    <a:close/>
                  </a:path>
                </a:pathLst>
              </a:custGeom>
              <a:solidFill>
                <a:srgbClr val="B9862E"/>
              </a:solidFill>
              <a:ln>
                <a:noFill/>
              </a:ln>
            </p:spPr>
          </p:sp>
          <p:sp>
            <p:nvSpPr>
              <p:cNvPr id="12" name="Freeform 12"/>
              <p:cNvSpPr/>
              <p:nvPr/>
            </p:nvSpPr>
            <p:spPr>
              <a:xfrm>
                <a:off x="942975" y="2886075"/>
                <a:ext cx="133350" cy="76200"/>
              </a:xfrm>
              <a:custGeom>
                <a:avLst/>
                <a:gdLst/>
                <a:ahLst/>
                <a:cxnLst/>
                <a:rect l="l" t="t" r="r" b="b"/>
                <a:pathLst>
                  <a:path w="133350" h="76200">
                    <a:moveTo>
                      <a:pt x="85725" y="0"/>
                    </a:moveTo>
                    <a:cubicBezTo>
                      <a:pt x="112028" y="0"/>
                      <a:pt x="133350" y="21322"/>
                      <a:pt x="133350" y="47625"/>
                    </a:cubicBezTo>
                    <a:lnTo>
                      <a:pt x="133350" y="57150"/>
                    </a:lnTo>
                    <a:cubicBezTo>
                      <a:pt x="133350" y="67671"/>
                      <a:pt x="124821" y="76200"/>
                      <a:pt x="114300" y="76200"/>
                    </a:cubicBezTo>
                    <a:lnTo>
                      <a:pt x="19050" y="76200"/>
                    </a:lnTo>
                    <a:cubicBezTo>
                      <a:pt x="8529" y="76200"/>
                      <a:pt x="0" y="67671"/>
                      <a:pt x="0" y="57150"/>
                    </a:cubicBezTo>
                    <a:lnTo>
                      <a:pt x="0" y="47625"/>
                    </a:lnTo>
                    <a:cubicBezTo>
                      <a:pt x="0" y="21322"/>
                      <a:pt x="21322" y="0"/>
                      <a:pt x="47625" y="0"/>
                    </a:cubicBezTo>
                    <a:lnTo>
                      <a:pt x="85725" y="0"/>
                    </a:lnTo>
                    <a:close/>
                  </a:path>
                </a:pathLst>
              </a:custGeom>
              <a:solidFill>
                <a:srgbClr val="B9862E"/>
              </a:solidFill>
              <a:ln>
                <a:noFill/>
              </a:ln>
            </p:spPr>
          </p:sp>
        </p:grpSp>
        <p:sp>
          <p:nvSpPr>
            <p:cNvPr id="14" name="TextBox 14"/>
            <p:cNvSpPr txBox="1"/>
            <p:nvPr/>
          </p:nvSpPr>
          <p:spPr>
            <a:xfrm>
              <a:off x="1383030" y="2581275"/>
              <a:ext cx="1933527" cy="293370"/>
            </a:xfrm>
            <a:prstGeom prst="rect">
              <a:avLst/>
            </a:prstGeom>
            <a:noFill/>
            <a:ln>
              <a:noFill/>
            </a:ln>
          </p:spPr>
          <p:txBody>
            <a:bodyPr wrap="none" lIns="0" tIns="0" rIns="0" bIns="0" anchor="t" anchorCtr="0">
              <a:spAutoFit/>
            </a:bodyPr>
            <a:lstStyle/>
            <a:p>
              <a:pPr algn="l"/>
              <a:r>
                <a:rPr lang="en-GB" sz="1500" dirty="0">
                  <a:solidFill>
                    <a:schemeClr val="dk1"/>
                  </a:solidFill>
                  <a:latin typeface="+mn-lt"/>
                  <a:ea typeface="+mn-ea"/>
                  <a:cs typeface="+mn-cs"/>
                </a:rPr>
                <a:t>RAG miss triggers a</a:t>
              </a:r>
              <a:endParaRPr lang="en-GB" sz="1500" dirty="0">
                <a:solidFill>
                  <a:schemeClr val="dk1"/>
                </a:solidFill>
                <a:latin typeface="+mn-lt"/>
                <a:ea typeface="+mn-ea"/>
                <a:cs typeface="+mn-cs"/>
              </a:endParaRPr>
            </a:p>
          </p:txBody>
        </p:sp>
        <p:sp>
          <p:nvSpPr>
            <p:cNvPr id="15" name="TextBox 15"/>
            <p:cNvSpPr txBox="1"/>
            <p:nvPr/>
          </p:nvSpPr>
          <p:spPr>
            <a:xfrm>
              <a:off x="1383030" y="2809875"/>
              <a:ext cx="2303406" cy="293370"/>
            </a:xfrm>
            <a:prstGeom prst="rect">
              <a:avLst/>
            </a:prstGeom>
            <a:noFill/>
            <a:ln>
              <a:noFill/>
            </a:ln>
          </p:spPr>
          <p:txBody>
            <a:bodyPr wrap="none" lIns="0" tIns="0" rIns="0" bIns="0" anchor="t" anchorCtr="0">
              <a:spAutoFit/>
            </a:bodyPr>
            <a:lstStyle/>
            <a:p>
              <a:pPr algn="l"/>
              <a:r>
                <a:rPr lang="en-GB" sz="1500" dirty="0">
                  <a:solidFill>
                    <a:schemeClr val="dk1"/>
                  </a:solidFill>
                  <a:latin typeface="+mn-lt"/>
                  <a:ea typeface="+mn-ea"/>
                  <a:cs typeface="+mn-cs"/>
                </a:rPr>
                <a:t>PENDING approval card.</a:t>
              </a:r>
              <a:endParaRPr lang="en-GB" sz="1500" dirty="0">
                <a:solidFill>
                  <a:schemeClr val="dk1"/>
                </a:solidFill>
                <a:latin typeface="+mn-lt"/>
                <a:ea typeface="+mn-ea"/>
                <a:cs typeface="+mn-cs"/>
              </a:endParaRPr>
            </a:p>
          </p:txBody>
        </p:sp>
      </p:grpSp>
      <p:grpSp>
        <p:nvGrpSpPr>
          <p:cNvPr id="24" name="Group 24"/>
          <p:cNvGrpSpPr/>
          <p:nvPr/>
        </p:nvGrpSpPr>
        <p:grpSpPr>
          <a:xfrm>
            <a:off x="609600" y="3514725"/>
            <a:ext cx="4000500" cy="904875"/>
            <a:chOff x="609600" y="3514725"/>
            <a:chExt cx="4000500" cy="904875"/>
          </a:xfrm>
        </p:grpSpPr>
        <p:sp>
          <p:nvSpPr>
            <p:cNvPr id="17" name="Rectangle 17"/>
            <p:cNvSpPr/>
            <p:nvPr/>
          </p:nvSpPr>
          <p:spPr>
            <a:xfrm>
              <a:off x="609600" y="3514725"/>
              <a:ext cx="4000500" cy="904875"/>
            </a:xfrm>
            <a:prstGeom prst="roundRect">
              <a:avLst>
                <a:gd name="adj" fmla="val 23158"/>
              </a:avLst>
            </a:prstGeom>
            <a:solidFill>
              <a:schemeClr val="lt2"/>
            </a:solidFill>
            <a:ln>
              <a:noFill/>
            </a:ln>
            <a:effectLst>
              <a:outerShdw blurRad="266700" dist="57150" dir="5400000" algn="ctr" rotWithShape="0">
                <a:srgbClr val="7C6FE0">
                  <a:alpha val="7500"/>
                </a:srgbClr>
              </a:outerShdw>
            </a:effectLst>
          </p:spPr>
        </p:sp>
        <p:sp>
          <p:nvSpPr>
            <p:cNvPr id="18" name="Ellipse 18"/>
            <p:cNvSpPr/>
            <p:nvPr/>
          </p:nvSpPr>
          <p:spPr>
            <a:xfrm>
              <a:off x="781050" y="3733800"/>
              <a:ext cx="457200" cy="457200"/>
            </a:xfrm>
            <a:prstGeom prst="ellipse">
              <a:avLst/>
            </a:prstGeom>
            <a:solidFill>
              <a:schemeClr val="accent1">
                <a:alpha val="15000"/>
              </a:schemeClr>
            </a:solidFill>
            <a:ln>
              <a:noFill/>
            </a:ln>
          </p:spPr>
        </p:sp>
        <p:grpSp>
          <p:nvGrpSpPr>
            <p:cNvPr id="21" name="Group 21"/>
            <p:cNvGrpSpPr/>
            <p:nvPr/>
          </p:nvGrpSpPr>
          <p:grpSpPr>
            <a:xfrm>
              <a:off x="923925" y="3867150"/>
              <a:ext cx="171450" cy="200022"/>
              <a:chOff x="923925" y="3867150"/>
              <a:chExt cx="171450" cy="200022"/>
            </a:xfrm>
          </p:grpSpPr>
          <p:sp>
            <p:nvSpPr>
              <p:cNvPr id="19" name="Freeform 19"/>
              <p:cNvSpPr/>
              <p:nvPr/>
            </p:nvSpPr>
            <p:spPr>
              <a:xfrm>
                <a:off x="923925" y="4010022"/>
                <a:ext cx="171450" cy="57150"/>
              </a:xfrm>
              <a:custGeom>
                <a:avLst/>
                <a:gdLst/>
                <a:ahLst/>
                <a:cxnLst/>
                <a:rect l="l" t="t" r="r" b="b"/>
                <a:pathLst>
                  <a:path w="171450" h="57150">
                    <a:moveTo>
                      <a:pt x="85725" y="3"/>
                    </a:moveTo>
                    <a:cubicBezTo>
                      <a:pt x="98165" y="3"/>
                      <a:pt x="108756" y="7957"/>
                      <a:pt x="112681" y="19053"/>
                    </a:cubicBezTo>
                    <a:lnTo>
                      <a:pt x="161925" y="19053"/>
                    </a:lnTo>
                    <a:cubicBezTo>
                      <a:pt x="167186" y="19053"/>
                      <a:pt x="171450" y="23318"/>
                      <a:pt x="171450" y="28578"/>
                    </a:cubicBezTo>
                    <a:cubicBezTo>
                      <a:pt x="171450" y="33839"/>
                      <a:pt x="167186" y="38103"/>
                      <a:pt x="161925" y="38103"/>
                    </a:cubicBezTo>
                    <a:lnTo>
                      <a:pt x="112671" y="38103"/>
                    </a:lnTo>
                    <a:cubicBezTo>
                      <a:pt x="108630" y="49519"/>
                      <a:pt x="97835" y="57150"/>
                      <a:pt x="85725" y="57150"/>
                    </a:cubicBezTo>
                    <a:cubicBezTo>
                      <a:pt x="73615" y="57150"/>
                      <a:pt x="62820" y="49519"/>
                      <a:pt x="58779" y="38103"/>
                    </a:cubicBezTo>
                    <a:lnTo>
                      <a:pt x="9525" y="38103"/>
                    </a:lnTo>
                    <a:cubicBezTo>
                      <a:pt x="4264" y="38103"/>
                      <a:pt x="0" y="33839"/>
                      <a:pt x="0" y="28578"/>
                    </a:cubicBezTo>
                    <a:cubicBezTo>
                      <a:pt x="0" y="23318"/>
                      <a:pt x="4264" y="19053"/>
                      <a:pt x="9525" y="19053"/>
                    </a:cubicBezTo>
                    <a:lnTo>
                      <a:pt x="58769" y="19053"/>
                    </a:lnTo>
                    <a:cubicBezTo>
                      <a:pt x="62810" y="7633"/>
                      <a:pt x="73611" y="0"/>
                      <a:pt x="85725" y="3"/>
                    </a:cubicBezTo>
                    <a:close/>
                  </a:path>
                </a:pathLst>
              </a:custGeom>
              <a:solidFill>
                <a:schemeClr val="accent1"/>
              </a:solidFill>
              <a:ln>
                <a:noFill/>
              </a:ln>
            </p:spPr>
          </p:sp>
          <p:sp>
            <p:nvSpPr>
              <p:cNvPr id="20" name="Freeform 20"/>
              <p:cNvSpPr/>
              <p:nvPr/>
            </p:nvSpPr>
            <p:spPr>
              <a:xfrm>
                <a:off x="942975" y="3867150"/>
                <a:ext cx="133350" cy="134291"/>
              </a:xfrm>
              <a:custGeom>
                <a:avLst/>
                <a:gdLst/>
                <a:ahLst/>
                <a:cxnLst/>
                <a:rect l="l" t="t" r="r" b="b"/>
                <a:pathLst>
                  <a:path w="133350" h="134291">
                    <a:moveTo>
                      <a:pt x="114300" y="0"/>
                    </a:moveTo>
                    <a:cubicBezTo>
                      <a:pt x="124821" y="0"/>
                      <a:pt x="133350" y="8529"/>
                      <a:pt x="133350" y="19050"/>
                    </a:cubicBezTo>
                    <a:lnTo>
                      <a:pt x="133350" y="95250"/>
                    </a:lnTo>
                    <a:cubicBezTo>
                      <a:pt x="133350" y="105771"/>
                      <a:pt x="124821" y="114300"/>
                      <a:pt x="114300" y="114300"/>
                    </a:cubicBezTo>
                    <a:lnTo>
                      <a:pt x="89668" y="114300"/>
                    </a:lnTo>
                    <a:lnTo>
                      <a:pt x="73409" y="130559"/>
                    </a:lnTo>
                    <a:cubicBezTo>
                      <a:pt x="70016" y="133952"/>
                      <a:pt x="64628" y="134291"/>
                      <a:pt x="60836" y="131350"/>
                    </a:cubicBezTo>
                    <a:lnTo>
                      <a:pt x="59941" y="130559"/>
                    </a:lnTo>
                    <a:lnTo>
                      <a:pt x="43672" y="114300"/>
                    </a:lnTo>
                    <a:lnTo>
                      <a:pt x="19050" y="114300"/>
                    </a:lnTo>
                    <a:cubicBezTo>
                      <a:pt x="9081" y="114303"/>
                      <a:pt x="795" y="106620"/>
                      <a:pt x="48" y="96679"/>
                    </a:cubicBezTo>
                    <a:lnTo>
                      <a:pt x="0" y="95250"/>
                    </a:lnTo>
                    <a:lnTo>
                      <a:pt x="0" y="19050"/>
                    </a:lnTo>
                    <a:cubicBezTo>
                      <a:pt x="0" y="8529"/>
                      <a:pt x="8529" y="0"/>
                      <a:pt x="19050" y="0"/>
                    </a:cubicBezTo>
                    <a:lnTo>
                      <a:pt x="114300" y="0"/>
                    </a:lnTo>
                    <a:close/>
                  </a:path>
                </a:pathLst>
              </a:custGeom>
              <a:solidFill>
                <a:schemeClr val="accent1"/>
              </a:solidFill>
              <a:ln>
                <a:noFill/>
              </a:ln>
            </p:spPr>
          </p:sp>
        </p:grpSp>
        <p:sp>
          <p:nvSpPr>
            <p:cNvPr id="22" name="TextBox 22"/>
            <p:cNvSpPr txBox="1"/>
            <p:nvPr/>
          </p:nvSpPr>
          <p:spPr>
            <a:xfrm>
              <a:off x="1383030" y="3676650"/>
              <a:ext cx="2540468" cy="293370"/>
            </a:xfrm>
            <a:prstGeom prst="rect">
              <a:avLst/>
            </a:prstGeom>
            <a:noFill/>
            <a:ln>
              <a:noFill/>
            </a:ln>
          </p:spPr>
          <p:txBody>
            <a:bodyPr wrap="none" lIns="0" tIns="0" rIns="0" bIns="0" anchor="t" anchorCtr="0">
              <a:spAutoFit/>
            </a:bodyPr>
            <a:lstStyle/>
            <a:p>
              <a:pPr algn="l"/>
              <a:r>
                <a:rPr lang="en-GB" sz="1500" dirty="0">
                  <a:solidFill>
                    <a:schemeClr val="dk1"/>
                  </a:solidFill>
                  <a:latin typeface="+mn-lt"/>
                  <a:ea typeface="+mn-ea"/>
                  <a:cs typeface="+mn-cs"/>
                </a:rPr>
                <a:t>Ticket moves to ON_HOLD</a:t>
              </a:r>
              <a:endParaRPr lang="en-GB" sz="1500" dirty="0">
                <a:solidFill>
                  <a:schemeClr val="dk1"/>
                </a:solidFill>
                <a:latin typeface="+mn-lt"/>
                <a:ea typeface="+mn-ea"/>
                <a:cs typeface="+mn-cs"/>
              </a:endParaRPr>
            </a:p>
          </p:txBody>
        </p:sp>
        <p:sp>
          <p:nvSpPr>
            <p:cNvPr id="23" name="TextBox 23"/>
            <p:cNvSpPr txBox="1"/>
            <p:nvPr/>
          </p:nvSpPr>
          <p:spPr>
            <a:xfrm>
              <a:off x="1383030" y="3905250"/>
              <a:ext cx="2599944" cy="293370"/>
            </a:xfrm>
            <a:prstGeom prst="rect">
              <a:avLst/>
            </a:prstGeom>
            <a:noFill/>
            <a:ln>
              <a:noFill/>
            </a:ln>
          </p:spPr>
          <p:txBody>
            <a:bodyPr wrap="none" lIns="0" tIns="0" rIns="0" bIns="0" anchor="t" anchorCtr="0">
              <a:spAutoFit/>
            </a:bodyPr>
            <a:lstStyle/>
            <a:p>
              <a:pPr algn="l"/>
              <a:r>
                <a:rPr lang="en-GB" sz="1500" dirty="0">
                  <a:solidFill>
                    <a:schemeClr val="dk1"/>
                  </a:solidFill>
                  <a:latin typeface="+mn-lt"/>
                  <a:ea typeface="+mn-ea"/>
                  <a:cs typeface="+mn-cs"/>
                </a:rPr>
                <a:t>until an operator decides.</a:t>
              </a:r>
              <a:endParaRPr lang="en-GB" sz="1500" dirty="0">
                <a:solidFill>
                  <a:schemeClr val="dk1"/>
                </a:solidFill>
                <a:latin typeface="+mn-lt"/>
                <a:ea typeface="+mn-ea"/>
                <a:cs typeface="+mn-cs"/>
              </a:endParaRPr>
            </a:p>
          </p:txBody>
        </p:sp>
      </p:grpSp>
      <p:grpSp>
        <p:nvGrpSpPr>
          <p:cNvPr id="30" name="Group 30"/>
          <p:cNvGrpSpPr/>
          <p:nvPr/>
        </p:nvGrpSpPr>
        <p:grpSpPr>
          <a:xfrm>
            <a:off x="609600" y="4610100"/>
            <a:ext cx="4000500" cy="904875"/>
            <a:chOff x="609600" y="4610100"/>
            <a:chExt cx="4000500" cy="904875"/>
          </a:xfrm>
        </p:grpSpPr>
        <p:sp>
          <p:nvSpPr>
            <p:cNvPr id="25" name="Rectangle 25"/>
            <p:cNvSpPr/>
            <p:nvPr/>
          </p:nvSpPr>
          <p:spPr>
            <a:xfrm>
              <a:off x="609600" y="4610100"/>
              <a:ext cx="4000500" cy="904875"/>
            </a:xfrm>
            <a:prstGeom prst="roundRect">
              <a:avLst>
                <a:gd name="adj" fmla="val 23158"/>
              </a:avLst>
            </a:prstGeom>
            <a:solidFill>
              <a:schemeClr val="lt2"/>
            </a:solidFill>
            <a:ln>
              <a:noFill/>
            </a:ln>
            <a:effectLst>
              <a:outerShdw blurRad="266700" dist="57150" dir="5400000" algn="ctr" rotWithShape="0">
                <a:srgbClr val="7C6FE0">
                  <a:alpha val="7500"/>
                </a:srgbClr>
              </a:outerShdw>
            </a:effectLst>
          </p:spPr>
        </p:sp>
        <p:sp>
          <p:nvSpPr>
            <p:cNvPr id="26" name="Ellipse 26"/>
            <p:cNvSpPr/>
            <p:nvPr/>
          </p:nvSpPr>
          <p:spPr>
            <a:xfrm>
              <a:off x="781050" y="4829175"/>
              <a:ext cx="457200" cy="457200"/>
            </a:xfrm>
            <a:prstGeom prst="ellipse">
              <a:avLst/>
            </a:prstGeom>
            <a:solidFill>
              <a:schemeClr val="accent2">
                <a:alpha val="15000"/>
              </a:schemeClr>
            </a:solidFill>
            <a:ln>
              <a:noFill/>
            </a:ln>
          </p:spPr>
        </p:sp>
        <p:sp>
          <p:nvSpPr>
            <p:cNvPr id="27" name="Freeform 27"/>
            <p:cNvSpPr/>
            <p:nvPr/>
          </p:nvSpPr>
          <p:spPr>
            <a:xfrm>
              <a:off x="910087" y="4962525"/>
              <a:ext cx="199117" cy="190602"/>
            </a:xfrm>
            <a:custGeom>
              <a:avLst/>
              <a:gdLst/>
              <a:ahLst/>
              <a:cxnLst/>
              <a:rect l="l" t="t" r="r" b="b"/>
              <a:pathLst>
                <a:path w="199117" h="190602">
                  <a:moveTo>
                    <a:pt x="99544" y="0"/>
                  </a:moveTo>
                  <a:lnTo>
                    <a:pt x="100668" y="67"/>
                  </a:lnTo>
                  <a:lnTo>
                    <a:pt x="101230" y="143"/>
                  </a:lnTo>
                  <a:lnTo>
                    <a:pt x="101811" y="267"/>
                  </a:lnTo>
                  <a:lnTo>
                    <a:pt x="102868" y="591"/>
                  </a:lnTo>
                  <a:cubicBezTo>
                    <a:pt x="103598" y="860"/>
                    <a:pt x="104293" y="1218"/>
                    <a:pt x="104935" y="1657"/>
                  </a:cubicBezTo>
                  <a:lnTo>
                    <a:pt x="105926" y="2438"/>
                  </a:lnTo>
                  <a:lnTo>
                    <a:pt x="108354" y="4515"/>
                  </a:lnTo>
                  <a:cubicBezTo>
                    <a:pt x="127569" y="20475"/>
                    <a:pt x="151854" y="29045"/>
                    <a:pt x="176830" y="28680"/>
                  </a:cubicBezTo>
                  <a:lnTo>
                    <a:pt x="180087" y="28585"/>
                  </a:lnTo>
                  <a:cubicBezTo>
                    <a:pt x="184470" y="28385"/>
                    <a:pt x="188423" y="31204"/>
                    <a:pt x="189660" y="35414"/>
                  </a:cubicBezTo>
                  <a:cubicBezTo>
                    <a:pt x="199117" y="67583"/>
                    <a:pt x="195123" y="102211"/>
                    <a:pt x="178593" y="131383"/>
                  </a:cubicBezTo>
                  <a:cubicBezTo>
                    <a:pt x="162063" y="160555"/>
                    <a:pt x="134409" y="181776"/>
                    <a:pt x="101954" y="190195"/>
                  </a:cubicBezTo>
                  <a:cubicBezTo>
                    <a:pt x="100386" y="190602"/>
                    <a:pt x="98740" y="190602"/>
                    <a:pt x="97172" y="190195"/>
                  </a:cubicBezTo>
                  <a:cubicBezTo>
                    <a:pt x="64715" y="181778"/>
                    <a:pt x="37059" y="160558"/>
                    <a:pt x="20527" y="131386"/>
                  </a:cubicBezTo>
                  <a:cubicBezTo>
                    <a:pt x="3994" y="102213"/>
                    <a:pt x="0" y="67584"/>
                    <a:pt x="9456" y="35414"/>
                  </a:cubicBezTo>
                  <a:cubicBezTo>
                    <a:pt x="10693" y="31204"/>
                    <a:pt x="14646" y="28385"/>
                    <a:pt x="19029" y="28585"/>
                  </a:cubicBezTo>
                  <a:cubicBezTo>
                    <a:pt x="45103" y="29776"/>
                    <a:pt x="70684" y="21193"/>
                    <a:pt x="90762" y="4515"/>
                  </a:cubicBezTo>
                  <a:lnTo>
                    <a:pt x="93267" y="2372"/>
                  </a:lnTo>
                  <a:lnTo>
                    <a:pt x="94181" y="1657"/>
                  </a:lnTo>
                  <a:cubicBezTo>
                    <a:pt x="94824" y="1218"/>
                    <a:pt x="95518" y="860"/>
                    <a:pt x="96248" y="591"/>
                  </a:cubicBezTo>
                  <a:lnTo>
                    <a:pt x="97315" y="267"/>
                  </a:lnTo>
                  <a:cubicBezTo>
                    <a:pt x="97688" y="177"/>
                    <a:pt x="98067" y="110"/>
                    <a:pt x="98448" y="67"/>
                  </a:cubicBezTo>
                  <a:lnTo>
                    <a:pt x="99544" y="0"/>
                  </a:lnTo>
                  <a:close/>
                  <a:moveTo>
                    <a:pt x="134882" y="69466"/>
                  </a:moveTo>
                  <a:cubicBezTo>
                    <a:pt x="133095" y="67677"/>
                    <a:pt x="130671" y="66672"/>
                    <a:pt x="128143" y="66672"/>
                  </a:cubicBezTo>
                  <a:cubicBezTo>
                    <a:pt x="125615" y="66672"/>
                    <a:pt x="123190" y="67677"/>
                    <a:pt x="121404" y="69466"/>
                  </a:cubicBezTo>
                  <a:lnTo>
                    <a:pt x="90038" y="100822"/>
                  </a:lnTo>
                  <a:lnTo>
                    <a:pt x="77722" y="88516"/>
                  </a:lnTo>
                  <a:lnTo>
                    <a:pt x="76827" y="87725"/>
                  </a:lnTo>
                  <a:cubicBezTo>
                    <a:pt x="72854" y="84653"/>
                    <a:pt x="67178" y="85194"/>
                    <a:pt x="63856" y="88961"/>
                  </a:cubicBezTo>
                  <a:cubicBezTo>
                    <a:pt x="60534" y="92728"/>
                    <a:pt x="60708" y="98427"/>
                    <a:pt x="64254" y="101984"/>
                  </a:cubicBezTo>
                  <a:lnTo>
                    <a:pt x="83304" y="121034"/>
                  </a:lnTo>
                  <a:lnTo>
                    <a:pt x="84199" y="121825"/>
                  </a:lnTo>
                  <a:cubicBezTo>
                    <a:pt x="87991" y="124766"/>
                    <a:pt x="93379" y="124427"/>
                    <a:pt x="96772" y="121034"/>
                  </a:cubicBezTo>
                  <a:lnTo>
                    <a:pt x="134872" y="82934"/>
                  </a:lnTo>
                  <a:lnTo>
                    <a:pt x="135663" y="82039"/>
                  </a:lnTo>
                  <a:cubicBezTo>
                    <a:pt x="138604" y="78247"/>
                    <a:pt x="138265" y="72859"/>
                    <a:pt x="134872" y="69466"/>
                  </a:cubicBezTo>
                  <a:close/>
                </a:path>
              </a:pathLst>
            </a:custGeom>
            <a:solidFill>
              <a:schemeClr val="accent2"/>
            </a:solidFill>
            <a:ln>
              <a:noFill/>
            </a:ln>
          </p:spPr>
        </p:sp>
        <p:sp>
          <p:nvSpPr>
            <p:cNvPr id="28" name="TextBox 28"/>
            <p:cNvSpPr txBox="1"/>
            <p:nvPr/>
          </p:nvSpPr>
          <p:spPr>
            <a:xfrm>
              <a:off x="1383030" y="4772025"/>
              <a:ext cx="2330958" cy="293370"/>
            </a:xfrm>
            <a:prstGeom prst="rect">
              <a:avLst/>
            </a:prstGeom>
            <a:noFill/>
            <a:ln>
              <a:noFill/>
            </a:ln>
          </p:spPr>
          <p:txBody>
            <a:bodyPr wrap="none" lIns="0" tIns="0" rIns="0" bIns="0" anchor="t" anchorCtr="0">
              <a:spAutoFit/>
            </a:bodyPr>
            <a:lstStyle/>
            <a:p>
              <a:pPr algn="l"/>
              <a:r>
                <a:rPr lang="en-GB" sz="1500" dirty="0">
                  <a:solidFill>
                    <a:schemeClr val="dk1"/>
                  </a:solidFill>
                  <a:latin typeface="+mn-lt"/>
                  <a:ea typeface="+mn-ea"/>
                  <a:cs typeface="+mn-cs"/>
                </a:rPr>
                <a:t>Approve runs it; Reject</a:t>
              </a:r>
              <a:endParaRPr lang="en-GB" sz="1500" dirty="0">
                <a:solidFill>
                  <a:schemeClr val="dk1"/>
                </a:solidFill>
                <a:latin typeface="+mn-lt"/>
                <a:ea typeface="+mn-ea"/>
                <a:cs typeface="+mn-cs"/>
              </a:endParaRPr>
            </a:p>
          </p:txBody>
        </p:sp>
        <p:sp>
          <p:nvSpPr>
            <p:cNvPr id="29" name="TextBox 29"/>
            <p:cNvSpPr txBox="1"/>
            <p:nvPr/>
          </p:nvSpPr>
          <p:spPr>
            <a:xfrm>
              <a:off x="1383030" y="5000625"/>
              <a:ext cx="2034540" cy="293370"/>
            </a:xfrm>
            <a:prstGeom prst="rect">
              <a:avLst/>
            </a:prstGeom>
            <a:noFill/>
            <a:ln>
              <a:noFill/>
            </a:ln>
          </p:spPr>
          <p:txBody>
            <a:bodyPr wrap="none" lIns="0" tIns="0" rIns="0" bIns="0" anchor="t" anchorCtr="0">
              <a:spAutoFit/>
            </a:bodyPr>
            <a:lstStyle/>
            <a:p>
              <a:pPr algn="l"/>
              <a:r>
                <a:rPr lang="en-GB" sz="1500" dirty="0">
                  <a:solidFill>
                    <a:schemeClr val="dk1"/>
                  </a:solidFill>
                  <a:latin typeface="+mn-lt"/>
                  <a:ea typeface="+mn-ea"/>
                  <a:cs typeface="+mn-cs"/>
                </a:rPr>
                <a:t>locks and escalates.</a:t>
              </a:r>
              <a:endParaRPr lang="en-GB" sz="1500" dirty="0">
                <a:solidFill>
                  <a:schemeClr val="dk1"/>
                </a:solidFill>
                <a:latin typeface="+mn-lt"/>
                <a:ea typeface="+mn-ea"/>
                <a:cs typeface="+mn-cs"/>
              </a:endParaRPr>
            </a:p>
          </p:txBody>
        </p:sp>
      </p:grpSp>
      <p:grpSp>
        <p:nvGrpSpPr>
          <p:cNvPr id="35" name="Group 35"/>
          <p:cNvGrpSpPr/>
          <p:nvPr/>
        </p:nvGrpSpPr>
        <p:grpSpPr>
          <a:xfrm>
            <a:off x="609600" y="5705475"/>
            <a:ext cx="4000500" cy="542925"/>
            <a:chOff x="609600" y="5705475"/>
            <a:chExt cx="4000500" cy="542925"/>
          </a:xfrm>
        </p:grpSpPr>
        <p:sp>
          <p:nvSpPr>
            <p:cNvPr id="31" name="Rectangle 31"/>
            <p:cNvSpPr/>
            <p:nvPr/>
          </p:nvSpPr>
          <p:spPr>
            <a:xfrm>
              <a:off x="609600" y="5705475"/>
              <a:ext cx="4000500" cy="542925"/>
            </a:xfrm>
            <a:prstGeom prst="roundRect">
              <a:avLst>
                <a:gd name="adj" fmla="val 38596"/>
              </a:avLst>
            </a:prstGeom>
            <a:solidFill>
              <a:schemeClr val="lt2"/>
            </a:solidFill>
            <a:ln>
              <a:noFill/>
            </a:ln>
            <a:effectLst>
              <a:outerShdw blurRad="266700" dist="57150" dir="5400000" algn="ctr" rotWithShape="0">
                <a:srgbClr val="7C6FE0">
                  <a:alpha val="7500"/>
                </a:srgbClr>
              </a:outerShdw>
            </a:effectLst>
          </p:spPr>
        </p:sp>
        <p:sp>
          <p:nvSpPr>
            <p:cNvPr id="32" name="Ellipse 32"/>
            <p:cNvSpPr/>
            <p:nvPr/>
          </p:nvSpPr>
          <p:spPr>
            <a:xfrm>
              <a:off x="819150" y="5781675"/>
              <a:ext cx="381000" cy="381000"/>
            </a:xfrm>
            <a:prstGeom prst="ellipse">
              <a:avLst/>
            </a:prstGeom>
            <a:solidFill>
              <a:schemeClr val="accent1">
                <a:alpha val="15000"/>
              </a:schemeClr>
            </a:solidFill>
            <a:ln>
              <a:noFill/>
            </a:ln>
          </p:spPr>
        </p:sp>
        <p:sp>
          <p:nvSpPr>
            <p:cNvPr id="33" name="Freeform 33"/>
            <p:cNvSpPr/>
            <p:nvPr/>
          </p:nvSpPr>
          <p:spPr>
            <a:xfrm>
              <a:off x="914400" y="5876925"/>
              <a:ext cx="190500" cy="190500"/>
            </a:xfrm>
            <a:custGeom>
              <a:avLst/>
              <a:gdLst/>
              <a:ahLst/>
              <a:cxnLst/>
              <a:rect l="l" t="t" r="r" b="b"/>
              <a:pathLst>
                <a:path w="190500" h="190500">
                  <a:moveTo>
                    <a:pt x="40021" y="120372"/>
                  </a:moveTo>
                  <a:cubicBezTo>
                    <a:pt x="39999" y="131414"/>
                    <a:pt x="31060" y="140364"/>
                    <a:pt x="20018" y="140398"/>
                  </a:cubicBezTo>
                  <a:cubicBezTo>
                    <a:pt x="8970" y="140372"/>
                    <a:pt x="22" y="131420"/>
                    <a:pt x="0" y="120372"/>
                  </a:cubicBezTo>
                  <a:cubicBezTo>
                    <a:pt x="31" y="109332"/>
                    <a:pt x="8978" y="100391"/>
                    <a:pt x="20018" y="100370"/>
                  </a:cubicBezTo>
                  <a:lnTo>
                    <a:pt x="40021" y="100370"/>
                  </a:lnTo>
                  <a:lnTo>
                    <a:pt x="40021" y="120372"/>
                  </a:lnTo>
                  <a:close/>
                  <a:moveTo>
                    <a:pt x="50109" y="120372"/>
                  </a:moveTo>
                  <a:cubicBezTo>
                    <a:pt x="50140" y="109335"/>
                    <a:pt x="59082" y="100396"/>
                    <a:pt x="70120" y="100370"/>
                  </a:cubicBezTo>
                  <a:cubicBezTo>
                    <a:pt x="81157" y="100396"/>
                    <a:pt x="90100" y="109335"/>
                    <a:pt x="90130" y="120372"/>
                  </a:cubicBezTo>
                  <a:lnTo>
                    <a:pt x="90130" y="170482"/>
                  </a:lnTo>
                  <a:cubicBezTo>
                    <a:pt x="90104" y="181523"/>
                    <a:pt x="81162" y="190469"/>
                    <a:pt x="70120" y="190500"/>
                  </a:cubicBezTo>
                  <a:cubicBezTo>
                    <a:pt x="59078" y="190469"/>
                    <a:pt x="50136" y="181523"/>
                    <a:pt x="50109" y="170482"/>
                  </a:cubicBezTo>
                  <a:lnTo>
                    <a:pt x="50109" y="120372"/>
                  </a:lnTo>
                  <a:close/>
                  <a:moveTo>
                    <a:pt x="70120" y="40021"/>
                  </a:moveTo>
                  <a:cubicBezTo>
                    <a:pt x="59084" y="39990"/>
                    <a:pt x="50144" y="31054"/>
                    <a:pt x="50109" y="20018"/>
                  </a:cubicBezTo>
                  <a:cubicBezTo>
                    <a:pt x="50136" y="8976"/>
                    <a:pt x="59078" y="31"/>
                    <a:pt x="70120" y="0"/>
                  </a:cubicBezTo>
                  <a:cubicBezTo>
                    <a:pt x="81162" y="31"/>
                    <a:pt x="90104" y="8976"/>
                    <a:pt x="90130" y="20018"/>
                  </a:cubicBezTo>
                  <a:lnTo>
                    <a:pt x="90130" y="40021"/>
                  </a:lnTo>
                  <a:lnTo>
                    <a:pt x="70120" y="40021"/>
                  </a:lnTo>
                  <a:close/>
                  <a:moveTo>
                    <a:pt x="70120" y="50109"/>
                  </a:moveTo>
                  <a:cubicBezTo>
                    <a:pt x="81159" y="50140"/>
                    <a:pt x="90100" y="59081"/>
                    <a:pt x="90130" y="70120"/>
                  </a:cubicBezTo>
                  <a:cubicBezTo>
                    <a:pt x="90100" y="81159"/>
                    <a:pt x="81159" y="90100"/>
                    <a:pt x="70120" y="90130"/>
                  </a:cubicBezTo>
                  <a:lnTo>
                    <a:pt x="20018" y="90130"/>
                  </a:lnTo>
                  <a:cubicBezTo>
                    <a:pt x="8976" y="90104"/>
                    <a:pt x="31" y="81162"/>
                    <a:pt x="0" y="70120"/>
                  </a:cubicBezTo>
                  <a:cubicBezTo>
                    <a:pt x="31" y="59078"/>
                    <a:pt x="8976" y="50136"/>
                    <a:pt x="20018" y="50109"/>
                  </a:cubicBezTo>
                  <a:lnTo>
                    <a:pt x="70120" y="50109"/>
                  </a:lnTo>
                  <a:close/>
                  <a:moveTo>
                    <a:pt x="150463" y="70120"/>
                  </a:moveTo>
                  <a:cubicBezTo>
                    <a:pt x="150494" y="59078"/>
                    <a:pt x="159440" y="50136"/>
                    <a:pt x="170482" y="50109"/>
                  </a:cubicBezTo>
                  <a:cubicBezTo>
                    <a:pt x="181523" y="50136"/>
                    <a:pt x="190469" y="59078"/>
                    <a:pt x="190500" y="70120"/>
                  </a:cubicBezTo>
                  <a:cubicBezTo>
                    <a:pt x="190469" y="81162"/>
                    <a:pt x="181523" y="90104"/>
                    <a:pt x="170482" y="90130"/>
                  </a:cubicBezTo>
                  <a:lnTo>
                    <a:pt x="150463" y="90130"/>
                  </a:lnTo>
                  <a:lnTo>
                    <a:pt x="150463" y="70120"/>
                  </a:lnTo>
                  <a:close/>
                  <a:moveTo>
                    <a:pt x="140398" y="70120"/>
                  </a:moveTo>
                  <a:cubicBezTo>
                    <a:pt x="140368" y="81165"/>
                    <a:pt x="131417" y="90108"/>
                    <a:pt x="120372" y="90130"/>
                  </a:cubicBezTo>
                  <a:cubicBezTo>
                    <a:pt x="109335" y="90100"/>
                    <a:pt x="100396" y="81157"/>
                    <a:pt x="100370" y="70120"/>
                  </a:cubicBezTo>
                  <a:lnTo>
                    <a:pt x="100370" y="20018"/>
                  </a:lnTo>
                  <a:cubicBezTo>
                    <a:pt x="100391" y="8978"/>
                    <a:pt x="109332" y="31"/>
                    <a:pt x="120372" y="0"/>
                  </a:cubicBezTo>
                  <a:cubicBezTo>
                    <a:pt x="131420" y="22"/>
                    <a:pt x="140372" y="8970"/>
                    <a:pt x="140398" y="20018"/>
                  </a:cubicBezTo>
                  <a:lnTo>
                    <a:pt x="140398" y="70120"/>
                  </a:lnTo>
                  <a:close/>
                  <a:moveTo>
                    <a:pt x="120372" y="150463"/>
                  </a:moveTo>
                  <a:cubicBezTo>
                    <a:pt x="131420" y="150485"/>
                    <a:pt x="140372" y="159433"/>
                    <a:pt x="140398" y="170482"/>
                  </a:cubicBezTo>
                  <a:cubicBezTo>
                    <a:pt x="140372" y="181530"/>
                    <a:pt x="131420" y="190478"/>
                    <a:pt x="120372" y="190500"/>
                  </a:cubicBezTo>
                  <a:cubicBezTo>
                    <a:pt x="109332" y="190469"/>
                    <a:pt x="100391" y="181522"/>
                    <a:pt x="100370" y="170482"/>
                  </a:cubicBezTo>
                  <a:lnTo>
                    <a:pt x="100370" y="150463"/>
                  </a:lnTo>
                  <a:lnTo>
                    <a:pt x="120372" y="150463"/>
                  </a:lnTo>
                  <a:close/>
                  <a:moveTo>
                    <a:pt x="120372" y="140398"/>
                  </a:moveTo>
                  <a:cubicBezTo>
                    <a:pt x="109328" y="140368"/>
                    <a:pt x="100387" y="131416"/>
                    <a:pt x="100370" y="120372"/>
                  </a:cubicBezTo>
                  <a:cubicBezTo>
                    <a:pt x="100396" y="109336"/>
                    <a:pt x="109336" y="100396"/>
                    <a:pt x="120372" y="100370"/>
                  </a:cubicBezTo>
                  <a:lnTo>
                    <a:pt x="170482" y="100370"/>
                  </a:lnTo>
                  <a:cubicBezTo>
                    <a:pt x="181522" y="100391"/>
                    <a:pt x="190469" y="109332"/>
                    <a:pt x="190500" y="120372"/>
                  </a:cubicBezTo>
                  <a:cubicBezTo>
                    <a:pt x="190478" y="131420"/>
                    <a:pt x="181530" y="140372"/>
                    <a:pt x="170482" y="140398"/>
                  </a:cubicBezTo>
                  <a:lnTo>
                    <a:pt x="120372" y="140398"/>
                  </a:lnTo>
                  <a:close/>
                </a:path>
              </a:pathLst>
            </a:custGeom>
            <a:solidFill>
              <a:schemeClr val="accent1"/>
            </a:solidFill>
            <a:ln>
              <a:noFill/>
            </a:ln>
          </p:spPr>
        </p:sp>
        <p:sp>
          <p:nvSpPr>
            <p:cNvPr id="34" name="TextBox 34"/>
            <p:cNvSpPr txBox="1"/>
            <p:nvPr/>
          </p:nvSpPr>
          <p:spPr>
            <a:xfrm>
              <a:off x="1383792" y="5883592"/>
              <a:ext cx="3142673" cy="264033"/>
            </a:xfrm>
            <a:prstGeom prst="rect">
              <a:avLst/>
            </a:prstGeom>
            <a:noFill/>
            <a:ln>
              <a:noFill/>
            </a:ln>
          </p:spPr>
          <p:txBody>
            <a:bodyPr wrap="none" lIns="0" tIns="0" rIns="0" bIns="0" anchor="t" anchorCtr="0">
              <a:spAutoFit/>
            </a:bodyPr>
            <a:lstStyle/>
            <a:p>
              <a:pPr algn="l"/>
              <a:r>
                <a:rPr lang="en-GB" sz="1350" dirty="0">
                  <a:solidFill>
                    <a:schemeClr val="dk1"/>
                  </a:solidFill>
                  <a:latin typeface="+mn-lt"/>
                  <a:ea typeface="+mn-ea"/>
                  <a:cs typeface="+mn-cs"/>
                </a:rPr>
                <a:t>Mirrored into Slack for operators.</a:t>
              </a:r>
              <a:endParaRPr lang="en-GB" sz="1350" dirty="0">
                <a:solidFill>
                  <a:schemeClr val="dk1"/>
                </a:solidFill>
                <a:latin typeface="+mn-lt"/>
                <a:ea typeface="+mn-ea"/>
                <a:cs typeface="+mn-cs"/>
              </a:endParaRPr>
            </a:p>
          </p:txBody>
        </p:sp>
      </p:grpSp>
      <p:grpSp>
        <p:nvGrpSpPr>
          <p:cNvPr id="38" name="Group 38"/>
          <p:cNvGrpSpPr/>
          <p:nvPr/>
        </p:nvGrpSpPr>
        <p:grpSpPr>
          <a:xfrm>
            <a:off x="4838700" y="2190750"/>
            <a:ext cx="6743700" cy="3924300"/>
            <a:chOff x="4838700" y="2190750"/>
            <a:chExt cx="6743700" cy="3924300"/>
          </a:xfrm>
        </p:grpSpPr>
        <p:sp>
          <p:nvSpPr>
            <p:cNvPr id="36" name="Rectangle 36"/>
            <p:cNvSpPr/>
            <p:nvPr/>
          </p:nvSpPr>
          <p:spPr>
            <a:xfrm>
              <a:off x="4838700" y="2190750"/>
              <a:ext cx="6743700" cy="3924300"/>
            </a:xfrm>
            <a:prstGeom prst="roundRect">
              <a:avLst>
                <a:gd name="adj" fmla="val 6311"/>
              </a:avLst>
            </a:prstGeom>
            <a:solidFill>
              <a:schemeClr val="lt2"/>
            </a:solidFill>
            <a:ln>
              <a:noFill/>
            </a:ln>
            <a:effectLst>
              <a:outerShdw blurRad="266700" dist="57150" dir="5400000" algn="ctr" rotWithShape="0">
                <a:srgbClr val="7C6FE0">
                  <a:alpha val="7500"/>
                </a:srgbClr>
              </a:outerShdw>
            </a:effectLst>
          </p:spPr>
        </p:sp>
        <p:pic>
          <p:nvPicPr>
            <p:cNvPr id="37" name="Image 37"/>
            <p:cNvPicPr>
              <a:picLocks noChangeAspect="1"/>
            </p:cNvPicPr>
            <p:nvPr/>
          </p:nvPicPr>
          <p:blipFill>
            <a:blip r:embed="rId1"/>
            <a:stretch>
              <a:fillRect/>
            </a:stretch>
          </p:blipFill>
          <p:spPr>
            <a:xfrm>
              <a:off x="4991100" y="2343150"/>
              <a:ext cx="6438900" cy="3619500"/>
            </a:xfrm>
            <a:prstGeom prst="rect">
              <a:avLst/>
            </a:prstGeom>
          </p:spPr>
        </p:pic>
      </p:grpSp>
      <p:sp>
        <p:nvSpPr>
          <p:cNvPr id="43" name="Footer Placeholder 42"/>
          <p:cNvSpPr>
            <a:spLocks noGrp="1"/>
          </p:cNvSpPr>
          <p:nvPr>
            <p:ph type="ftr" sz="quarter" idx="11"/>
          </p:nvPr>
        </p:nvSpPr>
        <p:spPr/>
        <p:txBody>
          <a:bodyPr/>
          <a:p>
            <a:r>
              <a:rPr lang="en-US"/>
              <a:t>TCS | Confidential</a:t>
            </a:r>
            <a:endParaRPr lang="en-US"/>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609600" y="628650"/>
            <a:ext cx="2729995" cy="346901"/>
            <a:chOff x="609600" y="628650"/>
            <a:chExt cx="2729995" cy="346901"/>
          </a:xfrm>
        </p:grpSpPr>
        <p:sp>
          <p:nvSpPr>
            <p:cNvPr id="2" name="Rectangle 2"/>
            <p:cNvSpPr/>
            <p:nvPr/>
          </p:nvSpPr>
          <p:spPr>
            <a:xfrm>
              <a:off x="609600" y="628650"/>
              <a:ext cx="2552700" cy="342900"/>
            </a:xfrm>
            <a:prstGeom prst="roundRect">
              <a:avLst>
                <a:gd name="adj" fmla="val 50000"/>
              </a:avLst>
            </a:prstGeom>
            <a:solidFill>
              <a:schemeClr val="accent1">
                <a:alpha val="14000"/>
              </a:schemeClr>
            </a:solidFill>
            <a:ln>
              <a:noFill/>
            </a:ln>
          </p:spPr>
        </p:sp>
        <p:sp>
          <p:nvSpPr>
            <p:cNvPr id="3" name="TextBox 3"/>
            <p:cNvSpPr txBox="1"/>
            <p:nvPr/>
          </p:nvSpPr>
          <p:spPr>
            <a:xfrm>
              <a:off x="793242" y="711518"/>
              <a:ext cx="2546353" cy="264033"/>
            </a:xfrm>
            <a:prstGeom prst="rect">
              <a:avLst/>
            </a:prstGeom>
            <a:noFill/>
            <a:ln>
              <a:noFill/>
            </a:ln>
          </p:spPr>
          <p:txBody>
            <a:bodyPr wrap="none" lIns="0" tIns="0" rIns="0" bIns="0" anchor="t" anchorCtr="0">
              <a:spAutoFit/>
            </a:bodyPr>
            <a:lstStyle/>
            <a:p>
              <a:pPr algn="l"/>
              <a:r>
                <a:rPr lang="en-GB" sz="1350" b="1" spc="75" dirty="0">
                  <a:solidFill>
                    <a:schemeClr val="accent1"/>
                  </a:solidFill>
                  <a:latin typeface="+mn-lt"/>
                  <a:ea typeface="+mn-ea"/>
                  <a:cs typeface="+mn-cs"/>
                </a:rPr>
                <a:t>THE PLATFORM IN ACTION</a:t>
              </a:r>
              <a:endParaRPr lang="en-GB" sz="1350" b="1" spc="75" dirty="0">
                <a:solidFill>
                  <a:schemeClr val="accent1"/>
                </a:solidFill>
                <a:latin typeface="+mn-lt"/>
                <a:ea typeface="+mn-ea"/>
                <a:cs typeface="+mn-cs"/>
              </a:endParaRPr>
            </a:p>
          </p:txBody>
        </p:sp>
      </p:grpSp>
      <p:grpSp>
        <p:nvGrpSpPr>
          <p:cNvPr id="6" name="Group 6"/>
          <p:cNvGrpSpPr/>
          <p:nvPr/>
        </p:nvGrpSpPr>
        <p:grpSpPr>
          <a:xfrm>
            <a:off x="590550" y="1165860"/>
            <a:ext cx="9616542" cy="819150"/>
            <a:chOff x="590550" y="1165860"/>
            <a:chExt cx="9616542" cy="819150"/>
          </a:xfrm>
        </p:grpSpPr>
        <p:sp>
          <p:nvSpPr>
            <p:cNvPr id="5" name="TextBox 5"/>
            <p:cNvSpPr txBox="1"/>
            <p:nvPr/>
          </p:nvSpPr>
          <p:spPr>
            <a:xfrm>
              <a:off x="590550" y="1165860"/>
              <a:ext cx="9616542" cy="819150"/>
            </a:xfrm>
            <a:prstGeom prst="rect">
              <a:avLst/>
            </a:prstGeom>
            <a:noFill/>
            <a:ln>
              <a:noFill/>
            </a:ln>
          </p:spPr>
          <p:txBody>
            <a:bodyPr wrap="none" lIns="0" tIns="0" rIns="0" bIns="0" anchor="t" anchorCtr="0">
              <a:spAutoFit/>
            </a:bodyPr>
            <a:lstStyle/>
            <a:p>
              <a:pPr algn="l"/>
              <a:r>
                <a:rPr lang="en-GB" sz="4200" b="1" dirty="0">
                  <a:solidFill>
                    <a:schemeClr val="dk1"/>
                  </a:solidFill>
                  <a:latin typeface="+mn-lt"/>
                  <a:ea typeface="+mn-ea"/>
                  <a:cs typeface="+mn-cs"/>
                </a:rPr>
                <a:t>Nothing Executes Off the Record</a:t>
              </a:r>
              <a:endParaRPr lang="en-GB" sz="4200" b="1" dirty="0">
                <a:solidFill>
                  <a:schemeClr val="dk1"/>
                </a:solidFill>
                <a:latin typeface="+mn-lt"/>
                <a:ea typeface="+mn-ea"/>
                <a:cs typeface="+mn-cs"/>
              </a:endParaRPr>
            </a:p>
          </p:txBody>
        </p:sp>
      </p:grpSp>
      <p:grpSp>
        <p:nvGrpSpPr>
          <p:cNvPr id="8" name="Group 8"/>
          <p:cNvGrpSpPr/>
          <p:nvPr/>
        </p:nvGrpSpPr>
        <p:grpSpPr>
          <a:xfrm>
            <a:off x="600456" y="1844040"/>
            <a:ext cx="9004565" cy="352044"/>
            <a:chOff x="600456" y="1844040"/>
            <a:chExt cx="9004565" cy="352044"/>
          </a:xfrm>
        </p:grpSpPr>
        <p:sp>
          <p:nvSpPr>
            <p:cNvPr id="7" name="TextBox 7"/>
            <p:cNvSpPr txBox="1"/>
            <p:nvPr/>
          </p:nvSpPr>
          <p:spPr>
            <a:xfrm>
              <a:off x="600456" y="1844040"/>
              <a:ext cx="9004565" cy="352044"/>
            </a:xfrm>
            <a:prstGeom prst="rect">
              <a:avLst/>
            </a:prstGeom>
            <a:noFill/>
            <a:ln>
              <a:noFill/>
            </a:ln>
          </p:spPr>
          <p:txBody>
            <a:bodyPr wrap="none" lIns="0" tIns="0" rIns="0" bIns="0" anchor="t" anchorCtr="0">
              <a:spAutoFit/>
            </a:bodyPr>
            <a:lstStyle/>
            <a:p>
              <a:pPr algn="l"/>
              <a:r>
                <a:rPr lang="en-GB" sz="1800" dirty="0">
                  <a:solidFill>
                    <a:schemeClr val="accent5"/>
                  </a:solidFill>
                  <a:latin typeface="+mn-lt"/>
                  <a:ea typeface="+mn-ea"/>
                  <a:cs typeface="+mn-cs"/>
                </a:rPr>
                <a:t>Every action, approved or automatic, is written to a governance database.</a:t>
              </a:r>
              <a:endParaRPr lang="en-GB" sz="1800" dirty="0">
                <a:solidFill>
                  <a:schemeClr val="accent5"/>
                </a:solidFill>
                <a:latin typeface="+mn-lt"/>
                <a:ea typeface="+mn-ea"/>
                <a:cs typeface="+mn-cs"/>
              </a:endParaRPr>
            </a:p>
          </p:txBody>
        </p:sp>
      </p:grpSp>
      <p:grpSp>
        <p:nvGrpSpPr>
          <p:cNvPr id="16" name="Group 16"/>
          <p:cNvGrpSpPr/>
          <p:nvPr/>
        </p:nvGrpSpPr>
        <p:grpSpPr>
          <a:xfrm>
            <a:off x="609600" y="2419350"/>
            <a:ext cx="4000500" cy="904875"/>
            <a:chOff x="609600" y="2419350"/>
            <a:chExt cx="4000500" cy="904875"/>
          </a:xfrm>
        </p:grpSpPr>
        <p:sp>
          <p:nvSpPr>
            <p:cNvPr id="9" name="Rectangle 9"/>
            <p:cNvSpPr/>
            <p:nvPr/>
          </p:nvSpPr>
          <p:spPr>
            <a:xfrm>
              <a:off x="609600" y="2419350"/>
              <a:ext cx="4000500" cy="904875"/>
            </a:xfrm>
            <a:prstGeom prst="roundRect">
              <a:avLst>
                <a:gd name="adj" fmla="val 23158"/>
              </a:avLst>
            </a:prstGeom>
            <a:solidFill>
              <a:schemeClr val="lt2"/>
            </a:solidFill>
            <a:ln>
              <a:noFill/>
            </a:ln>
            <a:effectLst>
              <a:outerShdw blurRad="266700" dist="57150" dir="5400000" algn="ctr" rotWithShape="0">
                <a:srgbClr val="7C6FE0">
                  <a:alpha val="7500"/>
                </a:srgbClr>
              </a:outerShdw>
            </a:effectLst>
          </p:spPr>
        </p:sp>
        <p:sp>
          <p:nvSpPr>
            <p:cNvPr id="10" name="Ellipse 10"/>
            <p:cNvSpPr/>
            <p:nvPr/>
          </p:nvSpPr>
          <p:spPr>
            <a:xfrm>
              <a:off x="781050" y="2638425"/>
              <a:ext cx="457200" cy="457200"/>
            </a:xfrm>
            <a:prstGeom prst="ellipse">
              <a:avLst/>
            </a:prstGeom>
            <a:solidFill>
              <a:schemeClr val="accent1">
                <a:alpha val="15000"/>
              </a:schemeClr>
            </a:solidFill>
            <a:ln>
              <a:noFill/>
            </a:ln>
          </p:spPr>
        </p:sp>
        <p:grpSp>
          <p:nvGrpSpPr>
            <p:cNvPr id="13" name="Group 13"/>
            <p:cNvGrpSpPr/>
            <p:nvPr/>
          </p:nvGrpSpPr>
          <p:grpSpPr>
            <a:xfrm>
              <a:off x="923925" y="2771775"/>
              <a:ext cx="171450" cy="200022"/>
              <a:chOff x="923925" y="2771775"/>
              <a:chExt cx="171450" cy="200022"/>
            </a:xfrm>
          </p:grpSpPr>
          <p:sp>
            <p:nvSpPr>
              <p:cNvPr id="11" name="Freeform 11"/>
              <p:cNvSpPr/>
              <p:nvPr/>
            </p:nvSpPr>
            <p:spPr>
              <a:xfrm>
                <a:off x="923925" y="2914647"/>
                <a:ext cx="171450" cy="57150"/>
              </a:xfrm>
              <a:custGeom>
                <a:avLst/>
                <a:gdLst/>
                <a:ahLst/>
                <a:cxnLst/>
                <a:rect l="l" t="t" r="r" b="b"/>
                <a:pathLst>
                  <a:path w="171450" h="57150">
                    <a:moveTo>
                      <a:pt x="85725" y="3"/>
                    </a:moveTo>
                    <a:cubicBezTo>
                      <a:pt x="98165" y="3"/>
                      <a:pt x="108756" y="7957"/>
                      <a:pt x="112681" y="19053"/>
                    </a:cubicBezTo>
                    <a:lnTo>
                      <a:pt x="161925" y="19053"/>
                    </a:lnTo>
                    <a:cubicBezTo>
                      <a:pt x="167186" y="19053"/>
                      <a:pt x="171450" y="23318"/>
                      <a:pt x="171450" y="28578"/>
                    </a:cubicBezTo>
                    <a:cubicBezTo>
                      <a:pt x="171450" y="33839"/>
                      <a:pt x="167186" y="38103"/>
                      <a:pt x="161925" y="38103"/>
                    </a:cubicBezTo>
                    <a:lnTo>
                      <a:pt x="112671" y="38103"/>
                    </a:lnTo>
                    <a:cubicBezTo>
                      <a:pt x="108630" y="49519"/>
                      <a:pt x="97835" y="57150"/>
                      <a:pt x="85725" y="57150"/>
                    </a:cubicBezTo>
                    <a:cubicBezTo>
                      <a:pt x="73615" y="57150"/>
                      <a:pt x="62820" y="49519"/>
                      <a:pt x="58779" y="38103"/>
                    </a:cubicBezTo>
                    <a:lnTo>
                      <a:pt x="9525" y="38103"/>
                    </a:lnTo>
                    <a:cubicBezTo>
                      <a:pt x="4264" y="38103"/>
                      <a:pt x="0" y="33839"/>
                      <a:pt x="0" y="28578"/>
                    </a:cubicBezTo>
                    <a:cubicBezTo>
                      <a:pt x="0" y="23318"/>
                      <a:pt x="4264" y="19053"/>
                      <a:pt x="9525" y="19053"/>
                    </a:cubicBezTo>
                    <a:lnTo>
                      <a:pt x="58769" y="19053"/>
                    </a:lnTo>
                    <a:cubicBezTo>
                      <a:pt x="62810" y="7633"/>
                      <a:pt x="73611" y="0"/>
                      <a:pt x="85725" y="3"/>
                    </a:cubicBezTo>
                    <a:close/>
                  </a:path>
                </a:pathLst>
              </a:custGeom>
              <a:solidFill>
                <a:schemeClr val="accent1"/>
              </a:solidFill>
              <a:ln>
                <a:noFill/>
              </a:ln>
            </p:spPr>
          </p:sp>
          <p:sp>
            <p:nvSpPr>
              <p:cNvPr id="12" name="Freeform 12"/>
              <p:cNvSpPr/>
              <p:nvPr/>
            </p:nvSpPr>
            <p:spPr>
              <a:xfrm>
                <a:off x="942975" y="2771775"/>
                <a:ext cx="133350" cy="134291"/>
              </a:xfrm>
              <a:custGeom>
                <a:avLst/>
                <a:gdLst/>
                <a:ahLst/>
                <a:cxnLst/>
                <a:rect l="l" t="t" r="r" b="b"/>
                <a:pathLst>
                  <a:path w="133350" h="134291">
                    <a:moveTo>
                      <a:pt x="114300" y="0"/>
                    </a:moveTo>
                    <a:cubicBezTo>
                      <a:pt x="124821" y="0"/>
                      <a:pt x="133350" y="8529"/>
                      <a:pt x="133350" y="19050"/>
                    </a:cubicBezTo>
                    <a:lnTo>
                      <a:pt x="133350" y="95250"/>
                    </a:lnTo>
                    <a:cubicBezTo>
                      <a:pt x="133350" y="105771"/>
                      <a:pt x="124821" y="114300"/>
                      <a:pt x="114300" y="114300"/>
                    </a:cubicBezTo>
                    <a:lnTo>
                      <a:pt x="89668" y="114300"/>
                    </a:lnTo>
                    <a:lnTo>
                      <a:pt x="73409" y="130559"/>
                    </a:lnTo>
                    <a:cubicBezTo>
                      <a:pt x="70016" y="133952"/>
                      <a:pt x="64628" y="134291"/>
                      <a:pt x="60836" y="131350"/>
                    </a:cubicBezTo>
                    <a:lnTo>
                      <a:pt x="59941" y="130559"/>
                    </a:lnTo>
                    <a:lnTo>
                      <a:pt x="43672" y="114300"/>
                    </a:lnTo>
                    <a:lnTo>
                      <a:pt x="19050" y="114300"/>
                    </a:lnTo>
                    <a:cubicBezTo>
                      <a:pt x="9081" y="114303"/>
                      <a:pt x="795" y="106620"/>
                      <a:pt x="48" y="96679"/>
                    </a:cubicBezTo>
                    <a:lnTo>
                      <a:pt x="0" y="95250"/>
                    </a:lnTo>
                    <a:lnTo>
                      <a:pt x="0" y="19050"/>
                    </a:lnTo>
                    <a:cubicBezTo>
                      <a:pt x="0" y="8529"/>
                      <a:pt x="8529" y="0"/>
                      <a:pt x="19050" y="0"/>
                    </a:cubicBezTo>
                    <a:lnTo>
                      <a:pt x="114300" y="0"/>
                    </a:lnTo>
                    <a:close/>
                  </a:path>
                </a:pathLst>
              </a:custGeom>
              <a:solidFill>
                <a:schemeClr val="accent1"/>
              </a:solidFill>
              <a:ln>
                <a:noFill/>
              </a:ln>
            </p:spPr>
          </p:sp>
        </p:grpSp>
        <p:sp>
          <p:nvSpPr>
            <p:cNvPr id="14" name="TextBox 14"/>
            <p:cNvSpPr txBox="1"/>
            <p:nvPr/>
          </p:nvSpPr>
          <p:spPr>
            <a:xfrm>
              <a:off x="1383030" y="2581275"/>
              <a:ext cx="2145316" cy="293370"/>
            </a:xfrm>
            <a:prstGeom prst="rect">
              <a:avLst/>
            </a:prstGeom>
            <a:noFill/>
            <a:ln>
              <a:noFill/>
            </a:ln>
          </p:spPr>
          <p:txBody>
            <a:bodyPr wrap="none" lIns="0" tIns="0" rIns="0" bIns="0" anchor="t" anchorCtr="0">
              <a:spAutoFit/>
            </a:bodyPr>
            <a:lstStyle/>
            <a:p>
              <a:pPr algn="l"/>
              <a:r>
                <a:rPr lang="en-GB" sz="1500" dirty="0">
                  <a:solidFill>
                    <a:schemeClr val="dk1"/>
                  </a:solidFill>
                  <a:latin typeface="+mn-lt"/>
                  <a:ea typeface="+mn-ea"/>
                  <a:cs typeface="+mn-cs"/>
                </a:rPr>
                <a:t>Complete ReAct trace</a:t>
              </a:r>
              <a:endParaRPr lang="en-GB" sz="1500" dirty="0">
                <a:solidFill>
                  <a:schemeClr val="dk1"/>
                </a:solidFill>
                <a:latin typeface="+mn-lt"/>
                <a:ea typeface="+mn-ea"/>
                <a:cs typeface="+mn-cs"/>
              </a:endParaRPr>
            </a:p>
          </p:txBody>
        </p:sp>
        <p:sp>
          <p:nvSpPr>
            <p:cNvPr id="15" name="TextBox 15"/>
            <p:cNvSpPr txBox="1"/>
            <p:nvPr/>
          </p:nvSpPr>
          <p:spPr>
            <a:xfrm>
              <a:off x="1383030" y="2809875"/>
              <a:ext cx="3023997" cy="293370"/>
            </a:xfrm>
            <a:prstGeom prst="rect">
              <a:avLst/>
            </a:prstGeom>
            <a:noFill/>
            <a:ln>
              <a:noFill/>
            </a:ln>
          </p:spPr>
          <p:txBody>
            <a:bodyPr wrap="none" lIns="0" tIns="0" rIns="0" bIns="0" anchor="t" anchorCtr="0">
              <a:spAutoFit/>
            </a:bodyPr>
            <a:lstStyle/>
            <a:p>
              <a:pPr algn="l"/>
              <a:r>
                <a:rPr lang="en-GB" sz="1500" dirty="0">
                  <a:solidFill>
                    <a:schemeClr val="dk1"/>
                  </a:solidFill>
                  <a:latin typeface="+mn-lt"/>
                  <a:ea typeface="+mn-ea"/>
                  <a:cs typeface="+mn-cs"/>
                </a:rPr>
                <a:t>stored apart from the ticket.</a:t>
              </a:r>
              <a:endParaRPr lang="en-GB" sz="1500" dirty="0">
                <a:solidFill>
                  <a:schemeClr val="dk1"/>
                </a:solidFill>
                <a:latin typeface="+mn-lt"/>
                <a:ea typeface="+mn-ea"/>
                <a:cs typeface="+mn-cs"/>
              </a:endParaRPr>
            </a:p>
          </p:txBody>
        </p:sp>
      </p:grpSp>
      <p:grpSp>
        <p:nvGrpSpPr>
          <p:cNvPr id="24" name="Group 24"/>
          <p:cNvGrpSpPr/>
          <p:nvPr/>
        </p:nvGrpSpPr>
        <p:grpSpPr>
          <a:xfrm>
            <a:off x="609600" y="3514725"/>
            <a:ext cx="4000500" cy="904875"/>
            <a:chOff x="609600" y="3514725"/>
            <a:chExt cx="4000500" cy="904875"/>
          </a:xfrm>
        </p:grpSpPr>
        <p:sp>
          <p:nvSpPr>
            <p:cNvPr id="17" name="Rectangle 17"/>
            <p:cNvSpPr/>
            <p:nvPr/>
          </p:nvSpPr>
          <p:spPr>
            <a:xfrm>
              <a:off x="609600" y="3514725"/>
              <a:ext cx="4000500" cy="904875"/>
            </a:xfrm>
            <a:prstGeom prst="roundRect">
              <a:avLst>
                <a:gd name="adj" fmla="val 23158"/>
              </a:avLst>
            </a:prstGeom>
            <a:solidFill>
              <a:schemeClr val="lt2"/>
            </a:solidFill>
            <a:ln>
              <a:noFill/>
            </a:ln>
            <a:effectLst>
              <a:outerShdw blurRad="266700" dist="57150" dir="5400000" algn="ctr" rotWithShape="0">
                <a:srgbClr val="7C6FE0">
                  <a:alpha val="7500"/>
                </a:srgbClr>
              </a:outerShdw>
            </a:effectLst>
          </p:spPr>
        </p:sp>
        <p:sp>
          <p:nvSpPr>
            <p:cNvPr id="18" name="Ellipse 18"/>
            <p:cNvSpPr/>
            <p:nvPr/>
          </p:nvSpPr>
          <p:spPr>
            <a:xfrm>
              <a:off x="781050" y="3733800"/>
              <a:ext cx="457200" cy="457200"/>
            </a:xfrm>
            <a:prstGeom prst="ellipse">
              <a:avLst/>
            </a:prstGeom>
            <a:solidFill>
              <a:schemeClr val="accent1">
                <a:alpha val="15000"/>
              </a:schemeClr>
            </a:solidFill>
            <a:ln>
              <a:noFill/>
            </a:ln>
          </p:spPr>
        </p:sp>
        <p:grpSp>
          <p:nvGrpSpPr>
            <p:cNvPr id="21" name="Group 21"/>
            <p:cNvGrpSpPr/>
            <p:nvPr/>
          </p:nvGrpSpPr>
          <p:grpSpPr>
            <a:xfrm>
              <a:off x="914400" y="3867150"/>
              <a:ext cx="192350" cy="190500"/>
              <a:chOff x="914400" y="3867150"/>
              <a:chExt cx="192350" cy="190500"/>
            </a:xfrm>
          </p:grpSpPr>
          <p:sp>
            <p:nvSpPr>
              <p:cNvPr id="19" name="Freeform 19"/>
              <p:cNvSpPr/>
              <p:nvPr/>
            </p:nvSpPr>
            <p:spPr>
              <a:xfrm>
                <a:off x="914400" y="3867150"/>
                <a:ext cx="190500" cy="190500"/>
              </a:xfrm>
              <a:custGeom>
                <a:avLst/>
                <a:gdLst/>
                <a:ahLst/>
                <a:cxnLst/>
                <a:rect l="l" t="t" r="r" b="b"/>
                <a:pathLst>
                  <a:path w="190500" h="190500">
                    <a:moveTo>
                      <a:pt x="9525" y="0"/>
                    </a:moveTo>
                    <a:cubicBezTo>
                      <a:pt x="14786" y="0"/>
                      <a:pt x="19050" y="4264"/>
                      <a:pt x="19050" y="9525"/>
                    </a:cubicBezTo>
                    <a:lnTo>
                      <a:pt x="19050" y="171450"/>
                    </a:lnTo>
                    <a:lnTo>
                      <a:pt x="180975" y="171450"/>
                    </a:lnTo>
                    <a:cubicBezTo>
                      <a:pt x="185804" y="171451"/>
                      <a:pt x="189868" y="175065"/>
                      <a:pt x="190433" y="179861"/>
                    </a:cubicBezTo>
                    <a:lnTo>
                      <a:pt x="190500" y="180975"/>
                    </a:lnTo>
                    <a:cubicBezTo>
                      <a:pt x="190500" y="186236"/>
                      <a:pt x="186236" y="190500"/>
                      <a:pt x="180975" y="190500"/>
                    </a:cubicBezTo>
                    <a:lnTo>
                      <a:pt x="9525" y="190500"/>
                    </a:lnTo>
                    <a:cubicBezTo>
                      <a:pt x="4264" y="190500"/>
                      <a:pt x="0" y="186236"/>
                      <a:pt x="0" y="180975"/>
                    </a:cubicBezTo>
                    <a:lnTo>
                      <a:pt x="0" y="9525"/>
                    </a:lnTo>
                    <a:cubicBezTo>
                      <a:pt x="0" y="4264"/>
                      <a:pt x="4264" y="0"/>
                      <a:pt x="9525" y="0"/>
                    </a:cubicBezTo>
                    <a:close/>
                  </a:path>
                </a:pathLst>
              </a:custGeom>
              <a:solidFill>
                <a:schemeClr val="accent1"/>
              </a:solidFill>
              <a:ln>
                <a:noFill/>
              </a:ln>
            </p:spPr>
          </p:sp>
          <p:sp>
            <p:nvSpPr>
              <p:cNvPr id="20" name="Freeform 20"/>
              <p:cNvSpPr/>
              <p:nvPr/>
            </p:nvSpPr>
            <p:spPr>
              <a:xfrm>
                <a:off x="949376" y="3886200"/>
                <a:ext cx="157374" cy="136230"/>
              </a:xfrm>
              <a:custGeom>
                <a:avLst/>
                <a:gdLst/>
                <a:ahLst/>
                <a:cxnLst/>
                <a:rect l="l" t="t" r="r" b="b"/>
                <a:pathLst>
                  <a:path w="157374" h="136230">
                    <a:moveTo>
                      <a:pt x="126949" y="0"/>
                    </a:moveTo>
                    <a:cubicBezTo>
                      <a:pt x="137890" y="25"/>
                      <a:pt x="147857" y="6295"/>
                      <a:pt x="152616" y="16147"/>
                    </a:cubicBezTo>
                    <a:cubicBezTo>
                      <a:pt x="157374" y="25999"/>
                      <a:pt x="156089" y="37704"/>
                      <a:pt x="149307" y="46289"/>
                    </a:cubicBezTo>
                    <a:cubicBezTo>
                      <a:pt x="142524" y="54874"/>
                      <a:pt x="131434" y="58833"/>
                      <a:pt x="120748" y="56483"/>
                    </a:cubicBezTo>
                    <a:lnTo>
                      <a:pt x="101679" y="86982"/>
                    </a:lnTo>
                    <a:cubicBezTo>
                      <a:pt x="110677" y="98287"/>
                      <a:pt x="109821" y="114529"/>
                      <a:pt x="99685" y="124825"/>
                    </a:cubicBezTo>
                    <a:cubicBezTo>
                      <a:pt x="89549" y="135121"/>
                      <a:pt x="73322" y="136230"/>
                      <a:pt x="61878" y="127411"/>
                    </a:cubicBezTo>
                    <a:cubicBezTo>
                      <a:pt x="50434" y="118591"/>
                      <a:pt x="47375" y="102616"/>
                      <a:pt x="54750" y="90192"/>
                    </a:cubicBezTo>
                    <a:lnTo>
                      <a:pt x="41624" y="74428"/>
                    </a:lnTo>
                    <a:cubicBezTo>
                      <a:pt x="28575" y="79260"/>
                      <a:pt x="13943" y="73990"/>
                      <a:pt x="6971" y="61947"/>
                    </a:cubicBezTo>
                    <a:cubicBezTo>
                      <a:pt x="0" y="49905"/>
                      <a:pt x="2717" y="34591"/>
                      <a:pt x="13405" y="25682"/>
                    </a:cubicBezTo>
                    <a:cubicBezTo>
                      <a:pt x="24094" y="16772"/>
                      <a:pt x="39646" y="16858"/>
                      <a:pt x="50237" y="25883"/>
                    </a:cubicBezTo>
                    <a:cubicBezTo>
                      <a:pt x="60827" y="34909"/>
                      <a:pt x="63376" y="50252"/>
                      <a:pt x="56274" y="62217"/>
                    </a:cubicBezTo>
                    <a:lnTo>
                      <a:pt x="69399" y="77972"/>
                    </a:lnTo>
                    <a:cubicBezTo>
                      <a:pt x="74556" y="76059"/>
                      <a:pt x="80156" y="75679"/>
                      <a:pt x="85525" y="76876"/>
                    </a:cubicBezTo>
                    <a:lnTo>
                      <a:pt x="104594" y="46368"/>
                    </a:lnTo>
                    <a:cubicBezTo>
                      <a:pt x="97763" y="37784"/>
                      <a:pt x="96450" y="26047"/>
                      <a:pt x="101214" y="16165"/>
                    </a:cubicBezTo>
                    <a:cubicBezTo>
                      <a:pt x="105978" y="6284"/>
                      <a:pt x="115979" y="2"/>
                      <a:pt x="126949" y="0"/>
                    </a:cubicBezTo>
                    <a:close/>
                  </a:path>
                </a:pathLst>
              </a:custGeom>
              <a:solidFill>
                <a:schemeClr val="accent1"/>
              </a:solidFill>
              <a:ln>
                <a:noFill/>
              </a:ln>
            </p:spPr>
          </p:sp>
        </p:grpSp>
        <p:sp>
          <p:nvSpPr>
            <p:cNvPr id="22" name="TextBox 22"/>
            <p:cNvSpPr txBox="1"/>
            <p:nvPr/>
          </p:nvSpPr>
          <p:spPr>
            <a:xfrm>
              <a:off x="1383030" y="3676650"/>
              <a:ext cx="2606040" cy="293370"/>
            </a:xfrm>
            <a:prstGeom prst="rect">
              <a:avLst/>
            </a:prstGeom>
            <a:noFill/>
            <a:ln>
              <a:noFill/>
            </a:ln>
          </p:spPr>
          <p:txBody>
            <a:bodyPr wrap="none" lIns="0" tIns="0" rIns="0" bIns="0" anchor="t" anchorCtr="0">
              <a:spAutoFit/>
            </a:bodyPr>
            <a:lstStyle/>
            <a:p>
              <a:pPr algn="l"/>
              <a:r>
                <a:rPr lang="en-GB" sz="1500" dirty="0">
                  <a:solidFill>
                    <a:schemeClr val="dk1"/>
                  </a:solidFill>
                  <a:latin typeface="+mn-lt"/>
                  <a:ea typeface="+mn-ea"/>
                  <a:cs typeface="+mn-cs"/>
                </a:rPr>
                <a:t>Per-incident timeline links</a:t>
              </a:r>
              <a:endParaRPr lang="en-GB" sz="1500" dirty="0">
                <a:solidFill>
                  <a:schemeClr val="dk1"/>
                </a:solidFill>
                <a:latin typeface="+mn-lt"/>
                <a:ea typeface="+mn-ea"/>
                <a:cs typeface="+mn-cs"/>
              </a:endParaRPr>
            </a:p>
          </p:txBody>
        </p:sp>
        <p:sp>
          <p:nvSpPr>
            <p:cNvPr id="23" name="TextBox 23"/>
            <p:cNvSpPr txBox="1"/>
            <p:nvPr/>
          </p:nvSpPr>
          <p:spPr>
            <a:xfrm>
              <a:off x="1383030" y="3905250"/>
              <a:ext cx="2549462" cy="293370"/>
            </a:xfrm>
            <a:prstGeom prst="rect">
              <a:avLst/>
            </a:prstGeom>
            <a:noFill/>
            <a:ln>
              <a:noFill/>
            </a:ln>
          </p:spPr>
          <p:txBody>
            <a:bodyPr wrap="none" lIns="0" tIns="0" rIns="0" bIns="0" anchor="t" anchorCtr="0">
              <a:spAutoFit/>
            </a:bodyPr>
            <a:lstStyle/>
            <a:p>
              <a:pPr algn="l"/>
              <a:r>
                <a:rPr lang="en-GB" sz="1500" dirty="0">
                  <a:solidFill>
                    <a:schemeClr val="dk1"/>
                  </a:solidFill>
                  <a:latin typeface="+mn-lt"/>
                  <a:ea typeface="+mn-ea"/>
                  <a:cs typeface="+mn-cs"/>
                </a:rPr>
                <a:t>diagnosis to verification.</a:t>
              </a:r>
              <a:endParaRPr lang="en-GB" sz="1500" dirty="0">
                <a:solidFill>
                  <a:schemeClr val="dk1"/>
                </a:solidFill>
                <a:latin typeface="+mn-lt"/>
                <a:ea typeface="+mn-ea"/>
                <a:cs typeface="+mn-cs"/>
              </a:endParaRPr>
            </a:p>
          </p:txBody>
        </p:sp>
      </p:grpSp>
      <p:grpSp>
        <p:nvGrpSpPr>
          <p:cNvPr id="33" name="Group 33"/>
          <p:cNvGrpSpPr/>
          <p:nvPr/>
        </p:nvGrpSpPr>
        <p:grpSpPr>
          <a:xfrm>
            <a:off x="609600" y="4610100"/>
            <a:ext cx="4000500" cy="904875"/>
            <a:chOff x="609600" y="4610100"/>
            <a:chExt cx="4000500" cy="904875"/>
          </a:xfrm>
        </p:grpSpPr>
        <p:sp>
          <p:nvSpPr>
            <p:cNvPr id="25" name="Rectangle 25"/>
            <p:cNvSpPr/>
            <p:nvPr/>
          </p:nvSpPr>
          <p:spPr>
            <a:xfrm>
              <a:off x="609600" y="4610100"/>
              <a:ext cx="4000500" cy="904875"/>
            </a:xfrm>
            <a:prstGeom prst="roundRect">
              <a:avLst>
                <a:gd name="adj" fmla="val 23158"/>
              </a:avLst>
            </a:prstGeom>
            <a:solidFill>
              <a:schemeClr val="lt2"/>
            </a:solidFill>
            <a:ln>
              <a:noFill/>
            </a:ln>
            <a:effectLst>
              <a:outerShdw blurRad="266700" dist="57150" dir="5400000" algn="ctr" rotWithShape="0">
                <a:srgbClr val="7C6FE0">
                  <a:alpha val="7500"/>
                </a:srgbClr>
              </a:outerShdw>
            </a:effectLst>
          </p:spPr>
        </p:sp>
        <p:sp>
          <p:nvSpPr>
            <p:cNvPr id="26" name="Ellipse 26"/>
            <p:cNvSpPr/>
            <p:nvPr/>
          </p:nvSpPr>
          <p:spPr>
            <a:xfrm>
              <a:off x="781050" y="4829175"/>
              <a:ext cx="457200" cy="457200"/>
            </a:xfrm>
            <a:prstGeom prst="ellipse">
              <a:avLst/>
            </a:prstGeom>
            <a:solidFill>
              <a:schemeClr val="accent1">
                <a:alpha val="15000"/>
              </a:schemeClr>
            </a:solidFill>
            <a:ln>
              <a:noFill/>
            </a:ln>
          </p:spPr>
        </p:sp>
        <p:grpSp>
          <p:nvGrpSpPr>
            <p:cNvPr id="30" name="Group 30"/>
            <p:cNvGrpSpPr/>
            <p:nvPr/>
          </p:nvGrpSpPr>
          <p:grpSpPr>
            <a:xfrm>
              <a:off x="923924" y="4962525"/>
              <a:ext cx="171451" cy="190500"/>
              <a:chOff x="923924" y="4962525"/>
              <a:chExt cx="171451" cy="190500"/>
            </a:xfrm>
          </p:grpSpPr>
          <p:sp>
            <p:nvSpPr>
              <p:cNvPr id="27" name="Freeform 27"/>
              <p:cNvSpPr/>
              <p:nvPr/>
            </p:nvSpPr>
            <p:spPr>
              <a:xfrm>
                <a:off x="923925" y="5093313"/>
                <a:ext cx="171450" cy="59712"/>
              </a:xfrm>
              <a:custGeom>
                <a:avLst/>
                <a:gdLst/>
                <a:ahLst/>
                <a:cxnLst/>
                <a:rect l="l" t="t" r="r" b="b"/>
                <a:pathLst>
                  <a:path w="171450" h="59712">
                    <a:moveTo>
                      <a:pt x="0" y="0"/>
                    </a:moveTo>
                    <a:cubicBezTo>
                      <a:pt x="18745" y="14354"/>
                      <a:pt x="49854" y="21612"/>
                      <a:pt x="85725" y="21612"/>
                    </a:cubicBezTo>
                    <a:cubicBezTo>
                      <a:pt x="121539" y="21612"/>
                      <a:pt x="152638" y="14373"/>
                      <a:pt x="171450" y="162"/>
                    </a:cubicBezTo>
                    <a:lnTo>
                      <a:pt x="171450" y="21612"/>
                    </a:lnTo>
                    <a:cubicBezTo>
                      <a:pt x="171450" y="44710"/>
                      <a:pt x="134350" y="59103"/>
                      <a:pt x="88649" y="59693"/>
                    </a:cubicBezTo>
                    <a:lnTo>
                      <a:pt x="85725" y="59712"/>
                    </a:lnTo>
                    <a:cubicBezTo>
                      <a:pt x="38691" y="59712"/>
                      <a:pt x="0" y="45206"/>
                      <a:pt x="0" y="21612"/>
                    </a:cubicBezTo>
                    <a:close/>
                  </a:path>
                </a:pathLst>
              </a:custGeom>
              <a:solidFill>
                <a:schemeClr val="accent1"/>
              </a:solidFill>
              <a:ln>
                <a:noFill/>
              </a:ln>
            </p:spPr>
          </p:sp>
          <p:sp>
            <p:nvSpPr>
              <p:cNvPr id="28" name="Freeform 28"/>
              <p:cNvSpPr/>
              <p:nvPr/>
            </p:nvSpPr>
            <p:spPr>
              <a:xfrm>
                <a:off x="923925" y="5036163"/>
                <a:ext cx="171450" cy="59712"/>
              </a:xfrm>
              <a:custGeom>
                <a:avLst/>
                <a:gdLst/>
                <a:ahLst/>
                <a:cxnLst/>
                <a:rect l="l" t="t" r="r" b="b"/>
                <a:pathLst>
                  <a:path w="171450" h="59712">
                    <a:moveTo>
                      <a:pt x="0" y="0"/>
                    </a:moveTo>
                    <a:cubicBezTo>
                      <a:pt x="18745" y="14354"/>
                      <a:pt x="49854" y="21612"/>
                      <a:pt x="85725" y="21612"/>
                    </a:cubicBezTo>
                    <a:cubicBezTo>
                      <a:pt x="121539" y="21612"/>
                      <a:pt x="152638" y="14373"/>
                      <a:pt x="171450" y="162"/>
                    </a:cubicBezTo>
                    <a:lnTo>
                      <a:pt x="171450" y="21612"/>
                    </a:lnTo>
                    <a:cubicBezTo>
                      <a:pt x="171450" y="45206"/>
                      <a:pt x="132759" y="59712"/>
                      <a:pt x="85725" y="59712"/>
                    </a:cubicBezTo>
                    <a:cubicBezTo>
                      <a:pt x="40024" y="59712"/>
                      <a:pt x="2191" y="46015"/>
                      <a:pt x="200" y="23565"/>
                    </a:cubicBezTo>
                    <a:lnTo>
                      <a:pt x="48" y="22603"/>
                    </a:lnTo>
                    <a:lnTo>
                      <a:pt x="0" y="21612"/>
                    </a:lnTo>
                    <a:close/>
                  </a:path>
                </a:pathLst>
              </a:custGeom>
              <a:solidFill>
                <a:schemeClr val="accent1"/>
              </a:solidFill>
              <a:ln>
                <a:noFill/>
              </a:ln>
            </p:spPr>
          </p:sp>
          <p:sp>
            <p:nvSpPr>
              <p:cNvPr id="29" name="Freeform 29"/>
              <p:cNvSpPr/>
              <p:nvPr/>
            </p:nvSpPr>
            <p:spPr>
              <a:xfrm>
                <a:off x="923924" y="4962525"/>
                <a:ext cx="171451" cy="76200"/>
              </a:xfrm>
              <a:custGeom>
                <a:avLst/>
                <a:gdLst/>
                <a:ahLst/>
                <a:cxnLst/>
                <a:rect l="l" t="t" r="r" b="b"/>
                <a:pathLst>
                  <a:path w="171451" h="76200">
                    <a:moveTo>
                      <a:pt x="85726" y="0"/>
                    </a:moveTo>
                    <a:cubicBezTo>
                      <a:pt x="95641" y="0"/>
                      <a:pt x="105195" y="648"/>
                      <a:pt x="114082" y="1886"/>
                    </a:cubicBezTo>
                    <a:lnTo>
                      <a:pt x="118549" y="2562"/>
                    </a:lnTo>
                    <a:cubicBezTo>
                      <a:pt x="123883" y="3451"/>
                      <a:pt x="128918" y="4556"/>
                      <a:pt x="133656" y="5877"/>
                    </a:cubicBezTo>
                    <a:lnTo>
                      <a:pt x="137847" y="7125"/>
                    </a:lnTo>
                    <a:lnTo>
                      <a:pt x="138561" y="7353"/>
                    </a:lnTo>
                    <a:cubicBezTo>
                      <a:pt x="141153" y="8206"/>
                      <a:pt x="143711" y="9159"/>
                      <a:pt x="146229" y="10211"/>
                    </a:cubicBezTo>
                    <a:lnTo>
                      <a:pt x="148124" y="11030"/>
                    </a:lnTo>
                    <a:cubicBezTo>
                      <a:pt x="151521" y="12567"/>
                      <a:pt x="154591" y="14249"/>
                      <a:pt x="157335" y="16078"/>
                    </a:cubicBezTo>
                    <a:cubicBezTo>
                      <a:pt x="158382" y="16777"/>
                      <a:pt x="159376" y="17491"/>
                      <a:pt x="160316" y="18221"/>
                    </a:cubicBezTo>
                    <a:cubicBezTo>
                      <a:pt x="162697" y="20069"/>
                      <a:pt x="164837" y="22206"/>
                      <a:pt x="166688" y="24584"/>
                    </a:cubicBezTo>
                    <a:lnTo>
                      <a:pt x="167555" y="25803"/>
                    </a:lnTo>
                    <a:cubicBezTo>
                      <a:pt x="168000" y="26470"/>
                      <a:pt x="168409" y="27140"/>
                      <a:pt x="168784" y="27813"/>
                    </a:cubicBezTo>
                    <a:lnTo>
                      <a:pt x="169450" y="29137"/>
                    </a:lnTo>
                    <a:cubicBezTo>
                      <a:pt x="170486" y="31359"/>
                      <a:pt x="171121" y="33677"/>
                      <a:pt x="171355" y="36090"/>
                    </a:cubicBezTo>
                    <a:lnTo>
                      <a:pt x="171451" y="38100"/>
                    </a:lnTo>
                    <a:cubicBezTo>
                      <a:pt x="171451" y="61693"/>
                      <a:pt x="132760" y="76200"/>
                      <a:pt x="85726" y="76200"/>
                    </a:cubicBezTo>
                    <a:cubicBezTo>
                      <a:pt x="40025" y="76200"/>
                      <a:pt x="2191" y="62503"/>
                      <a:pt x="201" y="40053"/>
                    </a:cubicBezTo>
                    <a:cubicBezTo>
                      <a:pt x="67" y="39410"/>
                      <a:pt x="0" y="38756"/>
                      <a:pt x="1" y="38100"/>
                    </a:cubicBezTo>
                    <a:lnTo>
                      <a:pt x="48" y="37109"/>
                    </a:lnTo>
                    <a:lnTo>
                      <a:pt x="201" y="36157"/>
                    </a:lnTo>
                    <a:cubicBezTo>
                      <a:pt x="2153" y="14192"/>
                      <a:pt x="38396" y="600"/>
                      <a:pt x="82754" y="19"/>
                    </a:cubicBezTo>
                    <a:close/>
                  </a:path>
                </a:pathLst>
              </a:custGeom>
              <a:solidFill>
                <a:schemeClr val="accent1"/>
              </a:solidFill>
              <a:ln>
                <a:noFill/>
              </a:ln>
            </p:spPr>
          </p:sp>
        </p:grpSp>
        <p:sp>
          <p:nvSpPr>
            <p:cNvPr id="31" name="TextBox 31"/>
            <p:cNvSpPr txBox="1"/>
            <p:nvPr/>
          </p:nvSpPr>
          <p:spPr>
            <a:xfrm>
              <a:off x="1383030" y="4772025"/>
              <a:ext cx="2212381" cy="293370"/>
            </a:xfrm>
            <a:prstGeom prst="rect">
              <a:avLst/>
            </a:prstGeom>
            <a:noFill/>
            <a:ln>
              <a:noFill/>
            </a:ln>
          </p:spPr>
          <p:txBody>
            <a:bodyPr wrap="none" lIns="0" tIns="0" rIns="0" bIns="0" anchor="t" anchorCtr="0">
              <a:spAutoFit/>
            </a:bodyPr>
            <a:lstStyle/>
            <a:p>
              <a:pPr algn="l"/>
              <a:r>
                <a:rPr lang="en-GB" sz="1500" dirty="0">
                  <a:solidFill>
                    <a:schemeClr val="dk1"/>
                  </a:solidFill>
                  <a:latin typeface="+mn-lt"/>
                  <a:ea typeface="+mn-ea"/>
                  <a:cs typeface="+mn-cs"/>
                </a:rPr>
                <a:t>Historical traces feed</a:t>
              </a:r>
              <a:endParaRPr lang="en-GB" sz="1500" dirty="0">
                <a:solidFill>
                  <a:schemeClr val="dk1"/>
                </a:solidFill>
                <a:latin typeface="+mn-lt"/>
                <a:ea typeface="+mn-ea"/>
                <a:cs typeface="+mn-cs"/>
              </a:endParaRPr>
            </a:p>
          </p:txBody>
        </p:sp>
        <p:sp>
          <p:nvSpPr>
            <p:cNvPr id="32" name="TextBox 32"/>
            <p:cNvSpPr txBox="1"/>
            <p:nvPr/>
          </p:nvSpPr>
          <p:spPr>
            <a:xfrm>
              <a:off x="1383030" y="5000625"/>
              <a:ext cx="2862453" cy="293370"/>
            </a:xfrm>
            <a:prstGeom prst="rect">
              <a:avLst/>
            </a:prstGeom>
            <a:noFill/>
            <a:ln>
              <a:noFill/>
            </a:ln>
          </p:spPr>
          <p:txBody>
            <a:bodyPr wrap="none" lIns="0" tIns="0" rIns="0" bIns="0" anchor="t" anchorCtr="0">
              <a:spAutoFit/>
            </a:bodyPr>
            <a:lstStyle/>
            <a:p>
              <a:pPr algn="l"/>
              <a:r>
                <a:rPr lang="en-GB" sz="1500" dirty="0">
                  <a:solidFill>
                    <a:schemeClr val="dk1"/>
                  </a:solidFill>
                  <a:latin typeface="+mn-lt"/>
                  <a:ea typeface="+mn-ea"/>
                  <a:cs typeface="+mn-cs"/>
                </a:rPr>
                <a:t>future precedent grounding.</a:t>
              </a:r>
              <a:endParaRPr lang="en-GB" sz="1500" dirty="0">
                <a:solidFill>
                  <a:schemeClr val="dk1"/>
                </a:solidFill>
                <a:latin typeface="+mn-lt"/>
                <a:ea typeface="+mn-ea"/>
                <a:cs typeface="+mn-cs"/>
              </a:endParaRPr>
            </a:p>
          </p:txBody>
        </p:sp>
      </p:grpSp>
      <p:grpSp>
        <p:nvGrpSpPr>
          <p:cNvPr id="38" name="Group 38"/>
          <p:cNvGrpSpPr/>
          <p:nvPr/>
        </p:nvGrpSpPr>
        <p:grpSpPr>
          <a:xfrm>
            <a:off x="609600" y="5705475"/>
            <a:ext cx="4111313" cy="542925"/>
            <a:chOff x="609600" y="5705475"/>
            <a:chExt cx="4111313" cy="542925"/>
          </a:xfrm>
        </p:grpSpPr>
        <p:sp>
          <p:nvSpPr>
            <p:cNvPr id="34" name="Rectangle 34"/>
            <p:cNvSpPr/>
            <p:nvPr/>
          </p:nvSpPr>
          <p:spPr>
            <a:xfrm>
              <a:off x="609600" y="5705475"/>
              <a:ext cx="4000500" cy="542925"/>
            </a:xfrm>
            <a:prstGeom prst="roundRect">
              <a:avLst>
                <a:gd name="adj" fmla="val 38596"/>
              </a:avLst>
            </a:prstGeom>
            <a:solidFill>
              <a:schemeClr val="lt2"/>
            </a:solidFill>
            <a:ln>
              <a:noFill/>
            </a:ln>
            <a:effectLst>
              <a:outerShdw blurRad="266700" dist="57150" dir="5400000" algn="ctr" rotWithShape="0">
                <a:srgbClr val="7C6FE0">
                  <a:alpha val="7500"/>
                </a:srgbClr>
              </a:outerShdw>
            </a:effectLst>
          </p:spPr>
        </p:sp>
        <p:sp>
          <p:nvSpPr>
            <p:cNvPr id="35" name="Ellipse 35"/>
            <p:cNvSpPr/>
            <p:nvPr/>
          </p:nvSpPr>
          <p:spPr>
            <a:xfrm>
              <a:off x="819150" y="5781675"/>
              <a:ext cx="381000" cy="381000"/>
            </a:xfrm>
            <a:prstGeom prst="ellipse">
              <a:avLst/>
            </a:prstGeom>
            <a:solidFill>
              <a:schemeClr val="accent2">
                <a:alpha val="15000"/>
              </a:schemeClr>
            </a:solidFill>
            <a:ln>
              <a:noFill/>
            </a:ln>
          </p:spPr>
        </p:sp>
        <p:sp>
          <p:nvSpPr>
            <p:cNvPr id="36" name="Freeform 36"/>
            <p:cNvSpPr/>
            <p:nvPr/>
          </p:nvSpPr>
          <p:spPr>
            <a:xfrm>
              <a:off x="926681" y="5892800"/>
              <a:ext cx="165930" cy="158835"/>
            </a:xfrm>
            <a:custGeom>
              <a:avLst/>
              <a:gdLst/>
              <a:ahLst/>
              <a:cxnLst/>
              <a:rect l="l" t="t" r="r" b="b"/>
              <a:pathLst>
                <a:path w="165930" h="158835">
                  <a:moveTo>
                    <a:pt x="82953" y="0"/>
                  </a:moveTo>
                  <a:lnTo>
                    <a:pt x="83890" y="56"/>
                  </a:lnTo>
                  <a:lnTo>
                    <a:pt x="84358" y="119"/>
                  </a:lnTo>
                  <a:lnTo>
                    <a:pt x="84842" y="222"/>
                  </a:lnTo>
                  <a:lnTo>
                    <a:pt x="85723" y="492"/>
                  </a:lnTo>
                  <a:cubicBezTo>
                    <a:pt x="86332" y="716"/>
                    <a:pt x="86910" y="1015"/>
                    <a:pt x="87446" y="1381"/>
                  </a:cubicBezTo>
                  <a:lnTo>
                    <a:pt x="88271" y="2032"/>
                  </a:lnTo>
                  <a:lnTo>
                    <a:pt x="90295" y="3762"/>
                  </a:lnTo>
                  <a:cubicBezTo>
                    <a:pt x="106308" y="17062"/>
                    <a:pt x="126545" y="24204"/>
                    <a:pt x="147358" y="23900"/>
                  </a:cubicBezTo>
                  <a:lnTo>
                    <a:pt x="150073" y="23820"/>
                  </a:lnTo>
                  <a:cubicBezTo>
                    <a:pt x="153725" y="23654"/>
                    <a:pt x="157019" y="26004"/>
                    <a:pt x="158050" y="29512"/>
                  </a:cubicBezTo>
                  <a:cubicBezTo>
                    <a:pt x="165930" y="56319"/>
                    <a:pt x="162603" y="85176"/>
                    <a:pt x="148828" y="109486"/>
                  </a:cubicBezTo>
                  <a:cubicBezTo>
                    <a:pt x="135052" y="133796"/>
                    <a:pt x="112008" y="151480"/>
                    <a:pt x="84961" y="158496"/>
                  </a:cubicBezTo>
                  <a:cubicBezTo>
                    <a:pt x="83655" y="158835"/>
                    <a:pt x="82283" y="158835"/>
                    <a:pt x="80977" y="158496"/>
                  </a:cubicBezTo>
                  <a:cubicBezTo>
                    <a:pt x="53929" y="151482"/>
                    <a:pt x="30882" y="133798"/>
                    <a:pt x="17105" y="109488"/>
                  </a:cubicBezTo>
                  <a:cubicBezTo>
                    <a:pt x="3329" y="85178"/>
                    <a:pt x="0" y="56320"/>
                    <a:pt x="7880" y="29512"/>
                  </a:cubicBezTo>
                  <a:cubicBezTo>
                    <a:pt x="8911" y="26004"/>
                    <a:pt x="12205" y="23654"/>
                    <a:pt x="15857" y="23820"/>
                  </a:cubicBezTo>
                  <a:cubicBezTo>
                    <a:pt x="37586" y="24814"/>
                    <a:pt x="58903" y="17661"/>
                    <a:pt x="75635" y="3762"/>
                  </a:cubicBezTo>
                  <a:lnTo>
                    <a:pt x="77722" y="1976"/>
                  </a:lnTo>
                  <a:lnTo>
                    <a:pt x="78484" y="1381"/>
                  </a:lnTo>
                  <a:cubicBezTo>
                    <a:pt x="79020" y="1015"/>
                    <a:pt x="79598" y="716"/>
                    <a:pt x="80207" y="492"/>
                  </a:cubicBezTo>
                  <a:lnTo>
                    <a:pt x="81096" y="222"/>
                  </a:lnTo>
                  <a:cubicBezTo>
                    <a:pt x="81407" y="147"/>
                    <a:pt x="81722" y="91"/>
                    <a:pt x="82040" y="56"/>
                  </a:cubicBezTo>
                  <a:lnTo>
                    <a:pt x="82953" y="0"/>
                  </a:lnTo>
                  <a:close/>
                  <a:moveTo>
                    <a:pt x="112401" y="57888"/>
                  </a:moveTo>
                  <a:cubicBezTo>
                    <a:pt x="110912" y="56398"/>
                    <a:pt x="108892" y="55560"/>
                    <a:pt x="106785" y="55560"/>
                  </a:cubicBezTo>
                  <a:cubicBezTo>
                    <a:pt x="104679" y="55560"/>
                    <a:pt x="102659" y="56398"/>
                    <a:pt x="101170" y="57888"/>
                  </a:cubicBezTo>
                  <a:lnTo>
                    <a:pt x="75032" y="84018"/>
                  </a:lnTo>
                  <a:lnTo>
                    <a:pt x="64768" y="73763"/>
                  </a:lnTo>
                  <a:lnTo>
                    <a:pt x="64022" y="73104"/>
                  </a:lnTo>
                  <a:cubicBezTo>
                    <a:pt x="60711" y="70544"/>
                    <a:pt x="55981" y="70995"/>
                    <a:pt x="53213" y="74134"/>
                  </a:cubicBezTo>
                  <a:cubicBezTo>
                    <a:pt x="50445" y="77273"/>
                    <a:pt x="50590" y="82022"/>
                    <a:pt x="53545" y="84987"/>
                  </a:cubicBezTo>
                  <a:lnTo>
                    <a:pt x="69420" y="100862"/>
                  </a:lnTo>
                  <a:lnTo>
                    <a:pt x="70166" y="101521"/>
                  </a:lnTo>
                  <a:cubicBezTo>
                    <a:pt x="73326" y="103972"/>
                    <a:pt x="77815" y="103689"/>
                    <a:pt x="80643" y="100862"/>
                  </a:cubicBezTo>
                  <a:lnTo>
                    <a:pt x="112393" y="69112"/>
                  </a:lnTo>
                  <a:lnTo>
                    <a:pt x="113052" y="68366"/>
                  </a:lnTo>
                  <a:cubicBezTo>
                    <a:pt x="115503" y="65206"/>
                    <a:pt x="115221" y="60716"/>
                    <a:pt x="112393" y="57888"/>
                  </a:cubicBezTo>
                  <a:close/>
                </a:path>
              </a:pathLst>
            </a:custGeom>
            <a:solidFill>
              <a:schemeClr val="accent2"/>
            </a:solidFill>
            <a:ln>
              <a:noFill/>
            </a:ln>
          </p:spPr>
        </p:sp>
        <p:sp>
          <p:nvSpPr>
            <p:cNvPr id="37" name="TextBox 37"/>
            <p:cNvSpPr txBox="1"/>
            <p:nvPr/>
          </p:nvSpPr>
          <p:spPr>
            <a:xfrm>
              <a:off x="1383792" y="5883592"/>
              <a:ext cx="3337121" cy="264033"/>
            </a:xfrm>
            <a:prstGeom prst="rect">
              <a:avLst/>
            </a:prstGeom>
            <a:noFill/>
            <a:ln>
              <a:noFill/>
            </a:ln>
          </p:spPr>
          <p:txBody>
            <a:bodyPr wrap="none" lIns="0" tIns="0" rIns="0" bIns="0" anchor="t" anchorCtr="0">
              <a:spAutoFit/>
            </a:bodyPr>
            <a:lstStyle/>
            <a:p>
              <a:pPr algn="l"/>
              <a:r>
                <a:rPr lang="en-GB" sz="1350" dirty="0">
                  <a:solidFill>
                    <a:schemeClr val="dk1"/>
                  </a:solidFill>
                  <a:latin typeface="+mn-lt"/>
                  <a:ea typeface="+mn-ea"/>
                  <a:cs typeface="+mn-cs"/>
                </a:rPr>
                <a:t>Isolated: agentic_sre_db vs itsm_db.</a:t>
              </a:r>
              <a:endParaRPr lang="en-GB" sz="1350" dirty="0">
                <a:solidFill>
                  <a:schemeClr val="dk1"/>
                </a:solidFill>
                <a:latin typeface="+mn-lt"/>
                <a:ea typeface="+mn-ea"/>
                <a:cs typeface="+mn-cs"/>
              </a:endParaRPr>
            </a:p>
          </p:txBody>
        </p:sp>
      </p:grpSp>
      <p:grpSp>
        <p:nvGrpSpPr>
          <p:cNvPr id="41" name="Group 41"/>
          <p:cNvGrpSpPr/>
          <p:nvPr/>
        </p:nvGrpSpPr>
        <p:grpSpPr>
          <a:xfrm>
            <a:off x="4838700" y="2190750"/>
            <a:ext cx="6743700" cy="3924300"/>
            <a:chOff x="4838700" y="2190750"/>
            <a:chExt cx="6743700" cy="3924300"/>
          </a:xfrm>
        </p:grpSpPr>
        <p:sp>
          <p:nvSpPr>
            <p:cNvPr id="39" name="Rectangle 39"/>
            <p:cNvSpPr/>
            <p:nvPr/>
          </p:nvSpPr>
          <p:spPr>
            <a:xfrm>
              <a:off x="4838700" y="2190750"/>
              <a:ext cx="6743700" cy="3924300"/>
            </a:xfrm>
            <a:prstGeom prst="roundRect">
              <a:avLst>
                <a:gd name="adj" fmla="val 6311"/>
              </a:avLst>
            </a:prstGeom>
            <a:solidFill>
              <a:schemeClr val="lt2"/>
            </a:solidFill>
            <a:ln>
              <a:noFill/>
            </a:ln>
            <a:effectLst>
              <a:outerShdw blurRad="266700" dist="57150" dir="5400000" algn="ctr" rotWithShape="0">
                <a:srgbClr val="7C6FE0">
                  <a:alpha val="7500"/>
                </a:srgbClr>
              </a:outerShdw>
            </a:effectLst>
          </p:spPr>
        </p:sp>
        <p:pic>
          <p:nvPicPr>
            <p:cNvPr id="40" name="Image 40"/>
            <p:cNvPicPr>
              <a:picLocks noChangeAspect="1"/>
            </p:cNvPicPr>
            <p:nvPr/>
          </p:nvPicPr>
          <p:blipFill>
            <a:blip r:embed="rId1"/>
            <a:stretch>
              <a:fillRect/>
            </a:stretch>
          </p:blipFill>
          <p:spPr>
            <a:xfrm>
              <a:off x="4991100" y="2343150"/>
              <a:ext cx="6438900" cy="3619500"/>
            </a:xfrm>
            <a:prstGeom prst="rect">
              <a:avLst/>
            </a:prstGeom>
          </p:spPr>
        </p:pic>
      </p:grpSp>
      <p:sp>
        <p:nvSpPr>
          <p:cNvPr id="46" name="Footer Placeholder 45"/>
          <p:cNvSpPr>
            <a:spLocks noGrp="1"/>
          </p:cNvSpPr>
          <p:nvPr>
            <p:ph type="ftr" sz="quarter" idx="11"/>
          </p:nvPr>
        </p:nvSpPr>
        <p:spPr/>
        <p:txBody>
          <a:bodyPr/>
          <a:p>
            <a:r>
              <a:rPr lang="en-US"/>
              <a:t>TCS | Confidential</a:t>
            </a:r>
            <a:endParaRPr lang="en-US"/>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609600" y="628650"/>
            <a:ext cx="2729995" cy="346901"/>
            <a:chOff x="609600" y="628650"/>
            <a:chExt cx="2729995" cy="346901"/>
          </a:xfrm>
        </p:grpSpPr>
        <p:sp>
          <p:nvSpPr>
            <p:cNvPr id="2" name="Rectangle 2"/>
            <p:cNvSpPr/>
            <p:nvPr/>
          </p:nvSpPr>
          <p:spPr>
            <a:xfrm>
              <a:off x="609600" y="628650"/>
              <a:ext cx="2552700" cy="342900"/>
            </a:xfrm>
            <a:prstGeom prst="roundRect">
              <a:avLst>
                <a:gd name="adj" fmla="val 50000"/>
              </a:avLst>
            </a:prstGeom>
            <a:solidFill>
              <a:schemeClr val="accent1">
                <a:alpha val="14000"/>
              </a:schemeClr>
            </a:solidFill>
            <a:ln>
              <a:noFill/>
            </a:ln>
          </p:spPr>
        </p:sp>
        <p:sp>
          <p:nvSpPr>
            <p:cNvPr id="3" name="TextBox 3"/>
            <p:cNvSpPr txBox="1"/>
            <p:nvPr/>
          </p:nvSpPr>
          <p:spPr>
            <a:xfrm>
              <a:off x="793242" y="711518"/>
              <a:ext cx="2546353" cy="264033"/>
            </a:xfrm>
            <a:prstGeom prst="rect">
              <a:avLst/>
            </a:prstGeom>
            <a:noFill/>
            <a:ln>
              <a:noFill/>
            </a:ln>
          </p:spPr>
          <p:txBody>
            <a:bodyPr wrap="none" lIns="0" tIns="0" rIns="0" bIns="0" anchor="t" anchorCtr="0">
              <a:spAutoFit/>
            </a:bodyPr>
            <a:lstStyle/>
            <a:p>
              <a:pPr algn="l"/>
              <a:r>
                <a:rPr lang="en-GB" sz="1350" b="1" spc="75" dirty="0">
                  <a:solidFill>
                    <a:schemeClr val="accent1"/>
                  </a:solidFill>
                  <a:latin typeface="+mn-lt"/>
                  <a:ea typeface="+mn-ea"/>
                  <a:cs typeface="+mn-cs"/>
                </a:rPr>
                <a:t>THE PLATFORM IN ACTION</a:t>
              </a:r>
              <a:endParaRPr lang="en-GB" sz="1350" b="1" spc="75" dirty="0">
                <a:solidFill>
                  <a:schemeClr val="accent1"/>
                </a:solidFill>
                <a:latin typeface="+mn-lt"/>
                <a:ea typeface="+mn-ea"/>
                <a:cs typeface="+mn-cs"/>
              </a:endParaRPr>
            </a:p>
          </p:txBody>
        </p:sp>
      </p:grpSp>
      <p:grpSp>
        <p:nvGrpSpPr>
          <p:cNvPr id="6" name="Group 6"/>
          <p:cNvGrpSpPr/>
          <p:nvPr/>
        </p:nvGrpSpPr>
        <p:grpSpPr>
          <a:xfrm>
            <a:off x="590550" y="1165860"/>
            <a:ext cx="7955250" cy="819150"/>
            <a:chOff x="590550" y="1165860"/>
            <a:chExt cx="7955250" cy="819150"/>
          </a:xfrm>
        </p:grpSpPr>
        <p:sp>
          <p:nvSpPr>
            <p:cNvPr id="5" name="TextBox 5"/>
            <p:cNvSpPr txBox="1"/>
            <p:nvPr/>
          </p:nvSpPr>
          <p:spPr>
            <a:xfrm>
              <a:off x="590550" y="1165860"/>
              <a:ext cx="7955250" cy="819150"/>
            </a:xfrm>
            <a:prstGeom prst="rect">
              <a:avLst/>
            </a:prstGeom>
            <a:noFill/>
            <a:ln>
              <a:noFill/>
            </a:ln>
          </p:spPr>
          <p:txBody>
            <a:bodyPr wrap="none" lIns="0" tIns="0" rIns="0" bIns="0" anchor="t" anchorCtr="0">
              <a:spAutoFit/>
            </a:bodyPr>
            <a:lstStyle/>
            <a:p>
              <a:pPr algn="l"/>
              <a:r>
                <a:rPr lang="en-GB" sz="4200" b="1" dirty="0">
                  <a:solidFill>
                    <a:schemeClr val="dk1"/>
                  </a:solidFill>
                  <a:latin typeface="+mn-lt"/>
                  <a:ea typeface="+mn-ea"/>
                  <a:cs typeface="+mn-cs"/>
                </a:rPr>
                <a:t>Fleet-Wide Telemetry, Live</a:t>
              </a:r>
              <a:endParaRPr lang="en-GB" sz="4200" b="1" dirty="0">
                <a:solidFill>
                  <a:schemeClr val="dk1"/>
                </a:solidFill>
                <a:latin typeface="+mn-lt"/>
                <a:ea typeface="+mn-ea"/>
                <a:cs typeface="+mn-cs"/>
              </a:endParaRPr>
            </a:p>
          </p:txBody>
        </p:sp>
      </p:grpSp>
      <p:grpSp>
        <p:nvGrpSpPr>
          <p:cNvPr id="8" name="Group 8"/>
          <p:cNvGrpSpPr/>
          <p:nvPr/>
        </p:nvGrpSpPr>
        <p:grpSpPr>
          <a:xfrm>
            <a:off x="600456" y="1844040"/>
            <a:ext cx="8557968" cy="352044"/>
            <a:chOff x="600456" y="1844040"/>
            <a:chExt cx="8557968" cy="352044"/>
          </a:xfrm>
        </p:grpSpPr>
        <p:sp>
          <p:nvSpPr>
            <p:cNvPr id="7" name="TextBox 7"/>
            <p:cNvSpPr txBox="1"/>
            <p:nvPr/>
          </p:nvSpPr>
          <p:spPr>
            <a:xfrm>
              <a:off x="600456" y="1844040"/>
              <a:ext cx="8557968" cy="352044"/>
            </a:xfrm>
            <a:prstGeom prst="rect">
              <a:avLst/>
            </a:prstGeom>
            <a:noFill/>
            <a:ln>
              <a:noFill/>
            </a:ln>
          </p:spPr>
          <p:txBody>
            <a:bodyPr wrap="none" lIns="0" tIns="0" rIns="0" bIns="0" anchor="t" anchorCtr="0">
              <a:spAutoFit/>
            </a:bodyPr>
            <a:lstStyle/>
            <a:p>
              <a:pPr algn="l"/>
              <a:r>
                <a:rPr lang="en-GB" sz="1800" dirty="0">
                  <a:solidFill>
                    <a:schemeClr val="accent5"/>
                  </a:solidFill>
                  <a:latin typeface="+mn-lt"/>
                  <a:ea typeface="+mn-ea"/>
                  <a:cs typeface="+mn-cs"/>
                </a:rPr>
                <a:t>Operators watch SLA, sessions, and pace across the fleet in real time.</a:t>
              </a:r>
              <a:endParaRPr lang="en-GB" sz="1800" dirty="0">
                <a:solidFill>
                  <a:schemeClr val="accent5"/>
                </a:solidFill>
                <a:latin typeface="+mn-lt"/>
                <a:ea typeface="+mn-ea"/>
                <a:cs typeface="+mn-cs"/>
              </a:endParaRPr>
            </a:p>
          </p:txBody>
        </p:sp>
      </p:grpSp>
      <p:grpSp>
        <p:nvGrpSpPr>
          <p:cNvPr id="16" name="Group 16"/>
          <p:cNvGrpSpPr/>
          <p:nvPr/>
        </p:nvGrpSpPr>
        <p:grpSpPr>
          <a:xfrm>
            <a:off x="609600" y="2419350"/>
            <a:ext cx="4000500" cy="904875"/>
            <a:chOff x="609600" y="2419350"/>
            <a:chExt cx="4000500" cy="904875"/>
          </a:xfrm>
        </p:grpSpPr>
        <p:sp>
          <p:nvSpPr>
            <p:cNvPr id="9" name="Rectangle 9"/>
            <p:cNvSpPr/>
            <p:nvPr/>
          </p:nvSpPr>
          <p:spPr>
            <a:xfrm>
              <a:off x="609600" y="2419350"/>
              <a:ext cx="4000500" cy="904875"/>
            </a:xfrm>
            <a:prstGeom prst="roundRect">
              <a:avLst>
                <a:gd name="adj" fmla="val 23158"/>
              </a:avLst>
            </a:prstGeom>
            <a:solidFill>
              <a:schemeClr val="lt2"/>
            </a:solidFill>
            <a:ln>
              <a:noFill/>
            </a:ln>
            <a:effectLst>
              <a:outerShdw blurRad="266700" dist="57150" dir="5400000" algn="ctr" rotWithShape="0">
                <a:srgbClr val="7C6FE0">
                  <a:alpha val="7500"/>
                </a:srgbClr>
              </a:outerShdw>
            </a:effectLst>
          </p:spPr>
        </p:sp>
        <p:sp>
          <p:nvSpPr>
            <p:cNvPr id="10" name="Ellipse 10"/>
            <p:cNvSpPr/>
            <p:nvPr/>
          </p:nvSpPr>
          <p:spPr>
            <a:xfrm>
              <a:off x="781050" y="2638425"/>
              <a:ext cx="457200" cy="457200"/>
            </a:xfrm>
            <a:prstGeom prst="ellipse">
              <a:avLst/>
            </a:prstGeom>
            <a:solidFill>
              <a:schemeClr val="accent1">
                <a:alpha val="15000"/>
              </a:schemeClr>
            </a:solidFill>
            <a:ln>
              <a:noFill/>
            </a:ln>
          </p:spPr>
        </p:sp>
        <p:grpSp>
          <p:nvGrpSpPr>
            <p:cNvPr id="13" name="Group 13"/>
            <p:cNvGrpSpPr/>
            <p:nvPr/>
          </p:nvGrpSpPr>
          <p:grpSpPr>
            <a:xfrm>
              <a:off x="922798" y="2780150"/>
              <a:ext cx="173506" cy="163075"/>
              <a:chOff x="922798" y="2780150"/>
              <a:chExt cx="173506" cy="163075"/>
            </a:xfrm>
          </p:grpSpPr>
          <p:sp>
            <p:nvSpPr>
              <p:cNvPr id="11" name="Freeform 11"/>
              <p:cNvSpPr/>
              <p:nvPr/>
            </p:nvSpPr>
            <p:spPr>
              <a:xfrm>
                <a:off x="923925" y="2837264"/>
                <a:ext cx="171450" cy="105961"/>
              </a:xfrm>
              <a:custGeom>
                <a:avLst/>
                <a:gdLst/>
                <a:ahLst/>
                <a:cxnLst/>
                <a:rect l="l" t="t" r="r" b="b"/>
                <a:pathLst>
                  <a:path w="171450" h="105961">
                    <a:moveTo>
                      <a:pt x="116395" y="4758"/>
                    </a:moveTo>
                    <a:cubicBezTo>
                      <a:pt x="119648" y="700"/>
                      <a:pt x="125554" y="0"/>
                      <a:pt x="129664" y="3186"/>
                    </a:cubicBezTo>
                    <a:lnTo>
                      <a:pt x="130559" y="3977"/>
                    </a:lnTo>
                    <a:lnTo>
                      <a:pt x="168659" y="42077"/>
                    </a:lnTo>
                    <a:cubicBezTo>
                      <a:pt x="170140" y="43558"/>
                      <a:pt x="171090" y="45487"/>
                      <a:pt x="171364" y="47563"/>
                    </a:cubicBezTo>
                    <a:lnTo>
                      <a:pt x="171450" y="48811"/>
                    </a:lnTo>
                    <a:lnTo>
                      <a:pt x="171450" y="96436"/>
                    </a:lnTo>
                    <a:cubicBezTo>
                      <a:pt x="171449" y="101265"/>
                      <a:pt x="167835" y="105329"/>
                      <a:pt x="163039" y="105894"/>
                    </a:cubicBezTo>
                    <a:lnTo>
                      <a:pt x="161925" y="105961"/>
                    </a:lnTo>
                    <a:lnTo>
                      <a:pt x="9315" y="105961"/>
                    </a:lnTo>
                    <a:lnTo>
                      <a:pt x="8268" y="105875"/>
                    </a:lnTo>
                    <a:lnTo>
                      <a:pt x="7220" y="105685"/>
                    </a:lnTo>
                    <a:lnTo>
                      <a:pt x="6201" y="105361"/>
                    </a:lnTo>
                    <a:lnTo>
                      <a:pt x="5201" y="104923"/>
                    </a:lnTo>
                    <a:lnTo>
                      <a:pt x="4248" y="104361"/>
                    </a:lnTo>
                    <a:lnTo>
                      <a:pt x="3353" y="103694"/>
                    </a:lnTo>
                    <a:lnTo>
                      <a:pt x="2781" y="103170"/>
                    </a:lnTo>
                    <a:lnTo>
                      <a:pt x="2095" y="102389"/>
                    </a:lnTo>
                    <a:lnTo>
                      <a:pt x="1486" y="101541"/>
                    </a:lnTo>
                    <a:lnTo>
                      <a:pt x="972" y="100627"/>
                    </a:lnTo>
                    <a:lnTo>
                      <a:pt x="819" y="100293"/>
                    </a:lnTo>
                    <a:lnTo>
                      <a:pt x="438" y="99312"/>
                    </a:lnTo>
                    <a:lnTo>
                      <a:pt x="181" y="98303"/>
                    </a:lnTo>
                    <a:lnTo>
                      <a:pt x="38" y="97274"/>
                    </a:lnTo>
                    <a:lnTo>
                      <a:pt x="0" y="96226"/>
                    </a:lnTo>
                    <a:lnTo>
                      <a:pt x="86" y="95179"/>
                    </a:lnTo>
                    <a:lnTo>
                      <a:pt x="267" y="94178"/>
                    </a:lnTo>
                    <a:cubicBezTo>
                      <a:pt x="362" y="93797"/>
                      <a:pt x="476" y="93445"/>
                      <a:pt x="600" y="93112"/>
                    </a:cubicBezTo>
                    <a:lnTo>
                      <a:pt x="1038" y="92112"/>
                    </a:lnTo>
                    <a:lnTo>
                      <a:pt x="1600" y="91159"/>
                    </a:lnTo>
                    <a:lnTo>
                      <a:pt x="39700" y="34009"/>
                    </a:lnTo>
                    <a:cubicBezTo>
                      <a:pt x="42113" y="30377"/>
                      <a:pt x="46684" y="28847"/>
                      <a:pt x="50797" y="30294"/>
                    </a:cubicBezTo>
                    <a:lnTo>
                      <a:pt x="51883" y="30771"/>
                    </a:lnTo>
                    <a:lnTo>
                      <a:pt x="83096" y="46372"/>
                    </a:lnTo>
                    <a:lnTo>
                      <a:pt x="116386" y="4758"/>
                    </a:lnTo>
                    <a:close/>
                  </a:path>
                </a:pathLst>
              </a:custGeom>
              <a:solidFill>
                <a:schemeClr val="accent1"/>
              </a:solidFill>
              <a:ln>
                <a:noFill/>
              </a:ln>
            </p:spPr>
          </p:sp>
          <p:sp>
            <p:nvSpPr>
              <p:cNvPr id="12" name="Freeform 12"/>
              <p:cNvSpPr/>
              <p:nvPr/>
            </p:nvSpPr>
            <p:spPr>
              <a:xfrm>
                <a:off x="922798" y="2780150"/>
                <a:ext cx="173506" cy="97527"/>
              </a:xfrm>
              <a:custGeom>
                <a:avLst/>
                <a:gdLst/>
                <a:ahLst/>
                <a:cxnLst/>
                <a:rect l="l" t="t" r="r" b="b"/>
                <a:pathLst>
                  <a:path w="173506" h="97527">
                    <a:moveTo>
                      <a:pt x="117637" y="4579"/>
                    </a:moveTo>
                    <a:cubicBezTo>
                      <a:pt x="120923" y="632"/>
                      <a:pt x="126745" y="0"/>
                      <a:pt x="130801" y="3150"/>
                    </a:cubicBezTo>
                    <a:lnTo>
                      <a:pt x="131687" y="3941"/>
                    </a:lnTo>
                    <a:lnTo>
                      <a:pt x="169787" y="42041"/>
                    </a:lnTo>
                    <a:cubicBezTo>
                      <a:pt x="173332" y="45598"/>
                      <a:pt x="173506" y="51297"/>
                      <a:pt x="170184" y="55064"/>
                    </a:cubicBezTo>
                    <a:cubicBezTo>
                      <a:pt x="166863" y="58831"/>
                      <a:pt x="161187" y="59372"/>
                      <a:pt x="157214" y="56300"/>
                    </a:cubicBezTo>
                    <a:lnTo>
                      <a:pt x="156318" y="55509"/>
                    </a:lnTo>
                    <a:lnTo>
                      <a:pt x="125591" y="24791"/>
                    </a:lnTo>
                    <a:lnTo>
                      <a:pt x="84643" y="73921"/>
                    </a:lnTo>
                    <a:cubicBezTo>
                      <a:pt x="82095" y="76976"/>
                      <a:pt x="77918" y="78127"/>
                      <a:pt x="74165" y="76807"/>
                    </a:cubicBezTo>
                    <a:lnTo>
                      <a:pt x="73070" y="76340"/>
                    </a:lnTo>
                    <a:lnTo>
                      <a:pt x="42075" y="60853"/>
                    </a:lnTo>
                    <a:lnTo>
                      <a:pt x="18272" y="92590"/>
                    </a:lnTo>
                    <a:cubicBezTo>
                      <a:pt x="15393" y="96429"/>
                      <a:pt x="10108" y="97527"/>
                      <a:pt x="5938" y="95152"/>
                    </a:cubicBezTo>
                    <a:lnTo>
                      <a:pt x="4937" y="94495"/>
                    </a:lnTo>
                    <a:cubicBezTo>
                      <a:pt x="1098" y="91616"/>
                      <a:pt x="0" y="86330"/>
                      <a:pt x="2375" y="82160"/>
                    </a:cubicBezTo>
                    <a:lnTo>
                      <a:pt x="3032" y="81160"/>
                    </a:lnTo>
                    <a:lnTo>
                      <a:pt x="31607" y="43060"/>
                    </a:lnTo>
                    <a:cubicBezTo>
                      <a:pt x="34115" y="39720"/>
                      <a:pt x="38506" y="38403"/>
                      <a:pt x="42437" y="39812"/>
                    </a:cubicBezTo>
                    <a:lnTo>
                      <a:pt x="43485" y="40259"/>
                    </a:lnTo>
                    <a:lnTo>
                      <a:pt x="74832" y="55928"/>
                    </a:lnTo>
                    <a:lnTo>
                      <a:pt x="117637" y="4579"/>
                    </a:lnTo>
                    <a:close/>
                  </a:path>
                </a:pathLst>
              </a:custGeom>
              <a:solidFill>
                <a:schemeClr val="accent1"/>
              </a:solidFill>
              <a:ln>
                <a:noFill/>
              </a:ln>
            </p:spPr>
          </p:sp>
        </p:grpSp>
        <p:sp>
          <p:nvSpPr>
            <p:cNvPr id="14" name="TextBox 14"/>
            <p:cNvSpPr txBox="1"/>
            <p:nvPr/>
          </p:nvSpPr>
          <p:spPr>
            <a:xfrm>
              <a:off x="1383030" y="2581275"/>
              <a:ext cx="2151948" cy="293370"/>
            </a:xfrm>
            <a:prstGeom prst="rect">
              <a:avLst/>
            </a:prstGeom>
            <a:noFill/>
            <a:ln>
              <a:noFill/>
            </a:ln>
          </p:spPr>
          <p:txBody>
            <a:bodyPr wrap="none" lIns="0" tIns="0" rIns="0" bIns="0" anchor="t" anchorCtr="0">
              <a:spAutoFit/>
            </a:bodyPr>
            <a:lstStyle/>
            <a:p>
              <a:pPr algn="l"/>
              <a:r>
                <a:rPr lang="en-GB" sz="1500" dirty="0">
                  <a:solidFill>
                    <a:schemeClr val="dk1"/>
                  </a:solidFill>
                  <a:latin typeface="+mn-lt"/>
                  <a:ea typeface="+mn-ea"/>
                  <a:cs typeface="+mn-cs"/>
                </a:rPr>
                <a:t>Live timeline of every</a:t>
              </a:r>
              <a:endParaRPr lang="en-GB" sz="1500" dirty="0">
                <a:solidFill>
                  <a:schemeClr val="dk1"/>
                </a:solidFill>
                <a:latin typeface="+mn-lt"/>
                <a:ea typeface="+mn-ea"/>
                <a:cs typeface="+mn-cs"/>
              </a:endParaRPr>
            </a:p>
          </p:txBody>
        </p:sp>
        <p:sp>
          <p:nvSpPr>
            <p:cNvPr id="15" name="TextBox 15"/>
            <p:cNvSpPr txBox="1"/>
            <p:nvPr/>
          </p:nvSpPr>
          <p:spPr>
            <a:xfrm>
              <a:off x="1383030" y="2809875"/>
              <a:ext cx="2165699" cy="293370"/>
            </a:xfrm>
            <a:prstGeom prst="rect">
              <a:avLst/>
            </a:prstGeom>
            <a:noFill/>
            <a:ln>
              <a:noFill/>
            </a:ln>
          </p:spPr>
          <p:txBody>
            <a:bodyPr wrap="none" lIns="0" tIns="0" rIns="0" bIns="0" anchor="t" anchorCtr="0">
              <a:spAutoFit/>
            </a:bodyPr>
            <a:lstStyle/>
            <a:p>
              <a:pPr algn="l"/>
              <a:r>
                <a:rPr lang="en-GB" sz="1500" dirty="0">
                  <a:solidFill>
                    <a:schemeClr val="dk1"/>
                  </a:solidFill>
                  <a:latin typeface="+mn-lt"/>
                  <a:ea typeface="+mn-ea"/>
                  <a:cs typeface="+mn-cs"/>
                </a:rPr>
                <a:t>active SRE execution.</a:t>
              </a:r>
              <a:endParaRPr lang="en-GB" sz="1500" dirty="0">
                <a:solidFill>
                  <a:schemeClr val="dk1"/>
                </a:solidFill>
                <a:latin typeface="+mn-lt"/>
                <a:ea typeface="+mn-ea"/>
                <a:cs typeface="+mn-cs"/>
              </a:endParaRPr>
            </a:p>
          </p:txBody>
        </p:sp>
      </p:grpSp>
      <p:grpSp>
        <p:nvGrpSpPr>
          <p:cNvPr id="24" name="Group 24"/>
          <p:cNvGrpSpPr/>
          <p:nvPr/>
        </p:nvGrpSpPr>
        <p:grpSpPr>
          <a:xfrm>
            <a:off x="609600" y="3514725"/>
            <a:ext cx="4000500" cy="904875"/>
            <a:chOff x="609600" y="3514725"/>
            <a:chExt cx="4000500" cy="904875"/>
          </a:xfrm>
        </p:grpSpPr>
        <p:sp>
          <p:nvSpPr>
            <p:cNvPr id="17" name="Rectangle 17"/>
            <p:cNvSpPr/>
            <p:nvPr/>
          </p:nvSpPr>
          <p:spPr>
            <a:xfrm>
              <a:off x="609600" y="3514725"/>
              <a:ext cx="4000500" cy="904875"/>
            </a:xfrm>
            <a:prstGeom prst="roundRect">
              <a:avLst>
                <a:gd name="adj" fmla="val 23158"/>
              </a:avLst>
            </a:prstGeom>
            <a:solidFill>
              <a:schemeClr val="lt2"/>
            </a:solidFill>
            <a:ln>
              <a:noFill/>
            </a:ln>
            <a:effectLst>
              <a:outerShdw blurRad="266700" dist="57150" dir="5400000" algn="ctr" rotWithShape="0">
                <a:srgbClr val="7C6FE0">
                  <a:alpha val="7500"/>
                </a:srgbClr>
              </a:outerShdw>
            </a:effectLst>
          </p:spPr>
        </p:sp>
        <p:sp>
          <p:nvSpPr>
            <p:cNvPr id="18" name="Ellipse 18"/>
            <p:cNvSpPr/>
            <p:nvPr/>
          </p:nvSpPr>
          <p:spPr>
            <a:xfrm>
              <a:off x="781050" y="3733800"/>
              <a:ext cx="457200" cy="457200"/>
            </a:xfrm>
            <a:prstGeom prst="ellipse">
              <a:avLst/>
            </a:prstGeom>
            <a:solidFill>
              <a:schemeClr val="accent1">
                <a:alpha val="15000"/>
              </a:schemeClr>
            </a:solidFill>
            <a:ln>
              <a:noFill/>
            </a:ln>
          </p:spPr>
        </p:sp>
        <p:grpSp>
          <p:nvGrpSpPr>
            <p:cNvPr id="21" name="Group 21"/>
            <p:cNvGrpSpPr/>
            <p:nvPr/>
          </p:nvGrpSpPr>
          <p:grpSpPr>
            <a:xfrm>
              <a:off x="914400" y="3867150"/>
              <a:ext cx="192350" cy="190500"/>
              <a:chOff x="914400" y="3867150"/>
              <a:chExt cx="192350" cy="190500"/>
            </a:xfrm>
          </p:grpSpPr>
          <p:sp>
            <p:nvSpPr>
              <p:cNvPr id="19" name="Freeform 19"/>
              <p:cNvSpPr/>
              <p:nvPr/>
            </p:nvSpPr>
            <p:spPr>
              <a:xfrm>
                <a:off x="914400" y="3867150"/>
                <a:ext cx="190500" cy="190500"/>
              </a:xfrm>
              <a:custGeom>
                <a:avLst/>
                <a:gdLst/>
                <a:ahLst/>
                <a:cxnLst/>
                <a:rect l="l" t="t" r="r" b="b"/>
                <a:pathLst>
                  <a:path w="190500" h="190500">
                    <a:moveTo>
                      <a:pt x="9525" y="0"/>
                    </a:moveTo>
                    <a:cubicBezTo>
                      <a:pt x="14786" y="0"/>
                      <a:pt x="19050" y="4264"/>
                      <a:pt x="19050" y="9525"/>
                    </a:cubicBezTo>
                    <a:lnTo>
                      <a:pt x="19050" y="171450"/>
                    </a:lnTo>
                    <a:lnTo>
                      <a:pt x="180975" y="171450"/>
                    </a:lnTo>
                    <a:cubicBezTo>
                      <a:pt x="185804" y="171451"/>
                      <a:pt x="189868" y="175065"/>
                      <a:pt x="190433" y="179861"/>
                    </a:cubicBezTo>
                    <a:lnTo>
                      <a:pt x="190500" y="180975"/>
                    </a:lnTo>
                    <a:cubicBezTo>
                      <a:pt x="190500" y="186236"/>
                      <a:pt x="186236" y="190500"/>
                      <a:pt x="180975" y="190500"/>
                    </a:cubicBezTo>
                    <a:lnTo>
                      <a:pt x="9525" y="190500"/>
                    </a:lnTo>
                    <a:cubicBezTo>
                      <a:pt x="4264" y="190500"/>
                      <a:pt x="0" y="186236"/>
                      <a:pt x="0" y="180975"/>
                    </a:cubicBezTo>
                    <a:lnTo>
                      <a:pt x="0" y="9525"/>
                    </a:lnTo>
                    <a:cubicBezTo>
                      <a:pt x="0" y="4264"/>
                      <a:pt x="4264" y="0"/>
                      <a:pt x="9525" y="0"/>
                    </a:cubicBezTo>
                    <a:close/>
                  </a:path>
                </a:pathLst>
              </a:custGeom>
              <a:solidFill>
                <a:schemeClr val="accent1"/>
              </a:solidFill>
              <a:ln>
                <a:noFill/>
              </a:ln>
            </p:spPr>
          </p:sp>
          <p:sp>
            <p:nvSpPr>
              <p:cNvPr id="20" name="Freeform 20"/>
              <p:cNvSpPr/>
              <p:nvPr/>
            </p:nvSpPr>
            <p:spPr>
              <a:xfrm>
                <a:off x="949376" y="3886200"/>
                <a:ext cx="157374" cy="136230"/>
              </a:xfrm>
              <a:custGeom>
                <a:avLst/>
                <a:gdLst/>
                <a:ahLst/>
                <a:cxnLst/>
                <a:rect l="l" t="t" r="r" b="b"/>
                <a:pathLst>
                  <a:path w="157374" h="136230">
                    <a:moveTo>
                      <a:pt x="126949" y="0"/>
                    </a:moveTo>
                    <a:cubicBezTo>
                      <a:pt x="137890" y="25"/>
                      <a:pt x="147857" y="6295"/>
                      <a:pt x="152616" y="16147"/>
                    </a:cubicBezTo>
                    <a:cubicBezTo>
                      <a:pt x="157374" y="25999"/>
                      <a:pt x="156089" y="37704"/>
                      <a:pt x="149307" y="46289"/>
                    </a:cubicBezTo>
                    <a:cubicBezTo>
                      <a:pt x="142524" y="54874"/>
                      <a:pt x="131434" y="58833"/>
                      <a:pt x="120748" y="56483"/>
                    </a:cubicBezTo>
                    <a:lnTo>
                      <a:pt x="101679" y="86982"/>
                    </a:lnTo>
                    <a:cubicBezTo>
                      <a:pt x="110677" y="98287"/>
                      <a:pt x="109821" y="114529"/>
                      <a:pt x="99685" y="124825"/>
                    </a:cubicBezTo>
                    <a:cubicBezTo>
                      <a:pt x="89549" y="135121"/>
                      <a:pt x="73322" y="136230"/>
                      <a:pt x="61878" y="127411"/>
                    </a:cubicBezTo>
                    <a:cubicBezTo>
                      <a:pt x="50434" y="118591"/>
                      <a:pt x="47375" y="102616"/>
                      <a:pt x="54750" y="90192"/>
                    </a:cubicBezTo>
                    <a:lnTo>
                      <a:pt x="41624" y="74428"/>
                    </a:lnTo>
                    <a:cubicBezTo>
                      <a:pt x="28575" y="79260"/>
                      <a:pt x="13943" y="73990"/>
                      <a:pt x="6971" y="61947"/>
                    </a:cubicBezTo>
                    <a:cubicBezTo>
                      <a:pt x="0" y="49905"/>
                      <a:pt x="2717" y="34591"/>
                      <a:pt x="13405" y="25682"/>
                    </a:cubicBezTo>
                    <a:cubicBezTo>
                      <a:pt x="24094" y="16772"/>
                      <a:pt x="39646" y="16858"/>
                      <a:pt x="50237" y="25883"/>
                    </a:cubicBezTo>
                    <a:cubicBezTo>
                      <a:pt x="60827" y="34909"/>
                      <a:pt x="63376" y="50252"/>
                      <a:pt x="56274" y="62217"/>
                    </a:cubicBezTo>
                    <a:lnTo>
                      <a:pt x="69399" y="77972"/>
                    </a:lnTo>
                    <a:cubicBezTo>
                      <a:pt x="74556" y="76059"/>
                      <a:pt x="80156" y="75679"/>
                      <a:pt x="85525" y="76876"/>
                    </a:cubicBezTo>
                    <a:lnTo>
                      <a:pt x="104594" y="46368"/>
                    </a:lnTo>
                    <a:cubicBezTo>
                      <a:pt x="97763" y="37784"/>
                      <a:pt x="96450" y="26047"/>
                      <a:pt x="101214" y="16165"/>
                    </a:cubicBezTo>
                    <a:cubicBezTo>
                      <a:pt x="105978" y="6284"/>
                      <a:pt x="115979" y="2"/>
                      <a:pt x="126949" y="0"/>
                    </a:cubicBezTo>
                    <a:close/>
                  </a:path>
                </a:pathLst>
              </a:custGeom>
              <a:solidFill>
                <a:schemeClr val="accent1"/>
              </a:solidFill>
              <a:ln>
                <a:noFill/>
              </a:ln>
            </p:spPr>
          </p:sp>
        </p:grpSp>
        <p:sp>
          <p:nvSpPr>
            <p:cNvPr id="22" name="TextBox 22"/>
            <p:cNvSpPr txBox="1"/>
            <p:nvPr/>
          </p:nvSpPr>
          <p:spPr>
            <a:xfrm>
              <a:off x="1383030" y="3676650"/>
              <a:ext cx="2318576" cy="293370"/>
            </a:xfrm>
            <a:prstGeom prst="rect">
              <a:avLst/>
            </a:prstGeom>
            <a:noFill/>
            <a:ln>
              <a:noFill/>
            </a:ln>
          </p:spPr>
          <p:txBody>
            <a:bodyPr wrap="none" lIns="0" tIns="0" rIns="0" bIns="0" anchor="t" anchorCtr="0">
              <a:spAutoFit/>
            </a:bodyPr>
            <a:lstStyle/>
            <a:p>
              <a:pPr algn="l"/>
              <a:r>
                <a:rPr lang="en-GB" sz="1500" dirty="0">
                  <a:solidFill>
                    <a:schemeClr val="dk1"/>
                  </a:solidFill>
                  <a:latin typeface="+mn-lt"/>
                  <a:ea typeface="+mn-ea"/>
                  <a:cs typeface="+mn-cs"/>
                </a:rPr>
                <a:t>SLA and response time,</a:t>
              </a:r>
              <a:endParaRPr lang="en-GB" sz="1500" dirty="0">
                <a:solidFill>
                  <a:schemeClr val="dk1"/>
                </a:solidFill>
                <a:latin typeface="+mn-lt"/>
                <a:ea typeface="+mn-ea"/>
                <a:cs typeface="+mn-cs"/>
              </a:endParaRPr>
            </a:p>
          </p:txBody>
        </p:sp>
        <p:sp>
          <p:nvSpPr>
            <p:cNvPr id="23" name="TextBox 23"/>
            <p:cNvSpPr txBox="1"/>
            <p:nvPr/>
          </p:nvSpPr>
          <p:spPr>
            <a:xfrm>
              <a:off x="1383030" y="3905250"/>
              <a:ext cx="2751392" cy="293370"/>
            </a:xfrm>
            <a:prstGeom prst="rect">
              <a:avLst/>
            </a:prstGeom>
            <a:noFill/>
            <a:ln>
              <a:noFill/>
            </a:ln>
          </p:spPr>
          <p:txBody>
            <a:bodyPr wrap="none" lIns="0" tIns="0" rIns="0" bIns="0" anchor="t" anchorCtr="0">
              <a:spAutoFit/>
            </a:bodyPr>
            <a:lstStyle/>
            <a:p>
              <a:pPr algn="l"/>
              <a:r>
                <a:rPr lang="en-GB" sz="1500" dirty="0">
                  <a:solidFill>
                    <a:schemeClr val="dk1"/>
                  </a:solidFill>
                  <a:latin typeface="+mn-lt"/>
                  <a:ea typeface="+mn-ea"/>
                  <a:cs typeface="+mn-cs"/>
                </a:rPr>
                <a:t>tracked at mission control.</a:t>
              </a:r>
              <a:endParaRPr lang="en-GB" sz="1500" dirty="0">
                <a:solidFill>
                  <a:schemeClr val="dk1"/>
                </a:solidFill>
                <a:latin typeface="+mn-lt"/>
                <a:ea typeface="+mn-ea"/>
                <a:cs typeface="+mn-cs"/>
              </a:endParaRPr>
            </a:p>
          </p:txBody>
        </p:sp>
      </p:grpSp>
      <p:grpSp>
        <p:nvGrpSpPr>
          <p:cNvPr id="30" name="Group 30"/>
          <p:cNvGrpSpPr/>
          <p:nvPr/>
        </p:nvGrpSpPr>
        <p:grpSpPr>
          <a:xfrm>
            <a:off x="609600" y="4610100"/>
            <a:ext cx="4000500" cy="904875"/>
            <a:chOff x="609600" y="4610100"/>
            <a:chExt cx="4000500" cy="904875"/>
          </a:xfrm>
        </p:grpSpPr>
        <p:sp>
          <p:nvSpPr>
            <p:cNvPr id="25" name="Rectangle 25"/>
            <p:cNvSpPr/>
            <p:nvPr/>
          </p:nvSpPr>
          <p:spPr>
            <a:xfrm>
              <a:off x="609600" y="4610100"/>
              <a:ext cx="4000500" cy="904875"/>
            </a:xfrm>
            <a:prstGeom prst="roundRect">
              <a:avLst>
                <a:gd name="adj" fmla="val 23158"/>
              </a:avLst>
            </a:prstGeom>
            <a:solidFill>
              <a:schemeClr val="lt2"/>
            </a:solidFill>
            <a:ln>
              <a:noFill/>
            </a:ln>
            <a:effectLst>
              <a:outerShdw blurRad="266700" dist="57150" dir="5400000" algn="ctr" rotWithShape="0">
                <a:srgbClr val="7C6FE0">
                  <a:alpha val="7500"/>
                </a:srgbClr>
              </a:outerShdw>
            </a:effectLst>
          </p:spPr>
        </p:sp>
        <p:sp>
          <p:nvSpPr>
            <p:cNvPr id="26" name="Ellipse 26"/>
            <p:cNvSpPr/>
            <p:nvPr/>
          </p:nvSpPr>
          <p:spPr>
            <a:xfrm>
              <a:off x="781050" y="4829175"/>
              <a:ext cx="457200" cy="457200"/>
            </a:xfrm>
            <a:prstGeom prst="ellipse">
              <a:avLst/>
            </a:prstGeom>
            <a:solidFill>
              <a:schemeClr val="accent1">
                <a:alpha val="15000"/>
              </a:schemeClr>
            </a:solidFill>
            <a:ln>
              <a:noFill/>
            </a:ln>
          </p:spPr>
        </p:sp>
        <p:sp>
          <p:nvSpPr>
            <p:cNvPr id="27" name="Freeform 27"/>
            <p:cNvSpPr/>
            <p:nvPr/>
          </p:nvSpPr>
          <p:spPr>
            <a:xfrm>
              <a:off x="922893" y="4972050"/>
              <a:ext cx="173831" cy="171780"/>
            </a:xfrm>
            <a:custGeom>
              <a:avLst/>
              <a:gdLst/>
              <a:ahLst/>
              <a:cxnLst/>
              <a:rect l="l" t="t" r="r" b="b"/>
              <a:pathLst>
                <a:path w="173831" h="171780">
                  <a:moveTo>
                    <a:pt x="171473" y="119567"/>
                  </a:moveTo>
                  <a:cubicBezTo>
                    <a:pt x="173822" y="124270"/>
                    <a:pt x="171916" y="129987"/>
                    <a:pt x="167215" y="132340"/>
                  </a:cubicBezTo>
                  <a:lnTo>
                    <a:pt x="91015" y="170440"/>
                  </a:lnTo>
                  <a:cubicBezTo>
                    <a:pt x="88335" y="171780"/>
                    <a:pt x="85180" y="171780"/>
                    <a:pt x="82500" y="170440"/>
                  </a:cubicBezTo>
                  <a:lnTo>
                    <a:pt x="6300" y="132340"/>
                  </a:lnTo>
                  <a:cubicBezTo>
                    <a:pt x="1770" y="129898"/>
                    <a:pt x="0" y="124300"/>
                    <a:pt x="2301" y="119697"/>
                  </a:cubicBezTo>
                  <a:cubicBezTo>
                    <a:pt x="4603" y="115094"/>
                    <a:pt x="10144" y="113152"/>
                    <a:pt x="14815" y="115310"/>
                  </a:cubicBezTo>
                  <a:lnTo>
                    <a:pt x="86757" y="151257"/>
                  </a:lnTo>
                  <a:lnTo>
                    <a:pt x="158709" y="115300"/>
                  </a:lnTo>
                  <a:cubicBezTo>
                    <a:pt x="163412" y="112951"/>
                    <a:pt x="169129" y="114857"/>
                    <a:pt x="171482" y="119558"/>
                  </a:cubicBezTo>
                  <a:moveTo>
                    <a:pt x="171482" y="81458"/>
                  </a:moveTo>
                  <a:cubicBezTo>
                    <a:pt x="173831" y="86161"/>
                    <a:pt x="171926" y="91878"/>
                    <a:pt x="167225" y="94231"/>
                  </a:cubicBezTo>
                  <a:lnTo>
                    <a:pt x="91025" y="132331"/>
                  </a:lnTo>
                  <a:cubicBezTo>
                    <a:pt x="88344" y="133670"/>
                    <a:pt x="85190" y="133670"/>
                    <a:pt x="82509" y="132331"/>
                  </a:cubicBezTo>
                  <a:lnTo>
                    <a:pt x="6309" y="94231"/>
                  </a:lnTo>
                  <a:cubicBezTo>
                    <a:pt x="1780" y="91788"/>
                    <a:pt x="10" y="86190"/>
                    <a:pt x="2311" y="81587"/>
                  </a:cubicBezTo>
                  <a:cubicBezTo>
                    <a:pt x="4612" y="76985"/>
                    <a:pt x="10153" y="75042"/>
                    <a:pt x="14825" y="77200"/>
                  </a:cubicBezTo>
                  <a:lnTo>
                    <a:pt x="86757" y="113157"/>
                  </a:lnTo>
                  <a:lnTo>
                    <a:pt x="158709" y="77200"/>
                  </a:lnTo>
                  <a:cubicBezTo>
                    <a:pt x="163412" y="74851"/>
                    <a:pt x="169129" y="76757"/>
                    <a:pt x="171482" y="81458"/>
                  </a:cubicBezTo>
                  <a:moveTo>
                    <a:pt x="86834" y="0"/>
                  </a:moveTo>
                  <a:cubicBezTo>
                    <a:pt x="87189" y="0"/>
                    <a:pt x="87542" y="22"/>
                    <a:pt x="87891" y="67"/>
                  </a:cubicBezTo>
                  <a:lnTo>
                    <a:pt x="88948" y="257"/>
                  </a:lnTo>
                  <a:lnTo>
                    <a:pt x="89767" y="486"/>
                  </a:lnTo>
                  <a:lnTo>
                    <a:pt x="89882" y="543"/>
                  </a:lnTo>
                  <a:lnTo>
                    <a:pt x="89996" y="562"/>
                  </a:lnTo>
                  <a:lnTo>
                    <a:pt x="90272" y="695"/>
                  </a:lnTo>
                  <a:lnTo>
                    <a:pt x="90748" y="876"/>
                  </a:lnTo>
                  <a:lnTo>
                    <a:pt x="90901" y="962"/>
                  </a:lnTo>
                  <a:lnTo>
                    <a:pt x="91015" y="1010"/>
                  </a:lnTo>
                  <a:lnTo>
                    <a:pt x="167215" y="39110"/>
                  </a:lnTo>
                  <a:cubicBezTo>
                    <a:pt x="170438" y="40725"/>
                    <a:pt x="172472" y="44020"/>
                    <a:pt x="172472" y="47625"/>
                  </a:cubicBezTo>
                  <a:cubicBezTo>
                    <a:pt x="172472" y="51230"/>
                    <a:pt x="170438" y="54525"/>
                    <a:pt x="167215" y="56140"/>
                  </a:cubicBezTo>
                  <a:lnTo>
                    <a:pt x="91015" y="94240"/>
                  </a:lnTo>
                  <a:cubicBezTo>
                    <a:pt x="88335" y="95580"/>
                    <a:pt x="85180" y="95580"/>
                    <a:pt x="82500" y="94240"/>
                  </a:cubicBezTo>
                  <a:lnTo>
                    <a:pt x="6300" y="56140"/>
                  </a:lnTo>
                  <a:cubicBezTo>
                    <a:pt x="3077" y="54525"/>
                    <a:pt x="1043" y="51230"/>
                    <a:pt x="1043" y="47625"/>
                  </a:cubicBezTo>
                  <a:cubicBezTo>
                    <a:pt x="1043" y="44020"/>
                    <a:pt x="3077" y="40725"/>
                    <a:pt x="6300" y="39110"/>
                  </a:cubicBezTo>
                  <a:lnTo>
                    <a:pt x="82500" y="1010"/>
                  </a:lnTo>
                  <a:lnTo>
                    <a:pt x="82605" y="962"/>
                  </a:lnTo>
                  <a:lnTo>
                    <a:pt x="82776" y="867"/>
                  </a:lnTo>
                  <a:lnTo>
                    <a:pt x="83519" y="562"/>
                  </a:lnTo>
                  <a:lnTo>
                    <a:pt x="83624" y="543"/>
                  </a:lnTo>
                  <a:lnTo>
                    <a:pt x="83748" y="486"/>
                  </a:lnTo>
                  <a:lnTo>
                    <a:pt x="84567" y="257"/>
                  </a:lnTo>
                  <a:lnTo>
                    <a:pt x="85614" y="67"/>
                  </a:lnTo>
                  <a:lnTo>
                    <a:pt x="86148" y="19"/>
                  </a:lnTo>
                  <a:close/>
                </a:path>
              </a:pathLst>
            </a:custGeom>
            <a:solidFill>
              <a:schemeClr val="accent1"/>
            </a:solidFill>
            <a:ln>
              <a:noFill/>
            </a:ln>
          </p:spPr>
        </p:sp>
        <p:sp>
          <p:nvSpPr>
            <p:cNvPr id="28" name="TextBox 28"/>
            <p:cNvSpPr txBox="1"/>
            <p:nvPr/>
          </p:nvSpPr>
          <p:spPr>
            <a:xfrm>
              <a:off x="1383030" y="4772025"/>
              <a:ext cx="2465872" cy="293370"/>
            </a:xfrm>
            <a:prstGeom prst="rect">
              <a:avLst/>
            </a:prstGeom>
            <a:noFill/>
            <a:ln>
              <a:noFill/>
            </a:ln>
          </p:spPr>
          <p:txBody>
            <a:bodyPr wrap="none" lIns="0" tIns="0" rIns="0" bIns="0" anchor="t" anchorCtr="0">
              <a:spAutoFit/>
            </a:bodyPr>
            <a:lstStyle/>
            <a:p>
              <a:pPr algn="l"/>
              <a:r>
                <a:rPr lang="en-GB" sz="1500" dirty="0">
                  <a:solidFill>
                    <a:schemeClr val="dk1"/>
                  </a:solidFill>
                  <a:latin typeface="+mn-lt"/>
                  <a:ea typeface="+mn-ea"/>
                  <a:cs typeface="+mn-cs"/>
                </a:rPr>
                <a:t>Managed asset and host-</a:t>
              </a:r>
              <a:endParaRPr lang="en-GB" sz="1500" dirty="0">
                <a:solidFill>
                  <a:schemeClr val="dk1"/>
                </a:solidFill>
                <a:latin typeface="+mn-lt"/>
                <a:ea typeface="+mn-ea"/>
                <a:cs typeface="+mn-cs"/>
              </a:endParaRPr>
            </a:p>
          </p:txBody>
        </p:sp>
        <p:sp>
          <p:nvSpPr>
            <p:cNvPr id="29" name="TextBox 29"/>
            <p:cNvSpPr txBox="1"/>
            <p:nvPr/>
          </p:nvSpPr>
          <p:spPr>
            <a:xfrm>
              <a:off x="1383030" y="5000625"/>
              <a:ext cx="2502884" cy="293370"/>
            </a:xfrm>
            <a:prstGeom prst="rect">
              <a:avLst/>
            </a:prstGeom>
            <a:noFill/>
            <a:ln>
              <a:noFill/>
            </a:ln>
          </p:spPr>
          <p:txBody>
            <a:bodyPr wrap="none" lIns="0" tIns="0" rIns="0" bIns="0" anchor="t" anchorCtr="0">
              <a:spAutoFit/>
            </a:bodyPr>
            <a:lstStyle/>
            <a:p>
              <a:pPr algn="l"/>
              <a:r>
                <a:rPr lang="en-GB" sz="1500" dirty="0">
                  <a:solidFill>
                    <a:schemeClr val="dk1"/>
                  </a:solidFill>
                  <a:latin typeface="+mn-lt"/>
                  <a:ea typeface="+mn-ea"/>
                  <a:cs typeface="+mn-cs"/>
                </a:rPr>
                <a:t>lock state per target CI.</a:t>
              </a:r>
              <a:endParaRPr lang="en-GB" sz="1500" dirty="0">
                <a:solidFill>
                  <a:schemeClr val="dk1"/>
                </a:solidFill>
                <a:latin typeface="+mn-lt"/>
                <a:ea typeface="+mn-ea"/>
                <a:cs typeface="+mn-cs"/>
              </a:endParaRPr>
            </a:p>
          </p:txBody>
        </p:sp>
      </p:grpSp>
      <p:grpSp>
        <p:nvGrpSpPr>
          <p:cNvPr id="42" name="Group 42"/>
          <p:cNvGrpSpPr/>
          <p:nvPr/>
        </p:nvGrpSpPr>
        <p:grpSpPr>
          <a:xfrm>
            <a:off x="609600" y="5705475"/>
            <a:ext cx="4000500" cy="542925"/>
            <a:chOff x="609600" y="5705475"/>
            <a:chExt cx="4000500" cy="542925"/>
          </a:xfrm>
        </p:grpSpPr>
        <p:sp>
          <p:nvSpPr>
            <p:cNvPr id="31" name="Rectangle 31"/>
            <p:cNvSpPr/>
            <p:nvPr/>
          </p:nvSpPr>
          <p:spPr>
            <a:xfrm>
              <a:off x="609600" y="5705475"/>
              <a:ext cx="4000500" cy="542925"/>
            </a:xfrm>
            <a:prstGeom prst="roundRect">
              <a:avLst>
                <a:gd name="adj" fmla="val 38596"/>
              </a:avLst>
            </a:prstGeom>
            <a:solidFill>
              <a:schemeClr val="lt2"/>
            </a:solidFill>
            <a:ln>
              <a:noFill/>
            </a:ln>
            <a:effectLst>
              <a:outerShdw blurRad="266700" dist="57150" dir="5400000" algn="ctr" rotWithShape="0">
                <a:srgbClr val="7C6FE0">
                  <a:alpha val="7500"/>
                </a:srgbClr>
              </a:outerShdw>
            </a:effectLst>
          </p:spPr>
        </p:sp>
        <p:sp>
          <p:nvSpPr>
            <p:cNvPr id="32" name="Ellipse 32"/>
            <p:cNvSpPr/>
            <p:nvPr/>
          </p:nvSpPr>
          <p:spPr>
            <a:xfrm>
              <a:off x="819150" y="5781675"/>
              <a:ext cx="381000" cy="381000"/>
            </a:xfrm>
            <a:prstGeom prst="ellipse">
              <a:avLst/>
            </a:prstGeom>
            <a:solidFill>
              <a:schemeClr val="accent3">
                <a:alpha val="16000"/>
              </a:schemeClr>
            </a:solidFill>
            <a:ln>
              <a:noFill/>
            </a:ln>
          </p:spPr>
        </p:sp>
        <p:grpSp>
          <p:nvGrpSpPr>
            <p:cNvPr id="40" name="Group 40"/>
            <p:cNvGrpSpPr/>
            <p:nvPr/>
          </p:nvGrpSpPr>
          <p:grpSpPr>
            <a:xfrm>
              <a:off x="930051" y="5892800"/>
              <a:ext cx="159198" cy="158750"/>
              <a:chOff x="930051" y="5892800"/>
              <a:chExt cx="159198" cy="158750"/>
            </a:xfrm>
          </p:grpSpPr>
          <p:sp>
            <p:nvSpPr>
              <p:cNvPr id="33" name="Freeform 33"/>
              <p:cNvSpPr/>
              <p:nvPr/>
            </p:nvSpPr>
            <p:spPr>
              <a:xfrm>
                <a:off x="930051" y="5964237"/>
                <a:ext cx="24260" cy="15875"/>
              </a:xfrm>
              <a:custGeom>
                <a:avLst/>
                <a:gdLst/>
                <a:ahLst/>
                <a:cxnLst/>
                <a:rect l="l" t="t" r="r" b="b"/>
                <a:pathLst>
                  <a:path w="24260" h="15875">
                    <a:moveTo>
                      <a:pt x="16099" y="0"/>
                    </a:moveTo>
                    <a:cubicBezTo>
                      <a:pt x="20298" y="5"/>
                      <a:pt x="23768" y="3280"/>
                      <a:pt x="24014" y="7472"/>
                    </a:cubicBezTo>
                    <a:cubicBezTo>
                      <a:pt x="24260" y="11665"/>
                      <a:pt x="21198" y="15323"/>
                      <a:pt x="17027" y="15819"/>
                    </a:cubicBezTo>
                    <a:lnTo>
                      <a:pt x="16099" y="15875"/>
                    </a:lnTo>
                    <a:lnTo>
                      <a:pt x="8161" y="15875"/>
                    </a:lnTo>
                    <a:cubicBezTo>
                      <a:pt x="3961" y="15870"/>
                      <a:pt x="492" y="12595"/>
                      <a:pt x="246" y="8403"/>
                    </a:cubicBezTo>
                    <a:cubicBezTo>
                      <a:pt x="0" y="4210"/>
                      <a:pt x="3062" y="552"/>
                      <a:pt x="7232" y="56"/>
                    </a:cubicBezTo>
                    <a:lnTo>
                      <a:pt x="8161" y="0"/>
                    </a:lnTo>
                    <a:lnTo>
                      <a:pt x="16099" y="0"/>
                    </a:lnTo>
                    <a:close/>
                  </a:path>
                </a:pathLst>
              </a:custGeom>
              <a:solidFill>
                <a:srgbClr val="B9862E"/>
              </a:solidFill>
              <a:ln>
                <a:noFill/>
              </a:ln>
            </p:spPr>
          </p:sp>
          <p:sp>
            <p:nvSpPr>
              <p:cNvPr id="34" name="Freeform 34"/>
              <p:cNvSpPr/>
              <p:nvPr/>
            </p:nvSpPr>
            <p:spPr>
              <a:xfrm>
                <a:off x="1001712" y="5892800"/>
                <a:ext cx="15875" cy="24036"/>
              </a:xfrm>
              <a:custGeom>
                <a:avLst/>
                <a:gdLst/>
                <a:ahLst/>
                <a:cxnLst/>
                <a:rect l="l" t="t" r="r" b="b"/>
                <a:pathLst>
                  <a:path w="15875" h="24036">
                    <a:moveTo>
                      <a:pt x="7937" y="0"/>
                    </a:moveTo>
                    <a:cubicBezTo>
                      <a:pt x="11962" y="1"/>
                      <a:pt x="15349" y="3012"/>
                      <a:pt x="15819" y="7009"/>
                    </a:cubicBezTo>
                    <a:lnTo>
                      <a:pt x="15875" y="7937"/>
                    </a:lnTo>
                    <a:lnTo>
                      <a:pt x="15875" y="15875"/>
                    </a:lnTo>
                    <a:cubicBezTo>
                      <a:pt x="15870" y="20075"/>
                      <a:pt x="12595" y="23544"/>
                      <a:pt x="8403" y="23790"/>
                    </a:cubicBezTo>
                    <a:cubicBezTo>
                      <a:pt x="4210" y="24036"/>
                      <a:pt x="552" y="20974"/>
                      <a:pt x="56" y="16804"/>
                    </a:cubicBezTo>
                    <a:lnTo>
                      <a:pt x="0" y="15875"/>
                    </a:lnTo>
                    <a:lnTo>
                      <a:pt x="0" y="7937"/>
                    </a:lnTo>
                    <a:cubicBezTo>
                      <a:pt x="0" y="3554"/>
                      <a:pt x="3554" y="0"/>
                      <a:pt x="7937" y="0"/>
                    </a:cubicBezTo>
                    <a:close/>
                  </a:path>
                </a:pathLst>
              </a:custGeom>
              <a:solidFill>
                <a:srgbClr val="B9862E"/>
              </a:solidFill>
              <a:ln>
                <a:noFill/>
              </a:ln>
            </p:spPr>
          </p:sp>
          <p:sp>
            <p:nvSpPr>
              <p:cNvPr id="35" name="Freeform 35"/>
              <p:cNvSpPr/>
              <p:nvPr/>
            </p:nvSpPr>
            <p:spPr>
              <a:xfrm>
                <a:off x="1064989" y="5964237"/>
                <a:ext cx="24260" cy="15875"/>
              </a:xfrm>
              <a:custGeom>
                <a:avLst/>
                <a:gdLst/>
                <a:ahLst/>
                <a:cxnLst/>
                <a:rect l="l" t="t" r="r" b="b"/>
                <a:pathLst>
                  <a:path w="24260" h="15875">
                    <a:moveTo>
                      <a:pt x="16099" y="0"/>
                    </a:moveTo>
                    <a:cubicBezTo>
                      <a:pt x="20298" y="5"/>
                      <a:pt x="23768" y="3280"/>
                      <a:pt x="24014" y="7472"/>
                    </a:cubicBezTo>
                    <a:cubicBezTo>
                      <a:pt x="24260" y="11665"/>
                      <a:pt x="21198" y="15323"/>
                      <a:pt x="17027" y="15819"/>
                    </a:cubicBezTo>
                    <a:lnTo>
                      <a:pt x="16099" y="15875"/>
                    </a:lnTo>
                    <a:lnTo>
                      <a:pt x="8161" y="15875"/>
                    </a:lnTo>
                    <a:cubicBezTo>
                      <a:pt x="3961" y="15870"/>
                      <a:pt x="492" y="12595"/>
                      <a:pt x="246" y="8403"/>
                    </a:cubicBezTo>
                    <a:cubicBezTo>
                      <a:pt x="0" y="4210"/>
                      <a:pt x="3062" y="552"/>
                      <a:pt x="7232" y="56"/>
                    </a:cubicBezTo>
                    <a:lnTo>
                      <a:pt x="8161" y="0"/>
                    </a:lnTo>
                    <a:lnTo>
                      <a:pt x="16099" y="0"/>
                    </a:lnTo>
                    <a:close/>
                  </a:path>
                </a:pathLst>
              </a:custGeom>
              <a:solidFill>
                <a:srgbClr val="B9862E"/>
              </a:solidFill>
              <a:ln>
                <a:noFill/>
              </a:ln>
            </p:spPr>
          </p:sp>
          <p:sp>
            <p:nvSpPr>
              <p:cNvPr id="36" name="Freeform 36"/>
              <p:cNvSpPr/>
              <p:nvPr/>
            </p:nvSpPr>
            <p:spPr>
              <a:xfrm>
                <a:off x="950140" y="5912653"/>
                <a:ext cx="22978" cy="23109"/>
              </a:xfrm>
              <a:custGeom>
                <a:avLst/>
                <a:gdLst/>
                <a:ahLst/>
                <a:cxnLst/>
                <a:rect l="l" t="t" r="r" b="b"/>
                <a:pathLst>
                  <a:path w="22978" h="23109">
                    <a:moveTo>
                      <a:pt x="3099" y="3110"/>
                    </a:moveTo>
                    <a:cubicBezTo>
                      <a:pt x="5927" y="282"/>
                      <a:pt x="10416" y="0"/>
                      <a:pt x="13576" y="2451"/>
                    </a:cubicBezTo>
                    <a:lnTo>
                      <a:pt x="14322" y="3110"/>
                    </a:lnTo>
                    <a:lnTo>
                      <a:pt x="19879" y="8666"/>
                    </a:lnTo>
                    <a:cubicBezTo>
                      <a:pt x="22833" y="11631"/>
                      <a:pt x="22978" y="16380"/>
                      <a:pt x="20210" y="19519"/>
                    </a:cubicBezTo>
                    <a:cubicBezTo>
                      <a:pt x="17442" y="22658"/>
                      <a:pt x="12712" y="23109"/>
                      <a:pt x="9401" y="20549"/>
                    </a:cubicBezTo>
                    <a:lnTo>
                      <a:pt x="8655" y="19890"/>
                    </a:lnTo>
                    <a:lnTo>
                      <a:pt x="3099" y="14334"/>
                    </a:lnTo>
                    <a:cubicBezTo>
                      <a:pt x="0" y="11234"/>
                      <a:pt x="0" y="6210"/>
                      <a:pt x="3099" y="3110"/>
                    </a:cubicBezTo>
                    <a:close/>
                  </a:path>
                </a:pathLst>
              </a:custGeom>
              <a:solidFill>
                <a:srgbClr val="B9862E"/>
              </a:solidFill>
              <a:ln>
                <a:noFill/>
              </a:ln>
            </p:spPr>
          </p:sp>
          <p:sp>
            <p:nvSpPr>
              <p:cNvPr id="37" name="Freeform 37"/>
              <p:cNvSpPr/>
              <p:nvPr/>
            </p:nvSpPr>
            <p:spPr>
              <a:xfrm>
                <a:off x="1046063" y="5912664"/>
                <a:ext cx="23218" cy="22979"/>
              </a:xfrm>
              <a:custGeom>
                <a:avLst/>
                <a:gdLst/>
                <a:ahLst/>
                <a:cxnLst/>
                <a:rect l="l" t="t" r="r" b="b"/>
                <a:pathLst>
                  <a:path w="23218" h="22979">
                    <a:moveTo>
                      <a:pt x="8775" y="3099"/>
                    </a:moveTo>
                    <a:cubicBezTo>
                      <a:pt x="11740" y="145"/>
                      <a:pt x="16489" y="0"/>
                      <a:pt x="19628" y="2768"/>
                    </a:cubicBezTo>
                    <a:cubicBezTo>
                      <a:pt x="22767" y="5536"/>
                      <a:pt x="23218" y="10266"/>
                      <a:pt x="20658" y="13577"/>
                    </a:cubicBezTo>
                    <a:lnTo>
                      <a:pt x="19999" y="14323"/>
                    </a:lnTo>
                    <a:lnTo>
                      <a:pt x="14443" y="19879"/>
                    </a:lnTo>
                    <a:cubicBezTo>
                      <a:pt x="11478" y="22834"/>
                      <a:pt x="6729" y="22979"/>
                      <a:pt x="3590" y="20211"/>
                    </a:cubicBezTo>
                    <a:cubicBezTo>
                      <a:pt x="451" y="17443"/>
                      <a:pt x="0" y="12713"/>
                      <a:pt x="2560" y="9402"/>
                    </a:cubicBezTo>
                    <a:lnTo>
                      <a:pt x="3219" y="8656"/>
                    </a:lnTo>
                    <a:lnTo>
                      <a:pt x="8775" y="3099"/>
                    </a:lnTo>
                    <a:close/>
                  </a:path>
                </a:pathLst>
              </a:custGeom>
              <a:solidFill>
                <a:srgbClr val="B9862E"/>
              </a:solidFill>
              <a:ln>
                <a:noFill/>
              </a:ln>
            </p:spPr>
          </p:sp>
          <p:sp>
            <p:nvSpPr>
              <p:cNvPr id="38" name="Freeform 38"/>
              <p:cNvSpPr/>
              <p:nvPr/>
            </p:nvSpPr>
            <p:spPr>
              <a:xfrm>
                <a:off x="985837" y="6019800"/>
                <a:ext cx="47625" cy="31750"/>
              </a:xfrm>
              <a:custGeom>
                <a:avLst/>
                <a:gdLst/>
                <a:ahLst/>
                <a:cxnLst/>
                <a:rect l="l" t="t" r="r" b="b"/>
                <a:pathLst>
                  <a:path w="47625" h="31750">
                    <a:moveTo>
                      <a:pt x="39687" y="0"/>
                    </a:moveTo>
                    <a:cubicBezTo>
                      <a:pt x="44071" y="0"/>
                      <a:pt x="47625" y="3554"/>
                      <a:pt x="47625" y="7937"/>
                    </a:cubicBezTo>
                    <a:cubicBezTo>
                      <a:pt x="47625" y="21089"/>
                      <a:pt x="36964" y="31750"/>
                      <a:pt x="23812" y="31750"/>
                    </a:cubicBezTo>
                    <a:cubicBezTo>
                      <a:pt x="10661" y="31750"/>
                      <a:pt x="0" y="21089"/>
                      <a:pt x="0" y="7937"/>
                    </a:cubicBezTo>
                    <a:cubicBezTo>
                      <a:pt x="1" y="3913"/>
                      <a:pt x="3012" y="526"/>
                      <a:pt x="7009" y="56"/>
                    </a:cubicBezTo>
                    <a:lnTo>
                      <a:pt x="7937" y="0"/>
                    </a:lnTo>
                    <a:lnTo>
                      <a:pt x="39687" y="0"/>
                    </a:lnTo>
                    <a:close/>
                  </a:path>
                </a:pathLst>
              </a:custGeom>
              <a:solidFill>
                <a:srgbClr val="B9862E"/>
              </a:solidFill>
              <a:ln>
                <a:noFill/>
              </a:ln>
            </p:spPr>
          </p:sp>
          <p:sp>
            <p:nvSpPr>
              <p:cNvPr id="39" name="Freeform 39"/>
              <p:cNvSpPr/>
              <p:nvPr/>
            </p:nvSpPr>
            <p:spPr>
              <a:xfrm>
                <a:off x="957987" y="5924550"/>
                <a:ext cx="103327" cy="87312"/>
              </a:xfrm>
              <a:custGeom>
                <a:avLst/>
                <a:gdLst/>
                <a:ahLst/>
                <a:cxnLst/>
                <a:rect l="l" t="t" r="r" b="b"/>
                <a:pathLst>
                  <a:path w="103327" h="87312">
                    <a:moveTo>
                      <a:pt x="51663" y="0"/>
                    </a:moveTo>
                    <a:cubicBezTo>
                      <a:pt x="72163" y="0"/>
                      <a:pt x="90362" y="13117"/>
                      <a:pt x="96844" y="32565"/>
                    </a:cubicBezTo>
                    <a:cubicBezTo>
                      <a:pt x="103327" y="52012"/>
                      <a:pt x="96638" y="73425"/>
                      <a:pt x="80238" y="85725"/>
                    </a:cubicBezTo>
                    <a:cubicBezTo>
                      <a:pt x="79144" y="86547"/>
                      <a:pt x="77857" y="87072"/>
                      <a:pt x="76500" y="87249"/>
                    </a:cubicBezTo>
                    <a:lnTo>
                      <a:pt x="75476" y="87312"/>
                    </a:lnTo>
                    <a:lnTo>
                      <a:pt x="27851" y="87312"/>
                    </a:lnTo>
                    <a:cubicBezTo>
                      <a:pt x="26134" y="87312"/>
                      <a:pt x="24462" y="86755"/>
                      <a:pt x="23088" y="85725"/>
                    </a:cubicBezTo>
                    <a:cubicBezTo>
                      <a:pt x="6689" y="73425"/>
                      <a:pt x="0" y="52012"/>
                      <a:pt x="6482" y="32565"/>
                    </a:cubicBezTo>
                    <a:cubicBezTo>
                      <a:pt x="12965" y="13117"/>
                      <a:pt x="31164" y="0"/>
                      <a:pt x="51663" y="0"/>
                    </a:cubicBezTo>
                    <a:close/>
                  </a:path>
                </a:pathLst>
              </a:custGeom>
              <a:solidFill>
                <a:srgbClr val="B9862E"/>
              </a:solidFill>
              <a:ln>
                <a:noFill/>
              </a:ln>
            </p:spPr>
          </p:sp>
        </p:grpSp>
        <p:sp>
          <p:nvSpPr>
            <p:cNvPr id="41" name="TextBox 41"/>
            <p:cNvSpPr txBox="1"/>
            <p:nvPr/>
          </p:nvSpPr>
          <p:spPr>
            <a:xfrm>
              <a:off x="1383792" y="5883592"/>
              <a:ext cx="2782373" cy="264033"/>
            </a:xfrm>
            <a:prstGeom prst="rect">
              <a:avLst/>
            </a:prstGeom>
            <a:noFill/>
            <a:ln>
              <a:noFill/>
            </a:ln>
          </p:spPr>
          <p:txBody>
            <a:bodyPr wrap="none" lIns="0" tIns="0" rIns="0" bIns="0" anchor="t" anchorCtr="0">
              <a:spAutoFit/>
            </a:bodyPr>
            <a:lstStyle/>
            <a:p>
              <a:pPr algn="l"/>
              <a:r>
                <a:rPr lang="en-GB" sz="1350" dirty="0">
                  <a:solidFill>
                    <a:schemeClr val="dk1"/>
                  </a:solidFill>
                  <a:latin typeface="+mn-lt"/>
                  <a:ea typeface="+mn-ea"/>
                  <a:cs typeface="+mn-cs"/>
                </a:rPr>
                <a:t>Makes the next action obvious.</a:t>
              </a:r>
              <a:endParaRPr lang="en-GB" sz="1350" dirty="0">
                <a:solidFill>
                  <a:schemeClr val="dk1"/>
                </a:solidFill>
                <a:latin typeface="+mn-lt"/>
                <a:ea typeface="+mn-ea"/>
                <a:cs typeface="+mn-cs"/>
              </a:endParaRPr>
            </a:p>
          </p:txBody>
        </p:sp>
      </p:grpSp>
      <p:grpSp>
        <p:nvGrpSpPr>
          <p:cNvPr id="45" name="Group 45"/>
          <p:cNvGrpSpPr/>
          <p:nvPr/>
        </p:nvGrpSpPr>
        <p:grpSpPr>
          <a:xfrm>
            <a:off x="4838700" y="2190750"/>
            <a:ext cx="6743700" cy="3924300"/>
            <a:chOff x="4838700" y="2190750"/>
            <a:chExt cx="6743700" cy="3924300"/>
          </a:xfrm>
        </p:grpSpPr>
        <p:sp>
          <p:nvSpPr>
            <p:cNvPr id="43" name="Rectangle 43"/>
            <p:cNvSpPr/>
            <p:nvPr/>
          </p:nvSpPr>
          <p:spPr>
            <a:xfrm>
              <a:off x="4838700" y="2190750"/>
              <a:ext cx="6743700" cy="3924300"/>
            </a:xfrm>
            <a:prstGeom prst="roundRect">
              <a:avLst>
                <a:gd name="adj" fmla="val 6311"/>
              </a:avLst>
            </a:prstGeom>
            <a:solidFill>
              <a:schemeClr val="lt2"/>
            </a:solidFill>
            <a:ln>
              <a:noFill/>
            </a:ln>
            <a:effectLst>
              <a:outerShdw blurRad="266700" dist="57150" dir="5400000" algn="ctr" rotWithShape="0">
                <a:srgbClr val="7C6FE0">
                  <a:alpha val="7500"/>
                </a:srgbClr>
              </a:outerShdw>
            </a:effectLst>
          </p:spPr>
        </p:sp>
        <p:pic>
          <p:nvPicPr>
            <p:cNvPr id="44" name="Image 44"/>
            <p:cNvPicPr>
              <a:picLocks noChangeAspect="1"/>
            </p:cNvPicPr>
            <p:nvPr/>
          </p:nvPicPr>
          <p:blipFill>
            <a:blip r:embed="rId1"/>
            <a:stretch>
              <a:fillRect/>
            </a:stretch>
          </p:blipFill>
          <p:spPr>
            <a:xfrm>
              <a:off x="4991100" y="2343150"/>
              <a:ext cx="6438900" cy="3619500"/>
            </a:xfrm>
            <a:prstGeom prst="rect">
              <a:avLst/>
            </a:prstGeom>
          </p:spPr>
        </p:pic>
      </p:grpSp>
      <p:sp>
        <p:nvSpPr>
          <p:cNvPr id="50" name="Footer Placeholder 49"/>
          <p:cNvSpPr>
            <a:spLocks noGrp="1"/>
          </p:cNvSpPr>
          <p:nvPr>
            <p:ph type="ftr" sz="quarter" idx="11"/>
          </p:nvPr>
        </p:nvSpPr>
        <p:spPr/>
        <p:txBody>
          <a:bodyPr/>
          <a:p>
            <a:r>
              <a:rPr lang="en-US"/>
              <a:t>TCS | Confidential</a:t>
            </a:r>
            <a:endParaRPr lang="en-US"/>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609600" y="628650"/>
            <a:ext cx="2743200" cy="346901"/>
            <a:chOff x="609600" y="628650"/>
            <a:chExt cx="2743200" cy="346901"/>
          </a:xfrm>
        </p:grpSpPr>
        <p:sp>
          <p:nvSpPr>
            <p:cNvPr id="2" name="Rectangle 2"/>
            <p:cNvSpPr/>
            <p:nvPr/>
          </p:nvSpPr>
          <p:spPr>
            <a:xfrm>
              <a:off x="609600" y="628650"/>
              <a:ext cx="2743200" cy="342900"/>
            </a:xfrm>
            <a:prstGeom prst="roundRect">
              <a:avLst>
                <a:gd name="adj" fmla="val 50000"/>
              </a:avLst>
            </a:prstGeom>
            <a:solidFill>
              <a:schemeClr val="accent2">
                <a:alpha val="14000"/>
              </a:schemeClr>
            </a:solidFill>
            <a:ln>
              <a:noFill/>
            </a:ln>
          </p:spPr>
        </p:sp>
        <p:sp>
          <p:nvSpPr>
            <p:cNvPr id="3" name="TextBox 3"/>
            <p:cNvSpPr txBox="1"/>
            <p:nvPr/>
          </p:nvSpPr>
          <p:spPr>
            <a:xfrm>
              <a:off x="793242" y="711518"/>
              <a:ext cx="2232660" cy="264033"/>
            </a:xfrm>
            <a:prstGeom prst="rect">
              <a:avLst/>
            </a:prstGeom>
            <a:noFill/>
            <a:ln>
              <a:noFill/>
            </a:ln>
          </p:spPr>
          <p:txBody>
            <a:bodyPr wrap="none" lIns="0" tIns="0" rIns="0" bIns="0" anchor="t" anchorCtr="0">
              <a:spAutoFit/>
            </a:bodyPr>
            <a:lstStyle/>
            <a:p>
              <a:pPr algn="l"/>
              <a:r>
                <a:rPr lang="en-GB" sz="1350" b="1" spc="75" dirty="0">
                  <a:solidFill>
                    <a:srgbClr val="238A5E"/>
                  </a:solidFill>
                  <a:latin typeface="+mn-lt"/>
                  <a:ea typeface="+mn-ea"/>
                  <a:cs typeface="+mn-cs"/>
                </a:rPr>
                <a:t>ANALYTICS &amp; LEARNING</a:t>
              </a:r>
              <a:endParaRPr lang="en-GB" sz="1350" b="1" spc="75" dirty="0">
                <a:solidFill>
                  <a:srgbClr val="238A5E"/>
                </a:solidFill>
                <a:latin typeface="+mn-lt"/>
                <a:ea typeface="+mn-ea"/>
                <a:cs typeface="+mn-cs"/>
              </a:endParaRPr>
            </a:p>
          </p:txBody>
        </p:sp>
      </p:grpSp>
      <p:grpSp>
        <p:nvGrpSpPr>
          <p:cNvPr id="6" name="Group 6"/>
          <p:cNvGrpSpPr/>
          <p:nvPr/>
        </p:nvGrpSpPr>
        <p:grpSpPr>
          <a:xfrm>
            <a:off x="590550" y="1165860"/>
            <a:ext cx="10428944" cy="819150"/>
            <a:chOff x="590550" y="1165860"/>
            <a:chExt cx="10428944" cy="819150"/>
          </a:xfrm>
        </p:grpSpPr>
        <p:sp>
          <p:nvSpPr>
            <p:cNvPr id="5" name="TextBox 5"/>
            <p:cNvSpPr txBox="1"/>
            <p:nvPr/>
          </p:nvSpPr>
          <p:spPr>
            <a:xfrm>
              <a:off x="590550" y="1165860"/>
              <a:ext cx="10428944" cy="819150"/>
            </a:xfrm>
            <a:prstGeom prst="rect">
              <a:avLst/>
            </a:prstGeom>
            <a:noFill/>
            <a:ln>
              <a:noFill/>
            </a:ln>
          </p:spPr>
          <p:txBody>
            <a:bodyPr wrap="none" lIns="0" tIns="0" rIns="0" bIns="0" anchor="t" anchorCtr="0">
              <a:spAutoFit/>
            </a:bodyPr>
            <a:lstStyle/>
            <a:p>
              <a:pPr algn="l"/>
              <a:r>
                <a:rPr lang="en-GB" sz="4200" b="1" dirty="0">
                  <a:solidFill>
                    <a:schemeClr val="dk1"/>
                  </a:solidFill>
                  <a:latin typeface="+mn-lt"/>
                  <a:ea typeface="+mn-ea"/>
                  <a:cs typeface="+mn-cs"/>
                </a:rPr>
                <a:t>The Platform Reads Its Own History</a:t>
              </a:r>
              <a:endParaRPr lang="en-GB" sz="4200" b="1" dirty="0">
                <a:solidFill>
                  <a:schemeClr val="dk1"/>
                </a:solidFill>
                <a:latin typeface="+mn-lt"/>
                <a:ea typeface="+mn-ea"/>
                <a:cs typeface="+mn-cs"/>
              </a:endParaRPr>
            </a:p>
          </p:txBody>
        </p:sp>
      </p:grpSp>
      <p:grpSp>
        <p:nvGrpSpPr>
          <p:cNvPr id="8" name="Group 8"/>
          <p:cNvGrpSpPr/>
          <p:nvPr/>
        </p:nvGrpSpPr>
        <p:grpSpPr>
          <a:xfrm>
            <a:off x="600456" y="1844040"/>
            <a:ext cx="6659045" cy="352044"/>
            <a:chOff x="600456" y="1844040"/>
            <a:chExt cx="6659045" cy="352044"/>
          </a:xfrm>
        </p:grpSpPr>
        <p:sp>
          <p:nvSpPr>
            <p:cNvPr id="7" name="TextBox 7"/>
            <p:cNvSpPr txBox="1"/>
            <p:nvPr/>
          </p:nvSpPr>
          <p:spPr>
            <a:xfrm>
              <a:off x="600456" y="1844040"/>
              <a:ext cx="6659045" cy="352044"/>
            </a:xfrm>
            <a:prstGeom prst="rect">
              <a:avLst/>
            </a:prstGeom>
            <a:noFill/>
            <a:ln>
              <a:noFill/>
            </a:ln>
          </p:spPr>
          <p:txBody>
            <a:bodyPr wrap="none" lIns="0" tIns="0" rIns="0" bIns="0" anchor="t" anchorCtr="0">
              <a:spAutoFit/>
            </a:bodyPr>
            <a:lstStyle/>
            <a:p>
              <a:pPr algn="l"/>
              <a:r>
                <a:rPr lang="en-GB" sz="1800" dirty="0">
                  <a:solidFill>
                    <a:schemeClr val="accent5"/>
                  </a:solidFill>
                  <a:latin typeface="+mn-lt"/>
                  <a:ea typeface="+mn-ea"/>
                  <a:cs typeface="+mn-cs"/>
                </a:rPr>
                <a:t>A live, auto-refreshing AI report — no analyst required.</a:t>
              </a:r>
              <a:endParaRPr lang="en-GB" sz="1800" dirty="0">
                <a:solidFill>
                  <a:schemeClr val="accent5"/>
                </a:solidFill>
                <a:latin typeface="+mn-lt"/>
                <a:ea typeface="+mn-ea"/>
                <a:cs typeface="+mn-cs"/>
              </a:endParaRPr>
            </a:p>
          </p:txBody>
        </p:sp>
      </p:grpSp>
      <p:grpSp>
        <p:nvGrpSpPr>
          <p:cNvPr id="14" name="Group 14"/>
          <p:cNvGrpSpPr/>
          <p:nvPr/>
        </p:nvGrpSpPr>
        <p:grpSpPr>
          <a:xfrm>
            <a:off x="609600" y="2419350"/>
            <a:ext cx="2630442" cy="952500"/>
            <a:chOff x="609600" y="2419350"/>
            <a:chExt cx="2630442" cy="952500"/>
          </a:xfrm>
        </p:grpSpPr>
        <p:sp>
          <p:nvSpPr>
            <p:cNvPr id="9" name="Rectangle 9"/>
            <p:cNvSpPr/>
            <p:nvPr/>
          </p:nvSpPr>
          <p:spPr>
            <a:xfrm>
              <a:off x="609600" y="2419350"/>
              <a:ext cx="2600325" cy="952500"/>
            </a:xfrm>
            <a:prstGeom prst="roundRect">
              <a:avLst>
                <a:gd name="adj" fmla="val 22000"/>
              </a:avLst>
            </a:prstGeom>
            <a:solidFill>
              <a:schemeClr val="lt2"/>
            </a:solidFill>
            <a:ln>
              <a:noFill/>
            </a:ln>
            <a:effectLst>
              <a:outerShdw blurRad="266700" dist="57150" dir="5400000" algn="ctr" rotWithShape="0">
                <a:srgbClr val="2FA875">
                  <a:alpha val="9000"/>
                </a:srgbClr>
              </a:outerShdw>
            </a:effectLst>
          </p:spPr>
        </p:sp>
        <p:sp>
          <p:nvSpPr>
            <p:cNvPr id="10" name="Ellipse 10"/>
            <p:cNvSpPr/>
            <p:nvPr/>
          </p:nvSpPr>
          <p:spPr>
            <a:xfrm>
              <a:off x="781050" y="2571750"/>
              <a:ext cx="381000" cy="381000"/>
            </a:xfrm>
            <a:prstGeom prst="ellipse">
              <a:avLst/>
            </a:prstGeom>
            <a:solidFill>
              <a:schemeClr val="accent2">
                <a:alpha val="15000"/>
              </a:schemeClr>
            </a:solidFill>
            <a:ln>
              <a:noFill/>
            </a:ln>
          </p:spPr>
        </p:sp>
        <p:sp>
          <p:nvSpPr>
            <p:cNvPr id="11" name="Freeform 11"/>
            <p:cNvSpPr/>
            <p:nvPr/>
          </p:nvSpPr>
          <p:spPr>
            <a:xfrm>
              <a:off x="908048" y="2682875"/>
              <a:ext cx="127003" cy="158750"/>
            </a:xfrm>
            <a:custGeom>
              <a:avLst/>
              <a:gdLst/>
              <a:ahLst/>
              <a:cxnLst/>
              <a:rect l="l" t="t" r="r" b="b"/>
              <a:pathLst>
                <a:path w="127003" h="158750">
                  <a:moveTo>
                    <a:pt x="111103" y="17224"/>
                  </a:moveTo>
                  <a:cubicBezTo>
                    <a:pt x="120631" y="20582"/>
                    <a:pt x="127003" y="29585"/>
                    <a:pt x="127002" y="39687"/>
                  </a:cubicBezTo>
                  <a:lnTo>
                    <a:pt x="127002" y="134937"/>
                  </a:lnTo>
                  <a:cubicBezTo>
                    <a:pt x="127002" y="148089"/>
                    <a:pt x="116340" y="158750"/>
                    <a:pt x="103189" y="158750"/>
                  </a:cubicBezTo>
                  <a:lnTo>
                    <a:pt x="23814" y="158750"/>
                  </a:lnTo>
                  <a:cubicBezTo>
                    <a:pt x="10663" y="158750"/>
                    <a:pt x="2" y="148089"/>
                    <a:pt x="2" y="134937"/>
                  </a:cubicBezTo>
                  <a:lnTo>
                    <a:pt x="2" y="39687"/>
                  </a:lnTo>
                  <a:cubicBezTo>
                    <a:pt x="0" y="29585"/>
                    <a:pt x="6373" y="20582"/>
                    <a:pt x="15901" y="17224"/>
                  </a:cubicBezTo>
                  <a:cubicBezTo>
                    <a:pt x="16624" y="34221"/>
                    <a:pt x="30615" y="47628"/>
                    <a:pt x="47627" y="47625"/>
                  </a:cubicBezTo>
                  <a:lnTo>
                    <a:pt x="79377" y="47625"/>
                  </a:lnTo>
                  <a:cubicBezTo>
                    <a:pt x="95674" y="47626"/>
                    <a:pt x="109326" y="35288"/>
                    <a:pt x="110968" y="19074"/>
                  </a:cubicBezTo>
                  <a:close/>
                  <a:moveTo>
                    <a:pt x="39689" y="71437"/>
                  </a:moveTo>
                  <a:cubicBezTo>
                    <a:pt x="35305" y="71437"/>
                    <a:pt x="31752" y="74991"/>
                    <a:pt x="31752" y="79375"/>
                  </a:cubicBezTo>
                  <a:lnTo>
                    <a:pt x="31752" y="119062"/>
                  </a:lnTo>
                  <a:cubicBezTo>
                    <a:pt x="31752" y="123446"/>
                    <a:pt x="35305" y="127000"/>
                    <a:pt x="39689" y="127000"/>
                  </a:cubicBezTo>
                  <a:cubicBezTo>
                    <a:pt x="44073" y="127000"/>
                    <a:pt x="47627" y="123446"/>
                    <a:pt x="47627" y="119062"/>
                  </a:cubicBezTo>
                  <a:lnTo>
                    <a:pt x="47627" y="79375"/>
                  </a:lnTo>
                  <a:cubicBezTo>
                    <a:pt x="47627" y="74991"/>
                    <a:pt x="44073" y="71437"/>
                    <a:pt x="39689" y="71437"/>
                  </a:cubicBezTo>
                  <a:moveTo>
                    <a:pt x="63502" y="103187"/>
                  </a:moveTo>
                  <a:cubicBezTo>
                    <a:pt x="59118" y="103187"/>
                    <a:pt x="55564" y="106741"/>
                    <a:pt x="55564" y="111125"/>
                  </a:cubicBezTo>
                  <a:lnTo>
                    <a:pt x="55564" y="119062"/>
                  </a:lnTo>
                  <a:cubicBezTo>
                    <a:pt x="55564" y="123446"/>
                    <a:pt x="59118" y="127000"/>
                    <a:pt x="63502" y="127000"/>
                  </a:cubicBezTo>
                  <a:cubicBezTo>
                    <a:pt x="67885" y="127000"/>
                    <a:pt x="71439" y="123446"/>
                    <a:pt x="71439" y="119062"/>
                  </a:cubicBezTo>
                  <a:lnTo>
                    <a:pt x="71439" y="111125"/>
                  </a:lnTo>
                  <a:cubicBezTo>
                    <a:pt x="71439" y="106741"/>
                    <a:pt x="67885" y="103187"/>
                    <a:pt x="63502" y="103187"/>
                  </a:cubicBezTo>
                  <a:moveTo>
                    <a:pt x="87314" y="87312"/>
                  </a:moveTo>
                  <a:cubicBezTo>
                    <a:pt x="82930" y="87312"/>
                    <a:pt x="79377" y="90866"/>
                    <a:pt x="79377" y="95250"/>
                  </a:cubicBezTo>
                  <a:lnTo>
                    <a:pt x="79377" y="119062"/>
                  </a:lnTo>
                  <a:cubicBezTo>
                    <a:pt x="79377" y="123446"/>
                    <a:pt x="82930" y="127000"/>
                    <a:pt x="87314" y="127000"/>
                  </a:cubicBezTo>
                  <a:cubicBezTo>
                    <a:pt x="91698" y="127000"/>
                    <a:pt x="95252" y="123446"/>
                    <a:pt x="95252" y="119062"/>
                  </a:cubicBezTo>
                  <a:lnTo>
                    <a:pt x="95252" y="95250"/>
                  </a:lnTo>
                  <a:cubicBezTo>
                    <a:pt x="95252" y="90866"/>
                    <a:pt x="91698" y="87312"/>
                    <a:pt x="87314" y="87312"/>
                  </a:cubicBezTo>
                  <a:moveTo>
                    <a:pt x="79377" y="0"/>
                  </a:moveTo>
                  <a:cubicBezTo>
                    <a:pt x="88144" y="0"/>
                    <a:pt x="95252" y="7107"/>
                    <a:pt x="95252" y="15875"/>
                  </a:cubicBezTo>
                  <a:cubicBezTo>
                    <a:pt x="95252" y="24643"/>
                    <a:pt x="88144" y="31750"/>
                    <a:pt x="79377" y="31750"/>
                  </a:cubicBezTo>
                  <a:lnTo>
                    <a:pt x="47627" y="31750"/>
                  </a:lnTo>
                  <a:cubicBezTo>
                    <a:pt x="38859" y="31750"/>
                    <a:pt x="31752" y="24643"/>
                    <a:pt x="31752" y="15875"/>
                  </a:cubicBezTo>
                  <a:cubicBezTo>
                    <a:pt x="31752" y="7107"/>
                    <a:pt x="38859" y="0"/>
                    <a:pt x="47627" y="0"/>
                  </a:cubicBezTo>
                  <a:close/>
                </a:path>
              </a:pathLst>
            </a:custGeom>
            <a:solidFill>
              <a:schemeClr val="accent2"/>
            </a:solidFill>
            <a:ln>
              <a:noFill/>
            </a:ln>
          </p:spPr>
        </p:sp>
        <p:sp>
          <p:nvSpPr>
            <p:cNvPr id="12" name="TextBox 12"/>
            <p:cNvSpPr txBox="1"/>
            <p:nvPr/>
          </p:nvSpPr>
          <p:spPr>
            <a:xfrm>
              <a:off x="1249680" y="2667000"/>
              <a:ext cx="1990362" cy="293370"/>
            </a:xfrm>
            <a:prstGeom prst="rect">
              <a:avLst/>
            </a:prstGeom>
            <a:noFill/>
            <a:ln>
              <a:noFill/>
            </a:ln>
          </p:spPr>
          <p:txBody>
            <a:bodyPr wrap="none" lIns="0" tIns="0" rIns="0" bIns="0" anchor="t" anchorCtr="0">
              <a:spAutoFit/>
            </a:bodyPr>
            <a:lstStyle/>
            <a:p>
              <a:pPr algn="l"/>
              <a:r>
                <a:rPr lang="en-GB" sz="1500" b="1" dirty="0">
                  <a:solidFill>
                    <a:schemeClr val="dk1"/>
                  </a:solidFill>
                  <a:latin typeface="+mn-lt"/>
                  <a:ea typeface="+mn-ea"/>
                  <a:cs typeface="+mn-cs"/>
                </a:rPr>
                <a:t>Executive Summary</a:t>
              </a:r>
              <a:endParaRPr lang="en-GB" sz="1500" b="1" dirty="0">
                <a:solidFill>
                  <a:schemeClr val="dk1"/>
                </a:solidFill>
                <a:latin typeface="+mn-lt"/>
                <a:ea typeface="+mn-ea"/>
                <a:cs typeface="+mn-cs"/>
              </a:endParaRPr>
            </a:p>
          </p:txBody>
        </p:sp>
        <p:sp>
          <p:nvSpPr>
            <p:cNvPr id="13" name="TextBox 13"/>
            <p:cNvSpPr txBox="1"/>
            <p:nvPr/>
          </p:nvSpPr>
          <p:spPr>
            <a:xfrm>
              <a:off x="794004" y="3032760"/>
              <a:ext cx="1542898" cy="234696"/>
            </a:xfrm>
            <a:prstGeom prst="rect">
              <a:avLst/>
            </a:prstGeom>
            <a:noFill/>
            <a:ln>
              <a:noFill/>
            </a:ln>
          </p:spPr>
          <p:txBody>
            <a:bodyPr wrap="none" lIns="0" tIns="0" rIns="0" bIns="0" anchor="t" anchorCtr="0">
              <a:spAutoFit/>
            </a:bodyPr>
            <a:lstStyle/>
            <a:p>
              <a:pPr algn="l"/>
              <a:r>
                <a:rPr lang="en-GB" sz="1200" dirty="0">
                  <a:solidFill>
                    <a:schemeClr val="accent5"/>
                  </a:solidFill>
                  <a:latin typeface="+mn-lt"/>
                  <a:ea typeface="+mn-ea"/>
                  <a:cs typeface="+mn-cs"/>
                </a:rPr>
                <a:t>Totals &amp; SLA-met %</a:t>
              </a:r>
              <a:endParaRPr lang="en-GB" sz="1200" dirty="0">
                <a:solidFill>
                  <a:schemeClr val="accent5"/>
                </a:solidFill>
                <a:latin typeface="+mn-lt"/>
                <a:ea typeface="+mn-ea"/>
                <a:cs typeface="+mn-cs"/>
              </a:endParaRPr>
            </a:p>
          </p:txBody>
        </p:sp>
      </p:grpSp>
      <p:grpSp>
        <p:nvGrpSpPr>
          <p:cNvPr id="22" name="Group 22"/>
          <p:cNvGrpSpPr/>
          <p:nvPr/>
        </p:nvGrpSpPr>
        <p:grpSpPr>
          <a:xfrm>
            <a:off x="3400425" y="2419350"/>
            <a:ext cx="2600325" cy="952500"/>
            <a:chOff x="3400425" y="2419350"/>
            <a:chExt cx="2600325" cy="952500"/>
          </a:xfrm>
        </p:grpSpPr>
        <p:sp>
          <p:nvSpPr>
            <p:cNvPr id="15" name="Rectangle 15"/>
            <p:cNvSpPr/>
            <p:nvPr/>
          </p:nvSpPr>
          <p:spPr>
            <a:xfrm>
              <a:off x="3400425" y="2419350"/>
              <a:ext cx="2600325" cy="952500"/>
            </a:xfrm>
            <a:prstGeom prst="roundRect">
              <a:avLst>
                <a:gd name="adj" fmla="val 22000"/>
              </a:avLst>
            </a:prstGeom>
            <a:solidFill>
              <a:schemeClr val="lt2"/>
            </a:solidFill>
            <a:ln>
              <a:noFill/>
            </a:ln>
            <a:effectLst>
              <a:outerShdw blurRad="266700" dist="57150" dir="5400000" algn="ctr" rotWithShape="0">
                <a:srgbClr val="2FA875">
                  <a:alpha val="9000"/>
                </a:srgbClr>
              </a:outerShdw>
            </a:effectLst>
          </p:spPr>
        </p:sp>
        <p:sp>
          <p:nvSpPr>
            <p:cNvPr id="16" name="Ellipse 16"/>
            <p:cNvSpPr/>
            <p:nvPr/>
          </p:nvSpPr>
          <p:spPr>
            <a:xfrm>
              <a:off x="3571875" y="2571750"/>
              <a:ext cx="381000" cy="381000"/>
            </a:xfrm>
            <a:prstGeom prst="ellipse">
              <a:avLst/>
            </a:prstGeom>
            <a:solidFill>
              <a:schemeClr val="accent2">
                <a:alpha val="15000"/>
              </a:schemeClr>
            </a:solidFill>
            <a:ln>
              <a:noFill/>
            </a:ln>
          </p:spPr>
        </p:sp>
        <p:grpSp>
          <p:nvGrpSpPr>
            <p:cNvPr id="19" name="Group 19"/>
            <p:cNvGrpSpPr/>
            <p:nvPr/>
          </p:nvGrpSpPr>
          <p:grpSpPr>
            <a:xfrm>
              <a:off x="3683000" y="2682875"/>
              <a:ext cx="160292" cy="158750"/>
              <a:chOff x="3683000" y="2682875"/>
              <a:chExt cx="160292" cy="158750"/>
            </a:xfrm>
          </p:grpSpPr>
          <p:sp>
            <p:nvSpPr>
              <p:cNvPr id="17" name="Freeform 17"/>
              <p:cNvSpPr/>
              <p:nvPr/>
            </p:nvSpPr>
            <p:spPr>
              <a:xfrm>
                <a:off x="3683000" y="2682875"/>
                <a:ext cx="158750" cy="158750"/>
              </a:xfrm>
              <a:custGeom>
                <a:avLst/>
                <a:gdLst/>
                <a:ahLst/>
                <a:cxnLst/>
                <a:rect l="l" t="t" r="r" b="b"/>
                <a:pathLst>
                  <a:path w="158750" h="158750">
                    <a:moveTo>
                      <a:pt x="7937" y="0"/>
                    </a:moveTo>
                    <a:cubicBezTo>
                      <a:pt x="12321" y="0"/>
                      <a:pt x="15875" y="3554"/>
                      <a:pt x="15875" y="7937"/>
                    </a:cubicBezTo>
                    <a:lnTo>
                      <a:pt x="15875" y="142875"/>
                    </a:lnTo>
                    <a:lnTo>
                      <a:pt x="150812" y="142875"/>
                    </a:lnTo>
                    <a:cubicBezTo>
                      <a:pt x="154837" y="142875"/>
                      <a:pt x="158224" y="145887"/>
                      <a:pt x="158694" y="149884"/>
                    </a:cubicBezTo>
                    <a:lnTo>
                      <a:pt x="158750" y="150812"/>
                    </a:lnTo>
                    <a:cubicBezTo>
                      <a:pt x="158750" y="155196"/>
                      <a:pt x="155196" y="158750"/>
                      <a:pt x="150812" y="158750"/>
                    </a:cubicBezTo>
                    <a:lnTo>
                      <a:pt x="7937" y="158750"/>
                    </a:lnTo>
                    <a:cubicBezTo>
                      <a:pt x="3554" y="158750"/>
                      <a:pt x="0" y="155196"/>
                      <a:pt x="0" y="150812"/>
                    </a:cubicBezTo>
                    <a:lnTo>
                      <a:pt x="0" y="7937"/>
                    </a:lnTo>
                    <a:cubicBezTo>
                      <a:pt x="0" y="3554"/>
                      <a:pt x="3554" y="0"/>
                      <a:pt x="7937" y="0"/>
                    </a:cubicBezTo>
                    <a:close/>
                  </a:path>
                </a:pathLst>
              </a:custGeom>
              <a:solidFill>
                <a:schemeClr val="accent2"/>
              </a:solidFill>
              <a:ln>
                <a:noFill/>
              </a:ln>
            </p:spPr>
          </p:sp>
          <p:sp>
            <p:nvSpPr>
              <p:cNvPr id="18" name="Freeform 18"/>
              <p:cNvSpPr/>
              <p:nvPr/>
            </p:nvSpPr>
            <p:spPr>
              <a:xfrm>
                <a:off x="3712147" y="2698750"/>
                <a:ext cx="131145" cy="113525"/>
              </a:xfrm>
              <a:custGeom>
                <a:avLst/>
                <a:gdLst/>
                <a:ahLst/>
                <a:cxnLst/>
                <a:rect l="l" t="t" r="r" b="b"/>
                <a:pathLst>
                  <a:path w="131145" h="113525">
                    <a:moveTo>
                      <a:pt x="105791" y="0"/>
                    </a:moveTo>
                    <a:cubicBezTo>
                      <a:pt x="114909" y="21"/>
                      <a:pt x="123214" y="5246"/>
                      <a:pt x="127180" y="13456"/>
                    </a:cubicBezTo>
                    <a:cubicBezTo>
                      <a:pt x="131145" y="21666"/>
                      <a:pt x="130074" y="31420"/>
                      <a:pt x="124422" y="38574"/>
                    </a:cubicBezTo>
                    <a:cubicBezTo>
                      <a:pt x="118770" y="45729"/>
                      <a:pt x="109529" y="49027"/>
                      <a:pt x="100624" y="47069"/>
                    </a:cubicBezTo>
                    <a:lnTo>
                      <a:pt x="84733" y="72485"/>
                    </a:lnTo>
                    <a:cubicBezTo>
                      <a:pt x="92231" y="81906"/>
                      <a:pt x="91517" y="95441"/>
                      <a:pt x="83071" y="104021"/>
                    </a:cubicBezTo>
                    <a:cubicBezTo>
                      <a:pt x="74624" y="112600"/>
                      <a:pt x="61101" y="113525"/>
                      <a:pt x="51565" y="106175"/>
                    </a:cubicBezTo>
                    <a:cubicBezTo>
                      <a:pt x="42029" y="98826"/>
                      <a:pt x="39479" y="85514"/>
                      <a:pt x="45625" y="75160"/>
                    </a:cubicBezTo>
                    <a:lnTo>
                      <a:pt x="34687" y="62024"/>
                    </a:lnTo>
                    <a:cubicBezTo>
                      <a:pt x="23813" y="66050"/>
                      <a:pt x="11619" y="61658"/>
                      <a:pt x="5809" y="51623"/>
                    </a:cubicBezTo>
                    <a:cubicBezTo>
                      <a:pt x="0" y="41587"/>
                      <a:pt x="2264" y="28826"/>
                      <a:pt x="11171" y="21402"/>
                    </a:cubicBezTo>
                    <a:cubicBezTo>
                      <a:pt x="20078" y="13977"/>
                      <a:pt x="33039" y="14048"/>
                      <a:pt x="41864" y="21570"/>
                    </a:cubicBezTo>
                    <a:cubicBezTo>
                      <a:pt x="50689" y="29091"/>
                      <a:pt x="52814" y="41876"/>
                      <a:pt x="46895" y="51848"/>
                    </a:cubicBezTo>
                    <a:lnTo>
                      <a:pt x="57832" y="64976"/>
                    </a:lnTo>
                    <a:cubicBezTo>
                      <a:pt x="62130" y="63382"/>
                      <a:pt x="66797" y="63065"/>
                      <a:pt x="71271" y="64064"/>
                    </a:cubicBezTo>
                    <a:lnTo>
                      <a:pt x="87162" y="38640"/>
                    </a:lnTo>
                    <a:cubicBezTo>
                      <a:pt x="81469" y="31486"/>
                      <a:pt x="80375" y="21706"/>
                      <a:pt x="84345" y="13471"/>
                    </a:cubicBezTo>
                    <a:cubicBezTo>
                      <a:pt x="88315" y="5236"/>
                      <a:pt x="96649" y="1"/>
                      <a:pt x="105791" y="0"/>
                    </a:cubicBezTo>
                    <a:close/>
                  </a:path>
                </a:pathLst>
              </a:custGeom>
              <a:solidFill>
                <a:schemeClr val="accent2"/>
              </a:solidFill>
              <a:ln>
                <a:noFill/>
              </a:ln>
            </p:spPr>
          </p:sp>
        </p:grpSp>
        <p:sp>
          <p:nvSpPr>
            <p:cNvPr id="20" name="TextBox 20"/>
            <p:cNvSpPr txBox="1"/>
            <p:nvPr/>
          </p:nvSpPr>
          <p:spPr>
            <a:xfrm>
              <a:off x="4040505" y="2667000"/>
              <a:ext cx="1262396" cy="293370"/>
            </a:xfrm>
            <a:prstGeom prst="rect">
              <a:avLst/>
            </a:prstGeom>
            <a:noFill/>
            <a:ln>
              <a:noFill/>
            </a:ln>
          </p:spPr>
          <p:txBody>
            <a:bodyPr wrap="none" lIns="0" tIns="0" rIns="0" bIns="0" anchor="t" anchorCtr="0">
              <a:spAutoFit/>
            </a:bodyPr>
            <a:lstStyle/>
            <a:p>
              <a:pPr algn="l"/>
              <a:r>
                <a:rPr lang="en-GB" sz="1500" b="1" dirty="0">
                  <a:solidFill>
                    <a:schemeClr val="dk1"/>
                  </a:solidFill>
                  <a:latin typeface="+mn-lt"/>
                  <a:ea typeface="+mn-ea"/>
                  <a:cs typeface="+mn-cs"/>
                </a:rPr>
                <a:t>7-Day Trend</a:t>
              </a:r>
              <a:endParaRPr lang="en-GB" sz="1500" b="1" dirty="0">
                <a:solidFill>
                  <a:schemeClr val="dk1"/>
                </a:solidFill>
                <a:latin typeface="+mn-lt"/>
                <a:ea typeface="+mn-ea"/>
                <a:cs typeface="+mn-cs"/>
              </a:endParaRPr>
            </a:p>
          </p:txBody>
        </p:sp>
        <p:sp>
          <p:nvSpPr>
            <p:cNvPr id="21" name="TextBox 21"/>
            <p:cNvSpPr txBox="1"/>
            <p:nvPr/>
          </p:nvSpPr>
          <p:spPr>
            <a:xfrm>
              <a:off x="3584829" y="3032760"/>
              <a:ext cx="1676613" cy="234696"/>
            </a:xfrm>
            <a:prstGeom prst="rect">
              <a:avLst/>
            </a:prstGeom>
            <a:noFill/>
            <a:ln>
              <a:noFill/>
            </a:ln>
          </p:spPr>
          <p:txBody>
            <a:bodyPr wrap="none" lIns="0" tIns="0" rIns="0" bIns="0" anchor="t" anchorCtr="0">
              <a:spAutoFit/>
            </a:bodyPr>
            <a:lstStyle/>
            <a:p>
              <a:pPr algn="l"/>
              <a:r>
                <a:rPr lang="el-GR" sz="1200" dirty="0">
                  <a:solidFill>
                    <a:schemeClr val="accent5"/>
                  </a:solidFill>
                  <a:latin typeface="+mn-lt"/>
                  <a:ea typeface="+mn-ea"/>
                  <a:cs typeface="+mn-cs"/>
                </a:rPr>
                <a:t>Total, closed, WoW Δ</a:t>
              </a:r>
              <a:endParaRPr lang="el-GR" sz="1200" dirty="0">
                <a:solidFill>
                  <a:schemeClr val="accent5"/>
                </a:solidFill>
                <a:latin typeface="+mn-lt"/>
                <a:ea typeface="+mn-ea"/>
                <a:cs typeface="+mn-cs"/>
              </a:endParaRPr>
            </a:p>
          </p:txBody>
        </p:sp>
      </p:grpSp>
      <p:grpSp>
        <p:nvGrpSpPr>
          <p:cNvPr id="28" name="Group 28"/>
          <p:cNvGrpSpPr/>
          <p:nvPr/>
        </p:nvGrpSpPr>
        <p:grpSpPr>
          <a:xfrm>
            <a:off x="6191250" y="2419350"/>
            <a:ext cx="2600325" cy="952500"/>
            <a:chOff x="6191250" y="2419350"/>
            <a:chExt cx="2600325" cy="952500"/>
          </a:xfrm>
        </p:grpSpPr>
        <p:sp>
          <p:nvSpPr>
            <p:cNvPr id="23" name="Rectangle 23"/>
            <p:cNvSpPr/>
            <p:nvPr/>
          </p:nvSpPr>
          <p:spPr>
            <a:xfrm>
              <a:off x="6191250" y="2419350"/>
              <a:ext cx="2600325" cy="952500"/>
            </a:xfrm>
            <a:prstGeom prst="roundRect">
              <a:avLst>
                <a:gd name="adj" fmla="val 22000"/>
              </a:avLst>
            </a:prstGeom>
            <a:solidFill>
              <a:schemeClr val="lt2"/>
            </a:solidFill>
            <a:ln>
              <a:noFill/>
            </a:ln>
            <a:effectLst>
              <a:outerShdw blurRad="266700" dist="57150" dir="5400000" algn="ctr" rotWithShape="0">
                <a:srgbClr val="2FA875">
                  <a:alpha val="9000"/>
                </a:srgbClr>
              </a:outerShdw>
            </a:effectLst>
          </p:spPr>
        </p:sp>
        <p:sp>
          <p:nvSpPr>
            <p:cNvPr id="24" name="Ellipse 24"/>
            <p:cNvSpPr/>
            <p:nvPr/>
          </p:nvSpPr>
          <p:spPr>
            <a:xfrm>
              <a:off x="6362700" y="2571750"/>
              <a:ext cx="381000" cy="381000"/>
            </a:xfrm>
            <a:prstGeom prst="ellipse">
              <a:avLst/>
            </a:prstGeom>
            <a:solidFill>
              <a:schemeClr val="accent2">
                <a:alpha val="15000"/>
              </a:schemeClr>
            </a:solidFill>
            <a:ln>
              <a:noFill/>
            </a:ln>
          </p:spPr>
        </p:sp>
        <p:sp>
          <p:nvSpPr>
            <p:cNvPr id="25" name="Freeform 25"/>
            <p:cNvSpPr/>
            <p:nvPr/>
          </p:nvSpPr>
          <p:spPr>
            <a:xfrm>
              <a:off x="6480902" y="2690812"/>
              <a:ext cx="144859" cy="143150"/>
            </a:xfrm>
            <a:custGeom>
              <a:avLst/>
              <a:gdLst/>
              <a:ahLst/>
              <a:cxnLst/>
              <a:rect l="l" t="t" r="r" b="b"/>
              <a:pathLst>
                <a:path w="144859" h="143150">
                  <a:moveTo>
                    <a:pt x="142894" y="99639"/>
                  </a:moveTo>
                  <a:cubicBezTo>
                    <a:pt x="144851" y="103559"/>
                    <a:pt x="143263" y="108323"/>
                    <a:pt x="139346" y="110284"/>
                  </a:cubicBezTo>
                  <a:lnTo>
                    <a:pt x="75846" y="142034"/>
                  </a:lnTo>
                  <a:cubicBezTo>
                    <a:pt x="73612" y="143150"/>
                    <a:pt x="70983" y="143150"/>
                    <a:pt x="68750" y="142034"/>
                  </a:cubicBezTo>
                  <a:lnTo>
                    <a:pt x="5250" y="110284"/>
                  </a:lnTo>
                  <a:cubicBezTo>
                    <a:pt x="1475" y="108248"/>
                    <a:pt x="0" y="103583"/>
                    <a:pt x="1918" y="99747"/>
                  </a:cubicBezTo>
                  <a:cubicBezTo>
                    <a:pt x="3836" y="95912"/>
                    <a:pt x="8453" y="94293"/>
                    <a:pt x="12346" y="96091"/>
                  </a:cubicBezTo>
                  <a:lnTo>
                    <a:pt x="72298" y="126047"/>
                  </a:lnTo>
                  <a:lnTo>
                    <a:pt x="132258" y="96083"/>
                  </a:lnTo>
                  <a:cubicBezTo>
                    <a:pt x="136177" y="94126"/>
                    <a:pt x="140941" y="95714"/>
                    <a:pt x="142902" y="99631"/>
                  </a:cubicBezTo>
                  <a:moveTo>
                    <a:pt x="142902" y="67881"/>
                  </a:moveTo>
                  <a:cubicBezTo>
                    <a:pt x="144859" y="71801"/>
                    <a:pt x="143271" y="76565"/>
                    <a:pt x="139354" y="78526"/>
                  </a:cubicBezTo>
                  <a:lnTo>
                    <a:pt x="75854" y="110276"/>
                  </a:lnTo>
                  <a:cubicBezTo>
                    <a:pt x="73620" y="111392"/>
                    <a:pt x="70991" y="111392"/>
                    <a:pt x="68758" y="110276"/>
                  </a:cubicBezTo>
                  <a:lnTo>
                    <a:pt x="5258" y="78526"/>
                  </a:lnTo>
                  <a:cubicBezTo>
                    <a:pt x="1483" y="76490"/>
                    <a:pt x="8" y="71825"/>
                    <a:pt x="1926" y="67989"/>
                  </a:cubicBezTo>
                  <a:cubicBezTo>
                    <a:pt x="3843" y="64154"/>
                    <a:pt x="8461" y="62535"/>
                    <a:pt x="12354" y="64333"/>
                  </a:cubicBezTo>
                  <a:lnTo>
                    <a:pt x="72298" y="94297"/>
                  </a:lnTo>
                  <a:lnTo>
                    <a:pt x="132258" y="64333"/>
                  </a:lnTo>
                  <a:cubicBezTo>
                    <a:pt x="136177" y="62376"/>
                    <a:pt x="140941" y="63964"/>
                    <a:pt x="142902" y="67881"/>
                  </a:cubicBezTo>
                  <a:moveTo>
                    <a:pt x="72361" y="0"/>
                  </a:moveTo>
                  <a:cubicBezTo>
                    <a:pt x="72658" y="0"/>
                    <a:pt x="72951" y="19"/>
                    <a:pt x="73242" y="56"/>
                  </a:cubicBezTo>
                  <a:lnTo>
                    <a:pt x="74123" y="214"/>
                  </a:lnTo>
                  <a:lnTo>
                    <a:pt x="74806" y="405"/>
                  </a:lnTo>
                  <a:lnTo>
                    <a:pt x="74901" y="452"/>
                  </a:lnTo>
                  <a:lnTo>
                    <a:pt x="74997" y="468"/>
                  </a:lnTo>
                  <a:lnTo>
                    <a:pt x="75227" y="579"/>
                  </a:lnTo>
                  <a:lnTo>
                    <a:pt x="75624" y="730"/>
                  </a:lnTo>
                  <a:lnTo>
                    <a:pt x="75751" y="802"/>
                  </a:lnTo>
                  <a:lnTo>
                    <a:pt x="75846" y="841"/>
                  </a:lnTo>
                  <a:lnTo>
                    <a:pt x="139346" y="32591"/>
                  </a:lnTo>
                  <a:cubicBezTo>
                    <a:pt x="142031" y="33937"/>
                    <a:pt x="143727" y="36684"/>
                    <a:pt x="143727" y="39687"/>
                  </a:cubicBezTo>
                  <a:cubicBezTo>
                    <a:pt x="143727" y="42691"/>
                    <a:pt x="142031" y="45438"/>
                    <a:pt x="139346" y="46784"/>
                  </a:cubicBezTo>
                  <a:lnTo>
                    <a:pt x="75846" y="78534"/>
                  </a:lnTo>
                  <a:cubicBezTo>
                    <a:pt x="73612" y="79650"/>
                    <a:pt x="70983" y="79650"/>
                    <a:pt x="68750" y="78534"/>
                  </a:cubicBezTo>
                  <a:lnTo>
                    <a:pt x="5250" y="46784"/>
                  </a:lnTo>
                  <a:cubicBezTo>
                    <a:pt x="2564" y="45438"/>
                    <a:pt x="869" y="42691"/>
                    <a:pt x="869" y="39687"/>
                  </a:cubicBezTo>
                  <a:cubicBezTo>
                    <a:pt x="869" y="36684"/>
                    <a:pt x="2564" y="33937"/>
                    <a:pt x="5250" y="32591"/>
                  </a:cubicBezTo>
                  <a:lnTo>
                    <a:pt x="68750" y="841"/>
                  </a:lnTo>
                  <a:lnTo>
                    <a:pt x="68837" y="802"/>
                  </a:lnTo>
                  <a:lnTo>
                    <a:pt x="68980" y="722"/>
                  </a:lnTo>
                  <a:lnTo>
                    <a:pt x="69599" y="468"/>
                  </a:lnTo>
                  <a:lnTo>
                    <a:pt x="69686" y="452"/>
                  </a:lnTo>
                  <a:lnTo>
                    <a:pt x="69790" y="405"/>
                  </a:lnTo>
                  <a:lnTo>
                    <a:pt x="70472" y="214"/>
                  </a:lnTo>
                  <a:lnTo>
                    <a:pt x="71345" y="56"/>
                  </a:lnTo>
                  <a:lnTo>
                    <a:pt x="71790" y="16"/>
                  </a:lnTo>
                  <a:close/>
                </a:path>
              </a:pathLst>
            </a:custGeom>
            <a:solidFill>
              <a:schemeClr val="accent2"/>
            </a:solidFill>
            <a:ln>
              <a:noFill/>
            </a:ln>
          </p:spPr>
        </p:sp>
        <p:sp>
          <p:nvSpPr>
            <p:cNvPr id="26" name="TextBox 26"/>
            <p:cNvSpPr txBox="1"/>
            <p:nvPr/>
          </p:nvSpPr>
          <p:spPr>
            <a:xfrm>
              <a:off x="6831330" y="2667000"/>
              <a:ext cx="1788342" cy="293370"/>
            </a:xfrm>
            <a:prstGeom prst="rect">
              <a:avLst/>
            </a:prstGeom>
            <a:noFill/>
            <a:ln>
              <a:noFill/>
            </a:ln>
          </p:spPr>
          <p:txBody>
            <a:bodyPr wrap="none" lIns="0" tIns="0" rIns="0" bIns="0" anchor="t" anchorCtr="0">
              <a:spAutoFit/>
            </a:bodyPr>
            <a:lstStyle/>
            <a:p>
              <a:pPr algn="l"/>
              <a:r>
                <a:rPr lang="en-GB" sz="1500" b="1" dirty="0">
                  <a:solidFill>
                    <a:schemeClr val="dk1"/>
                  </a:solidFill>
                  <a:latin typeface="+mn-lt"/>
                  <a:ea typeface="+mn-ea"/>
                  <a:cs typeface="+mn-cs"/>
                </a:rPr>
                <a:t>Top Contributors</a:t>
              </a:r>
              <a:endParaRPr lang="en-GB" sz="1500" b="1" dirty="0">
                <a:solidFill>
                  <a:schemeClr val="dk1"/>
                </a:solidFill>
                <a:latin typeface="+mn-lt"/>
                <a:ea typeface="+mn-ea"/>
                <a:cs typeface="+mn-cs"/>
              </a:endParaRPr>
            </a:p>
          </p:txBody>
        </p:sp>
        <p:sp>
          <p:nvSpPr>
            <p:cNvPr id="27" name="TextBox 27"/>
            <p:cNvSpPr txBox="1"/>
            <p:nvPr/>
          </p:nvSpPr>
          <p:spPr>
            <a:xfrm>
              <a:off x="6375654" y="3032760"/>
              <a:ext cx="1328395" cy="234696"/>
            </a:xfrm>
            <a:prstGeom prst="rect">
              <a:avLst/>
            </a:prstGeom>
            <a:noFill/>
            <a:ln>
              <a:noFill/>
            </a:ln>
          </p:spPr>
          <p:txBody>
            <a:bodyPr wrap="none" lIns="0" tIns="0" rIns="0" bIns="0" anchor="t" anchorCtr="0">
              <a:spAutoFit/>
            </a:bodyPr>
            <a:lstStyle/>
            <a:p>
              <a:pPr algn="l"/>
              <a:r>
                <a:rPr lang="en-GB" sz="1200" dirty="0">
                  <a:solidFill>
                    <a:schemeClr val="accent5"/>
                  </a:solidFill>
                  <a:latin typeface="+mn-lt"/>
                  <a:ea typeface="+mn-ea"/>
                  <a:cs typeface="+mn-cs"/>
                </a:rPr>
                <a:t>Top affected CIs</a:t>
              </a:r>
              <a:endParaRPr lang="en-GB" sz="1200" dirty="0">
                <a:solidFill>
                  <a:schemeClr val="accent5"/>
                </a:solidFill>
                <a:latin typeface="+mn-lt"/>
                <a:ea typeface="+mn-ea"/>
                <a:cs typeface="+mn-cs"/>
              </a:endParaRPr>
            </a:p>
          </p:txBody>
        </p:sp>
      </p:grpSp>
      <p:grpSp>
        <p:nvGrpSpPr>
          <p:cNvPr id="41" name="Group 41"/>
          <p:cNvGrpSpPr/>
          <p:nvPr/>
        </p:nvGrpSpPr>
        <p:grpSpPr>
          <a:xfrm>
            <a:off x="8982075" y="2419350"/>
            <a:ext cx="2600325" cy="952500"/>
            <a:chOff x="8982075" y="2419350"/>
            <a:chExt cx="2600325" cy="952500"/>
          </a:xfrm>
        </p:grpSpPr>
        <p:sp>
          <p:nvSpPr>
            <p:cNvPr id="29" name="Rectangle 29"/>
            <p:cNvSpPr/>
            <p:nvPr/>
          </p:nvSpPr>
          <p:spPr>
            <a:xfrm>
              <a:off x="8982075" y="2419350"/>
              <a:ext cx="2600325" cy="952500"/>
            </a:xfrm>
            <a:prstGeom prst="roundRect">
              <a:avLst>
                <a:gd name="adj" fmla="val 22000"/>
              </a:avLst>
            </a:prstGeom>
            <a:solidFill>
              <a:schemeClr val="lt2"/>
            </a:solidFill>
            <a:ln>
              <a:noFill/>
            </a:ln>
            <a:effectLst>
              <a:outerShdw blurRad="266700" dist="57150" dir="5400000" algn="ctr" rotWithShape="0">
                <a:srgbClr val="2FA875">
                  <a:alpha val="9000"/>
                </a:srgbClr>
              </a:outerShdw>
            </a:effectLst>
          </p:spPr>
        </p:sp>
        <p:sp>
          <p:nvSpPr>
            <p:cNvPr id="30" name="Ellipse 30"/>
            <p:cNvSpPr/>
            <p:nvPr/>
          </p:nvSpPr>
          <p:spPr>
            <a:xfrm>
              <a:off x="9153525" y="2571750"/>
              <a:ext cx="381000" cy="381000"/>
            </a:xfrm>
            <a:prstGeom prst="ellipse">
              <a:avLst/>
            </a:prstGeom>
            <a:solidFill>
              <a:schemeClr val="accent2">
                <a:alpha val="15000"/>
              </a:schemeClr>
            </a:solidFill>
            <a:ln>
              <a:noFill/>
            </a:ln>
          </p:spPr>
        </p:sp>
        <p:grpSp>
          <p:nvGrpSpPr>
            <p:cNvPr id="38" name="Group 38"/>
            <p:cNvGrpSpPr/>
            <p:nvPr/>
          </p:nvGrpSpPr>
          <p:grpSpPr>
            <a:xfrm>
              <a:off x="9264426" y="2682875"/>
              <a:ext cx="159198" cy="158750"/>
              <a:chOff x="9264426" y="2682875"/>
              <a:chExt cx="159198" cy="158750"/>
            </a:xfrm>
          </p:grpSpPr>
          <p:sp>
            <p:nvSpPr>
              <p:cNvPr id="31" name="Freeform 31"/>
              <p:cNvSpPr/>
              <p:nvPr/>
            </p:nvSpPr>
            <p:spPr>
              <a:xfrm>
                <a:off x="9264426" y="2754312"/>
                <a:ext cx="24260" cy="15875"/>
              </a:xfrm>
              <a:custGeom>
                <a:avLst/>
                <a:gdLst/>
                <a:ahLst/>
                <a:cxnLst/>
                <a:rect l="l" t="t" r="r" b="b"/>
                <a:pathLst>
                  <a:path w="24260" h="15875">
                    <a:moveTo>
                      <a:pt x="16099" y="0"/>
                    </a:moveTo>
                    <a:cubicBezTo>
                      <a:pt x="20298" y="5"/>
                      <a:pt x="23768" y="3280"/>
                      <a:pt x="24014" y="7472"/>
                    </a:cubicBezTo>
                    <a:cubicBezTo>
                      <a:pt x="24260" y="11665"/>
                      <a:pt x="21198" y="15323"/>
                      <a:pt x="17027" y="15819"/>
                    </a:cubicBezTo>
                    <a:lnTo>
                      <a:pt x="16099" y="15875"/>
                    </a:lnTo>
                    <a:lnTo>
                      <a:pt x="8161" y="15875"/>
                    </a:lnTo>
                    <a:cubicBezTo>
                      <a:pt x="3961" y="15870"/>
                      <a:pt x="492" y="12595"/>
                      <a:pt x="246" y="8403"/>
                    </a:cubicBezTo>
                    <a:cubicBezTo>
                      <a:pt x="0" y="4210"/>
                      <a:pt x="3062" y="552"/>
                      <a:pt x="7232" y="56"/>
                    </a:cubicBezTo>
                    <a:lnTo>
                      <a:pt x="8161" y="0"/>
                    </a:lnTo>
                    <a:lnTo>
                      <a:pt x="16099" y="0"/>
                    </a:lnTo>
                    <a:close/>
                  </a:path>
                </a:pathLst>
              </a:custGeom>
              <a:solidFill>
                <a:schemeClr val="accent2"/>
              </a:solidFill>
              <a:ln>
                <a:noFill/>
              </a:ln>
            </p:spPr>
          </p:sp>
          <p:sp>
            <p:nvSpPr>
              <p:cNvPr id="32" name="Freeform 32"/>
              <p:cNvSpPr/>
              <p:nvPr/>
            </p:nvSpPr>
            <p:spPr>
              <a:xfrm>
                <a:off x="9336087" y="2682875"/>
                <a:ext cx="15875" cy="24036"/>
              </a:xfrm>
              <a:custGeom>
                <a:avLst/>
                <a:gdLst/>
                <a:ahLst/>
                <a:cxnLst/>
                <a:rect l="l" t="t" r="r" b="b"/>
                <a:pathLst>
                  <a:path w="15875" h="24036">
                    <a:moveTo>
                      <a:pt x="7937" y="0"/>
                    </a:moveTo>
                    <a:cubicBezTo>
                      <a:pt x="11962" y="1"/>
                      <a:pt x="15349" y="3012"/>
                      <a:pt x="15819" y="7009"/>
                    </a:cubicBezTo>
                    <a:lnTo>
                      <a:pt x="15875" y="7937"/>
                    </a:lnTo>
                    <a:lnTo>
                      <a:pt x="15875" y="15875"/>
                    </a:lnTo>
                    <a:cubicBezTo>
                      <a:pt x="15870" y="20075"/>
                      <a:pt x="12595" y="23544"/>
                      <a:pt x="8403" y="23790"/>
                    </a:cubicBezTo>
                    <a:cubicBezTo>
                      <a:pt x="4210" y="24036"/>
                      <a:pt x="552" y="20974"/>
                      <a:pt x="56" y="16804"/>
                    </a:cubicBezTo>
                    <a:lnTo>
                      <a:pt x="0" y="15875"/>
                    </a:lnTo>
                    <a:lnTo>
                      <a:pt x="0" y="7937"/>
                    </a:lnTo>
                    <a:cubicBezTo>
                      <a:pt x="0" y="3554"/>
                      <a:pt x="3554" y="0"/>
                      <a:pt x="7937" y="0"/>
                    </a:cubicBezTo>
                    <a:close/>
                  </a:path>
                </a:pathLst>
              </a:custGeom>
              <a:solidFill>
                <a:schemeClr val="accent2"/>
              </a:solidFill>
              <a:ln>
                <a:noFill/>
              </a:ln>
            </p:spPr>
          </p:sp>
          <p:sp>
            <p:nvSpPr>
              <p:cNvPr id="33" name="Freeform 33"/>
              <p:cNvSpPr/>
              <p:nvPr/>
            </p:nvSpPr>
            <p:spPr>
              <a:xfrm>
                <a:off x="9399364" y="2754312"/>
                <a:ext cx="24260" cy="15875"/>
              </a:xfrm>
              <a:custGeom>
                <a:avLst/>
                <a:gdLst/>
                <a:ahLst/>
                <a:cxnLst/>
                <a:rect l="l" t="t" r="r" b="b"/>
                <a:pathLst>
                  <a:path w="24260" h="15875">
                    <a:moveTo>
                      <a:pt x="16099" y="0"/>
                    </a:moveTo>
                    <a:cubicBezTo>
                      <a:pt x="20298" y="5"/>
                      <a:pt x="23768" y="3280"/>
                      <a:pt x="24014" y="7472"/>
                    </a:cubicBezTo>
                    <a:cubicBezTo>
                      <a:pt x="24260" y="11665"/>
                      <a:pt x="21198" y="15323"/>
                      <a:pt x="17027" y="15819"/>
                    </a:cubicBezTo>
                    <a:lnTo>
                      <a:pt x="16099" y="15875"/>
                    </a:lnTo>
                    <a:lnTo>
                      <a:pt x="8161" y="15875"/>
                    </a:lnTo>
                    <a:cubicBezTo>
                      <a:pt x="3961" y="15870"/>
                      <a:pt x="492" y="12595"/>
                      <a:pt x="246" y="8403"/>
                    </a:cubicBezTo>
                    <a:cubicBezTo>
                      <a:pt x="0" y="4210"/>
                      <a:pt x="3062" y="552"/>
                      <a:pt x="7232" y="56"/>
                    </a:cubicBezTo>
                    <a:lnTo>
                      <a:pt x="8161" y="0"/>
                    </a:lnTo>
                    <a:lnTo>
                      <a:pt x="16099" y="0"/>
                    </a:lnTo>
                    <a:close/>
                  </a:path>
                </a:pathLst>
              </a:custGeom>
              <a:solidFill>
                <a:schemeClr val="accent2"/>
              </a:solidFill>
              <a:ln>
                <a:noFill/>
              </a:ln>
            </p:spPr>
          </p:sp>
          <p:sp>
            <p:nvSpPr>
              <p:cNvPr id="34" name="Freeform 34"/>
              <p:cNvSpPr/>
              <p:nvPr/>
            </p:nvSpPr>
            <p:spPr>
              <a:xfrm>
                <a:off x="9284515" y="2702728"/>
                <a:ext cx="22978" cy="23109"/>
              </a:xfrm>
              <a:custGeom>
                <a:avLst/>
                <a:gdLst/>
                <a:ahLst/>
                <a:cxnLst/>
                <a:rect l="l" t="t" r="r" b="b"/>
                <a:pathLst>
                  <a:path w="22978" h="23109">
                    <a:moveTo>
                      <a:pt x="3099" y="3110"/>
                    </a:moveTo>
                    <a:cubicBezTo>
                      <a:pt x="5927" y="282"/>
                      <a:pt x="10416" y="0"/>
                      <a:pt x="13576" y="2451"/>
                    </a:cubicBezTo>
                    <a:lnTo>
                      <a:pt x="14322" y="3110"/>
                    </a:lnTo>
                    <a:lnTo>
                      <a:pt x="19879" y="8666"/>
                    </a:lnTo>
                    <a:cubicBezTo>
                      <a:pt x="22833" y="11631"/>
                      <a:pt x="22978" y="16380"/>
                      <a:pt x="20210" y="19519"/>
                    </a:cubicBezTo>
                    <a:cubicBezTo>
                      <a:pt x="17442" y="22658"/>
                      <a:pt x="12712" y="23109"/>
                      <a:pt x="9401" y="20549"/>
                    </a:cubicBezTo>
                    <a:lnTo>
                      <a:pt x="8655" y="19890"/>
                    </a:lnTo>
                    <a:lnTo>
                      <a:pt x="3099" y="14334"/>
                    </a:lnTo>
                    <a:cubicBezTo>
                      <a:pt x="0" y="11234"/>
                      <a:pt x="0" y="6210"/>
                      <a:pt x="3099" y="3110"/>
                    </a:cubicBezTo>
                    <a:close/>
                  </a:path>
                </a:pathLst>
              </a:custGeom>
              <a:solidFill>
                <a:schemeClr val="accent2"/>
              </a:solidFill>
              <a:ln>
                <a:noFill/>
              </a:ln>
            </p:spPr>
          </p:sp>
          <p:sp>
            <p:nvSpPr>
              <p:cNvPr id="35" name="Freeform 35"/>
              <p:cNvSpPr/>
              <p:nvPr/>
            </p:nvSpPr>
            <p:spPr>
              <a:xfrm>
                <a:off x="9380438" y="2702739"/>
                <a:ext cx="23218" cy="22979"/>
              </a:xfrm>
              <a:custGeom>
                <a:avLst/>
                <a:gdLst/>
                <a:ahLst/>
                <a:cxnLst/>
                <a:rect l="l" t="t" r="r" b="b"/>
                <a:pathLst>
                  <a:path w="23218" h="22979">
                    <a:moveTo>
                      <a:pt x="8775" y="3099"/>
                    </a:moveTo>
                    <a:cubicBezTo>
                      <a:pt x="11740" y="145"/>
                      <a:pt x="16489" y="0"/>
                      <a:pt x="19628" y="2768"/>
                    </a:cubicBezTo>
                    <a:cubicBezTo>
                      <a:pt x="22767" y="5536"/>
                      <a:pt x="23218" y="10266"/>
                      <a:pt x="20658" y="13577"/>
                    </a:cubicBezTo>
                    <a:lnTo>
                      <a:pt x="19999" y="14323"/>
                    </a:lnTo>
                    <a:lnTo>
                      <a:pt x="14443" y="19879"/>
                    </a:lnTo>
                    <a:cubicBezTo>
                      <a:pt x="11478" y="22834"/>
                      <a:pt x="6729" y="22979"/>
                      <a:pt x="3590" y="20211"/>
                    </a:cubicBezTo>
                    <a:cubicBezTo>
                      <a:pt x="451" y="17443"/>
                      <a:pt x="0" y="12713"/>
                      <a:pt x="2560" y="9402"/>
                    </a:cubicBezTo>
                    <a:lnTo>
                      <a:pt x="3219" y="8656"/>
                    </a:lnTo>
                    <a:lnTo>
                      <a:pt x="8775" y="3099"/>
                    </a:lnTo>
                    <a:close/>
                  </a:path>
                </a:pathLst>
              </a:custGeom>
              <a:solidFill>
                <a:schemeClr val="accent2"/>
              </a:solidFill>
              <a:ln>
                <a:noFill/>
              </a:ln>
            </p:spPr>
          </p:sp>
          <p:sp>
            <p:nvSpPr>
              <p:cNvPr id="36" name="Freeform 36"/>
              <p:cNvSpPr/>
              <p:nvPr/>
            </p:nvSpPr>
            <p:spPr>
              <a:xfrm>
                <a:off x="9320212" y="2809875"/>
                <a:ext cx="47625" cy="31750"/>
              </a:xfrm>
              <a:custGeom>
                <a:avLst/>
                <a:gdLst/>
                <a:ahLst/>
                <a:cxnLst/>
                <a:rect l="l" t="t" r="r" b="b"/>
                <a:pathLst>
                  <a:path w="47625" h="31750">
                    <a:moveTo>
                      <a:pt x="39687" y="0"/>
                    </a:moveTo>
                    <a:cubicBezTo>
                      <a:pt x="44071" y="0"/>
                      <a:pt x="47625" y="3554"/>
                      <a:pt x="47625" y="7937"/>
                    </a:cubicBezTo>
                    <a:cubicBezTo>
                      <a:pt x="47625" y="21089"/>
                      <a:pt x="36964" y="31750"/>
                      <a:pt x="23812" y="31750"/>
                    </a:cubicBezTo>
                    <a:cubicBezTo>
                      <a:pt x="10661" y="31750"/>
                      <a:pt x="0" y="21089"/>
                      <a:pt x="0" y="7937"/>
                    </a:cubicBezTo>
                    <a:cubicBezTo>
                      <a:pt x="1" y="3913"/>
                      <a:pt x="3012" y="526"/>
                      <a:pt x="7009" y="56"/>
                    </a:cubicBezTo>
                    <a:lnTo>
                      <a:pt x="7937" y="0"/>
                    </a:lnTo>
                    <a:lnTo>
                      <a:pt x="39687" y="0"/>
                    </a:lnTo>
                    <a:close/>
                  </a:path>
                </a:pathLst>
              </a:custGeom>
              <a:solidFill>
                <a:schemeClr val="accent2"/>
              </a:solidFill>
              <a:ln>
                <a:noFill/>
              </a:ln>
            </p:spPr>
          </p:sp>
          <p:sp>
            <p:nvSpPr>
              <p:cNvPr id="37" name="Freeform 37"/>
              <p:cNvSpPr/>
              <p:nvPr/>
            </p:nvSpPr>
            <p:spPr>
              <a:xfrm>
                <a:off x="9292362" y="2714625"/>
                <a:ext cx="103327" cy="87312"/>
              </a:xfrm>
              <a:custGeom>
                <a:avLst/>
                <a:gdLst/>
                <a:ahLst/>
                <a:cxnLst/>
                <a:rect l="l" t="t" r="r" b="b"/>
                <a:pathLst>
                  <a:path w="103327" h="87312">
                    <a:moveTo>
                      <a:pt x="51663" y="0"/>
                    </a:moveTo>
                    <a:cubicBezTo>
                      <a:pt x="72163" y="0"/>
                      <a:pt x="90362" y="13117"/>
                      <a:pt x="96844" y="32565"/>
                    </a:cubicBezTo>
                    <a:cubicBezTo>
                      <a:pt x="103327" y="52012"/>
                      <a:pt x="96638" y="73425"/>
                      <a:pt x="80238" y="85725"/>
                    </a:cubicBezTo>
                    <a:cubicBezTo>
                      <a:pt x="79144" y="86547"/>
                      <a:pt x="77857" y="87072"/>
                      <a:pt x="76500" y="87249"/>
                    </a:cubicBezTo>
                    <a:lnTo>
                      <a:pt x="75476" y="87312"/>
                    </a:lnTo>
                    <a:lnTo>
                      <a:pt x="27851" y="87312"/>
                    </a:lnTo>
                    <a:cubicBezTo>
                      <a:pt x="26134" y="87312"/>
                      <a:pt x="24462" y="86755"/>
                      <a:pt x="23088" y="85725"/>
                    </a:cubicBezTo>
                    <a:cubicBezTo>
                      <a:pt x="6689" y="73425"/>
                      <a:pt x="0" y="52012"/>
                      <a:pt x="6482" y="32565"/>
                    </a:cubicBezTo>
                    <a:cubicBezTo>
                      <a:pt x="12965" y="13117"/>
                      <a:pt x="31164" y="0"/>
                      <a:pt x="51663" y="0"/>
                    </a:cubicBezTo>
                    <a:close/>
                  </a:path>
                </a:pathLst>
              </a:custGeom>
              <a:solidFill>
                <a:schemeClr val="accent2"/>
              </a:solidFill>
              <a:ln>
                <a:noFill/>
              </a:ln>
            </p:spPr>
          </p:sp>
        </p:grpSp>
        <p:sp>
          <p:nvSpPr>
            <p:cNvPr id="39" name="TextBox 39"/>
            <p:cNvSpPr txBox="1"/>
            <p:nvPr/>
          </p:nvSpPr>
          <p:spPr>
            <a:xfrm>
              <a:off x="9622155" y="2667000"/>
              <a:ext cx="1735455" cy="293370"/>
            </a:xfrm>
            <a:prstGeom prst="rect">
              <a:avLst/>
            </a:prstGeom>
            <a:noFill/>
            <a:ln>
              <a:noFill/>
            </a:ln>
          </p:spPr>
          <p:txBody>
            <a:bodyPr wrap="none" lIns="0" tIns="0" rIns="0" bIns="0" anchor="t" anchorCtr="0">
              <a:spAutoFit/>
            </a:bodyPr>
            <a:lstStyle/>
            <a:p>
              <a:pPr algn="l"/>
              <a:r>
                <a:rPr lang="en-GB" sz="1500" b="1" dirty="0">
                  <a:solidFill>
                    <a:schemeClr val="dk1"/>
                  </a:solidFill>
                  <a:latin typeface="+mn-lt"/>
                  <a:ea typeface="+mn-ea"/>
                  <a:cs typeface="+mn-cs"/>
                </a:rPr>
                <a:t>Five-Whys + Risk</a:t>
              </a:r>
              <a:endParaRPr lang="en-GB" sz="1500" b="1" dirty="0">
                <a:solidFill>
                  <a:schemeClr val="dk1"/>
                </a:solidFill>
                <a:latin typeface="+mn-lt"/>
                <a:ea typeface="+mn-ea"/>
                <a:cs typeface="+mn-cs"/>
              </a:endParaRPr>
            </a:p>
          </p:txBody>
        </p:sp>
        <p:sp>
          <p:nvSpPr>
            <p:cNvPr id="40" name="TextBox 40"/>
            <p:cNvSpPr txBox="1"/>
            <p:nvPr/>
          </p:nvSpPr>
          <p:spPr>
            <a:xfrm>
              <a:off x="9166479" y="3032760"/>
              <a:ext cx="1496111" cy="234696"/>
            </a:xfrm>
            <a:prstGeom prst="rect">
              <a:avLst/>
            </a:prstGeom>
            <a:noFill/>
            <a:ln>
              <a:noFill/>
            </a:ln>
          </p:spPr>
          <p:txBody>
            <a:bodyPr wrap="none" lIns="0" tIns="0" rIns="0" bIns="0" anchor="t" anchorCtr="0">
              <a:spAutoFit/>
            </a:bodyPr>
            <a:lstStyle/>
            <a:p>
              <a:pPr algn="l"/>
              <a:r>
                <a:rPr lang="en-GB" sz="1200" dirty="0">
                  <a:solidFill>
                    <a:schemeClr val="accent5"/>
                  </a:solidFill>
                  <a:latin typeface="+mn-lt"/>
                  <a:ea typeface="+mn-ea"/>
                  <a:cs typeface="+mn-cs"/>
                </a:rPr>
                <a:t>P1–P4 auto-scored</a:t>
              </a:r>
              <a:endParaRPr lang="en-GB" sz="1200" dirty="0">
                <a:solidFill>
                  <a:schemeClr val="accent5"/>
                </a:solidFill>
                <a:latin typeface="+mn-lt"/>
                <a:ea typeface="+mn-ea"/>
                <a:cs typeface="+mn-cs"/>
              </a:endParaRPr>
            </a:p>
          </p:txBody>
        </p:sp>
      </p:grpSp>
      <p:grpSp>
        <p:nvGrpSpPr>
          <p:cNvPr id="55" name="Group 55"/>
          <p:cNvGrpSpPr/>
          <p:nvPr/>
        </p:nvGrpSpPr>
        <p:grpSpPr>
          <a:xfrm>
            <a:off x="609600" y="3600450"/>
            <a:ext cx="6286500" cy="2647950"/>
            <a:chOff x="609600" y="3600450"/>
            <a:chExt cx="6286500" cy="2647950"/>
          </a:xfrm>
        </p:grpSpPr>
        <p:sp>
          <p:nvSpPr>
            <p:cNvPr id="42" name="Rectangle 42"/>
            <p:cNvSpPr/>
            <p:nvPr/>
          </p:nvSpPr>
          <p:spPr>
            <a:xfrm>
              <a:off x="609600" y="3600450"/>
              <a:ext cx="6286500" cy="2647950"/>
            </a:xfrm>
            <a:prstGeom prst="roundRect">
              <a:avLst>
                <a:gd name="adj" fmla="val 9353"/>
              </a:avLst>
            </a:prstGeom>
            <a:solidFill>
              <a:schemeClr val="lt2"/>
            </a:solidFill>
            <a:ln>
              <a:noFill/>
            </a:ln>
            <a:effectLst>
              <a:outerShdw blurRad="266700" dist="57150" dir="5400000" algn="ctr" rotWithShape="0">
                <a:srgbClr val="7C6FE0">
                  <a:alpha val="7500"/>
                </a:srgbClr>
              </a:outerShdw>
            </a:effectLst>
          </p:spPr>
        </p:sp>
        <p:grpSp>
          <p:nvGrpSpPr>
            <p:cNvPr id="46" name="Group 46"/>
            <p:cNvGrpSpPr/>
            <p:nvPr/>
          </p:nvGrpSpPr>
          <p:grpSpPr>
            <a:xfrm>
              <a:off x="855401" y="3856570"/>
              <a:ext cx="202928" cy="192610"/>
              <a:chOff x="855401" y="3856570"/>
              <a:chExt cx="202928" cy="192610"/>
            </a:xfrm>
          </p:grpSpPr>
          <p:sp>
            <p:nvSpPr>
              <p:cNvPr id="43" name="Freeform 43"/>
              <p:cNvSpPr/>
              <p:nvPr/>
            </p:nvSpPr>
            <p:spPr>
              <a:xfrm>
                <a:off x="992981" y="3980395"/>
                <a:ext cx="65348" cy="68785"/>
              </a:xfrm>
              <a:custGeom>
                <a:avLst/>
                <a:gdLst/>
                <a:ahLst/>
                <a:cxnLst/>
                <a:rect l="l" t="t" r="r" b="b"/>
                <a:pathLst>
                  <a:path w="65348" h="68785">
                    <a:moveTo>
                      <a:pt x="10319" y="44711"/>
                    </a:moveTo>
                    <a:cubicBezTo>
                      <a:pt x="4620" y="44711"/>
                      <a:pt x="0" y="40091"/>
                      <a:pt x="0" y="34392"/>
                    </a:cubicBezTo>
                    <a:cubicBezTo>
                      <a:pt x="0" y="28693"/>
                      <a:pt x="4620" y="24074"/>
                      <a:pt x="10319" y="24074"/>
                    </a:cubicBezTo>
                    <a:cubicBezTo>
                      <a:pt x="16018" y="24074"/>
                      <a:pt x="20637" y="19454"/>
                      <a:pt x="20637" y="13755"/>
                    </a:cubicBezTo>
                    <a:cubicBezTo>
                      <a:pt x="20637" y="0"/>
                      <a:pt x="41275" y="0"/>
                      <a:pt x="41275" y="13755"/>
                    </a:cubicBezTo>
                    <a:cubicBezTo>
                      <a:pt x="41275" y="19454"/>
                      <a:pt x="45895" y="24074"/>
                      <a:pt x="51594" y="24074"/>
                    </a:cubicBezTo>
                    <a:cubicBezTo>
                      <a:pt x="65348" y="24074"/>
                      <a:pt x="65348" y="44711"/>
                      <a:pt x="51594" y="44711"/>
                    </a:cubicBezTo>
                    <a:cubicBezTo>
                      <a:pt x="45895" y="44711"/>
                      <a:pt x="41275" y="49331"/>
                      <a:pt x="41275" y="55030"/>
                    </a:cubicBezTo>
                    <a:cubicBezTo>
                      <a:pt x="41275" y="68785"/>
                      <a:pt x="20637" y="68785"/>
                      <a:pt x="20637" y="55030"/>
                    </a:cubicBezTo>
                    <a:cubicBezTo>
                      <a:pt x="20637" y="49331"/>
                      <a:pt x="16018" y="44711"/>
                      <a:pt x="10319" y="44711"/>
                    </a:cubicBezTo>
                  </a:path>
                </a:pathLst>
              </a:custGeom>
              <a:solidFill>
                <a:schemeClr val="accent1"/>
              </a:solidFill>
              <a:ln>
                <a:noFill/>
              </a:ln>
            </p:spPr>
          </p:sp>
          <p:sp>
            <p:nvSpPr>
              <p:cNvPr id="44" name="Freeform 44"/>
              <p:cNvSpPr/>
              <p:nvPr/>
            </p:nvSpPr>
            <p:spPr>
              <a:xfrm>
                <a:off x="855401" y="3877207"/>
                <a:ext cx="151334" cy="147898"/>
              </a:xfrm>
              <a:custGeom>
                <a:avLst/>
                <a:gdLst/>
                <a:ahLst/>
                <a:cxnLst/>
                <a:rect l="l" t="t" r="r" b="b"/>
                <a:pathLst>
                  <a:path w="151334" h="147898">
                    <a:moveTo>
                      <a:pt x="13755" y="65348"/>
                    </a:moveTo>
                    <a:cubicBezTo>
                      <a:pt x="42249" y="65348"/>
                      <a:pt x="65348" y="42249"/>
                      <a:pt x="65348" y="13755"/>
                    </a:cubicBezTo>
                    <a:cubicBezTo>
                      <a:pt x="65348" y="0"/>
                      <a:pt x="85986" y="0"/>
                      <a:pt x="85986" y="13755"/>
                    </a:cubicBezTo>
                    <a:cubicBezTo>
                      <a:pt x="85986" y="42249"/>
                      <a:pt x="109085" y="65348"/>
                      <a:pt x="137579" y="65348"/>
                    </a:cubicBezTo>
                    <a:cubicBezTo>
                      <a:pt x="151334" y="65348"/>
                      <a:pt x="151334" y="85986"/>
                      <a:pt x="137579" y="85986"/>
                    </a:cubicBezTo>
                    <a:cubicBezTo>
                      <a:pt x="109085" y="85986"/>
                      <a:pt x="85986" y="109085"/>
                      <a:pt x="85986" y="137579"/>
                    </a:cubicBezTo>
                    <a:cubicBezTo>
                      <a:pt x="85986" y="143278"/>
                      <a:pt x="81366" y="147898"/>
                      <a:pt x="75667" y="147898"/>
                    </a:cubicBezTo>
                    <a:cubicBezTo>
                      <a:pt x="69968" y="147898"/>
                      <a:pt x="65348" y="143278"/>
                      <a:pt x="65348" y="137579"/>
                    </a:cubicBezTo>
                    <a:cubicBezTo>
                      <a:pt x="65348" y="109085"/>
                      <a:pt x="42249" y="85986"/>
                      <a:pt x="13755" y="85986"/>
                    </a:cubicBezTo>
                    <a:cubicBezTo>
                      <a:pt x="0" y="85986"/>
                      <a:pt x="0" y="65348"/>
                      <a:pt x="13755" y="65348"/>
                    </a:cubicBezTo>
                  </a:path>
                </a:pathLst>
              </a:custGeom>
              <a:solidFill>
                <a:schemeClr val="accent1"/>
              </a:solidFill>
              <a:ln>
                <a:noFill/>
              </a:ln>
            </p:spPr>
          </p:sp>
          <p:sp>
            <p:nvSpPr>
              <p:cNvPr id="45" name="Freeform 45"/>
              <p:cNvSpPr/>
              <p:nvPr/>
            </p:nvSpPr>
            <p:spPr>
              <a:xfrm>
                <a:off x="992981" y="3856570"/>
                <a:ext cx="65348" cy="68785"/>
              </a:xfrm>
              <a:custGeom>
                <a:avLst/>
                <a:gdLst/>
                <a:ahLst/>
                <a:cxnLst/>
                <a:rect l="l" t="t" r="r" b="b"/>
                <a:pathLst>
                  <a:path w="65348" h="68785">
                    <a:moveTo>
                      <a:pt x="10319" y="44711"/>
                    </a:moveTo>
                    <a:cubicBezTo>
                      <a:pt x="4620" y="44711"/>
                      <a:pt x="0" y="40091"/>
                      <a:pt x="0" y="34392"/>
                    </a:cubicBezTo>
                    <a:cubicBezTo>
                      <a:pt x="0" y="28693"/>
                      <a:pt x="4620" y="24074"/>
                      <a:pt x="10319" y="24074"/>
                    </a:cubicBezTo>
                    <a:cubicBezTo>
                      <a:pt x="16018" y="24074"/>
                      <a:pt x="20637" y="19454"/>
                      <a:pt x="20637" y="13755"/>
                    </a:cubicBezTo>
                    <a:cubicBezTo>
                      <a:pt x="20637" y="0"/>
                      <a:pt x="41275" y="0"/>
                      <a:pt x="41275" y="13755"/>
                    </a:cubicBezTo>
                    <a:cubicBezTo>
                      <a:pt x="41275" y="19454"/>
                      <a:pt x="45895" y="24074"/>
                      <a:pt x="51594" y="24074"/>
                    </a:cubicBezTo>
                    <a:cubicBezTo>
                      <a:pt x="65348" y="24074"/>
                      <a:pt x="65348" y="44711"/>
                      <a:pt x="51594" y="44711"/>
                    </a:cubicBezTo>
                    <a:cubicBezTo>
                      <a:pt x="45895" y="44711"/>
                      <a:pt x="41275" y="49331"/>
                      <a:pt x="41275" y="55030"/>
                    </a:cubicBezTo>
                    <a:cubicBezTo>
                      <a:pt x="41275" y="68785"/>
                      <a:pt x="20637" y="68785"/>
                      <a:pt x="20637" y="55030"/>
                    </a:cubicBezTo>
                    <a:cubicBezTo>
                      <a:pt x="20637" y="49331"/>
                      <a:pt x="16018" y="44711"/>
                      <a:pt x="10319" y="44711"/>
                    </a:cubicBezTo>
                  </a:path>
                </a:pathLst>
              </a:custGeom>
              <a:solidFill>
                <a:schemeClr val="accent1"/>
              </a:solidFill>
              <a:ln>
                <a:noFill/>
              </a:ln>
            </p:spPr>
          </p:sp>
        </p:grpSp>
        <p:sp>
          <p:nvSpPr>
            <p:cNvPr id="47" name="TextBox 47"/>
            <p:cNvSpPr txBox="1"/>
            <p:nvPr/>
          </p:nvSpPr>
          <p:spPr>
            <a:xfrm>
              <a:off x="1191768" y="3841432"/>
              <a:ext cx="4641101" cy="322707"/>
            </a:xfrm>
            <a:prstGeom prst="rect">
              <a:avLst/>
            </a:prstGeom>
            <a:noFill/>
            <a:ln>
              <a:noFill/>
            </a:ln>
          </p:spPr>
          <p:txBody>
            <a:bodyPr wrap="none" lIns="0" tIns="0" rIns="0" bIns="0" anchor="t" anchorCtr="0">
              <a:spAutoFit/>
            </a:bodyPr>
            <a:lstStyle/>
            <a:p>
              <a:pPr algn="l"/>
              <a:r>
                <a:rPr lang="en-GB" sz="1650" b="1" dirty="0">
                  <a:solidFill>
                    <a:schemeClr val="dk1"/>
                  </a:solidFill>
                  <a:latin typeface="+mn-lt"/>
                  <a:ea typeface="+mn-ea"/>
                  <a:cs typeface="+mn-cs"/>
                </a:rPr>
                <a:t>Smart Narrative &amp; Strategic Intelligence</a:t>
              </a:r>
              <a:endParaRPr lang="en-GB" sz="1650" b="1" dirty="0">
                <a:solidFill>
                  <a:schemeClr val="dk1"/>
                </a:solidFill>
                <a:latin typeface="+mn-lt"/>
                <a:ea typeface="+mn-ea"/>
                <a:cs typeface="+mn-cs"/>
              </a:endParaRPr>
            </a:p>
          </p:txBody>
        </p:sp>
        <p:sp>
          <p:nvSpPr>
            <p:cNvPr id="48" name="TextBox 48"/>
            <p:cNvSpPr txBox="1"/>
            <p:nvPr/>
          </p:nvSpPr>
          <p:spPr>
            <a:xfrm>
              <a:off x="830580" y="4276725"/>
              <a:ext cx="4060371" cy="293370"/>
            </a:xfrm>
            <a:prstGeom prst="rect">
              <a:avLst/>
            </a:prstGeom>
            <a:noFill/>
            <a:ln>
              <a:noFill/>
            </a:ln>
          </p:spPr>
          <p:txBody>
            <a:bodyPr wrap="none" lIns="0" tIns="0" rIns="0" bIns="0" anchor="t" anchorCtr="0">
              <a:spAutoFit/>
            </a:bodyPr>
            <a:lstStyle/>
            <a:p>
              <a:pPr algn="l"/>
              <a:r>
                <a:rPr lang="en-GB" sz="1500" dirty="0">
                  <a:solidFill>
                    <a:schemeClr val="dk1"/>
                  </a:solidFill>
                  <a:latin typeface="+mn-lt"/>
                  <a:ea typeface="+mn-ea"/>
                  <a:cs typeface="+mn-cs"/>
                </a:rPr>
                <a:t>The narrative reads across categories in</a:t>
              </a:r>
              <a:endParaRPr lang="en-GB" sz="1500" dirty="0">
                <a:solidFill>
                  <a:schemeClr val="dk1"/>
                </a:solidFill>
                <a:latin typeface="+mn-lt"/>
                <a:ea typeface="+mn-ea"/>
                <a:cs typeface="+mn-cs"/>
              </a:endParaRPr>
            </a:p>
          </p:txBody>
        </p:sp>
        <p:sp>
          <p:nvSpPr>
            <p:cNvPr id="49" name="TextBox 49"/>
            <p:cNvSpPr txBox="1"/>
            <p:nvPr/>
          </p:nvSpPr>
          <p:spPr>
            <a:xfrm>
              <a:off x="830580" y="4543425"/>
              <a:ext cx="3720656" cy="293370"/>
            </a:xfrm>
            <a:prstGeom prst="rect">
              <a:avLst/>
            </a:prstGeom>
            <a:noFill/>
            <a:ln>
              <a:noFill/>
            </a:ln>
          </p:spPr>
          <p:txBody>
            <a:bodyPr wrap="none" lIns="0" tIns="0" rIns="0" bIns="0" anchor="t" anchorCtr="0">
              <a:spAutoFit/>
            </a:bodyPr>
            <a:lstStyle/>
            <a:p>
              <a:pPr algn="l"/>
              <a:r>
                <a:rPr lang="en-GB" sz="1500" dirty="0">
                  <a:solidFill>
                    <a:schemeClr val="dk1"/>
                  </a:solidFill>
                  <a:latin typeface="+mn-lt"/>
                  <a:ea typeface="+mn-ea"/>
                  <a:cs typeface="+mn-cs"/>
                </a:rPr>
                <a:t>plain language — for example, flagging</a:t>
              </a:r>
              <a:endParaRPr lang="en-GB" sz="1500" dirty="0">
                <a:solidFill>
                  <a:schemeClr val="dk1"/>
                </a:solidFill>
                <a:latin typeface="+mn-lt"/>
                <a:ea typeface="+mn-ea"/>
                <a:cs typeface="+mn-cs"/>
              </a:endParaRPr>
            </a:p>
          </p:txBody>
        </p:sp>
        <p:sp>
          <p:nvSpPr>
            <p:cNvPr id="50" name="TextBox 50"/>
            <p:cNvSpPr txBox="1"/>
            <p:nvPr/>
          </p:nvSpPr>
          <p:spPr>
            <a:xfrm>
              <a:off x="830580" y="4810125"/>
              <a:ext cx="3106293" cy="293370"/>
            </a:xfrm>
            <a:prstGeom prst="rect">
              <a:avLst/>
            </a:prstGeom>
            <a:noFill/>
            <a:ln>
              <a:noFill/>
            </a:ln>
          </p:spPr>
          <p:txBody>
            <a:bodyPr wrap="none" lIns="0" tIns="0" rIns="0" bIns="0" anchor="t" anchorCtr="0">
              <a:spAutoFit/>
            </a:bodyPr>
            <a:lstStyle/>
            <a:p>
              <a:pPr algn="l"/>
              <a:r>
                <a:rPr lang="en-GB" sz="1500" dirty="0">
                  <a:solidFill>
                    <a:schemeClr val="dk1"/>
                  </a:solidFill>
                  <a:latin typeface="+mn-lt"/>
                  <a:ea typeface="+mn-ea"/>
                  <a:cs typeface="+mn-cs"/>
                </a:rPr>
                <a:t>Database and Compute &amp; Unix as</a:t>
              </a:r>
              <a:endParaRPr lang="en-GB" sz="1500" dirty="0">
                <a:solidFill>
                  <a:schemeClr val="dk1"/>
                </a:solidFill>
                <a:latin typeface="+mn-lt"/>
                <a:ea typeface="+mn-ea"/>
                <a:cs typeface="+mn-cs"/>
              </a:endParaRPr>
            </a:p>
          </p:txBody>
        </p:sp>
        <p:sp>
          <p:nvSpPr>
            <p:cNvPr id="51" name="TextBox 51"/>
            <p:cNvSpPr txBox="1"/>
            <p:nvPr/>
          </p:nvSpPr>
          <p:spPr>
            <a:xfrm>
              <a:off x="830580" y="5076825"/>
              <a:ext cx="3316796" cy="293370"/>
            </a:xfrm>
            <a:prstGeom prst="rect">
              <a:avLst/>
            </a:prstGeom>
            <a:noFill/>
            <a:ln>
              <a:noFill/>
            </a:ln>
          </p:spPr>
          <p:txBody>
            <a:bodyPr wrap="none" lIns="0" tIns="0" rIns="0" bIns="0" anchor="t" anchorCtr="0">
              <a:spAutoFit/>
            </a:bodyPr>
            <a:lstStyle/>
            <a:p>
              <a:pPr algn="l"/>
              <a:r>
                <a:rPr lang="en-GB" sz="1500" dirty="0">
                  <a:solidFill>
                    <a:schemeClr val="dk1"/>
                  </a:solidFill>
                  <a:latin typeface="+mn-lt"/>
                  <a:ea typeface="+mn-ea"/>
                  <a:cs typeface="+mn-cs"/>
                </a:rPr>
                <a:t>“tightly coupled” when both spike</a:t>
              </a:r>
              <a:endParaRPr lang="en-GB" sz="1500" dirty="0">
                <a:solidFill>
                  <a:schemeClr val="dk1"/>
                </a:solidFill>
                <a:latin typeface="+mn-lt"/>
                <a:ea typeface="+mn-ea"/>
                <a:cs typeface="+mn-cs"/>
              </a:endParaRPr>
            </a:p>
          </p:txBody>
        </p:sp>
        <p:sp>
          <p:nvSpPr>
            <p:cNvPr id="52" name="TextBox 52"/>
            <p:cNvSpPr txBox="1"/>
            <p:nvPr/>
          </p:nvSpPr>
          <p:spPr>
            <a:xfrm>
              <a:off x="830580" y="5343525"/>
              <a:ext cx="4053840" cy="293370"/>
            </a:xfrm>
            <a:prstGeom prst="rect">
              <a:avLst/>
            </a:prstGeom>
            <a:noFill/>
            <a:ln>
              <a:noFill/>
            </a:ln>
          </p:spPr>
          <p:txBody>
            <a:bodyPr wrap="none" lIns="0" tIns="0" rIns="0" bIns="0" anchor="t" anchorCtr="0">
              <a:spAutoFit/>
            </a:bodyPr>
            <a:lstStyle/>
            <a:p>
              <a:pPr algn="l"/>
              <a:r>
                <a:rPr lang="en-GB" sz="1500" dirty="0">
                  <a:solidFill>
                    <a:schemeClr val="dk1"/>
                  </a:solidFill>
                  <a:latin typeface="+mn-lt"/>
                  <a:ea typeface="+mn-ea"/>
                  <a:cs typeface="+mn-cs"/>
                </a:rPr>
                <a:t>together, instead of viewed in isolation.</a:t>
              </a:r>
              <a:endParaRPr lang="en-GB" sz="1500" dirty="0">
                <a:solidFill>
                  <a:schemeClr val="dk1"/>
                </a:solidFill>
                <a:latin typeface="+mn-lt"/>
                <a:ea typeface="+mn-ea"/>
                <a:cs typeface="+mn-cs"/>
              </a:endParaRPr>
            </a:p>
          </p:txBody>
        </p:sp>
        <p:sp>
          <p:nvSpPr>
            <p:cNvPr id="53" name="TextBox 53"/>
            <p:cNvSpPr txBox="1"/>
            <p:nvPr/>
          </p:nvSpPr>
          <p:spPr>
            <a:xfrm>
              <a:off x="832104" y="5775960"/>
              <a:ext cx="3568647" cy="234696"/>
            </a:xfrm>
            <a:prstGeom prst="rect">
              <a:avLst/>
            </a:prstGeom>
            <a:noFill/>
            <a:ln>
              <a:noFill/>
            </a:ln>
          </p:spPr>
          <p:txBody>
            <a:bodyPr wrap="none" lIns="0" tIns="0" rIns="0" bIns="0" anchor="t" anchorCtr="0">
              <a:spAutoFit/>
            </a:bodyPr>
            <a:lstStyle/>
            <a:p>
              <a:pPr algn="l"/>
              <a:r>
                <a:rPr lang="en-GB" sz="1200" dirty="0">
                  <a:solidFill>
                    <a:schemeClr val="accent5"/>
                  </a:solidFill>
                  <a:latin typeface="+mn-lt"/>
                  <a:ea typeface="+mn-ea"/>
                  <a:cs typeface="+mn-cs"/>
                </a:rPr>
                <a:t>Every insight also carries an automatic Five-</a:t>
              </a:r>
              <a:endParaRPr lang="en-GB" sz="1200" dirty="0">
                <a:solidFill>
                  <a:schemeClr val="accent5"/>
                </a:solidFill>
                <a:latin typeface="+mn-lt"/>
                <a:ea typeface="+mn-ea"/>
                <a:cs typeface="+mn-cs"/>
              </a:endParaRPr>
            </a:p>
          </p:txBody>
        </p:sp>
        <p:sp>
          <p:nvSpPr>
            <p:cNvPr id="54" name="TextBox 54"/>
            <p:cNvSpPr txBox="1"/>
            <p:nvPr/>
          </p:nvSpPr>
          <p:spPr>
            <a:xfrm>
              <a:off x="832104" y="5966460"/>
              <a:ext cx="3698111" cy="234696"/>
            </a:xfrm>
            <a:prstGeom prst="rect">
              <a:avLst/>
            </a:prstGeom>
            <a:noFill/>
            <a:ln>
              <a:noFill/>
            </a:ln>
          </p:spPr>
          <p:txBody>
            <a:bodyPr wrap="none" lIns="0" tIns="0" rIns="0" bIns="0" anchor="t" anchorCtr="0">
              <a:spAutoFit/>
            </a:bodyPr>
            <a:lstStyle/>
            <a:p>
              <a:pPr algn="l"/>
              <a:r>
                <a:rPr lang="en-GB" sz="1200" dirty="0">
                  <a:solidFill>
                    <a:schemeClr val="accent5"/>
                  </a:solidFill>
                  <a:latin typeface="+mn-lt"/>
                  <a:ea typeface="+mn-ea"/>
                  <a:cs typeface="+mn-cs"/>
                </a:rPr>
                <a:t>Whys root-cause chain and a P1–P4 risk score.</a:t>
              </a:r>
              <a:endParaRPr lang="en-GB" sz="1200" dirty="0">
                <a:solidFill>
                  <a:schemeClr val="accent5"/>
                </a:solidFill>
                <a:latin typeface="+mn-lt"/>
                <a:ea typeface="+mn-ea"/>
                <a:cs typeface="+mn-cs"/>
              </a:endParaRPr>
            </a:p>
          </p:txBody>
        </p:sp>
      </p:grpSp>
      <p:grpSp>
        <p:nvGrpSpPr>
          <p:cNvPr id="76" name="Group 76"/>
          <p:cNvGrpSpPr/>
          <p:nvPr/>
        </p:nvGrpSpPr>
        <p:grpSpPr>
          <a:xfrm>
            <a:off x="7124700" y="3600450"/>
            <a:ext cx="4457700" cy="2647950"/>
            <a:chOff x="7124700" y="3600450"/>
            <a:chExt cx="4457700" cy="2647950"/>
          </a:xfrm>
        </p:grpSpPr>
        <p:sp>
          <p:nvSpPr>
            <p:cNvPr id="56" name="Rectangle 56"/>
            <p:cNvSpPr/>
            <p:nvPr/>
          </p:nvSpPr>
          <p:spPr>
            <a:xfrm>
              <a:off x="7124700" y="3600450"/>
              <a:ext cx="4457700" cy="2647950"/>
            </a:xfrm>
            <a:prstGeom prst="roundRect">
              <a:avLst>
                <a:gd name="adj" fmla="val 9353"/>
              </a:avLst>
            </a:prstGeom>
            <a:solidFill>
              <a:schemeClr val="lt2"/>
            </a:solidFill>
            <a:ln>
              <a:noFill/>
            </a:ln>
            <a:effectLst>
              <a:outerShdw blurRad="266700" dist="57150" dir="5400000" algn="ctr" rotWithShape="0">
                <a:srgbClr val="2FA875">
                  <a:alpha val="9000"/>
                </a:srgbClr>
              </a:outerShdw>
            </a:effectLst>
          </p:spPr>
        </p:sp>
        <p:sp>
          <p:nvSpPr>
            <p:cNvPr id="57" name="TextBox 57"/>
            <p:cNvSpPr txBox="1"/>
            <p:nvPr/>
          </p:nvSpPr>
          <p:spPr>
            <a:xfrm>
              <a:off x="7344918" y="3727132"/>
              <a:ext cx="3071128" cy="322707"/>
            </a:xfrm>
            <a:prstGeom prst="rect">
              <a:avLst/>
            </a:prstGeom>
            <a:noFill/>
            <a:ln>
              <a:noFill/>
            </a:ln>
          </p:spPr>
          <p:txBody>
            <a:bodyPr wrap="none" lIns="0" tIns="0" rIns="0" bIns="0" anchor="t" anchorCtr="0">
              <a:spAutoFit/>
            </a:bodyPr>
            <a:lstStyle/>
            <a:p>
              <a:pPr algn="l"/>
              <a:r>
                <a:rPr lang="en-GB" sz="1650" b="1" dirty="0">
                  <a:solidFill>
                    <a:schemeClr val="dk1"/>
                  </a:solidFill>
                  <a:latin typeface="+mn-lt"/>
                  <a:ea typeface="+mn-ea"/>
                  <a:cs typeface="+mn-cs"/>
                </a:rPr>
                <a:t>Category Top Contributors</a:t>
              </a:r>
              <a:endParaRPr lang="en-GB" sz="1650" b="1" dirty="0">
                <a:solidFill>
                  <a:schemeClr val="dk1"/>
                </a:solidFill>
                <a:latin typeface="+mn-lt"/>
                <a:ea typeface="+mn-ea"/>
                <a:cs typeface="+mn-cs"/>
              </a:endParaRPr>
            </a:p>
          </p:txBody>
        </p:sp>
        <p:sp>
          <p:nvSpPr>
            <p:cNvPr id="58" name="Rectangle 58"/>
            <p:cNvSpPr/>
            <p:nvPr/>
          </p:nvSpPr>
          <p:spPr>
            <a:xfrm>
              <a:off x="10287000" y="3743325"/>
              <a:ext cx="1066800" cy="247650"/>
            </a:xfrm>
            <a:prstGeom prst="roundRect">
              <a:avLst>
                <a:gd name="adj" fmla="val 50000"/>
              </a:avLst>
            </a:prstGeom>
            <a:solidFill>
              <a:schemeClr val="accent3">
                <a:alpha val="18000"/>
              </a:schemeClr>
            </a:solidFill>
            <a:ln>
              <a:noFill/>
            </a:ln>
          </p:spPr>
        </p:sp>
        <p:sp>
          <p:nvSpPr>
            <p:cNvPr id="59" name="TextBox 59"/>
            <p:cNvSpPr txBox="1"/>
            <p:nvPr/>
          </p:nvSpPr>
          <p:spPr>
            <a:xfrm>
              <a:off x="10415397" y="3809524"/>
              <a:ext cx="1012506" cy="190690"/>
            </a:xfrm>
            <a:prstGeom prst="rect">
              <a:avLst/>
            </a:prstGeom>
            <a:noFill/>
            <a:ln>
              <a:noFill/>
            </a:ln>
          </p:spPr>
          <p:txBody>
            <a:bodyPr wrap="none" lIns="0" tIns="0" rIns="0" bIns="0" anchor="t" anchorCtr="0">
              <a:spAutoFit/>
            </a:bodyPr>
            <a:lstStyle/>
            <a:p>
              <a:pPr algn="l"/>
              <a:r>
                <a:rPr lang="en-GB" sz="980" b="1" dirty="0">
                  <a:solidFill>
                    <a:srgbClr val="B9862E"/>
                  </a:solidFill>
                  <a:latin typeface="+mn-lt"/>
                  <a:ea typeface="+mn-ea"/>
                  <a:cs typeface="+mn-cs"/>
                </a:rPr>
                <a:t>SCENARIO DATA</a:t>
              </a:r>
              <a:endParaRPr lang="en-GB" sz="980" b="1" dirty="0">
                <a:solidFill>
                  <a:srgbClr val="B9862E"/>
                </a:solidFill>
                <a:latin typeface="+mn-lt"/>
                <a:ea typeface="+mn-ea"/>
                <a:cs typeface="+mn-cs"/>
              </a:endParaRPr>
            </a:p>
          </p:txBody>
        </p:sp>
        <p:grpSp>
          <p:nvGrpSpPr>
            <p:cNvPr id="65" name="Group 65"/>
            <p:cNvGrpSpPr/>
            <p:nvPr/>
          </p:nvGrpSpPr>
          <p:grpSpPr>
            <a:xfrm>
              <a:off x="7419975" y="4208621"/>
              <a:ext cx="3736619" cy="278702"/>
              <a:chOff x="7419975" y="4208621"/>
              <a:chExt cx="3736619" cy="278702"/>
            </a:xfrm>
          </p:grpSpPr>
          <p:sp>
            <p:nvSpPr>
              <p:cNvPr id="60" name="Ellipse 60"/>
              <p:cNvSpPr/>
              <p:nvPr/>
            </p:nvSpPr>
            <p:spPr>
              <a:xfrm>
                <a:off x="7419975" y="4238625"/>
                <a:ext cx="133350" cy="133350"/>
              </a:xfrm>
              <a:prstGeom prst="ellipse">
                <a:avLst/>
              </a:prstGeom>
              <a:solidFill>
                <a:schemeClr val="accent1"/>
              </a:solidFill>
              <a:ln>
                <a:noFill/>
              </a:ln>
            </p:spPr>
          </p:sp>
          <p:sp>
            <p:nvSpPr>
              <p:cNvPr id="61" name="TextBox 61"/>
              <p:cNvSpPr txBox="1"/>
              <p:nvPr/>
            </p:nvSpPr>
            <p:spPr>
              <a:xfrm>
                <a:off x="7669911" y="4208621"/>
                <a:ext cx="861535" cy="278702"/>
              </a:xfrm>
              <a:prstGeom prst="rect">
                <a:avLst/>
              </a:prstGeom>
              <a:noFill/>
              <a:ln>
                <a:noFill/>
              </a:ln>
            </p:spPr>
            <p:txBody>
              <a:bodyPr wrap="none" lIns="0" tIns="0" rIns="0" bIns="0" anchor="t" anchorCtr="0">
                <a:spAutoFit/>
              </a:bodyPr>
              <a:lstStyle/>
              <a:p>
                <a:pPr algn="l"/>
                <a:r>
                  <a:rPr lang="en-GB" sz="1420" dirty="0">
                    <a:solidFill>
                      <a:schemeClr val="dk1"/>
                    </a:solidFill>
                    <a:latin typeface="+mn-lt"/>
                    <a:ea typeface="+mn-ea"/>
                    <a:cs typeface="+mn-cs"/>
                  </a:rPr>
                  <a:t>Database</a:t>
                </a:r>
                <a:endParaRPr lang="en-GB" sz="1420" dirty="0">
                  <a:solidFill>
                    <a:schemeClr val="dk1"/>
                  </a:solidFill>
                  <a:latin typeface="+mn-lt"/>
                  <a:ea typeface="+mn-ea"/>
                  <a:cs typeface="+mn-cs"/>
                </a:endParaRPr>
              </a:p>
            </p:txBody>
          </p:sp>
          <p:sp>
            <p:nvSpPr>
              <p:cNvPr id="62" name="Rectangle 62"/>
              <p:cNvSpPr/>
              <p:nvPr/>
            </p:nvSpPr>
            <p:spPr>
              <a:xfrm>
                <a:off x="9382125" y="4248150"/>
                <a:ext cx="1476375" cy="133350"/>
              </a:xfrm>
              <a:prstGeom prst="roundRect">
                <a:avLst>
                  <a:gd name="adj" fmla="val 50000"/>
                </a:avLst>
              </a:prstGeom>
              <a:solidFill>
                <a:schemeClr val="accent6"/>
              </a:solidFill>
              <a:ln>
                <a:noFill/>
              </a:ln>
            </p:spPr>
          </p:sp>
          <p:sp>
            <p:nvSpPr>
              <p:cNvPr id="63" name="Rectangle 63"/>
              <p:cNvSpPr/>
              <p:nvPr/>
            </p:nvSpPr>
            <p:spPr>
              <a:xfrm>
                <a:off x="9382125" y="4248150"/>
                <a:ext cx="1038225" cy="133350"/>
              </a:xfrm>
              <a:prstGeom prst="roundRect">
                <a:avLst>
                  <a:gd name="adj" fmla="val 50000"/>
                </a:avLst>
              </a:prstGeom>
              <a:solidFill>
                <a:schemeClr val="accent1"/>
              </a:solidFill>
              <a:ln>
                <a:noFill/>
              </a:ln>
            </p:spPr>
          </p:sp>
          <p:sp>
            <p:nvSpPr>
              <p:cNvPr id="64" name="TextBox 64"/>
              <p:cNvSpPr txBox="1"/>
              <p:nvPr/>
            </p:nvSpPr>
            <p:spPr>
              <a:xfrm>
                <a:off x="10966704" y="4232910"/>
                <a:ext cx="189890" cy="234696"/>
              </a:xfrm>
              <a:prstGeom prst="rect">
                <a:avLst/>
              </a:prstGeom>
              <a:noFill/>
              <a:ln>
                <a:noFill/>
              </a:ln>
            </p:spPr>
            <p:txBody>
              <a:bodyPr wrap="none" lIns="0" tIns="0" rIns="0" bIns="0" anchor="t" anchorCtr="0">
                <a:spAutoFit/>
              </a:bodyPr>
              <a:lstStyle/>
              <a:p>
                <a:pPr algn="l"/>
                <a:r>
                  <a:rPr lang="en-GB" sz="1200" dirty="0">
                    <a:solidFill>
                      <a:schemeClr val="accent5"/>
                    </a:solidFill>
                    <a:latin typeface="+mn-lt"/>
                    <a:ea typeface="+mn-ea"/>
                    <a:cs typeface="+mn-cs"/>
                  </a:rPr>
                  <a:t>18</a:t>
                </a:r>
                <a:endParaRPr lang="en-GB" sz="1200" dirty="0">
                  <a:solidFill>
                    <a:schemeClr val="accent5"/>
                  </a:solidFill>
                  <a:latin typeface="+mn-lt"/>
                  <a:ea typeface="+mn-ea"/>
                  <a:cs typeface="+mn-cs"/>
                </a:endParaRPr>
              </a:p>
            </p:txBody>
          </p:sp>
        </p:grpSp>
        <p:grpSp>
          <p:nvGrpSpPr>
            <p:cNvPr id="71" name="Group 71"/>
            <p:cNvGrpSpPr/>
            <p:nvPr/>
          </p:nvGrpSpPr>
          <p:grpSpPr>
            <a:xfrm>
              <a:off x="7419975" y="4665821"/>
              <a:ext cx="3736619" cy="278702"/>
              <a:chOff x="7419975" y="4665821"/>
              <a:chExt cx="3736619" cy="278702"/>
            </a:xfrm>
          </p:grpSpPr>
          <p:sp>
            <p:nvSpPr>
              <p:cNvPr id="66" name="Ellipse 66"/>
              <p:cNvSpPr/>
              <p:nvPr/>
            </p:nvSpPr>
            <p:spPr>
              <a:xfrm>
                <a:off x="7419975" y="4695825"/>
                <a:ext cx="133350" cy="133350"/>
              </a:xfrm>
              <a:prstGeom prst="ellipse">
                <a:avLst/>
              </a:prstGeom>
              <a:solidFill>
                <a:schemeClr val="accent2"/>
              </a:solidFill>
              <a:ln>
                <a:noFill/>
              </a:ln>
            </p:spPr>
          </p:sp>
          <p:sp>
            <p:nvSpPr>
              <p:cNvPr id="67" name="TextBox 67"/>
              <p:cNvSpPr txBox="1"/>
              <p:nvPr/>
            </p:nvSpPr>
            <p:spPr>
              <a:xfrm>
                <a:off x="7669911" y="4665821"/>
                <a:ext cx="1395341" cy="278702"/>
              </a:xfrm>
              <a:prstGeom prst="rect">
                <a:avLst/>
              </a:prstGeom>
              <a:noFill/>
              <a:ln>
                <a:noFill/>
              </a:ln>
            </p:spPr>
            <p:txBody>
              <a:bodyPr wrap="none" lIns="0" tIns="0" rIns="0" bIns="0" anchor="t" anchorCtr="0">
                <a:spAutoFit/>
              </a:bodyPr>
              <a:lstStyle/>
              <a:p>
                <a:pPr algn="l"/>
                <a:r>
                  <a:rPr lang="en-GB" sz="1420" dirty="0">
                    <a:solidFill>
                      <a:schemeClr val="dk1"/>
                    </a:solidFill>
                    <a:latin typeface="+mn-lt"/>
                    <a:ea typeface="+mn-ea"/>
                    <a:cs typeface="+mn-cs"/>
                  </a:rPr>
                  <a:t>Compute &amp; Unix</a:t>
                </a:r>
                <a:endParaRPr lang="en-GB" sz="1420" dirty="0">
                  <a:solidFill>
                    <a:schemeClr val="dk1"/>
                  </a:solidFill>
                  <a:latin typeface="+mn-lt"/>
                  <a:ea typeface="+mn-ea"/>
                  <a:cs typeface="+mn-cs"/>
                </a:endParaRPr>
              </a:p>
            </p:txBody>
          </p:sp>
          <p:sp>
            <p:nvSpPr>
              <p:cNvPr id="68" name="Rectangle 68"/>
              <p:cNvSpPr/>
              <p:nvPr/>
            </p:nvSpPr>
            <p:spPr>
              <a:xfrm>
                <a:off x="9382125" y="4705350"/>
                <a:ext cx="1476375" cy="133350"/>
              </a:xfrm>
              <a:prstGeom prst="roundRect">
                <a:avLst>
                  <a:gd name="adj" fmla="val 50000"/>
                </a:avLst>
              </a:prstGeom>
              <a:solidFill>
                <a:schemeClr val="accent6"/>
              </a:solidFill>
              <a:ln>
                <a:noFill/>
              </a:ln>
            </p:spPr>
          </p:sp>
          <p:sp>
            <p:nvSpPr>
              <p:cNvPr id="69" name="Rectangle 69"/>
              <p:cNvSpPr/>
              <p:nvPr/>
            </p:nvSpPr>
            <p:spPr>
              <a:xfrm>
                <a:off x="9382125" y="4705350"/>
                <a:ext cx="571500" cy="133350"/>
              </a:xfrm>
              <a:prstGeom prst="roundRect">
                <a:avLst>
                  <a:gd name="adj" fmla="val 50000"/>
                </a:avLst>
              </a:prstGeom>
              <a:solidFill>
                <a:schemeClr val="accent2"/>
              </a:solidFill>
              <a:ln>
                <a:noFill/>
              </a:ln>
            </p:spPr>
          </p:sp>
          <p:sp>
            <p:nvSpPr>
              <p:cNvPr id="70" name="TextBox 70"/>
              <p:cNvSpPr txBox="1"/>
              <p:nvPr/>
            </p:nvSpPr>
            <p:spPr>
              <a:xfrm>
                <a:off x="10966704" y="4690110"/>
                <a:ext cx="189890" cy="234696"/>
              </a:xfrm>
              <a:prstGeom prst="rect">
                <a:avLst/>
              </a:prstGeom>
              <a:noFill/>
              <a:ln>
                <a:noFill/>
              </a:ln>
            </p:spPr>
            <p:txBody>
              <a:bodyPr wrap="none" lIns="0" tIns="0" rIns="0" bIns="0" anchor="t" anchorCtr="0">
                <a:spAutoFit/>
              </a:bodyPr>
              <a:lstStyle/>
              <a:p>
                <a:pPr algn="l"/>
                <a:r>
                  <a:rPr lang="en-GB" sz="1200" dirty="0">
                    <a:solidFill>
                      <a:schemeClr val="accent5"/>
                    </a:solidFill>
                    <a:latin typeface="+mn-lt"/>
                    <a:ea typeface="+mn-ea"/>
                    <a:cs typeface="+mn-cs"/>
                  </a:rPr>
                  <a:t>11</a:t>
                </a:r>
                <a:endParaRPr lang="en-GB" sz="1200" dirty="0">
                  <a:solidFill>
                    <a:schemeClr val="accent5"/>
                  </a:solidFill>
                  <a:latin typeface="+mn-lt"/>
                  <a:ea typeface="+mn-ea"/>
                  <a:cs typeface="+mn-cs"/>
                </a:endParaRPr>
              </a:p>
            </p:txBody>
          </p:sp>
        </p:grpSp>
        <p:sp>
          <p:nvSpPr>
            <p:cNvPr id="72" name="Line 72"/>
            <p:cNvSpPr/>
            <p:nvPr/>
          </p:nvSpPr>
          <p:spPr>
            <a:xfrm>
              <a:off x="7353300" y="5105400"/>
              <a:ext cx="4000500" cy="9525"/>
            </a:xfrm>
            <a:custGeom>
              <a:avLst/>
              <a:gdLst/>
              <a:ahLst/>
              <a:cxnLst/>
              <a:rect l="l" t="t" r="r" b="b"/>
              <a:pathLst>
                <a:path w="4000500" h="9525">
                  <a:moveTo>
                    <a:pt x="0" y="0"/>
                  </a:moveTo>
                  <a:lnTo>
                    <a:pt x="4000500" y="0"/>
                  </a:lnTo>
                </a:path>
              </a:pathLst>
            </a:custGeom>
            <a:noFill/>
            <a:ln w="19050">
              <a:solidFill>
                <a:schemeClr val="accent6"/>
              </a:solidFill>
            </a:ln>
          </p:spPr>
        </p:sp>
        <p:sp>
          <p:nvSpPr>
            <p:cNvPr id="73" name="TextBox 73"/>
            <p:cNvSpPr txBox="1"/>
            <p:nvPr/>
          </p:nvSpPr>
          <p:spPr>
            <a:xfrm>
              <a:off x="7347204" y="5261610"/>
              <a:ext cx="3103140" cy="234696"/>
            </a:xfrm>
            <a:prstGeom prst="rect">
              <a:avLst/>
            </a:prstGeom>
            <a:noFill/>
            <a:ln>
              <a:noFill/>
            </a:ln>
          </p:spPr>
          <p:txBody>
            <a:bodyPr wrap="none" lIns="0" tIns="0" rIns="0" bIns="0" anchor="t" anchorCtr="0">
              <a:spAutoFit/>
            </a:bodyPr>
            <a:lstStyle/>
            <a:p>
              <a:pPr algn="l"/>
              <a:r>
                <a:rPr lang="en-GB" sz="1200" dirty="0">
                  <a:solidFill>
                    <a:schemeClr val="accent5"/>
                  </a:solidFill>
                  <a:latin typeface="+mn-lt"/>
                  <a:ea typeface="+mn-ea"/>
                  <a:cs typeface="+mn-cs"/>
                </a:rPr>
                <a:t>Grouped by shared configuration item —</a:t>
              </a:r>
              <a:endParaRPr lang="en-GB" sz="1200" dirty="0">
                <a:solidFill>
                  <a:schemeClr val="accent5"/>
                </a:solidFill>
                <a:latin typeface="+mn-lt"/>
                <a:ea typeface="+mn-ea"/>
                <a:cs typeface="+mn-cs"/>
              </a:endParaRPr>
            </a:p>
          </p:txBody>
        </p:sp>
        <p:sp>
          <p:nvSpPr>
            <p:cNvPr id="74" name="TextBox 74"/>
            <p:cNvSpPr txBox="1"/>
            <p:nvPr/>
          </p:nvSpPr>
          <p:spPr>
            <a:xfrm>
              <a:off x="7347204" y="5471160"/>
              <a:ext cx="3243072" cy="234696"/>
            </a:xfrm>
            <a:prstGeom prst="rect">
              <a:avLst/>
            </a:prstGeom>
            <a:noFill/>
            <a:ln>
              <a:noFill/>
            </a:ln>
          </p:spPr>
          <p:txBody>
            <a:bodyPr wrap="none" lIns="0" tIns="0" rIns="0" bIns="0" anchor="t" anchorCtr="0">
              <a:spAutoFit/>
            </a:bodyPr>
            <a:lstStyle/>
            <a:p>
              <a:pPr algn="l"/>
              <a:r>
                <a:rPr lang="en-GB" sz="1200" dirty="0">
                  <a:solidFill>
                    <a:schemeClr val="accent5"/>
                  </a:solidFill>
                  <a:latin typeface="+mn-lt"/>
                  <a:ea typeface="+mn-ea"/>
                  <a:cs typeface="+mn-cs"/>
                </a:rPr>
                <a:t>surfacing systemic issues a single ticket</a:t>
              </a:r>
              <a:endParaRPr lang="en-GB" sz="1200" dirty="0">
                <a:solidFill>
                  <a:schemeClr val="accent5"/>
                </a:solidFill>
                <a:latin typeface="+mn-lt"/>
                <a:ea typeface="+mn-ea"/>
                <a:cs typeface="+mn-cs"/>
              </a:endParaRPr>
            </a:p>
          </p:txBody>
        </p:sp>
        <p:sp>
          <p:nvSpPr>
            <p:cNvPr id="75" name="TextBox 75"/>
            <p:cNvSpPr txBox="1"/>
            <p:nvPr/>
          </p:nvSpPr>
          <p:spPr>
            <a:xfrm>
              <a:off x="7347204" y="5680710"/>
              <a:ext cx="1328776" cy="234696"/>
            </a:xfrm>
            <a:prstGeom prst="rect">
              <a:avLst/>
            </a:prstGeom>
            <a:noFill/>
            <a:ln>
              <a:noFill/>
            </a:ln>
          </p:spPr>
          <p:txBody>
            <a:bodyPr wrap="none" lIns="0" tIns="0" rIns="0" bIns="0" anchor="t" anchorCtr="0">
              <a:spAutoFit/>
            </a:bodyPr>
            <a:lstStyle/>
            <a:p>
              <a:pPr algn="l"/>
              <a:r>
                <a:rPr lang="en-GB" sz="1200" dirty="0">
                  <a:solidFill>
                    <a:schemeClr val="accent5"/>
                  </a:solidFill>
                  <a:latin typeface="+mn-lt"/>
                  <a:ea typeface="+mn-ea"/>
                  <a:cs typeface="+mn-cs"/>
                </a:rPr>
                <a:t>view would miss.</a:t>
              </a:r>
              <a:endParaRPr lang="en-GB" sz="1200" dirty="0">
                <a:solidFill>
                  <a:schemeClr val="accent5"/>
                </a:solidFill>
                <a:latin typeface="+mn-lt"/>
                <a:ea typeface="+mn-ea"/>
                <a:cs typeface="+mn-cs"/>
              </a:endParaRPr>
            </a:p>
          </p:txBody>
        </p:sp>
      </p:grpSp>
      <p:sp>
        <p:nvSpPr>
          <p:cNvPr id="81" name="Footer Placeholder 80"/>
          <p:cNvSpPr>
            <a:spLocks noGrp="1"/>
          </p:cNvSpPr>
          <p:nvPr>
            <p:ph type="ftr" sz="quarter" idx="11"/>
          </p:nvPr>
        </p:nvSpPr>
        <p:spPr/>
        <p:txBody>
          <a:bodyPr/>
          <a:p>
            <a:r>
              <a:rPr lang="en-US"/>
              <a:t>TCS | Confidential</a:t>
            </a:r>
            <a:endParaRPr lang="en-US"/>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609600" y="628650"/>
            <a:ext cx="2743200" cy="346901"/>
            <a:chOff x="609600" y="628650"/>
            <a:chExt cx="2743200" cy="346901"/>
          </a:xfrm>
        </p:grpSpPr>
        <p:sp>
          <p:nvSpPr>
            <p:cNvPr id="2" name="Rectangle 2"/>
            <p:cNvSpPr/>
            <p:nvPr/>
          </p:nvSpPr>
          <p:spPr>
            <a:xfrm>
              <a:off x="609600" y="628650"/>
              <a:ext cx="2743200" cy="342900"/>
            </a:xfrm>
            <a:prstGeom prst="roundRect">
              <a:avLst>
                <a:gd name="adj" fmla="val 50000"/>
              </a:avLst>
            </a:prstGeom>
            <a:solidFill>
              <a:schemeClr val="accent2">
                <a:alpha val="14000"/>
              </a:schemeClr>
            </a:solidFill>
            <a:ln>
              <a:noFill/>
            </a:ln>
          </p:spPr>
        </p:sp>
        <p:sp>
          <p:nvSpPr>
            <p:cNvPr id="3" name="TextBox 3"/>
            <p:cNvSpPr txBox="1"/>
            <p:nvPr/>
          </p:nvSpPr>
          <p:spPr>
            <a:xfrm>
              <a:off x="793242" y="711518"/>
              <a:ext cx="2232660" cy="264033"/>
            </a:xfrm>
            <a:prstGeom prst="rect">
              <a:avLst/>
            </a:prstGeom>
            <a:noFill/>
            <a:ln>
              <a:noFill/>
            </a:ln>
          </p:spPr>
          <p:txBody>
            <a:bodyPr wrap="none" lIns="0" tIns="0" rIns="0" bIns="0" anchor="t" anchorCtr="0">
              <a:spAutoFit/>
            </a:bodyPr>
            <a:lstStyle/>
            <a:p>
              <a:pPr algn="l"/>
              <a:r>
                <a:rPr lang="en-GB" sz="1350" b="1" spc="75" dirty="0">
                  <a:solidFill>
                    <a:srgbClr val="238A5E"/>
                  </a:solidFill>
                  <a:latin typeface="+mn-lt"/>
                  <a:ea typeface="+mn-ea"/>
                  <a:cs typeface="+mn-cs"/>
                </a:rPr>
                <a:t>ANALYTICS &amp; LEARNING</a:t>
              </a:r>
              <a:endParaRPr lang="en-GB" sz="1350" b="1" spc="75" dirty="0">
                <a:solidFill>
                  <a:srgbClr val="238A5E"/>
                </a:solidFill>
                <a:latin typeface="+mn-lt"/>
                <a:ea typeface="+mn-ea"/>
                <a:cs typeface="+mn-cs"/>
              </a:endParaRPr>
            </a:p>
          </p:txBody>
        </p:sp>
      </p:grpSp>
      <p:grpSp>
        <p:nvGrpSpPr>
          <p:cNvPr id="7" name="Group 7"/>
          <p:cNvGrpSpPr/>
          <p:nvPr/>
        </p:nvGrpSpPr>
        <p:grpSpPr>
          <a:xfrm>
            <a:off x="590550" y="1070610"/>
            <a:ext cx="8514670" cy="1352550"/>
            <a:chOff x="590550" y="1070610"/>
            <a:chExt cx="8514670" cy="1352550"/>
          </a:xfrm>
        </p:grpSpPr>
        <p:sp>
          <p:nvSpPr>
            <p:cNvPr id="5" name="TextBox 5"/>
            <p:cNvSpPr txBox="1"/>
            <p:nvPr/>
          </p:nvSpPr>
          <p:spPr>
            <a:xfrm>
              <a:off x="590550" y="1070610"/>
              <a:ext cx="4676280" cy="819150"/>
            </a:xfrm>
            <a:prstGeom prst="rect">
              <a:avLst/>
            </a:prstGeom>
            <a:noFill/>
            <a:ln>
              <a:noFill/>
            </a:ln>
          </p:spPr>
          <p:txBody>
            <a:bodyPr wrap="none" lIns="0" tIns="0" rIns="0" bIns="0" anchor="t" anchorCtr="0">
              <a:spAutoFit/>
            </a:bodyPr>
            <a:lstStyle/>
            <a:p>
              <a:pPr algn="l"/>
              <a:r>
                <a:rPr lang="en-GB" sz="4200" b="1" dirty="0">
                  <a:solidFill>
                    <a:schemeClr val="dk1"/>
                  </a:solidFill>
                  <a:latin typeface="+mn-lt"/>
                  <a:ea typeface="+mn-ea"/>
                  <a:cs typeface="+mn-cs"/>
                </a:rPr>
                <a:t>Stopping Repeat</a:t>
              </a:r>
              <a:endParaRPr lang="en-GB" sz="4200" b="1" dirty="0">
                <a:solidFill>
                  <a:schemeClr val="dk1"/>
                </a:solidFill>
                <a:latin typeface="+mn-lt"/>
                <a:ea typeface="+mn-ea"/>
                <a:cs typeface="+mn-cs"/>
              </a:endParaRPr>
            </a:p>
          </p:txBody>
        </p:sp>
        <p:sp>
          <p:nvSpPr>
            <p:cNvPr id="6" name="TextBox 6"/>
            <p:cNvSpPr txBox="1"/>
            <p:nvPr/>
          </p:nvSpPr>
          <p:spPr>
            <a:xfrm>
              <a:off x="590550" y="1604010"/>
              <a:ext cx="8514670" cy="819150"/>
            </a:xfrm>
            <a:prstGeom prst="rect">
              <a:avLst/>
            </a:prstGeom>
            <a:noFill/>
            <a:ln>
              <a:noFill/>
            </a:ln>
          </p:spPr>
          <p:txBody>
            <a:bodyPr wrap="none" lIns="0" tIns="0" rIns="0" bIns="0" anchor="t" anchorCtr="0">
              <a:spAutoFit/>
            </a:bodyPr>
            <a:lstStyle/>
            <a:p>
              <a:pPr algn="l"/>
              <a:r>
                <a:rPr lang="en-GB" sz="4200" b="1" dirty="0">
                  <a:solidFill>
                    <a:schemeClr val="dk1"/>
                  </a:solidFill>
                  <a:latin typeface="+mn-lt"/>
                  <a:ea typeface="+mn-ea"/>
                  <a:cs typeface="+mn-cs"/>
                </a:rPr>
                <a:t>Incidents Before They Repeat</a:t>
              </a:r>
              <a:endParaRPr lang="en-GB" sz="4200" b="1" dirty="0">
                <a:solidFill>
                  <a:schemeClr val="dk1"/>
                </a:solidFill>
                <a:latin typeface="+mn-lt"/>
                <a:ea typeface="+mn-ea"/>
                <a:cs typeface="+mn-cs"/>
              </a:endParaRPr>
            </a:p>
          </p:txBody>
        </p:sp>
      </p:grpSp>
      <p:grpSp>
        <p:nvGrpSpPr>
          <p:cNvPr id="10" name="Group 10"/>
          <p:cNvGrpSpPr/>
          <p:nvPr/>
        </p:nvGrpSpPr>
        <p:grpSpPr>
          <a:xfrm>
            <a:off x="10287000" y="2419350"/>
            <a:ext cx="1295400" cy="256889"/>
            <a:chOff x="10287000" y="2419350"/>
            <a:chExt cx="1295400" cy="256889"/>
          </a:xfrm>
        </p:grpSpPr>
        <p:sp>
          <p:nvSpPr>
            <p:cNvPr id="8" name="Rectangle 8"/>
            <p:cNvSpPr/>
            <p:nvPr/>
          </p:nvSpPr>
          <p:spPr>
            <a:xfrm>
              <a:off x="10287000" y="2419350"/>
              <a:ext cx="1295400" cy="247650"/>
            </a:xfrm>
            <a:prstGeom prst="roundRect">
              <a:avLst>
                <a:gd name="adj" fmla="val 50000"/>
              </a:avLst>
            </a:prstGeom>
            <a:solidFill>
              <a:schemeClr val="accent3">
                <a:alpha val="18000"/>
              </a:schemeClr>
            </a:solidFill>
            <a:ln>
              <a:noFill/>
            </a:ln>
          </p:spPr>
        </p:sp>
        <p:sp>
          <p:nvSpPr>
            <p:cNvPr id="9" name="TextBox 9"/>
            <p:cNvSpPr txBox="1"/>
            <p:nvPr/>
          </p:nvSpPr>
          <p:spPr>
            <a:xfrm>
              <a:off x="10415397" y="2485549"/>
              <a:ext cx="646594" cy="190690"/>
            </a:xfrm>
            <a:prstGeom prst="rect">
              <a:avLst/>
            </a:prstGeom>
            <a:noFill/>
            <a:ln>
              <a:noFill/>
            </a:ln>
          </p:spPr>
          <p:txBody>
            <a:bodyPr wrap="none" lIns="0" tIns="0" rIns="0" bIns="0" anchor="t" anchorCtr="0">
              <a:spAutoFit/>
            </a:bodyPr>
            <a:lstStyle/>
            <a:p>
              <a:pPr algn="l"/>
              <a:r>
                <a:rPr lang="en-GB" sz="980" b="1" dirty="0">
                  <a:solidFill>
                    <a:srgbClr val="B9862E"/>
                  </a:solidFill>
                  <a:latin typeface="+mn-lt"/>
                  <a:ea typeface="+mn-ea"/>
                  <a:cs typeface="+mn-cs"/>
                </a:rPr>
                <a:t>SCENARIO</a:t>
              </a:r>
              <a:endParaRPr lang="en-GB" sz="980" b="1" dirty="0">
                <a:solidFill>
                  <a:srgbClr val="B9862E"/>
                </a:solidFill>
                <a:latin typeface="+mn-lt"/>
                <a:ea typeface="+mn-ea"/>
                <a:cs typeface="+mn-cs"/>
              </a:endParaRPr>
            </a:p>
          </p:txBody>
        </p:sp>
      </p:grpSp>
      <p:grpSp>
        <p:nvGrpSpPr>
          <p:cNvPr id="17" name="Group 17"/>
          <p:cNvGrpSpPr/>
          <p:nvPr/>
        </p:nvGrpSpPr>
        <p:grpSpPr>
          <a:xfrm>
            <a:off x="609600" y="2743200"/>
            <a:ext cx="2600325" cy="628650"/>
            <a:chOff x="609600" y="2743200"/>
            <a:chExt cx="2600325" cy="628650"/>
          </a:xfrm>
        </p:grpSpPr>
        <p:sp>
          <p:nvSpPr>
            <p:cNvPr id="11" name="Rectangle 11"/>
            <p:cNvSpPr/>
            <p:nvPr/>
          </p:nvSpPr>
          <p:spPr>
            <a:xfrm>
              <a:off x="609600" y="2743200"/>
              <a:ext cx="2600325" cy="628650"/>
            </a:xfrm>
            <a:prstGeom prst="roundRect">
              <a:avLst>
                <a:gd name="adj" fmla="val 30303"/>
              </a:avLst>
            </a:prstGeom>
            <a:solidFill>
              <a:schemeClr val="lt2"/>
            </a:solidFill>
            <a:ln>
              <a:noFill/>
            </a:ln>
            <a:effectLst>
              <a:outerShdw blurRad="266700" dist="57150" dir="5400000" algn="ctr" rotWithShape="0">
                <a:srgbClr val="2FA875">
                  <a:alpha val="9000"/>
                </a:srgbClr>
              </a:outerShdw>
            </a:effectLst>
          </p:spPr>
        </p:sp>
        <p:grpSp>
          <p:nvGrpSpPr>
            <p:cNvPr id="14" name="Group 14"/>
            <p:cNvGrpSpPr/>
            <p:nvPr/>
          </p:nvGrpSpPr>
          <p:grpSpPr>
            <a:xfrm>
              <a:off x="817563" y="2932113"/>
              <a:ext cx="176321" cy="174625"/>
              <a:chOff x="817563" y="2932113"/>
              <a:chExt cx="176321" cy="174625"/>
            </a:xfrm>
          </p:grpSpPr>
          <p:sp>
            <p:nvSpPr>
              <p:cNvPr id="12" name="Freeform 12"/>
              <p:cNvSpPr/>
              <p:nvPr/>
            </p:nvSpPr>
            <p:spPr>
              <a:xfrm>
                <a:off x="817563" y="2932113"/>
                <a:ext cx="174625" cy="174625"/>
              </a:xfrm>
              <a:custGeom>
                <a:avLst/>
                <a:gdLst/>
                <a:ahLst/>
                <a:cxnLst/>
                <a:rect l="l" t="t" r="r" b="b"/>
                <a:pathLst>
                  <a:path w="174625" h="174625">
                    <a:moveTo>
                      <a:pt x="8731" y="0"/>
                    </a:moveTo>
                    <a:cubicBezTo>
                      <a:pt x="13553" y="0"/>
                      <a:pt x="17463" y="3909"/>
                      <a:pt x="17463" y="8731"/>
                    </a:cubicBezTo>
                    <a:lnTo>
                      <a:pt x="17463" y="157163"/>
                    </a:lnTo>
                    <a:lnTo>
                      <a:pt x="165894" y="157163"/>
                    </a:lnTo>
                    <a:cubicBezTo>
                      <a:pt x="170320" y="157163"/>
                      <a:pt x="174046" y="160476"/>
                      <a:pt x="174564" y="164872"/>
                    </a:cubicBezTo>
                    <a:lnTo>
                      <a:pt x="174625" y="165894"/>
                    </a:lnTo>
                    <a:cubicBezTo>
                      <a:pt x="174625" y="170716"/>
                      <a:pt x="170716" y="174625"/>
                      <a:pt x="165894" y="174625"/>
                    </a:cubicBezTo>
                    <a:lnTo>
                      <a:pt x="8731" y="174625"/>
                    </a:lnTo>
                    <a:cubicBezTo>
                      <a:pt x="3909" y="174625"/>
                      <a:pt x="0" y="170716"/>
                      <a:pt x="0" y="165894"/>
                    </a:cubicBezTo>
                    <a:lnTo>
                      <a:pt x="0" y="8731"/>
                    </a:lnTo>
                    <a:cubicBezTo>
                      <a:pt x="0" y="3909"/>
                      <a:pt x="3909" y="0"/>
                      <a:pt x="8731" y="0"/>
                    </a:cubicBezTo>
                    <a:close/>
                  </a:path>
                </a:pathLst>
              </a:custGeom>
              <a:solidFill>
                <a:schemeClr val="accent2"/>
              </a:solidFill>
              <a:ln>
                <a:noFill/>
              </a:ln>
            </p:spPr>
          </p:sp>
          <p:sp>
            <p:nvSpPr>
              <p:cNvPr id="13" name="Freeform 13"/>
              <p:cNvSpPr/>
              <p:nvPr/>
            </p:nvSpPr>
            <p:spPr>
              <a:xfrm>
                <a:off x="849624" y="2949575"/>
                <a:ext cx="144260" cy="124878"/>
              </a:xfrm>
              <a:custGeom>
                <a:avLst/>
                <a:gdLst/>
                <a:ahLst/>
                <a:cxnLst/>
                <a:rect l="l" t="t" r="r" b="b"/>
                <a:pathLst>
                  <a:path w="144260" h="124878">
                    <a:moveTo>
                      <a:pt x="116370" y="0"/>
                    </a:moveTo>
                    <a:cubicBezTo>
                      <a:pt x="126400" y="23"/>
                      <a:pt x="135536" y="5770"/>
                      <a:pt x="139898" y="14801"/>
                    </a:cubicBezTo>
                    <a:cubicBezTo>
                      <a:pt x="144260" y="23833"/>
                      <a:pt x="143082" y="34562"/>
                      <a:pt x="136864" y="42432"/>
                    </a:cubicBezTo>
                    <a:cubicBezTo>
                      <a:pt x="130647" y="50302"/>
                      <a:pt x="120482" y="53930"/>
                      <a:pt x="110686" y="51776"/>
                    </a:cubicBezTo>
                    <a:lnTo>
                      <a:pt x="93206" y="79734"/>
                    </a:lnTo>
                    <a:cubicBezTo>
                      <a:pt x="101454" y="90096"/>
                      <a:pt x="100669" y="104985"/>
                      <a:pt x="91378" y="114423"/>
                    </a:cubicBezTo>
                    <a:cubicBezTo>
                      <a:pt x="82086" y="123861"/>
                      <a:pt x="67212" y="124878"/>
                      <a:pt x="56722" y="116793"/>
                    </a:cubicBezTo>
                    <a:cubicBezTo>
                      <a:pt x="46232" y="108708"/>
                      <a:pt x="43427" y="94065"/>
                      <a:pt x="50187" y="82676"/>
                    </a:cubicBezTo>
                    <a:lnTo>
                      <a:pt x="38155" y="68226"/>
                    </a:lnTo>
                    <a:cubicBezTo>
                      <a:pt x="26194" y="72655"/>
                      <a:pt x="12781" y="67824"/>
                      <a:pt x="6390" y="56785"/>
                    </a:cubicBezTo>
                    <a:cubicBezTo>
                      <a:pt x="0" y="45746"/>
                      <a:pt x="2490" y="31709"/>
                      <a:pt x="12288" y="23542"/>
                    </a:cubicBezTo>
                    <a:cubicBezTo>
                      <a:pt x="22086" y="15375"/>
                      <a:pt x="36343" y="15453"/>
                      <a:pt x="46050" y="23727"/>
                    </a:cubicBezTo>
                    <a:cubicBezTo>
                      <a:pt x="55758" y="32000"/>
                      <a:pt x="58095" y="46064"/>
                      <a:pt x="51584" y="57033"/>
                    </a:cubicBezTo>
                    <a:lnTo>
                      <a:pt x="63616" y="71474"/>
                    </a:lnTo>
                    <a:cubicBezTo>
                      <a:pt x="68343" y="69721"/>
                      <a:pt x="73477" y="69372"/>
                      <a:pt x="78398" y="70470"/>
                    </a:cubicBezTo>
                    <a:lnTo>
                      <a:pt x="95878" y="42504"/>
                    </a:lnTo>
                    <a:cubicBezTo>
                      <a:pt x="89616" y="34635"/>
                      <a:pt x="88412" y="23876"/>
                      <a:pt x="92779" y="14818"/>
                    </a:cubicBezTo>
                    <a:cubicBezTo>
                      <a:pt x="97147" y="5760"/>
                      <a:pt x="106314" y="2"/>
                      <a:pt x="116370" y="0"/>
                    </a:cubicBezTo>
                    <a:close/>
                  </a:path>
                </a:pathLst>
              </a:custGeom>
              <a:solidFill>
                <a:schemeClr val="accent2"/>
              </a:solidFill>
              <a:ln>
                <a:noFill/>
              </a:ln>
            </p:spPr>
          </p:sp>
        </p:grpSp>
        <p:sp>
          <p:nvSpPr>
            <p:cNvPr id="15" name="TextBox 15"/>
            <p:cNvSpPr txBox="1"/>
            <p:nvPr/>
          </p:nvSpPr>
          <p:spPr>
            <a:xfrm>
              <a:off x="1117092" y="2873692"/>
              <a:ext cx="801134" cy="264033"/>
            </a:xfrm>
            <a:prstGeom prst="rect">
              <a:avLst/>
            </a:prstGeom>
            <a:noFill/>
            <a:ln>
              <a:noFill/>
            </a:ln>
          </p:spPr>
          <p:txBody>
            <a:bodyPr wrap="none" lIns="0" tIns="0" rIns="0" bIns="0" anchor="t" anchorCtr="0">
              <a:spAutoFit/>
            </a:bodyPr>
            <a:lstStyle/>
            <a:p>
              <a:pPr algn="l"/>
              <a:r>
                <a:rPr lang="en-GB" sz="1350" b="1" dirty="0">
                  <a:solidFill>
                    <a:schemeClr val="dk1"/>
                  </a:solidFill>
                  <a:latin typeface="+mn-lt"/>
                  <a:ea typeface="+mn-ea"/>
                  <a:cs typeface="+mn-cs"/>
                </a:rPr>
                <a:t>$42K/mo</a:t>
              </a:r>
              <a:endParaRPr lang="en-GB" sz="1350" b="1" dirty="0">
                <a:solidFill>
                  <a:schemeClr val="dk1"/>
                </a:solidFill>
                <a:latin typeface="+mn-lt"/>
                <a:ea typeface="+mn-ea"/>
                <a:cs typeface="+mn-cs"/>
              </a:endParaRPr>
            </a:p>
          </p:txBody>
        </p:sp>
        <p:sp>
          <p:nvSpPr>
            <p:cNvPr id="16" name="TextBox 16"/>
            <p:cNvSpPr txBox="1"/>
            <p:nvPr/>
          </p:nvSpPr>
          <p:spPr>
            <a:xfrm>
              <a:off x="1117854" y="3089910"/>
              <a:ext cx="1592490" cy="234696"/>
            </a:xfrm>
            <a:prstGeom prst="rect">
              <a:avLst/>
            </a:prstGeom>
            <a:noFill/>
            <a:ln>
              <a:noFill/>
            </a:ln>
          </p:spPr>
          <p:txBody>
            <a:bodyPr wrap="none" lIns="0" tIns="0" rIns="0" bIns="0" anchor="t" anchorCtr="0">
              <a:spAutoFit/>
            </a:bodyPr>
            <a:lstStyle/>
            <a:p>
              <a:pPr algn="l"/>
              <a:r>
                <a:rPr lang="en-GB" sz="1200" dirty="0">
                  <a:solidFill>
                    <a:schemeClr val="accent5"/>
                  </a:solidFill>
                  <a:latin typeface="+mn-lt"/>
                  <a:ea typeface="+mn-ea"/>
                  <a:cs typeface="+mn-cs"/>
                </a:rPr>
                <a:t>Cost leakage at risk</a:t>
              </a:r>
              <a:endParaRPr lang="en-GB" sz="1200" dirty="0">
                <a:solidFill>
                  <a:schemeClr val="accent5"/>
                </a:solidFill>
                <a:latin typeface="+mn-lt"/>
                <a:ea typeface="+mn-ea"/>
                <a:cs typeface="+mn-cs"/>
              </a:endParaRPr>
            </a:p>
          </p:txBody>
        </p:sp>
      </p:grpSp>
      <p:grpSp>
        <p:nvGrpSpPr>
          <p:cNvPr id="24" name="Group 24"/>
          <p:cNvGrpSpPr/>
          <p:nvPr/>
        </p:nvGrpSpPr>
        <p:grpSpPr>
          <a:xfrm>
            <a:off x="3400425" y="2743200"/>
            <a:ext cx="2600325" cy="628650"/>
            <a:chOff x="3400425" y="2743200"/>
            <a:chExt cx="2600325" cy="628650"/>
          </a:xfrm>
        </p:grpSpPr>
        <p:sp>
          <p:nvSpPr>
            <p:cNvPr id="18" name="Rectangle 18"/>
            <p:cNvSpPr/>
            <p:nvPr/>
          </p:nvSpPr>
          <p:spPr>
            <a:xfrm>
              <a:off x="3400425" y="2743200"/>
              <a:ext cx="2600325" cy="628650"/>
            </a:xfrm>
            <a:prstGeom prst="roundRect">
              <a:avLst>
                <a:gd name="adj" fmla="val 30303"/>
              </a:avLst>
            </a:prstGeom>
            <a:solidFill>
              <a:schemeClr val="lt2"/>
            </a:solidFill>
            <a:ln>
              <a:noFill/>
            </a:ln>
            <a:effectLst>
              <a:outerShdw blurRad="266700" dist="57150" dir="5400000" algn="ctr" rotWithShape="0">
                <a:srgbClr val="2FA875">
                  <a:alpha val="9000"/>
                </a:srgbClr>
              </a:outerShdw>
            </a:effectLst>
          </p:spPr>
        </p:sp>
        <p:grpSp>
          <p:nvGrpSpPr>
            <p:cNvPr id="21" name="Group 21"/>
            <p:cNvGrpSpPr/>
            <p:nvPr/>
          </p:nvGrpSpPr>
          <p:grpSpPr>
            <a:xfrm>
              <a:off x="3616085" y="2939790"/>
              <a:ext cx="159047" cy="149485"/>
              <a:chOff x="3616085" y="2939790"/>
              <a:chExt cx="159047" cy="149485"/>
            </a:xfrm>
          </p:grpSpPr>
          <p:sp>
            <p:nvSpPr>
              <p:cNvPr id="19" name="Freeform 19"/>
              <p:cNvSpPr/>
              <p:nvPr/>
            </p:nvSpPr>
            <p:spPr>
              <a:xfrm>
                <a:off x="3617119" y="2992144"/>
                <a:ext cx="157163" cy="97131"/>
              </a:xfrm>
              <a:custGeom>
                <a:avLst/>
                <a:gdLst/>
                <a:ahLst/>
                <a:cxnLst/>
                <a:rect l="l" t="t" r="r" b="b"/>
                <a:pathLst>
                  <a:path w="157163" h="97131">
                    <a:moveTo>
                      <a:pt x="106696" y="4361"/>
                    </a:moveTo>
                    <a:cubicBezTo>
                      <a:pt x="109677" y="641"/>
                      <a:pt x="115091" y="0"/>
                      <a:pt x="118859" y="2921"/>
                    </a:cubicBezTo>
                    <a:lnTo>
                      <a:pt x="119679" y="3645"/>
                    </a:lnTo>
                    <a:lnTo>
                      <a:pt x="154604" y="38570"/>
                    </a:lnTo>
                    <a:cubicBezTo>
                      <a:pt x="155961" y="39928"/>
                      <a:pt x="156833" y="41696"/>
                      <a:pt x="157084" y="43600"/>
                    </a:cubicBezTo>
                    <a:lnTo>
                      <a:pt x="157163" y="44743"/>
                    </a:lnTo>
                    <a:lnTo>
                      <a:pt x="157163" y="88400"/>
                    </a:lnTo>
                    <a:cubicBezTo>
                      <a:pt x="157162" y="92826"/>
                      <a:pt x="153849" y="96552"/>
                      <a:pt x="149453" y="97070"/>
                    </a:cubicBezTo>
                    <a:lnTo>
                      <a:pt x="148431" y="97131"/>
                    </a:lnTo>
                    <a:lnTo>
                      <a:pt x="8539" y="97131"/>
                    </a:lnTo>
                    <a:lnTo>
                      <a:pt x="7579" y="97052"/>
                    </a:lnTo>
                    <a:lnTo>
                      <a:pt x="6618" y="96878"/>
                    </a:lnTo>
                    <a:lnTo>
                      <a:pt x="5684" y="96581"/>
                    </a:lnTo>
                    <a:lnTo>
                      <a:pt x="4767" y="96179"/>
                    </a:lnTo>
                    <a:lnTo>
                      <a:pt x="3894" y="95664"/>
                    </a:lnTo>
                    <a:lnTo>
                      <a:pt x="3073" y="95053"/>
                    </a:lnTo>
                    <a:lnTo>
                      <a:pt x="2550" y="94573"/>
                    </a:lnTo>
                    <a:lnTo>
                      <a:pt x="1921" y="93857"/>
                    </a:lnTo>
                    <a:lnTo>
                      <a:pt x="1362" y="93080"/>
                    </a:lnTo>
                    <a:lnTo>
                      <a:pt x="891" y="92241"/>
                    </a:lnTo>
                    <a:lnTo>
                      <a:pt x="751" y="91936"/>
                    </a:lnTo>
                    <a:lnTo>
                      <a:pt x="402" y="91036"/>
                    </a:lnTo>
                    <a:lnTo>
                      <a:pt x="166" y="90111"/>
                    </a:lnTo>
                    <a:lnTo>
                      <a:pt x="35" y="89168"/>
                    </a:lnTo>
                    <a:lnTo>
                      <a:pt x="0" y="88207"/>
                    </a:lnTo>
                    <a:lnTo>
                      <a:pt x="79" y="87247"/>
                    </a:lnTo>
                    <a:lnTo>
                      <a:pt x="244" y="86330"/>
                    </a:lnTo>
                    <a:cubicBezTo>
                      <a:pt x="332" y="85981"/>
                      <a:pt x="437" y="85658"/>
                      <a:pt x="550" y="85352"/>
                    </a:cubicBezTo>
                    <a:lnTo>
                      <a:pt x="952" y="84436"/>
                    </a:lnTo>
                    <a:lnTo>
                      <a:pt x="1467" y="83562"/>
                    </a:lnTo>
                    <a:lnTo>
                      <a:pt x="36392" y="31175"/>
                    </a:lnTo>
                    <a:cubicBezTo>
                      <a:pt x="38603" y="27845"/>
                      <a:pt x="42793" y="26443"/>
                      <a:pt x="46564" y="27770"/>
                    </a:cubicBezTo>
                    <a:lnTo>
                      <a:pt x="47559" y="28206"/>
                    </a:lnTo>
                    <a:lnTo>
                      <a:pt x="76171" y="42508"/>
                    </a:lnTo>
                    <a:lnTo>
                      <a:pt x="106687" y="4361"/>
                    </a:lnTo>
                    <a:close/>
                  </a:path>
                </a:pathLst>
              </a:custGeom>
              <a:solidFill>
                <a:schemeClr val="accent2"/>
              </a:solidFill>
              <a:ln>
                <a:noFill/>
              </a:ln>
            </p:spPr>
          </p:sp>
          <p:sp>
            <p:nvSpPr>
              <p:cNvPr id="20" name="Freeform 20"/>
              <p:cNvSpPr/>
              <p:nvPr/>
            </p:nvSpPr>
            <p:spPr>
              <a:xfrm>
                <a:off x="3616085" y="2939790"/>
                <a:ext cx="159047" cy="89400"/>
              </a:xfrm>
              <a:custGeom>
                <a:avLst/>
                <a:gdLst/>
                <a:ahLst/>
                <a:cxnLst/>
                <a:rect l="l" t="t" r="r" b="b"/>
                <a:pathLst>
                  <a:path w="159047" h="89400">
                    <a:moveTo>
                      <a:pt x="107834" y="4197"/>
                    </a:moveTo>
                    <a:cubicBezTo>
                      <a:pt x="110846" y="579"/>
                      <a:pt x="116183" y="0"/>
                      <a:pt x="119901" y="2888"/>
                    </a:cubicBezTo>
                    <a:lnTo>
                      <a:pt x="120713" y="3612"/>
                    </a:lnTo>
                    <a:lnTo>
                      <a:pt x="155638" y="38537"/>
                    </a:lnTo>
                    <a:cubicBezTo>
                      <a:pt x="158888" y="41798"/>
                      <a:pt x="159047" y="47022"/>
                      <a:pt x="156002" y="50475"/>
                    </a:cubicBezTo>
                    <a:cubicBezTo>
                      <a:pt x="152958" y="53928"/>
                      <a:pt x="147755" y="54424"/>
                      <a:pt x="144113" y="51608"/>
                    </a:cubicBezTo>
                    <a:lnTo>
                      <a:pt x="143292" y="50883"/>
                    </a:lnTo>
                    <a:lnTo>
                      <a:pt x="115125" y="22725"/>
                    </a:lnTo>
                    <a:lnTo>
                      <a:pt x="77589" y="67761"/>
                    </a:lnTo>
                    <a:cubicBezTo>
                      <a:pt x="75254" y="70562"/>
                      <a:pt x="71425" y="71617"/>
                      <a:pt x="67985" y="70406"/>
                    </a:cubicBezTo>
                    <a:lnTo>
                      <a:pt x="66981" y="69979"/>
                    </a:lnTo>
                    <a:lnTo>
                      <a:pt x="38569" y="55781"/>
                    </a:lnTo>
                    <a:lnTo>
                      <a:pt x="16750" y="84874"/>
                    </a:lnTo>
                    <a:cubicBezTo>
                      <a:pt x="14111" y="88394"/>
                      <a:pt x="9265" y="89400"/>
                      <a:pt x="5443" y="87223"/>
                    </a:cubicBezTo>
                    <a:lnTo>
                      <a:pt x="4526" y="86620"/>
                    </a:lnTo>
                    <a:cubicBezTo>
                      <a:pt x="1006" y="83981"/>
                      <a:pt x="0" y="79136"/>
                      <a:pt x="2177" y="75313"/>
                    </a:cubicBezTo>
                    <a:lnTo>
                      <a:pt x="2780" y="74397"/>
                    </a:lnTo>
                    <a:lnTo>
                      <a:pt x="28974" y="39472"/>
                    </a:lnTo>
                    <a:cubicBezTo>
                      <a:pt x="31272" y="36410"/>
                      <a:pt x="35297" y="35203"/>
                      <a:pt x="38901" y="36494"/>
                    </a:cubicBezTo>
                    <a:lnTo>
                      <a:pt x="39861" y="36905"/>
                    </a:lnTo>
                    <a:lnTo>
                      <a:pt x="68596" y="51267"/>
                    </a:lnTo>
                    <a:lnTo>
                      <a:pt x="107834" y="4197"/>
                    </a:lnTo>
                    <a:close/>
                  </a:path>
                </a:pathLst>
              </a:custGeom>
              <a:solidFill>
                <a:schemeClr val="accent2"/>
              </a:solidFill>
              <a:ln>
                <a:noFill/>
              </a:ln>
            </p:spPr>
          </p:sp>
        </p:grpSp>
        <p:sp>
          <p:nvSpPr>
            <p:cNvPr id="22" name="TextBox 22"/>
            <p:cNvSpPr txBox="1"/>
            <p:nvPr/>
          </p:nvSpPr>
          <p:spPr>
            <a:xfrm>
              <a:off x="3907917" y="2873692"/>
              <a:ext cx="805635" cy="264033"/>
            </a:xfrm>
            <a:prstGeom prst="rect">
              <a:avLst/>
            </a:prstGeom>
            <a:noFill/>
            <a:ln>
              <a:noFill/>
            </a:ln>
          </p:spPr>
          <p:txBody>
            <a:bodyPr wrap="none" lIns="0" tIns="0" rIns="0" bIns="0" anchor="t" anchorCtr="0">
              <a:spAutoFit/>
            </a:bodyPr>
            <a:lstStyle/>
            <a:p>
              <a:pPr algn="l"/>
              <a:r>
                <a:rPr lang="en-GB" sz="1350" b="1" dirty="0">
                  <a:solidFill>
                    <a:schemeClr val="dk1"/>
                  </a:solidFill>
                  <a:latin typeface="+mn-lt"/>
                  <a:ea typeface="+mn-ea"/>
                  <a:cs typeface="+mn-cs"/>
                </a:rPr>
                <a:t>6.2 days</a:t>
              </a:r>
              <a:endParaRPr lang="en-GB" sz="1350" b="1" dirty="0">
                <a:solidFill>
                  <a:schemeClr val="dk1"/>
                </a:solidFill>
                <a:latin typeface="+mn-lt"/>
                <a:ea typeface="+mn-ea"/>
                <a:cs typeface="+mn-cs"/>
              </a:endParaRPr>
            </a:p>
          </p:txBody>
        </p:sp>
        <p:sp>
          <p:nvSpPr>
            <p:cNvPr id="23" name="TextBox 23"/>
            <p:cNvSpPr txBox="1"/>
            <p:nvPr/>
          </p:nvSpPr>
          <p:spPr>
            <a:xfrm>
              <a:off x="3908679" y="3089910"/>
              <a:ext cx="1177938" cy="234696"/>
            </a:xfrm>
            <a:prstGeom prst="rect">
              <a:avLst/>
            </a:prstGeom>
            <a:noFill/>
            <a:ln>
              <a:noFill/>
            </a:ln>
          </p:spPr>
          <p:txBody>
            <a:bodyPr wrap="none" lIns="0" tIns="0" rIns="0" bIns="0" anchor="t" anchorCtr="0">
              <a:spAutoFit/>
            </a:bodyPr>
            <a:lstStyle/>
            <a:p>
              <a:pPr algn="l"/>
              <a:r>
                <a:rPr lang="en-GB" sz="1200" dirty="0">
                  <a:solidFill>
                    <a:schemeClr val="accent5"/>
                  </a:solidFill>
                  <a:latin typeface="+mn-lt"/>
                  <a:ea typeface="+mn-ea"/>
                  <a:cs typeface="+mn-cs"/>
                </a:rPr>
                <a:t>Systemic MTBF</a:t>
              </a:r>
              <a:endParaRPr lang="en-GB" sz="1200" dirty="0">
                <a:solidFill>
                  <a:schemeClr val="accent5"/>
                </a:solidFill>
                <a:latin typeface="+mn-lt"/>
                <a:ea typeface="+mn-ea"/>
                <a:cs typeface="+mn-cs"/>
              </a:endParaRPr>
            </a:p>
          </p:txBody>
        </p:sp>
      </p:grpSp>
      <p:grpSp>
        <p:nvGrpSpPr>
          <p:cNvPr id="29" name="Group 29"/>
          <p:cNvGrpSpPr/>
          <p:nvPr/>
        </p:nvGrpSpPr>
        <p:grpSpPr>
          <a:xfrm>
            <a:off x="6191250" y="2743200"/>
            <a:ext cx="2600325" cy="628650"/>
            <a:chOff x="6191250" y="2743200"/>
            <a:chExt cx="2600325" cy="628650"/>
          </a:xfrm>
        </p:grpSpPr>
        <p:sp>
          <p:nvSpPr>
            <p:cNvPr id="25" name="Rectangle 25"/>
            <p:cNvSpPr/>
            <p:nvPr/>
          </p:nvSpPr>
          <p:spPr>
            <a:xfrm>
              <a:off x="6191250" y="2743200"/>
              <a:ext cx="2600325" cy="628650"/>
            </a:xfrm>
            <a:prstGeom prst="roundRect">
              <a:avLst>
                <a:gd name="adj" fmla="val 30303"/>
              </a:avLst>
            </a:prstGeom>
            <a:solidFill>
              <a:schemeClr val="lt2"/>
            </a:solidFill>
            <a:ln>
              <a:noFill/>
            </a:ln>
            <a:effectLst>
              <a:outerShdw blurRad="266700" dist="57150" dir="5400000" algn="ctr" rotWithShape="0">
                <a:srgbClr val="2FA875">
                  <a:alpha val="9000"/>
                </a:srgbClr>
              </a:outerShdw>
            </a:effectLst>
          </p:spPr>
        </p:sp>
        <p:sp>
          <p:nvSpPr>
            <p:cNvPr id="26" name="Freeform 26"/>
            <p:cNvSpPr/>
            <p:nvPr/>
          </p:nvSpPr>
          <p:spPr>
            <a:xfrm>
              <a:off x="6399213" y="2944172"/>
              <a:ext cx="174625" cy="145492"/>
            </a:xfrm>
            <a:custGeom>
              <a:avLst/>
              <a:gdLst/>
              <a:ahLst/>
              <a:cxnLst/>
              <a:rect l="l" t="t" r="r" b="b"/>
              <a:pathLst>
                <a:path w="174625" h="145492">
                  <a:moveTo>
                    <a:pt x="170259" y="15304"/>
                  </a:moveTo>
                  <a:cubicBezTo>
                    <a:pt x="172644" y="16680"/>
                    <a:pt x="174239" y="19101"/>
                    <a:pt x="174564" y="21835"/>
                  </a:cubicBezTo>
                  <a:lnTo>
                    <a:pt x="174625" y="22865"/>
                  </a:lnTo>
                  <a:lnTo>
                    <a:pt x="174625" y="136371"/>
                  </a:lnTo>
                  <a:cubicBezTo>
                    <a:pt x="174625" y="139491"/>
                    <a:pt x="172961" y="142373"/>
                    <a:pt x="170259" y="143933"/>
                  </a:cubicBezTo>
                  <a:cubicBezTo>
                    <a:pt x="167558" y="145492"/>
                    <a:pt x="164230" y="145492"/>
                    <a:pt x="161528" y="143933"/>
                  </a:cubicBezTo>
                  <a:cubicBezTo>
                    <a:pt x="141440" y="132333"/>
                    <a:pt x="116903" y="131463"/>
                    <a:pt x="96044" y="141610"/>
                  </a:cubicBezTo>
                  <a:lnTo>
                    <a:pt x="96044" y="9122"/>
                  </a:lnTo>
                  <a:cubicBezTo>
                    <a:pt x="120465" y="0"/>
                    <a:pt x="147684" y="2267"/>
                    <a:pt x="170259" y="15304"/>
                  </a:cubicBezTo>
                  <a:moveTo>
                    <a:pt x="78581" y="9131"/>
                  </a:moveTo>
                  <a:lnTo>
                    <a:pt x="78590" y="141619"/>
                  </a:lnTo>
                  <a:cubicBezTo>
                    <a:pt x="58576" y="131876"/>
                    <a:pt x="35117" y="132255"/>
                    <a:pt x="15428" y="142640"/>
                  </a:cubicBezTo>
                  <a:lnTo>
                    <a:pt x="12573" y="144212"/>
                  </a:lnTo>
                  <a:lnTo>
                    <a:pt x="11674" y="144596"/>
                  </a:lnTo>
                  <a:lnTo>
                    <a:pt x="11246" y="144736"/>
                  </a:lnTo>
                  <a:lnTo>
                    <a:pt x="10285" y="144963"/>
                  </a:lnTo>
                  <a:lnTo>
                    <a:pt x="9753" y="145050"/>
                  </a:lnTo>
                  <a:lnTo>
                    <a:pt x="8731" y="145103"/>
                  </a:lnTo>
                  <a:lnTo>
                    <a:pt x="8365" y="145103"/>
                  </a:lnTo>
                  <a:lnTo>
                    <a:pt x="7404" y="144998"/>
                  </a:lnTo>
                  <a:lnTo>
                    <a:pt x="6732" y="144876"/>
                  </a:lnTo>
                  <a:lnTo>
                    <a:pt x="5789" y="144596"/>
                  </a:lnTo>
                  <a:lnTo>
                    <a:pt x="4689" y="144107"/>
                  </a:lnTo>
                  <a:lnTo>
                    <a:pt x="3859" y="143618"/>
                  </a:lnTo>
                  <a:lnTo>
                    <a:pt x="3082" y="143033"/>
                  </a:lnTo>
                  <a:lnTo>
                    <a:pt x="2558" y="142544"/>
                  </a:lnTo>
                  <a:lnTo>
                    <a:pt x="1921" y="141828"/>
                  </a:lnTo>
                  <a:lnTo>
                    <a:pt x="1362" y="141051"/>
                  </a:lnTo>
                  <a:lnTo>
                    <a:pt x="1170" y="140737"/>
                  </a:lnTo>
                  <a:lnTo>
                    <a:pt x="891" y="140213"/>
                  </a:lnTo>
                  <a:lnTo>
                    <a:pt x="506" y="139314"/>
                  </a:lnTo>
                  <a:lnTo>
                    <a:pt x="367" y="138886"/>
                  </a:lnTo>
                  <a:lnTo>
                    <a:pt x="140" y="137926"/>
                  </a:lnTo>
                  <a:lnTo>
                    <a:pt x="52" y="137393"/>
                  </a:lnTo>
                  <a:lnTo>
                    <a:pt x="17" y="136965"/>
                  </a:lnTo>
                  <a:lnTo>
                    <a:pt x="0" y="22865"/>
                  </a:lnTo>
                  <a:cubicBezTo>
                    <a:pt x="0" y="19746"/>
                    <a:pt x="1664" y="16863"/>
                    <a:pt x="4366" y="15304"/>
                  </a:cubicBezTo>
                  <a:cubicBezTo>
                    <a:pt x="26942" y="2270"/>
                    <a:pt x="54162" y="6"/>
                    <a:pt x="78581" y="9131"/>
                  </a:cubicBezTo>
                </a:path>
              </a:pathLst>
            </a:custGeom>
            <a:solidFill>
              <a:schemeClr val="accent2"/>
            </a:solidFill>
            <a:ln>
              <a:noFill/>
            </a:ln>
          </p:spPr>
        </p:sp>
        <p:sp>
          <p:nvSpPr>
            <p:cNvPr id="27" name="TextBox 27"/>
            <p:cNvSpPr txBox="1"/>
            <p:nvPr/>
          </p:nvSpPr>
          <p:spPr>
            <a:xfrm>
              <a:off x="6698742" y="2873692"/>
              <a:ext cx="366740" cy="264033"/>
            </a:xfrm>
            <a:prstGeom prst="rect">
              <a:avLst/>
            </a:prstGeom>
            <a:noFill/>
            <a:ln>
              <a:noFill/>
            </a:ln>
          </p:spPr>
          <p:txBody>
            <a:bodyPr wrap="none" lIns="0" tIns="0" rIns="0" bIns="0" anchor="t" anchorCtr="0">
              <a:spAutoFit/>
            </a:bodyPr>
            <a:lstStyle/>
            <a:p>
              <a:pPr algn="l"/>
              <a:r>
                <a:rPr lang="en-GB" sz="1350" b="1" dirty="0">
                  <a:solidFill>
                    <a:schemeClr val="dk1"/>
                  </a:solidFill>
                  <a:latin typeface="+mn-lt"/>
                  <a:ea typeface="+mn-ea"/>
                  <a:cs typeface="+mn-cs"/>
                </a:rPr>
                <a:t>78%</a:t>
              </a:r>
              <a:endParaRPr lang="en-GB" sz="1350" b="1" dirty="0">
                <a:solidFill>
                  <a:schemeClr val="dk1"/>
                </a:solidFill>
                <a:latin typeface="+mn-lt"/>
                <a:ea typeface="+mn-ea"/>
                <a:cs typeface="+mn-cs"/>
              </a:endParaRPr>
            </a:p>
          </p:txBody>
        </p:sp>
        <p:sp>
          <p:nvSpPr>
            <p:cNvPr id="28" name="TextBox 28"/>
            <p:cNvSpPr txBox="1"/>
            <p:nvPr/>
          </p:nvSpPr>
          <p:spPr>
            <a:xfrm>
              <a:off x="6699504" y="3089910"/>
              <a:ext cx="959754" cy="234696"/>
            </a:xfrm>
            <a:prstGeom prst="rect">
              <a:avLst/>
            </a:prstGeom>
            <a:noFill/>
            <a:ln>
              <a:noFill/>
            </a:ln>
          </p:spPr>
          <p:txBody>
            <a:bodyPr wrap="none" lIns="0" tIns="0" rIns="0" bIns="0" anchor="t" anchorCtr="0">
              <a:spAutoFit/>
            </a:bodyPr>
            <a:lstStyle/>
            <a:p>
              <a:pPr algn="l"/>
              <a:r>
                <a:rPr lang="en-GB" sz="1200" dirty="0">
                  <a:solidFill>
                    <a:schemeClr val="accent5"/>
                  </a:solidFill>
                  <a:latin typeface="+mn-lt"/>
                  <a:ea typeface="+mn-ea"/>
                  <a:cs typeface="+mn-cs"/>
                </a:rPr>
                <a:t>KB coverage</a:t>
              </a:r>
              <a:endParaRPr lang="en-GB" sz="1200" dirty="0">
                <a:solidFill>
                  <a:schemeClr val="accent5"/>
                </a:solidFill>
                <a:latin typeface="+mn-lt"/>
                <a:ea typeface="+mn-ea"/>
                <a:cs typeface="+mn-cs"/>
              </a:endParaRPr>
            </a:p>
          </p:txBody>
        </p:sp>
      </p:grpSp>
      <p:grpSp>
        <p:nvGrpSpPr>
          <p:cNvPr id="41" name="Group 41"/>
          <p:cNvGrpSpPr/>
          <p:nvPr/>
        </p:nvGrpSpPr>
        <p:grpSpPr>
          <a:xfrm>
            <a:off x="8982075" y="2743200"/>
            <a:ext cx="2600325" cy="628650"/>
            <a:chOff x="8982075" y="2743200"/>
            <a:chExt cx="2600325" cy="628650"/>
          </a:xfrm>
        </p:grpSpPr>
        <p:sp>
          <p:nvSpPr>
            <p:cNvPr id="30" name="Rectangle 30"/>
            <p:cNvSpPr/>
            <p:nvPr/>
          </p:nvSpPr>
          <p:spPr>
            <a:xfrm>
              <a:off x="8982075" y="2743200"/>
              <a:ext cx="2600325" cy="628650"/>
            </a:xfrm>
            <a:prstGeom prst="roundRect">
              <a:avLst>
                <a:gd name="adj" fmla="val 30303"/>
              </a:avLst>
            </a:prstGeom>
            <a:solidFill>
              <a:schemeClr val="lt2"/>
            </a:solidFill>
            <a:ln>
              <a:noFill/>
            </a:ln>
            <a:effectLst>
              <a:outerShdw blurRad="266700" dist="57150" dir="5400000" algn="ctr" rotWithShape="0">
                <a:srgbClr val="2FA875">
                  <a:alpha val="9000"/>
                </a:srgbClr>
              </a:outerShdw>
            </a:effectLst>
          </p:spPr>
        </p:sp>
        <p:grpSp>
          <p:nvGrpSpPr>
            <p:cNvPr id="38" name="Group 38"/>
            <p:cNvGrpSpPr/>
            <p:nvPr/>
          </p:nvGrpSpPr>
          <p:grpSpPr>
            <a:xfrm>
              <a:off x="9189791" y="2932113"/>
              <a:ext cx="175118" cy="174625"/>
              <a:chOff x="9189791" y="2932113"/>
              <a:chExt cx="175118" cy="174625"/>
            </a:xfrm>
          </p:grpSpPr>
          <p:sp>
            <p:nvSpPr>
              <p:cNvPr id="31" name="Freeform 31"/>
              <p:cNvSpPr/>
              <p:nvPr/>
            </p:nvSpPr>
            <p:spPr>
              <a:xfrm>
                <a:off x="9189791" y="3010694"/>
                <a:ext cx="26686" cy="17463"/>
              </a:xfrm>
              <a:custGeom>
                <a:avLst/>
                <a:gdLst/>
                <a:ahLst/>
                <a:cxnLst/>
                <a:rect l="l" t="t" r="r" b="b"/>
                <a:pathLst>
                  <a:path w="26686" h="17463">
                    <a:moveTo>
                      <a:pt x="17709" y="0"/>
                    </a:moveTo>
                    <a:cubicBezTo>
                      <a:pt x="22328" y="5"/>
                      <a:pt x="26144" y="3608"/>
                      <a:pt x="26415" y="8220"/>
                    </a:cubicBezTo>
                    <a:cubicBezTo>
                      <a:pt x="26686" y="12831"/>
                      <a:pt x="23317" y="16856"/>
                      <a:pt x="18730" y="17401"/>
                    </a:cubicBezTo>
                    <a:lnTo>
                      <a:pt x="17709" y="17463"/>
                    </a:lnTo>
                    <a:lnTo>
                      <a:pt x="8977" y="17463"/>
                    </a:lnTo>
                    <a:cubicBezTo>
                      <a:pt x="4358" y="17457"/>
                      <a:pt x="541" y="13855"/>
                      <a:pt x="271" y="9243"/>
                    </a:cubicBezTo>
                    <a:cubicBezTo>
                      <a:pt x="0" y="4631"/>
                      <a:pt x="3368" y="607"/>
                      <a:pt x="7956" y="61"/>
                    </a:cubicBezTo>
                    <a:lnTo>
                      <a:pt x="8977" y="0"/>
                    </a:lnTo>
                    <a:lnTo>
                      <a:pt x="17709" y="0"/>
                    </a:lnTo>
                    <a:close/>
                  </a:path>
                </a:pathLst>
              </a:custGeom>
              <a:solidFill>
                <a:schemeClr val="accent2"/>
              </a:solidFill>
              <a:ln>
                <a:noFill/>
              </a:ln>
            </p:spPr>
          </p:sp>
          <p:sp>
            <p:nvSpPr>
              <p:cNvPr id="32" name="Freeform 32"/>
              <p:cNvSpPr/>
              <p:nvPr/>
            </p:nvSpPr>
            <p:spPr>
              <a:xfrm>
                <a:off x="9268619" y="2932113"/>
                <a:ext cx="17463" cy="26440"/>
              </a:xfrm>
              <a:custGeom>
                <a:avLst/>
                <a:gdLst/>
                <a:ahLst/>
                <a:cxnLst/>
                <a:rect l="l" t="t" r="r" b="b"/>
                <a:pathLst>
                  <a:path w="17463" h="26440">
                    <a:moveTo>
                      <a:pt x="8731" y="0"/>
                    </a:moveTo>
                    <a:cubicBezTo>
                      <a:pt x="13158" y="1"/>
                      <a:pt x="16883" y="3314"/>
                      <a:pt x="17401" y="7710"/>
                    </a:cubicBezTo>
                    <a:lnTo>
                      <a:pt x="17463" y="8731"/>
                    </a:lnTo>
                    <a:lnTo>
                      <a:pt x="17463" y="17463"/>
                    </a:lnTo>
                    <a:cubicBezTo>
                      <a:pt x="17457" y="22082"/>
                      <a:pt x="13855" y="25898"/>
                      <a:pt x="9243" y="26169"/>
                    </a:cubicBezTo>
                    <a:cubicBezTo>
                      <a:pt x="4631" y="26440"/>
                      <a:pt x="607" y="23071"/>
                      <a:pt x="61" y="18484"/>
                    </a:cubicBezTo>
                    <a:lnTo>
                      <a:pt x="0" y="17463"/>
                    </a:lnTo>
                    <a:lnTo>
                      <a:pt x="0" y="8731"/>
                    </a:lnTo>
                    <a:cubicBezTo>
                      <a:pt x="0" y="3909"/>
                      <a:pt x="3909" y="0"/>
                      <a:pt x="8731" y="0"/>
                    </a:cubicBezTo>
                    <a:close/>
                  </a:path>
                </a:pathLst>
              </a:custGeom>
              <a:solidFill>
                <a:schemeClr val="accent2"/>
              </a:solidFill>
              <a:ln>
                <a:noFill/>
              </a:ln>
            </p:spPr>
          </p:sp>
          <p:sp>
            <p:nvSpPr>
              <p:cNvPr id="33" name="Freeform 33"/>
              <p:cNvSpPr/>
              <p:nvPr/>
            </p:nvSpPr>
            <p:spPr>
              <a:xfrm>
                <a:off x="9338223" y="3010694"/>
                <a:ext cx="26686" cy="17463"/>
              </a:xfrm>
              <a:custGeom>
                <a:avLst/>
                <a:gdLst/>
                <a:ahLst/>
                <a:cxnLst/>
                <a:rect l="l" t="t" r="r" b="b"/>
                <a:pathLst>
                  <a:path w="26686" h="17463">
                    <a:moveTo>
                      <a:pt x="17709" y="0"/>
                    </a:moveTo>
                    <a:cubicBezTo>
                      <a:pt x="22328" y="5"/>
                      <a:pt x="26144" y="3608"/>
                      <a:pt x="26415" y="8220"/>
                    </a:cubicBezTo>
                    <a:cubicBezTo>
                      <a:pt x="26686" y="12831"/>
                      <a:pt x="23317" y="16856"/>
                      <a:pt x="18730" y="17401"/>
                    </a:cubicBezTo>
                    <a:lnTo>
                      <a:pt x="17709" y="17463"/>
                    </a:lnTo>
                    <a:lnTo>
                      <a:pt x="8977" y="17463"/>
                    </a:lnTo>
                    <a:cubicBezTo>
                      <a:pt x="4358" y="17457"/>
                      <a:pt x="541" y="13855"/>
                      <a:pt x="271" y="9243"/>
                    </a:cubicBezTo>
                    <a:cubicBezTo>
                      <a:pt x="0" y="4631"/>
                      <a:pt x="3368" y="607"/>
                      <a:pt x="7956" y="61"/>
                    </a:cubicBezTo>
                    <a:lnTo>
                      <a:pt x="8977" y="0"/>
                    </a:lnTo>
                    <a:lnTo>
                      <a:pt x="17709" y="0"/>
                    </a:lnTo>
                    <a:close/>
                  </a:path>
                </a:pathLst>
              </a:custGeom>
              <a:solidFill>
                <a:schemeClr val="accent2"/>
              </a:solidFill>
              <a:ln>
                <a:noFill/>
              </a:ln>
            </p:spPr>
          </p:sp>
          <p:sp>
            <p:nvSpPr>
              <p:cNvPr id="34" name="Freeform 34"/>
              <p:cNvSpPr/>
              <p:nvPr/>
            </p:nvSpPr>
            <p:spPr>
              <a:xfrm>
                <a:off x="9211888" y="2953951"/>
                <a:ext cx="25276" cy="25420"/>
              </a:xfrm>
              <a:custGeom>
                <a:avLst/>
                <a:gdLst/>
                <a:ahLst/>
                <a:cxnLst/>
                <a:rect l="l" t="t" r="r" b="b"/>
                <a:pathLst>
                  <a:path w="25276" h="25420">
                    <a:moveTo>
                      <a:pt x="3409" y="3421"/>
                    </a:moveTo>
                    <a:cubicBezTo>
                      <a:pt x="6519" y="311"/>
                      <a:pt x="11458" y="0"/>
                      <a:pt x="14934" y="2696"/>
                    </a:cubicBezTo>
                    <a:lnTo>
                      <a:pt x="15755" y="3421"/>
                    </a:lnTo>
                    <a:lnTo>
                      <a:pt x="21866" y="9533"/>
                    </a:lnTo>
                    <a:cubicBezTo>
                      <a:pt x="25116" y="12794"/>
                      <a:pt x="25276" y="18018"/>
                      <a:pt x="22231" y="21471"/>
                    </a:cubicBezTo>
                    <a:cubicBezTo>
                      <a:pt x="19186" y="24924"/>
                      <a:pt x="13983" y="25420"/>
                      <a:pt x="10341" y="22603"/>
                    </a:cubicBezTo>
                    <a:lnTo>
                      <a:pt x="9520" y="21879"/>
                    </a:lnTo>
                    <a:lnTo>
                      <a:pt x="3409" y="15767"/>
                    </a:lnTo>
                    <a:cubicBezTo>
                      <a:pt x="0" y="12357"/>
                      <a:pt x="0" y="6830"/>
                      <a:pt x="3409" y="3421"/>
                    </a:cubicBezTo>
                    <a:close/>
                  </a:path>
                </a:pathLst>
              </a:custGeom>
              <a:solidFill>
                <a:schemeClr val="accent2"/>
              </a:solidFill>
              <a:ln>
                <a:noFill/>
              </a:ln>
            </p:spPr>
          </p:sp>
          <p:sp>
            <p:nvSpPr>
              <p:cNvPr id="35" name="Freeform 35"/>
              <p:cNvSpPr/>
              <p:nvPr/>
            </p:nvSpPr>
            <p:spPr>
              <a:xfrm>
                <a:off x="9317404" y="2953963"/>
                <a:ext cx="25540" cy="25277"/>
              </a:xfrm>
              <a:custGeom>
                <a:avLst/>
                <a:gdLst/>
                <a:ahLst/>
                <a:cxnLst/>
                <a:rect l="l" t="t" r="r" b="b"/>
                <a:pathLst>
                  <a:path w="25540" h="25277">
                    <a:moveTo>
                      <a:pt x="9653" y="3409"/>
                    </a:moveTo>
                    <a:cubicBezTo>
                      <a:pt x="12914" y="160"/>
                      <a:pt x="18138" y="0"/>
                      <a:pt x="21591" y="3045"/>
                    </a:cubicBezTo>
                    <a:cubicBezTo>
                      <a:pt x="25044" y="6090"/>
                      <a:pt x="25540" y="11293"/>
                      <a:pt x="22723" y="14935"/>
                    </a:cubicBezTo>
                    <a:lnTo>
                      <a:pt x="21999" y="15755"/>
                    </a:lnTo>
                    <a:lnTo>
                      <a:pt x="15887" y="21867"/>
                    </a:lnTo>
                    <a:cubicBezTo>
                      <a:pt x="12626" y="25117"/>
                      <a:pt x="7402" y="25277"/>
                      <a:pt x="3949" y="22232"/>
                    </a:cubicBezTo>
                    <a:cubicBezTo>
                      <a:pt x="496" y="19187"/>
                      <a:pt x="0" y="13984"/>
                      <a:pt x="2816" y="10342"/>
                    </a:cubicBezTo>
                    <a:lnTo>
                      <a:pt x="3541" y="9521"/>
                    </a:lnTo>
                    <a:lnTo>
                      <a:pt x="9653" y="3409"/>
                    </a:lnTo>
                    <a:close/>
                  </a:path>
                </a:pathLst>
              </a:custGeom>
              <a:solidFill>
                <a:schemeClr val="accent2"/>
              </a:solidFill>
              <a:ln>
                <a:noFill/>
              </a:ln>
            </p:spPr>
          </p:sp>
          <p:sp>
            <p:nvSpPr>
              <p:cNvPr id="36" name="Freeform 36"/>
              <p:cNvSpPr/>
              <p:nvPr/>
            </p:nvSpPr>
            <p:spPr>
              <a:xfrm>
                <a:off x="9251156" y="3071813"/>
                <a:ext cx="52388" cy="34925"/>
              </a:xfrm>
              <a:custGeom>
                <a:avLst/>
                <a:gdLst/>
                <a:ahLst/>
                <a:cxnLst/>
                <a:rect l="l" t="t" r="r" b="b"/>
                <a:pathLst>
                  <a:path w="52388" h="34925">
                    <a:moveTo>
                      <a:pt x="43656" y="0"/>
                    </a:moveTo>
                    <a:cubicBezTo>
                      <a:pt x="48478" y="0"/>
                      <a:pt x="52388" y="3909"/>
                      <a:pt x="52388" y="8731"/>
                    </a:cubicBezTo>
                    <a:cubicBezTo>
                      <a:pt x="52388" y="23198"/>
                      <a:pt x="40660" y="34925"/>
                      <a:pt x="26194" y="34925"/>
                    </a:cubicBezTo>
                    <a:cubicBezTo>
                      <a:pt x="11727" y="34925"/>
                      <a:pt x="0" y="23198"/>
                      <a:pt x="0" y="8731"/>
                    </a:cubicBezTo>
                    <a:cubicBezTo>
                      <a:pt x="1" y="4305"/>
                      <a:pt x="3314" y="579"/>
                      <a:pt x="7710" y="61"/>
                    </a:cubicBezTo>
                    <a:lnTo>
                      <a:pt x="8731" y="0"/>
                    </a:lnTo>
                    <a:lnTo>
                      <a:pt x="43656" y="0"/>
                    </a:lnTo>
                    <a:close/>
                  </a:path>
                </a:pathLst>
              </a:custGeom>
              <a:solidFill>
                <a:schemeClr val="accent2"/>
              </a:solidFill>
              <a:ln>
                <a:noFill/>
              </a:ln>
            </p:spPr>
          </p:sp>
          <p:sp>
            <p:nvSpPr>
              <p:cNvPr id="37" name="Freeform 37"/>
              <p:cNvSpPr/>
              <p:nvPr/>
            </p:nvSpPr>
            <p:spPr>
              <a:xfrm>
                <a:off x="9220520" y="2967038"/>
                <a:ext cx="113660" cy="96044"/>
              </a:xfrm>
              <a:custGeom>
                <a:avLst/>
                <a:gdLst/>
                <a:ahLst/>
                <a:cxnLst/>
                <a:rect l="l" t="t" r="r" b="b"/>
                <a:pathLst>
                  <a:path w="113660" h="96044">
                    <a:moveTo>
                      <a:pt x="56830" y="0"/>
                    </a:moveTo>
                    <a:cubicBezTo>
                      <a:pt x="79379" y="0"/>
                      <a:pt x="99398" y="14429"/>
                      <a:pt x="106529" y="35821"/>
                    </a:cubicBezTo>
                    <a:cubicBezTo>
                      <a:pt x="113660" y="57213"/>
                      <a:pt x="106302" y="80768"/>
                      <a:pt x="88262" y="94298"/>
                    </a:cubicBezTo>
                    <a:cubicBezTo>
                      <a:pt x="87059" y="95201"/>
                      <a:pt x="85642" y="95779"/>
                      <a:pt x="84150" y="95974"/>
                    </a:cubicBezTo>
                    <a:lnTo>
                      <a:pt x="83024" y="96044"/>
                    </a:lnTo>
                    <a:lnTo>
                      <a:pt x="30636" y="96044"/>
                    </a:lnTo>
                    <a:cubicBezTo>
                      <a:pt x="28747" y="96044"/>
                      <a:pt x="26909" y="95431"/>
                      <a:pt x="25397" y="94298"/>
                    </a:cubicBezTo>
                    <a:cubicBezTo>
                      <a:pt x="7358" y="80768"/>
                      <a:pt x="0" y="57213"/>
                      <a:pt x="7131" y="35821"/>
                    </a:cubicBezTo>
                    <a:cubicBezTo>
                      <a:pt x="14261" y="14429"/>
                      <a:pt x="34281" y="0"/>
                      <a:pt x="56830" y="0"/>
                    </a:cubicBezTo>
                    <a:close/>
                  </a:path>
                </a:pathLst>
              </a:custGeom>
              <a:solidFill>
                <a:schemeClr val="accent2"/>
              </a:solidFill>
              <a:ln>
                <a:noFill/>
              </a:ln>
            </p:spPr>
          </p:sp>
        </p:grpSp>
        <p:sp>
          <p:nvSpPr>
            <p:cNvPr id="39" name="TextBox 39"/>
            <p:cNvSpPr txBox="1"/>
            <p:nvPr/>
          </p:nvSpPr>
          <p:spPr>
            <a:xfrm>
              <a:off x="9489567" y="2873692"/>
              <a:ext cx="366740" cy="264033"/>
            </a:xfrm>
            <a:prstGeom prst="rect">
              <a:avLst/>
            </a:prstGeom>
            <a:noFill/>
            <a:ln>
              <a:noFill/>
            </a:ln>
          </p:spPr>
          <p:txBody>
            <a:bodyPr wrap="none" lIns="0" tIns="0" rIns="0" bIns="0" anchor="t" anchorCtr="0">
              <a:spAutoFit/>
            </a:bodyPr>
            <a:lstStyle/>
            <a:p>
              <a:pPr algn="l"/>
              <a:r>
                <a:rPr lang="en-GB" sz="1350" b="1" dirty="0">
                  <a:solidFill>
                    <a:schemeClr val="dk1"/>
                  </a:solidFill>
                  <a:latin typeface="+mn-lt"/>
                  <a:ea typeface="+mn-ea"/>
                  <a:cs typeface="+mn-cs"/>
                </a:rPr>
                <a:t>34%</a:t>
              </a:r>
              <a:endParaRPr lang="en-GB" sz="1350" b="1" dirty="0">
                <a:solidFill>
                  <a:schemeClr val="dk1"/>
                </a:solidFill>
                <a:latin typeface="+mn-lt"/>
                <a:ea typeface="+mn-ea"/>
                <a:cs typeface="+mn-cs"/>
              </a:endParaRPr>
            </a:p>
          </p:txBody>
        </p:sp>
        <p:sp>
          <p:nvSpPr>
            <p:cNvPr id="40" name="TextBox 40"/>
            <p:cNvSpPr txBox="1"/>
            <p:nvPr/>
          </p:nvSpPr>
          <p:spPr>
            <a:xfrm>
              <a:off x="9490329" y="3089910"/>
              <a:ext cx="1988100" cy="234696"/>
            </a:xfrm>
            <a:prstGeom prst="rect">
              <a:avLst/>
            </a:prstGeom>
            <a:noFill/>
            <a:ln>
              <a:noFill/>
            </a:ln>
          </p:spPr>
          <p:txBody>
            <a:bodyPr wrap="none" lIns="0" tIns="0" rIns="0" bIns="0" anchor="t" anchorCtr="0">
              <a:spAutoFit/>
            </a:bodyPr>
            <a:lstStyle/>
            <a:p>
              <a:pPr algn="l"/>
              <a:r>
                <a:rPr lang="en-GB" sz="1200" dirty="0">
                  <a:solidFill>
                    <a:schemeClr val="accent5"/>
                  </a:solidFill>
                  <a:latin typeface="+mn-lt"/>
                  <a:ea typeface="+mn-ea"/>
                  <a:cs typeface="+mn-cs"/>
                </a:rPr>
                <a:t>Proactive detection rate</a:t>
              </a:r>
              <a:endParaRPr lang="en-GB" sz="1200" dirty="0">
                <a:solidFill>
                  <a:schemeClr val="accent5"/>
                </a:solidFill>
                <a:latin typeface="+mn-lt"/>
                <a:ea typeface="+mn-ea"/>
                <a:cs typeface="+mn-cs"/>
              </a:endParaRPr>
            </a:p>
          </p:txBody>
        </p:sp>
      </p:grpSp>
      <p:grpSp>
        <p:nvGrpSpPr>
          <p:cNvPr id="65" name="Group 65"/>
          <p:cNvGrpSpPr/>
          <p:nvPr/>
        </p:nvGrpSpPr>
        <p:grpSpPr>
          <a:xfrm>
            <a:off x="609600" y="3600450"/>
            <a:ext cx="6286500" cy="2647950"/>
            <a:chOff x="609600" y="3600450"/>
            <a:chExt cx="6286500" cy="2647950"/>
          </a:xfrm>
        </p:grpSpPr>
        <p:sp>
          <p:nvSpPr>
            <p:cNvPr id="42" name="Rectangle 42"/>
            <p:cNvSpPr/>
            <p:nvPr/>
          </p:nvSpPr>
          <p:spPr>
            <a:xfrm>
              <a:off x="609600" y="3600450"/>
              <a:ext cx="6286500" cy="2647950"/>
            </a:xfrm>
            <a:prstGeom prst="roundRect">
              <a:avLst>
                <a:gd name="adj" fmla="val 9353"/>
              </a:avLst>
            </a:prstGeom>
            <a:solidFill>
              <a:schemeClr val="lt2"/>
            </a:solidFill>
            <a:ln>
              <a:noFill/>
            </a:ln>
            <a:effectLst>
              <a:outerShdw blurRad="266700" dist="57150" dir="5400000" algn="ctr" rotWithShape="0">
                <a:srgbClr val="7C6FE0">
                  <a:alpha val="7500"/>
                </a:srgbClr>
              </a:outerShdw>
            </a:effectLst>
          </p:spPr>
        </p:sp>
        <p:sp>
          <p:nvSpPr>
            <p:cNvPr id="43" name="TextBox 43"/>
            <p:cNvSpPr txBox="1"/>
            <p:nvPr/>
          </p:nvSpPr>
          <p:spPr>
            <a:xfrm>
              <a:off x="829818" y="3746182"/>
              <a:ext cx="3385461" cy="322707"/>
            </a:xfrm>
            <a:prstGeom prst="rect">
              <a:avLst/>
            </a:prstGeom>
            <a:noFill/>
            <a:ln>
              <a:noFill/>
            </a:ln>
          </p:spPr>
          <p:txBody>
            <a:bodyPr wrap="none" lIns="0" tIns="0" rIns="0" bIns="0" anchor="t" anchorCtr="0">
              <a:spAutoFit/>
            </a:bodyPr>
            <a:lstStyle/>
            <a:p>
              <a:pPr algn="l"/>
              <a:r>
                <a:rPr lang="en-GB" sz="1650" b="1" dirty="0">
                  <a:solidFill>
                    <a:schemeClr val="dk1"/>
                  </a:solidFill>
                  <a:latin typeface="+mn-lt"/>
                  <a:ea typeface="+mn-ea"/>
                  <a:cs typeface="+mn-cs"/>
                </a:rPr>
                <a:t>Proactive Problem Candidates</a:t>
              </a:r>
              <a:endParaRPr lang="en-GB" sz="1650" b="1" dirty="0">
                <a:solidFill>
                  <a:schemeClr val="dk1"/>
                </a:solidFill>
                <a:latin typeface="+mn-lt"/>
                <a:ea typeface="+mn-ea"/>
                <a:cs typeface="+mn-cs"/>
              </a:endParaRPr>
            </a:p>
          </p:txBody>
        </p:sp>
        <p:grpSp>
          <p:nvGrpSpPr>
            <p:cNvPr id="52" name="Group 52"/>
            <p:cNvGrpSpPr/>
            <p:nvPr/>
          </p:nvGrpSpPr>
          <p:grpSpPr>
            <a:xfrm>
              <a:off x="904875" y="4219575"/>
              <a:ext cx="4169496" cy="305848"/>
              <a:chOff x="904875" y="4219575"/>
              <a:chExt cx="4169496" cy="305848"/>
            </a:xfrm>
          </p:grpSpPr>
          <p:sp>
            <p:nvSpPr>
              <p:cNvPr id="44" name="Ellipse 44"/>
              <p:cNvSpPr/>
              <p:nvPr/>
            </p:nvSpPr>
            <p:spPr>
              <a:xfrm>
                <a:off x="904875" y="4276725"/>
                <a:ext cx="133350" cy="133350"/>
              </a:xfrm>
              <a:prstGeom prst="ellipse">
                <a:avLst/>
              </a:prstGeom>
              <a:solidFill>
                <a:schemeClr val="accent1"/>
              </a:solidFill>
              <a:ln>
                <a:noFill/>
              </a:ln>
            </p:spPr>
          </p:sp>
          <p:sp>
            <p:nvSpPr>
              <p:cNvPr id="45" name="TextBox 45"/>
              <p:cNvSpPr txBox="1"/>
              <p:nvPr/>
            </p:nvSpPr>
            <p:spPr>
              <a:xfrm>
                <a:off x="1154811" y="4246721"/>
                <a:ext cx="903888" cy="278702"/>
              </a:xfrm>
              <a:prstGeom prst="rect">
                <a:avLst/>
              </a:prstGeom>
              <a:noFill/>
              <a:ln>
                <a:noFill/>
              </a:ln>
            </p:spPr>
            <p:txBody>
              <a:bodyPr wrap="none" lIns="0" tIns="0" rIns="0" bIns="0" anchor="t" anchorCtr="0">
                <a:spAutoFit/>
              </a:bodyPr>
              <a:lstStyle/>
              <a:p>
                <a:pPr algn="l"/>
                <a:r>
                  <a:rPr lang="en-GB" sz="1420" b="1" dirty="0">
                    <a:solidFill>
                      <a:schemeClr val="dk1"/>
                    </a:solidFill>
                    <a:latin typeface="+mn-lt"/>
                    <a:ea typeface="+mn-ea"/>
                    <a:cs typeface="+mn-cs"/>
                  </a:rPr>
                  <a:t>Database</a:t>
                </a:r>
                <a:endParaRPr lang="en-GB" sz="1420" b="1" dirty="0">
                  <a:solidFill>
                    <a:schemeClr val="dk1"/>
                  </a:solidFill>
                  <a:latin typeface="+mn-lt"/>
                  <a:ea typeface="+mn-ea"/>
                  <a:cs typeface="+mn-cs"/>
                </a:endParaRPr>
              </a:p>
            </p:txBody>
          </p:sp>
          <p:sp>
            <p:nvSpPr>
              <p:cNvPr id="46" name="Rectangle 46"/>
              <p:cNvSpPr/>
              <p:nvPr/>
            </p:nvSpPr>
            <p:spPr>
              <a:xfrm>
                <a:off x="2476500" y="4219575"/>
                <a:ext cx="838200" cy="266700"/>
              </a:xfrm>
              <a:prstGeom prst="roundRect">
                <a:avLst>
                  <a:gd name="adj" fmla="val 50000"/>
                </a:avLst>
              </a:prstGeom>
              <a:solidFill>
                <a:schemeClr val="accent1">
                  <a:alpha val="12000"/>
                </a:schemeClr>
              </a:solidFill>
              <a:ln>
                <a:noFill/>
              </a:ln>
            </p:spPr>
          </p:sp>
          <p:sp>
            <p:nvSpPr>
              <p:cNvPr id="47" name="TextBox 47"/>
              <p:cNvSpPr txBox="1"/>
              <p:nvPr/>
            </p:nvSpPr>
            <p:spPr>
              <a:xfrm>
                <a:off x="2476754" y="4251325"/>
                <a:ext cx="957224" cy="234696"/>
              </a:xfrm>
              <a:prstGeom prst="rect">
                <a:avLst/>
              </a:prstGeom>
              <a:noFill/>
              <a:ln>
                <a:noFill/>
              </a:ln>
            </p:spPr>
            <p:txBody>
              <a:bodyPr wrap="none" lIns="0" tIns="0" rIns="0" bIns="0" anchor="t" anchorCtr="0">
                <a:spAutoFit/>
              </a:bodyPr>
              <a:lstStyle/>
              <a:p>
                <a:pPr algn="l"/>
                <a:r>
                  <a:rPr lang="en-GB" sz="1200" dirty="0">
                    <a:solidFill>
                      <a:srgbClr val="5C4FC9"/>
                    </a:solidFill>
                    <a:latin typeface="+mn-lt"/>
                    <a:ea typeface="+mn-ea"/>
                    <a:cs typeface="+mn-cs"/>
                  </a:rPr>
                  <a:t>18 incidents</a:t>
                </a:r>
                <a:endParaRPr lang="en-GB" sz="1200" dirty="0">
                  <a:solidFill>
                    <a:srgbClr val="5C4FC9"/>
                  </a:solidFill>
                  <a:latin typeface="+mn-lt"/>
                  <a:ea typeface="+mn-ea"/>
                  <a:cs typeface="+mn-cs"/>
                </a:endParaRPr>
              </a:p>
            </p:txBody>
          </p:sp>
          <p:sp>
            <p:nvSpPr>
              <p:cNvPr id="48" name="Rectangle 48"/>
              <p:cNvSpPr/>
              <p:nvPr/>
            </p:nvSpPr>
            <p:spPr>
              <a:xfrm>
                <a:off x="3390900" y="4219575"/>
                <a:ext cx="895350" cy="266700"/>
              </a:xfrm>
              <a:prstGeom prst="roundRect">
                <a:avLst>
                  <a:gd name="adj" fmla="val 50000"/>
                </a:avLst>
              </a:prstGeom>
              <a:solidFill>
                <a:schemeClr val="accent3">
                  <a:alpha val="16000"/>
                </a:schemeClr>
              </a:solidFill>
              <a:ln>
                <a:noFill/>
              </a:ln>
            </p:spPr>
          </p:sp>
          <p:sp>
            <p:nvSpPr>
              <p:cNvPr id="49" name="TextBox 49"/>
              <p:cNvSpPr txBox="1"/>
              <p:nvPr/>
            </p:nvSpPr>
            <p:spPr>
              <a:xfrm>
                <a:off x="3518154" y="4271010"/>
                <a:ext cx="769315" cy="234696"/>
              </a:xfrm>
              <a:prstGeom prst="rect">
                <a:avLst/>
              </a:prstGeom>
              <a:noFill/>
              <a:ln>
                <a:noFill/>
              </a:ln>
            </p:spPr>
            <p:txBody>
              <a:bodyPr wrap="none" lIns="0" tIns="0" rIns="0" bIns="0" anchor="t" anchorCtr="0">
                <a:spAutoFit/>
              </a:bodyPr>
              <a:lstStyle/>
              <a:p>
                <a:pPr algn="l"/>
                <a:r>
                  <a:rPr lang="en-GB" sz="1200" dirty="0">
                    <a:solidFill>
                      <a:srgbClr val="B9862E"/>
                    </a:solidFill>
                    <a:latin typeface="+mn-lt"/>
                    <a:ea typeface="+mn-ea"/>
                    <a:cs typeface="+mn-cs"/>
                  </a:rPr>
                  <a:t>$9.4K/mo</a:t>
                </a:r>
                <a:endParaRPr lang="en-GB" sz="1200" dirty="0">
                  <a:solidFill>
                    <a:srgbClr val="B9862E"/>
                  </a:solidFill>
                  <a:latin typeface="+mn-lt"/>
                  <a:ea typeface="+mn-ea"/>
                  <a:cs typeface="+mn-cs"/>
                </a:endParaRPr>
              </a:p>
            </p:txBody>
          </p:sp>
          <p:sp>
            <p:nvSpPr>
              <p:cNvPr id="50" name="Rectangle 50"/>
              <p:cNvSpPr/>
              <p:nvPr/>
            </p:nvSpPr>
            <p:spPr>
              <a:xfrm>
                <a:off x="4362450" y="4219575"/>
                <a:ext cx="666750" cy="266700"/>
              </a:xfrm>
              <a:prstGeom prst="roundRect">
                <a:avLst>
                  <a:gd name="adj" fmla="val 50000"/>
                </a:avLst>
              </a:prstGeom>
              <a:solidFill>
                <a:srgbClr val="E0607A">
                  <a:alpha val="14000"/>
                </a:srgbClr>
              </a:solidFill>
              <a:ln>
                <a:noFill/>
              </a:ln>
            </p:spPr>
          </p:sp>
          <p:sp>
            <p:nvSpPr>
              <p:cNvPr id="51" name="TextBox 51"/>
              <p:cNvSpPr txBox="1"/>
              <p:nvPr/>
            </p:nvSpPr>
            <p:spPr>
              <a:xfrm>
                <a:off x="4508754" y="4271010"/>
                <a:ext cx="565617" cy="234696"/>
              </a:xfrm>
              <a:prstGeom prst="rect">
                <a:avLst/>
              </a:prstGeom>
              <a:noFill/>
              <a:ln>
                <a:noFill/>
              </a:ln>
            </p:spPr>
            <p:txBody>
              <a:bodyPr wrap="none" lIns="0" tIns="0" rIns="0" bIns="0" anchor="t" anchorCtr="0">
                <a:spAutoFit/>
              </a:bodyPr>
              <a:lstStyle/>
              <a:p>
                <a:pPr algn="l"/>
                <a:r>
                  <a:rPr lang="en-GB" sz="1200" dirty="0">
                    <a:solidFill>
                      <a:srgbClr val="C4415C"/>
                    </a:solidFill>
                    <a:latin typeface="+mn-lt"/>
                    <a:ea typeface="+mn-ea"/>
                    <a:cs typeface="+mn-cs"/>
                  </a:rPr>
                  <a:t>Risk P2</a:t>
                </a:r>
                <a:endParaRPr lang="en-GB" sz="1200" dirty="0">
                  <a:solidFill>
                    <a:srgbClr val="C4415C"/>
                  </a:solidFill>
                  <a:latin typeface="+mn-lt"/>
                  <a:ea typeface="+mn-ea"/>
                  <a:cs typeface="+mn-cs"/>
                </a:endParaRPr>
              </a:p>
            </p:txBody>
          </p:sp>
        </p:grpSp>
        <p:grpSp>
          <p:nvGrpSpPr>
            <p:cNvPr id="61" name="Group 61"/>
            <p:cNvGrpSpPr/>
            <p:nvPr/>
          </p:nvGrpSpPr>
          <p:grpSpPr>
            <a:xfrm>
              <a:off x="904875" y="4752975"/>
              <a:ext cx="4455246" cy="305848"/>
              <a:chOff x="904875" y="4752975"/>
              <a:chExt cx="4455246" cy="305848"/>
            </a:xfrm>
          </p:grpSpPr>
          <p:sp>
            <p:nvSpPr>
              <p:cNvPr id="53" name="Ellipse 53"/>
              <p:cNvSpPr/>
              <p:nvPr/>
            </p:nvSpPr>
            <p:spPr>
              <a:xfrm>
                <a:off x="904875" y="4810125"/>
                <a:ext cx="133350" cy="133350"/>
              </a:xfrm>
              <a:prstGeom prst="ellipse">
                <a:avLst/>
              </a:prstGeom>
              <a:solidFill>
                <a:schemeClr val="accent2"/>
              </a:solidFill>
              <a:ln>
                <a:noFill/>
              </a:ln>
            </p:spPr>
          </p:sp>
          <p:sp>
            <p:nvSpPr>
              <p:cNvPr id="54" name="TextBox 54"/>
              <p:cNvSpPr txBox="1"/>
              <p:nvPr/>
            </p:nvSpPr>
            <p:spPr>
              <a:xfrm>
                <a:off x="1154811" y="4780121"/>
                <a:ext cx="1464385" cy="278702"/>
              </a:xfrm>
              <a:prstGeom prst="rect">
                <a:avLst/>
              </a:prstGeom>
              <a:noFill/>
              <a:ln>
                <a:noFill/>
              </a:ln>
            </p:spPr>
            <p:txBody>
              <a:bodyPr wrap="none" lIns="0" tIns="0" rIns="0" bIns="0" anchor="t" anchorCtr="0">
                <a:spAutoFit/>
              </a:bodyPr>
              <a:lstStyle/>
              <a:p>
                <a:pPr algn="l"/>
                <a:r>
                  <a:rPr lang="en-GB" sz="1420" b="1" dirty="0">
                    <a:solidFill>
                      <a:schemeClr val="dk1"/>
                    </a:solidFill>
                    <a:latin typeface="+mn-lt"/>
                    <a:ea typeface="+mn-ea"/>
                    <a:cs typeface="+mn-cs"/>
                  </a:rPr>
                  <a:t>Compute &amp; Unix</a:t>
                </a:r>
                <a:endParaRPr lang="en-GB" sz="1420" b="1" dirty="0">
                  <a:solidFill>
                    <a:schemeClr val="dk1"/>
                  </a:solidFill>
                  <a:latin typeface="+mn-lt"/>
                  <a:ea typeface="+mn-ea"/>
                  <a:cs typeface="+mn-cs"/>
                </a:endParaRPr>
              </a:p>
            </p:txBody>
          </p:sp>
          <p:sp>
            <p:nvSpPr>
              <p:cNvPr id="55" name="Rectangle 55"/>
              <p:cNvSpPr/>
              <p:nvPr/>
            </p:nvSpPr>
            <p:spPr>
              <a:xfrm>
                <a:off x="2762250" y="4752975"/>
                <a:ext cx="838200" cy="266700"/>
              </a:xfrm>
              <a:prstGeom prst="roundRect">
                <a:avLst>
                  <a:gd name="adj" fmla="val 50000"/>
                </a:avLst>
              </a:prstGeom>
              <a:solidFill>
                <a:schemeClr val="accent1">
                  <a:alpha val="12000"/>
                </a:schemeClr>
              </a:solidFill>
              <a:ln>
                <a:noFill/>
              </a:ln>
            </p:spPr>
          </p:sp>
          <p:sp>
            <p:nvSpPr>
              <p:cNvPr id="56" name="TextBox 56"/>
              <p:cNvSpPr txBox="1"/>
              <p:nvPr/>
            </p:nvSpPr>
            <p:spPr>
              <a:xfrm>
                <a:off x="2762504" y="4780280"/>
                <a:ext cx="957224" cy="234696"/>
              </a:xfrm>
              <a:prstGeom prst="rect">
                <a:avLst/>
              </a:prstGeom>
              <a:noFill/>
              <a:ln>
                <a:noFill/>
              </a:ln>
            </p:spPr>
            <p:txBody>
              <a:bodyPr wrap="none" lIns="0" tIns="0" rIns="0" bIns="0" anchor="t" anchorCtr="0">
                <a:spAutoFit/>
              </a:bodyPr>
              <a:lstStyle/>
              <a:p>
                <a:pPr algn="l"/>
                <a:r>
                  <a:rPr lang="en-GB" sz="1200" dirty="0">
                    <a:solidFill>
                      <a:srgbClr val="5C4FC9"/>
                    </a:solidFill>
                    <a:latin typeface="+mn-lt"/>
                    <a:ea typeface="+mn-ea"/>
                    <a:cs typeface="+mn-cs"/>
                  </a:rPr>
                  <a:t>11 incidents</a:t>
                </a:r>
                <a:endParaRPr lang="en-GB" sz="1200" dirty="0">
                  <a:solidFill>
                    <a:srgbClr val="5C4FC9"/>
                  </a:solidFill>
                  <a:latin typeface="+mn-lt"/>
                  <a:ea typeface="+mn-ea"/>
                  <a:cs typeface="+mn-cs"/>
                </a:endParaRPr>
              </a:p>
            </p:txBody>
          </p:sp>
          <p:sp>
            <p:nvSpPr>
              <p:cNvPr id="57" name="Rectangle 57"/>
              <p:cNvSpPr/>
              <p:nvPr/>
            </p:nvSpPr>
            <p:spPr>
              <a:xfrm>
                <a:off x="3676650" y="4752975"/>
                <a:ext cx="895350" cy="266700"/>
              </a:xfrm>
              <a:prstGeom prst="roundRect">
                <a:avLst>
                  <a:gd name="adj" fmla="val 50000"/>
                </a:avLst>
              </a:prstGeom>
              <a:solidFill>
                <a:schemeClr val="accent3">
                  <a:alpha val="16000"/>
                </a:schemeClr>
              </a:solidFill>
              <a:ln>
                <a:noFill/>
              </a:ln>
            </p:spPr>
          </p:sp>
          <p:sp>
            <p:nvSpPr>
              <p:cNvPr id="58" name="TextBox 58"/>
              <p:cNvSpPr txBox="1"/>
              <p:nvPr/>
            </p:nvSpPr>
            <p:spPr>
              <a:xfrm>
                <a:off x="3803904" y="4804410"/>
                <a:ext cx="769315" cy="234696"/>
              </a:xfrm>
              <a:prstGeom prst="rect">
                <a:avLst/>
              </a:prstGeom>
              <a:noFill/>
              <a:ln>
                <a:noFill/>
              </a:ln>
            </p:spPr>
            <p:txBody>
              <a:bodyPr wrap="none" lIns="0" tIns="0" rIns="0" bIns="0" anchor="t" anchorCtr="0">
                <a:spAutoFit/>
              </a:bodyPr>
              <a:lstStyle/>
              <a:p>
                <a:pPr algn="l"/>
                <a:r>
                  <a:rPr lang="en-GB" sz="1200" dirty="0">
                    <a:solidFill>
                      <a:srgbClr val="B9862E"/>
                    </a:solidFill>
                    <a:latin typeface="+mn-lt"/>
                    <a:ea typeface="+mn-ea"/>
                    <a:cs typeface="+mn-cs"/>
                  </a:rPr>
                  <a:t>$6.1K/mo</a:t>
                </a:r>
                <a:endParaRPr lang="en-GB" sz="1200" dirty="0">
                  <a:solidFill>
                    <a:srgbClr val="B9862E"/>
                  </a:solidFill>
                  <a:latin typeface="+mn-lt"/>
                  <a:ea typeface="+mn-ea"/>
                  <a:cs typeface="+mn-cs"/>
                </a:endParaRPr>
              </a:p>
            </p:txBody>
          </p:sp>
          <p:sp>
            <p:nvSpPr>
              <p:cNvPr id="59" name="Rectangle 59"/>
              <p:cNvSpPr/>
              <p:nvPr/>
            </p:nvSpPr>
            <p:spPr>
              <a:xfrm>
                <a:off x="4648200" y="4752975"/>
                <a:ext cx="666750" cy="266700"/>
              </a:xfrm>
              <a:prstGeom prst="roundRect">
                <a:avLst>
                  <a:gd name="adj" fmla="val 50000"/>
                </a:avLst>
              </a:prstGeom>
              <a:solidFill>
                <a:schemeClr val="accent3">
                  <a:alpha val="16000"/>
                </a:schemeClr>
              </a:solidFill>
              <a:ln>
                <a:noFill/>
              </a:ln>
            </p:spPr>
          </p:sp>
          <p:sp>
            <p:nvSpPr>
              <p:cNvPr id="60" name="TextBox 60"/>
              <p:cNvSpPr txBox="1"/>
              <p:nvPr/>
            </p:nvSpPr>
            <p:spPr>
              <a:xfrm>
                <a:off x="4794504" y="4804410"/>
                <a:ext cx="565617" cy="234696"/>
              </a:xfrm>
              <a:prstGeom prst="rect">
                <a:avLst/>
              </a:prstGeom>
              <a:noFill/>
              <a:ln>
                <a:noFill/>
              </a:ln>
            </p:spPr>
            <p:txBody>
              <a:bodyPr wrap="none" lIns="0" tIns="0" rIns="0" bIns="0" anchor="t" anchorCtr="0">
                <a:spAutoFit/>
              </a:bodyPr>
              <a:lstStyle/>
              <a:p>
                <a:pPr algn="l"/>
                <a:r>
                  <a:rPr lang="en-GB" sz="1200" dirty="0">
                    <a:solidFill>
                      <a:srgbClr val="B9862E"/>
                    </a:solidFill>
                    <a:latin typeface="+mn-lt"/>
                    <a:ea typeface="+mn-ea"/>
                    <a:cs typeface="+mn-cs"/>
                  </a:rPr>
                  <a:t>Risk P3</a:t>
                </a:r>
                <a:endParaRPr lang="en-GB" sz="1200" dirty="0">
                  <a:solidFill>
                    <a:srgbClr val="B9862E"/>
                  </a:solidFill>
                  <a:latin typeface="+mn-lt"/>
                  <a:ea typeface="+mn-ea"/>
                  <a:cs typeface="+mn-cs"/>
                </a:endParaRPr>
              </a:p>
            </p:txBody>
          </p:sp>
        </p:grpSp>
        <p:sp>
          <p:nvSpPr>
            <p:cNvPr id="62" name="Line 62"/>
            <p:cNvSpPr/>
            <p:nvPr/>
          </p:nvSpPr>
          <p:spPr>
            <a:xfrm>
              <a:off x="838200" y="5295900"/>
              <a:ext cx="5829300" cy="9525"/>
            </a:xfrm>
            <a:custGeom>
              <a:avLst/>
              <a:gdLst/>
              <a:ahLst/>
              <a:cxnLst/>
              <a:rect l="l" t="t" r="r" b="b"/>
              <a:pathLst>
                <a:path w="5829300" h="9525">
                  <a:moveTo>
                    <a:pt x="0" y="0"/>
                  </a:moveTo>
                  <a:lnTo>
                    <a:pt x="5829300" y="0"/>
                  </a:lnTo>
                </a:path>
              </a:pathLst>
            </a:custGeom>
            <a:noFill/>
            <a:ln w="19050">
              <a:solidFill>
                <a:schemeClr val="accent6"/>
              </a:solidFill>
            </a:ln>
          </p:spPr>
        </p:sp>
        <p:sp>
          <p:nvSpPr>
            <p:cNvPr id="63" name="TextBox 63"/>
            <p:cNvSpPr txBox="1"/>
            <p:nvPr/>
          </p:nvSpPr>
          <p:spPr>
            <a:xfrm>
              <a:off x="832104" y="5452110"/>
              <a:ext cx="3999618" cy="234696"/>
            </a:xfrm>
            <a:prstGeom prst="rect">
              <a:avLst/>
            </a:prstGeom>
            <a:noFill/>
            <a:ln>
              <a:noFill/>
            </a:ln>
          </p:spPr>
          <p:txBody>
            <a:bodyPr wrap="none" lIns="0" tIns="0" rIns="0" bIns="0" anchor="t" anchorCtr="0">
              <a:spAutoFit/>
            </a:bodyPr>
            <a:lstStyle/>
            <a:p>
              <a:pPr algn="l"/>
              <a:r>
                <a:rPr lang="en-GB" sz="1200" dirty="0">
                  <a:solidFill>
                    <a:schemeClr val="accent5"/>
                  </a:solidFill>
                  <a:latin typeface="+mn-lt"/>
                  <a:ea typeface="+mn-ea"/>
                  <a:cs typeface="+mn-cs"/>
                </a:rPr>
                <a:t>Clustered by shared configuration item, scored on</a:t>
              </a:r>
              <a:endParaRPr lang="en-GB" sz="1200" dirty="0">
                <a:solidFill>
                  <a:schemeClr val="accent5"/>
                </a:solidFill>
                <a:latin typeface="+mn-lt"/>
                <a:ea typeface="+mn-ea"/>
                <a:cs typeface="+mn-cs"/>
              </a:endParaRPr>
            </a:p>
          </p:txBody>
        </p:sp>
        <p:sp>
          <p:nvSpPr>
            <p:cNvPr id="64" name="TextBox 64"/>
            <p:cNvSpPr txBox="1"/>
            <p:nvPr/>
          </p:nvSpPr>
          <p:spPr>
            <a:xfrm>
              <a:off x="832104" y="5661660"/>
              <a:ext cx="4202137" cy="234696"/>
            </a:xfrm>
            <a:prstGeom prst="rect">
              <a:avLst/>
            </a:prstGeom>
            <a:noFill/>
            <a:ln>
              <a:noFill/>
            </a:ln>
          </p:spPr>
          <p:txBody>
            <a:bodyPr wrap="none" lIns="0" tIns="0" rIns="0" bIns="0" anchor="t" anchorCtr="0">
              <a:spAutoFit/>
            </a:bodyPr>
            <a:lstStyle/>
            <a:p>
              <a:pPr algn="l"/>
              <a:r>
                <a:rPr lang="en-GB" sz="1200" dirty="0">
                  <a:solidFill>
                    <a:schemeClr val="accent5"/>
                  </a:solidFill>
                  <a:latin typeface="+mn-lt"/>
                  <a:ea typeface="+mn-ea"/>
                  <a:cs typeface="+mn-cs"/>
                </a:rPr>
                <a:t>count, cost leakage, MTBF, and risk. Scenario data.</a:t>
              </a:r>
              <a:endParaRPr lang="en-GB" sz="1200" dirty="0">
                <a:solidFill>
                  <a:schemeClr val="accent5"/>
                </a:solidFill>
                <a:latin typeface="+mn-lt"/>
                <a:ea typeface="+mn-ea"/>
                <a:cs typeface="+mn-cs"/>
              </a:endParaRPr>
            </a:p>
          </p:txBody>
        </p:sp>
      </p:grpSp>
      <p:grpSp>
        <p:nvGrpSpPr>
          <p:cNvPr id="82" name="Group 82"/>
          <p:cNvGrpSpPr/>
          <p:nvPr/>
        </p:nvGrpSpPr>
        <p:grpSpPr>
          <a:xfrm>
            <a:off x="7124700" y="3600450"/>
            <a:ext cx="4457700" cy="2647950"/>
            <a:chOff x="7124700" y="3600450"/>
            <a:chExt cx="4457700" cy="2647950"/>
          </a:xfrm>
        </p:grpSpPr>
        <p:sp>
          <p:nvSpPr>
            <p:cNvPr id="66" name="Rectangle 66"/>
            <p:cNvSpPr/>
            <p:nvPr/>
          </p:nvSpPr>
          <p:spPr>
            <a:xfrm>
              <a:off x="7124700" y="3600450"/>
              <a:ext cx="4457700" cy="2647950"/>
            </a:xfrm>
            <a:prstGeom prst="roundRect">
              <a:avLst>
                <a:gd name="adj" fmla="val 9353"/>
              </a:avLst>
            </a:prstGeom>
            <a:solidFill>
              <a:schemeClr val="lt2"/>
            </a:solidFill>
            <a:ln>
              <a:noFill/>
            </a:ln>
            <a:effectLst>
              <a:outerShdw blurRad="266700" dist="57150" dir="5400000" algn="ctr" rotWithShape="0">
                <a:srgbClr val="2FA875">
                  <a:alpha val="9000"/>
                </a:srgbClr>
              </a:outerShdw>
            </a:effectLst>
          </p:spPr>
        </p:sp>
        <p:grpSp>
          <p:nvGrpSpPr>
            <p:cNvPr id="74" name="Group 74"/>
            <p:cNvGrpSpPr/>
            <p:nvPr/>
          </p:nvGrpSpPr>
          <p:grpSpPr>
            <a:xfrm>
              <a:off x="7373647" y="3849687"/>
              <a:ext cx="206956" cy="206375"/>
              <a:chOff x="7373647" y="3849687"/>
              <a:chExt cx="206956" cy="206375"/>
            </a:xfrm>
          </p:grpSpPr>
          <p:sp>
            <p:nvSpPr>
              <p:cNvPr id="67" name="Freeform 67"/>
              <p:cNvSpPr/>
              <p:nvPr/>
            </p:nvSpPr>
            <p:spPr>
              <a:xfrm>
                <a:off x="7373647" y="3942556"/>
                <a:ext cx="31538" cy="20637"/>
              </a:xfrm>
              <a:custGeom>
                <a:avLst/>
                <a:gdLst/>
                <a:ahLst/>
                <a:cxnLst/>
                <a:rect l="l" t="t" r="r" b="b"/>
                <a:pathLst>
                  <a:path w="31538" h="20637">
                    <a:moveTo>
                      <a:pt x="20928" y="0"/>
                    </a:moveTo>
                    <a:cubicBezTo>
                      <a:pt x="26388" y="6"/>
                      <a:pt x="30898" y="4264"/>
                      <a:pt x="31218" y="9714"/>
                    </a:cubicBezTo>
                    <a:cubicBezTo>
                      <a:pt x="31538" y="15164"/>
                      <a:pt x="27557" y="19920"/>
                      <a:pt x="22136" y="20565"/>
                    </a:cubicBezTo>
                    <a:lnTo>
                      <a:pt x="20928" y="20637"/>
                    </a:lnTo>
                    <a:lnTo>
                      <a:pt x="10609" y="20637"/>
                    </a:lnTo>
                    <a:cubicBezTo>
                      <a:pt x="5150" y="20631"/>
                      <a:pt x="640" y="16374"/>
                      <a:pt x="320" y="10923"/>
                    </a:cubicBezTo>
                    <a:cubicBezTo>
                      <a:pt x="0" y="5473"/>
                      <a:pt x="3981" y="717"/>
                      <a:pt x="9402" y="72"/>
                    </a:cubicBezTo>
                    <a:lnTo>
                      <a:pt x="10609" y="0"/>
                    </a:lnTo>
                    <a:lnTo>
                      <a:pt x="20928" y="0"/>
                    </a:lnTo>
                    <a:close/>
                  </a:path>
                </a:pathLst>
              </a:custGeom>
              <a:solidFill>
                <a:schemeClr val="accent2"/>
              </a:solidFill>
              <a:ln>
                <a:noFill/>
              </a:ln>
            </p:spPr>
          </p:sp>
          <p:sp>
            <p:nvSpPr>
              <p:cNvPr id="68" name="Freeform 68"/>
              <p:cNvSpPr/>
              <p:nvPr/>
            </p:nvSpPr>
            <p:spPr>
              <a:xfrm>
                <a:off x="7466806" y="3849687"/>
                <a:ext cx="20637" cy="31247"/>
              </a:xfrm>
              <a:custGeom>
                <a:avLst/>
                <a:gdLst/>
                <a:ahLst/>
                <a:cxnLst/>
                <a:rect l="l" t="t" r="r" b="b"/>
                <a:pathLst>
                  <a:path w="20637" h="31247">
                    <a:moveTo>
                      <a:pt x="10319" y="0"/>
                    </a:moveTo>
                    <a:cubicBezTo>
                      <a:pt x="15550" y="1"/>
                      <a:pt x="19953" y="3916"/>
                      <a:pt x="20565" y="9111"/>
                    </a:cubicBezTo>
                    <a:lnTo>
                      <a:pt x="20637" y="10319"/>
                    </a:lnTo>
                    <a:lnTo>
                      <a:pt x="20637" y="20637"/>
                    </a:lnTo>
                    <a:cubicBezTo>
                      <a:pt x="20631" y="26097"/>
                      <a:pt x="16374" y="30607"/>
                      <a:pt x="10923" y="30927"/>
                    </a:cubicBezTo>
                    <a:cubicBezTo>
                      <a:pt x="5473" y="31247"/>
                      <a:pt x="717" y="27266"/>
                      <a:pt x="72" y="21845"/>
                    </a:cubicBezTo>
                    <a:lnTo>
                      <a:pt x="0" y="20637"/>
                    </a:lnTo>
                    <a:lnTo>
                      <a:pt x="0" y="10319"/>
                    </a:lnTo>
                    <a:cubicBezTo>
                      <a:pt x="0" y="4620"/>
                      <a:pt x="4620" y="0"/>
                      <a:pt x="10319" y="0"/>
                    </a:cubicBezTo>
                    <a:close/>
                  </a:path>
                </a:pathLst>
              </a:custGeom>
              <a:solidFill>
                <a:schemeClr val="accent2"/>
              </a:solidFill>
              <a:ln>
                <a:noFill/>
              </a:ln>
            </p:spPr>
          </p:sp>
          <p:sp>
            <p:nvSpPr>
              <p:cNvPr id="69" name="Freeform 69"/>
              <p:cNvSpPr/>
              <p:nvPr/>
            </p:nvSpPr>
            <p:spPr>
              <a:xfrm>
                <a:off x="7549065" y="3942556"/>
                <a:ext cx="31538" cy="20637"/>
              </a:xfrm>
              <a:custGeom>
                <a:avLst/>
                <a:gdLst/>
                <a:ahLst/>
                <a:cxnLst/>
                <a:rect l="l" t="t" r="r" b="b"/>
                <a:pathLst>
                  <a:path w="31538" h="20637">
                    <a:moveTo>
                      <a:pt x="20928" y="0"/>
                    </a:moveTo>
                    <a:cubicBezTo>
                      <a:pt x="26388" y="6"/>
                      <a:pt x="30898" y="4264"/>
                      <a:pt x="31218" y="9714"/>
                    </a:cubicBezTo>
                    <a:cubicBezTo>
                      <a:pt x="31538" y="15164"/>
                      <a:pt x="27557" y="19920"/>
                      <a:pt x="22136" y="20565"/>
                    </a:cubicBezTo>
                    <a:lnTo>
                      <a:pt x="20928" y="20637"/>
                    </a:lnTo>
                    <a:lnTo>
                      <a:pt x="10609" y="20637"/>
                    </a:lnTo>
                    <a:cubicBezTo>
                      <a:pt x="5150" y="20631"/>
                      <a:pt x="640" y="16374"/>
                      <a:pt x="320" y="10923"/>
                    </a:cubicBezTo>
                    <a:cubicBezTo>
                      <a:pt x="0" y="5473"/>
                      <a:pt x="3981" y="717"/>
                      <a:pt x="9402" y="72"/>
                    </a:cubicBezTo>
                    <a:lnTo>
                      <a:pt x="10609" y="0"/>
                    </a:lnTo>
                    <a:lnTo>
                      <a:pt x="20928" y="0"/>
                    </a:lnTo>
                    <a:close/>
                  </a:path>
                </a:pathLst>
              </a:custGeom>
              <a:solidFill>
                <a:schemeClr val="accent2"/>
              </a:solidFill>
              <a:ln>
                <a:noFill/>
              </a:ln>
            </p:spPr>
          </p:sp>
          <p:sp>
            <p:nvSpPr>
              <p:cNvPr id="70" name="Freeform 70"/>
              <p:cNvSpPr/>
              <p:nvPr/>
            </p:nvSpPr>
            <p:spPr>
              <a:xfrm>
                <a:off x="7399761" y="3875497"/>
                <a:ext cx="29871" cy="30041"/>
              </a:xfrm>
              <a:custGeom>
                <a:avLst/>
                <a:gdLst/>
                <a:ahLst/>
                <a:cxnLst/>
                <a:rect l="l" t="t" r="r" b="b"/>
                <a:pathLst>
                  <a:path w="29871" h="30041">
                    <a:moveTo>
                      <a:pt x="4028" y="4043"/>
                    </a:moveTo>
                    <a:cubicBezTo>
                      <a:pt x="7704" y="367"/>
                      <a:pt x="13541" y="0"/>
                      <a:pt x="17649" y="3186"/>
                    </a:cubicBezTo>
                    <a:lnTo>
                      <a:pt x="18619" y="4043"/>
                    </a:lnTo>
                    <a:lnTo>
                      <a:pt x="25842" y="11266"/>
                    </a:lnTo>
                    <a:cubicBezTo>
                      <a:pt x="29683" y="15120"/>
                      <a:pt x="29871" y="21294"/>
                      <a:pt x="26273" y="25375"/>
                    </a:cubicBezTo>
                    <a:cubicBezTo>
                      <a:pt x="22674" y="29456"/>
                      <a:pt x="16526" y="30041"/>
                      <a:pt x="12221" y="26713"/>
                    </a:cubicBezTo>
                    <a:lnTo>
                      <a:pt x="11251" y="25857"/>
                    </a:lnTo>
                    <a:lnTo>
                      <a:pt x="4028" y="18634"/>
                    </a:lnTo>
                    <a:cubicBezTo>
                      <a:pt x="0" y="14604"/>
                      <a:pt x="0" y="8072"/>
                      <a:pt x="4028" y="4043"/>
                    </a:cubicBezTo>
                    <a:close/>
                  </a:path>
                </a:pathLst>
              </a:custGeom>
              <a:solidFill>
                <a:schemeClr val="accent2"/>
              </a:solidFill>
              <a:ln>
                <a:noFill/>
              </a:ln>
            </p:spPr>
          </p:sp>
          <p:sp>
            <p:nvSpPr>
              <p:cNvPr id="71" name="Freeform 71"/>
              <p:cNvSpPr/>
              <p:nvPr/>
            </p:nvSpPr>
            <p:spPr>
              <a:xfrm>
                <a:off x="7524461" y="3875510"/>
                <a:ext cx="30183" cy="29872"/>
              </a:xfrm>
              <a:custGeom>
                <a:avLst/>
                <a:gdLst/>
                <a:ahLst/>
                <a:cxnLst/>
                <a:rect l="l" t="t" r="r" b="b"/>
                <a:pathLst>
                  <a:path w="30183" h="29872">
                    <a:moveTo>
                      <a:pt x="11408" y="4029"/>
                    </a:moveTo>
                    <a:cubicBezTo>
                      <a:pt x="15261" y="189"/>
                      <a:pt x="21435" y="0"/>
                      <a:pt x="25516" y="3598"/>
                    </a:cubicBezTo>
                    <a:cubicBezTo>
                      <a:pt x="29597" y="7197"/>
                      <a:pt x="30183" y="13346"/>
                      <a:pt x="26855" y="17650"/>
                    </a:cubicBezTo>
                    <a:lnTo>
                      <a:pt x="25998" y="18620"/>
                    </a:lnTo>
                    <a:lnTo>
                      <a:pt x="18775" y="25843"/>
                    </a:lnTo>
                    <a:cubicBezTo>
                      <a:pt x="14921" y="29684"/>
                      <a:pt x="8748" y="29872"/>
                      <a:pt x="4667" y="26274"/>
                    </a:cubicBezTo>
                    <a:cubicBezTo>
                      <a:pt x="586" y="22675"/>
                      <a:pt x="0" y="16527"/>
                      <a:pt x="3328" y="12222"/>
                    </a:cubicBezTo>
                    <a:lnTo>
                      <a:pt x="4185" y="11252"/>
                    </a:lnTo>
                    <a:lnTo>
                      <a:pt x="11408" y="4029"/>
                    </a:lnTo>
                    <a:close/>
                  </a:path>
                </a:pathLst>
              </a:custGeom>
              <a:solidFill>
                <a:schemeClr val="accent2"/>
              </a:solidFill>
              <a:ln>
                <a:noFill/>
              </a:ln>
            </p:spPr>
          </p:sp>
          <p:sp>
            <p:nvSpPr>
              <p:cNvPr id="72" name="Freeform 72"/>
              <p:cNvSpPr/>
              <p:nvPr/>
            </p:nvSpPr>
            <p:spPr>
              <a:xfrm>
                <a:off x="7446168" y="4014787"/>
                <a:ext cx="61912" cy="41275"/>
              </a:xfrm>
              <a:custGeom>
                <a:avLst/>
                <a:gdLst/>
                <a:ahLst/>
                <a:cxnLst/>
                <a:rect l="l" t="t" r="r" b="b"/>
                <a:pathLst>
                  <a:path w="61912" h="41275">
                    <a:moveTo>
                      <a:pt x="51594" y="0"/>
                    </a:moveTo>
                    <a:cubicBezTo>
                      <a:pt x="57292" y="0"/>
                      <a:pt x="61912" y="4620"/>
                      <a:pt x="61912" y="10319"/>
                    </a:cubicBezTo>
                    <a:cubicBezTo>
                      <a:pt x="61912" y="27415"/>
                      <a:pt x="48053" y="41275"/>
                      <a:pt x="30956" y="41275"/>
                    </a:cubicBezTo>
                    <a:cubicBezTo>
                      <a:pt x="13860" y="41275"/>
                      <a:pt x="0" y="27415"/>
                      <a:pt x="0" y="10319"/>
                    </a:cubicBezTo>
                    <a:cubicBezTo>
                      <a:pt x="1" y="5087"/>
                      <a:pt x="3916" y="684"/>
                      <a:pt x="9111" y="72"/>
                    </a:cubicBezTo>
                    <a:lnTo>
                      <a:pt x="10319" y="0"/>
                    </a:lnTo>
                    <a:lnTo>
                      <a:pt x="51594" y="0"/>
                    </a:lnTo>
                    <a:close/>
                  </a:path>
                </a:pathLst>
              </a:custGeom>
              <a:solidFill>
                <a:schemeClr val="accent2"/>
              </a:solidFill>
              <a:ln>
                <a:noFill/>
              </a:ln>
            </p:spPr>
          </p:sp>
          <p:sp>
            <p:nvSpPr>
              <p:cNvPr id="73" name="Freeform 73"/>
              <p:cNvSpPr/>
              <p:nvPr/>
            </p:nvSpPr>
            <p:spPr>
              <a:xfrm>
                <a:off x="7409962" y="3890962"/>
                <a:ext cx="134325" cy="113506"/>
              </a:xfrm>
              <a:custGeom>
                <a:avLst/>
                <a:gdLst/>
                <a:ahLst/>
                <a:cxnLst/>
                <a:rect l="l" t="t" r="r" b="b"/>
                <a:pathLst>
                  <a:path w="134325" h="113506">
                    <a:moveTo>
                      <a:pt x="67162" y="0"/>
                    </a:moveTo>
                    <a:cubicBezTo>
                      <a:pt x="93811" y="0"/>
                      <a:pt x="117470" y="17053"/>
                      <a:pt x="125897" y="42334"/>
                    </a:cubicBezTo>
                    <a:cubicBezTo>
                      <a:pt x="134325" y="67615"/>
                      <a:pt x="125629" y="95453"/>
                      <a:pt x="104310" y="111442"/>
                    </a:cubicBezTo>
                    <a:cubicBezTo>
                      <a:pt x="102887" y="112510"/>
                      <a:pt x="101213" y="113193"/>
                      <a:pt x="99450" y="113423"/>
                    </a:cubicBezTo>
                    <a:lnTo>
                      <a:pt x="98118" y="113506"/>
                    </a:lnTo>
                    <a:lnTo>
                      <a:pt x="36206" y="113506"/>
                    </a:lnTo>
                    <a:cubicBezTo>
                      <a:pt x="33973" y="113506"/>
                      <a:pt x="31801" y="112782"/>
                      <a:pt x="30015" y="111442"/>
                    </a:cubicBezTo>
                    <a:cubicBezTo>
                      <a:pt x="8696" y="95453"/>
                      <a:pt x="0" y="67615"/>
                      <a:pt x="8427" y="42334"/>
                    </a:cubicBezTo>
                    <a:cubicBezTo>
                      <a:pt x="16854" y="17053"/>
                      <a:pt x="40513" y="0"/>
                      <a:pt x="67162" y="0"/>
                    </a:cubicBezTo>
                    <a:close/>
                  </a:path>
                </a:pathLst>
              </a:custGeom>
              <a:solidFill>
                <a:schemeClr val="accent2"/>
              </a:solidFill>
              <a:ln>
                <a:noFill/>
              </a:ln>
            </p:spPr>
          </p:sp>
        </p:grpSp>
        <p:sp>
          <p:nvSpPr>
            <p:cNvPr id="75" name="TextBox 75"/>
            <p:cNvSpPr txBox="1"/>
            <p:nvPr/>
          </p:nvSpPr>
          <p:spPr>
            <a:xfrm>
              <a:off x="7706868" y="3841432"/>
              <a:ext cx="2449649" cy="322707"/>
            </a:xfrm>
            <a:prstGeom prst="rect">
              <a:avLst/>
            </a:prstGeom>
            <a:noFill/>
            <a:ln>
              <a:noFill/>
            </a:ln>
          </p:spPr>
          <p:txBody>
            <a:bodyPr wrap="none" lIns="0" tIns="0" rIns="0" bIns="0" anchor="t" anchorCtr="0">
              <a:spAutoFit/>
            </a:bodyPr>
            <a:lstStyle/>
            <a:p>
              <a:pPr algn="l"/>
              <a:r>
                <a:rPr lang="en-GB" sz="1650" b="1" dirty="0">
                  <a:solidFill>
                    <a:schemeClr val="dk1"/>
                  </a:solidFill>
                  <a:latin typeface="+mn-lt"/>
                  <a:ea typeface="+mn-ea"/>
                  <a:cs typeface="+mn-cs"/>
                </a:rPr>
                <a:t>Five-Whys + AI Advice</a:t>
              </a:r>
              <a:endParaRPr lang="en-GB" sz="1650" b="1" dirty="0">
                <a:solidFill>
                  <a:schemeClr val="dk1"/>
                </a:solidFill>
                <a:latin typeface="+mn-lt"/>
                <a:ea typeface="+mn-ea"/>
                <a:cs typeface="+mn-cs"/>
              </a:endParaRPr>
            </a:p>
          </p:txBody>
        </p:sp>
        <p:sp>
          <p:nvSpPr>
            <p:cNvPr id="76" name="TextBox 76"/>
            <p:cNvSpPr txBox="1"/>
            <p:nvPr/>
          </p:nvSpPr>
          <p:spPr>
            <a:xfrm>
              <a:off x="7346061" y="4265771"/>
              <a:ext cx="2951967" cy="278702"/>
            </a:xfrm>
            <a:prstGeom prst="rect">
              <a:avLst/>
            </a:prstGeom>
            <a:noFill/>
            <a:ln>
              <a:noFill/>
            </a:ln>
          </p:spPr>
          <p:txBody>
            <a:bodyPr wrap="none" lIns="0" tIns="0" rIns="0" bIns="0" anchor="t" anchorCtr="0">
              <a:spAutoFit/>
            </a:bodyPr>
            <a:lstStyle/>
            <a:p>
              <a:pPr algn="l"/>
              <a:r>
                <a:rPr lang="en-GB" sz="1420" dirty="0">
                  <a:solidFill>
                    <a:schemeClr val="dk1"/>
                  </a:solidFill>
                  <a:latin typeface="+mn-lt"/>
                  <a:ea typeface="+mn-ea"/>
                  <a:cs typeface="+mn-cs"/>
                </a:rPr>
                <a:t>Every candidate carries a Five-</a:t>
              </a:r>
              <a:endParaRPr lang="en-GB" sz="1420" dirty="0">
                <a:solidFill>
                  <a:schemeClr val="dk1"/>
                </a:solidFill>
                <a:latin typeface="+mn-lt"/>
                <a:ea typeface="+mn-ea"/>
                <a:cs typeface="+mn-cs"/>
              </a:endParaRPr>
            </a:p>
          </p:txBody>
        </p:sp>
        <p:sp>
          <p:nvSpPr>
            <p:cNvPr id="77" name="TextBox 77"/>
            <p:cNvSpPr txBox="1"/>
            <p:nvPr/>
          </p:nvSpPr>
          <p:spPr>
            <a:xfrm>
              <a:off x="7346061" y="4513421"/>
              <a:ext cx="3003332" cy="278702"/>
            </a:xfrm>
            <a:prstGeom prst="rect">
              <a:avLst/>
            </a:prstGeom>
            <a:noFill/>
            <a:ln>
              <a:noFill/>
            </a:ln>
          </p:spPr>
          <p:txBody>
            <a:bodyPr wrap="none" lIns="0" tIns="0" rIns="0" bIns="0" anchor="t" anchorCtr="0">
              <a:spAutoFit/>
            </a:bodyPr>
            <a:lstStyle/>
            <a:p>
              <a:pPr algn="l"/>
              <a:r>
                <a:rPr lang="en-GB" sz="1420" dirty="0">
                  <a:solidFill>
                    <a:schemeClr val="dk1"/>
                  </a:solidFill>
                  <a:latin typeface="+mn-lt"/>
                  <a:ea typeface="+mn-ea"/>
                  <a:cs typeface="+mn-cs"/>
                </a:rPr>
                <a:t>Whys root-cause breakdown and</a:t>
              </a:r>
              <a:endParaRPr lang="en-GB" sz="1420" dirty="0">
                <a:solidFill>
                  <a:schemeClr val="dk1"/>
                </a:solidFill>
                <a:latin typeface="+mn-lt"/>
                <a:ea typeface="+mn-ea"/>
                <a:cs typeface="+mn-cs"/>
              </a:endParaRPr>
            </a:p>
          </p:txBody>
        </p:sp>
        <p:sp>
          <p:nvSpPr>
            <p:cNvPr id="78" name="TextBox 78"/>
            <p:cNvSpPr txBox="1"/>
            <p:nvPr/>
          </p:nvSpPr>
          <p:spPr>
            <a:xfrm>
              <a:off x="7346061" y="4761071"/>
              <a:ext cx="2751363" cy="278702"/>
            </a:xfrm>
            <a:prstGeom prst="rect">
              <a:avLst/>
            </a:prstGeom>
            <a:noFill/>
            <a:ln>
              <a:noFill/>
            </a:ln>
          </p:spPr>
          <p:txBody>
            <a:bodyPr wrap="none" lIns="0" tIns="0" rIns="0" bIns="0" anchor="t" anchorCtr="0">
              <a:spAutoFit/>
            </a:bodyPr>
            <a:lstStyle/>
            <a:p>
              <a:pPr algn="l"/>
              <a:r>
                <a:rPr lang="en-GB" sz="1420" dirty="0">
                  <a:solidFill>
                    <a:schemeClr val="dk1"/>
                  </a:solidFill>
                  <a:latin typeface="+mn-lt"/>
                  <a:ea typeface="+mn-ea"/>
                  <a:cs typeface="+mn-cs"/>
                </a:rPr>
                <a:t>an AI-generated improvement</a:t>
              </a:r>
              <a:endParaRPr lang="en-GB" sz="1420" dirty="0">
                <a:solidFill>
                  <a:schemeClr val="dk1"/>
                </a:solidFill>
                <a:latin typeface="+mn-lt"/>
                <a:ea typeface="+mn-ea"/>
                <a:cs typeface="+mn-cs"/>
              </a:endParaRPr>
            </a:p>
          </p:txBody>
        </p:sp>
        <p:sp>
          <p:nvSpPr>
            <p:cNvPr id="79" name="TextBox 79"/>
            <p:cNvSpPr txBox="1"/>
            <p:nvPr/>
          </p:nvSpPr>
          <p:spPr>
            <a:xfrm>
              <a:off x="7346061" y="5008721"/>
              <a:ext cx="1620225" cy="278702"/>
            </a:xfrm>
            <a:prstGeom prst="rect">
              <a:avLst/>
            </a:prstGeom>
            <a:noFill/>
            <a:ln>
              <a:noFill/>
            </a:ln>
          </p:spPr>
          <p:txBody>
            <a:bodyPr wrap="none" lIns="0" tIns="0" rIns="0" bIns="0" anchor="t" anchorCtr="0">
              <a:spAutoFit/>
            </a:bodyPr>
            <a:lstStyle/>
            <a:p>
              <a:pPr algn="l"/>
              <a:r>
                <a:rPr lang="en-GB" sz="1420" dirty="0">
                  <a:solidFill>
                    <a:schemeClr val="dk1"/>
                  </a:solidFill>
                  <a:latin typeface="+mn-lt"/>
                  <a:ea typeface="+mn-ea"/>
                  <a:cs typeface="+mn-cs"/>
                </a:rPr>
                <a:t>recommendation.</a:t>
              </a:r>
              <a:endParaRPr lang="en-GB" sz="1420" dirty="0">
                <a:solidFill>
                  <a:schemeClr val="dk1"/>
                </a:solidFill>
                <a:latin typeface="+mn-lt"/>
                <a:ea typeface="+mn-ea"/>
                <a:cs typeface="+mn-cs"/>
              </a:endParaRPr>
            </a:p>
          </p:txBody>
        </p:sp>
        <p:sp>
          <p:nvSpPr>
            <p:cNvPr id="80" name="Rectangle 80"/>
            <p:cNvSpPr/>
            <p:nvPr/>
          </p:nvSpPr>
          <p:spPr>
            <a:xfrm>
              <a:off x="7353300" y="5524500"/>
              <a:ext cx="2514600" cy="438150"/>
            </a:xfrm>
            <a:prstGeom prst="roundRect">
              <a:avLst>
                <a:gd name="adj" fmla="val 50000"/>
              </a:avLst>
            </a:prstGeom>
            <a:solidFill>
              <a:schemeClr val="accent2"/>
            </a:solidFill>
            <a:ln>
              <a:noFill/>
            </a:ln>
          </p:spPr>
        </p:sp>
        <p:sp>
          <p:nvSpPr>
            <p:cNvPr id="81" name="TextBox 81"/>
            <p:cNvSpPr txBox="1"/>
            <p:nvPr/>
          </p:nvSpPr>
          <p:spPr>
            <a:xfrm>
              <a:off x="7651623" y="5663089"/>
              <a:ext cx="2313038" cy="249364"/>
            </a:xfrm>
            <a:prstGeom prst="rect">
              <a:avLst/>
            </a:prstGeom>
            <a:noFill/>
            <a:ln>
              <a:noFill/>
            </a:ln>
          </p:spPr>
          <p:txBody>
            <a:bodyPr wrap="none" lIns="0" tIns="0" rIns="0" bIns="0" anchor="t" anchorCtr="0">
              <a:spAutoFit/>
            </a:bodyPr>
            <a:lstStyle/>
            <a:p>
              <a:pPr algn="l"/>
              <a:r>
                <a:rPr lang="en-GB" sz="1280" b="1" dirty="0">
                  <a:solidFill>
                    <a:srgbClr val="FFFFFF"/>
                  </a:solidFill>
                  <a:latin typeface="+mn-lt"/>
                  <a:ea typeface="+mn-ea"/>
                  <a:cs typeface="+mn-cs"/>
                </a:rPr>
                <a:t>Promote to Known Error →</a:t>
              </a:r>
              <a:endParaRPr lang="en-GB" sz="1280" b="1" dirty="0">
                <a:solidFill>
                  <a:srgbClr val="FFFFFF"/>
                </a:solidFill>
                <a:latin typeface="+mn-lt"/>
                <a:ea typeface="+mn-ea"/>
                <a:cs typeface="+mn-cs"/>
              </a:endParaRPr>
            </a:p>
          </p:txBody>
        </p:sp>
      </p:grpSp>
      <p:sp>
        <p:nvSpPr>
          <p:cNvPr id="87" name="Footer Placeholder 86"/>
          <p:cNvSpPr>
            <a:spLocks noGrp="1"/>
          </p:cNvSpPr>
          <p:nvPr>
            <p:ph type="ftr" sz="quarter" idx="11"/>
          </p:nvPr>
        </p:nvSpPr>
        <p:spPr>
          <a:xfrm>
            <a:off x="3803650" y="6356350"/>
            <a:ext cx="2895600" cy="365125"/>
          </a:xfrm>
        </p:spPr>
        <p:txBody>
          <a:bodyPr/>
          <a:p>
            <a:r>
              <a:rPr lang="en-US"/>
              <a:t>TCS | Confidential</a:t>
            </a:r>
            <a:endParaRPr lang="en-US"/>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609600" y="628650"/>
            <a:ext cx="2743200" cy="346901"/>
            <a:chOff x="609600" y="628650"/>
            <a:chExt cx="2743200" cy="346901"/>
          </a:xfrm>
        </p:grpSpPr>
        <p:sp>
          <p:nvSpPr>
            <p:cNvPr id="2" name="Rectangle 2"/>
            <p:cNvSpPr/>
            <p:nvPr/>
          </p:nvSpPr>
          <p:spPr>
            <a:xfrm>
              <a:off x="609600" y="628650"/>
              <a:ext cx="2743200" cy="342900"/>
            </a:xfrm>
            <a:prstGeom prst="roundRect">
              <a:avLst>
                <a:gd name="adj" fmla="val 50000"/>
              </a:avLst>
            </a:prstGeom>
            <a:solidFill>
              <a:schemeClr val="accent2">
                <a:alpha val="14000"/>
              </a:schemeClr>
            </a:solidFill>
            <a:ln>
              <a:noFill/>
            </a:ln>
          </p:spPr>
        </p:sp>
        <p:sp>
          <p:nvSpPr>
            <p:cNvPr id="3" name="TextBox 3"/>
            <p:cNvSpPr txBox="1"/>
            <p:nvPr/>
          </p:nvSpPr>
          <p:spPr>
            <a:xfrm>
              <a:off x="793242" y="711518"/>
              <a:ext cx="2232660" cy="264033"/>
            </a:xfrm>
            <a:prstGeom prst="rect">
              <a:avLst/>
            </a:prstGeom>
            <a:noFill/>
            <a:ln>
              <a:noFill/>
            </a:ln>
          </p:spPr>
          <p:txBody>
            <a:bodyPr wrap="none" lIns="0" tIns="0" rIns="0" bIns="0" anchor="t" anchorCtr="0">
              <a:spAutoFit/>
            </a:bodyPr>
            <a:lstStyle/>
            <a:p>
              <a:pPr algn="l"/>
              <a:r>
                <a:rPr lang="en-GB" sz="1350" b="1" spc="75" dirty="0">
                  <a:solidFill>
                    <a:srgbClr val="238A5E"/>
                  </a:solidFill>
                  <a:latin typeface="+mn-lt"/>
                  <a:ea typeface="+mn-ea"/>
                  <a:cs typeface="+mn-cs"/>
                </a:rPr>
                <a:t>ANALYTICS &amp; LEARNING</a:t>
              </a:r>
              <a:endParaRPr lang="en-GB" sz="1350" b="1" spc="75" dirty="0">
                <a:solidFill>
                  <a:srgbClr val="238A5E"/>
                </a:solidFill>
                <a:latin typeface="+mn-lt"/>
                <a:ea typeface="+mn-ea"/>
                <a:cs typeface="+mn-cs"/>
              </a:endParaRPr>
            </a:p>
          </p:txBody>
        </p:sp>
      </p:grpSp>
      <p:grpSp>
        <p:nvGrpSpPr>
          <p:cNvPr id="6" name="Group 6"/>
          <p:cNvGrpSpPr/>
          <p:nvPr/>
        </p:nvGrpSpPr>
        <p:grpSpPr>
          <a:xfrm>
            <a:off x="590550" y="1165860"/>
            <a:ext cx="9164105" cy="819150"/>
            <a:chOff x="590550" y="1165860"/>
            <a:chExt cx="9164105" cy="819150"/>
          </a:xfrm>
        </p:grpSpPr>
        <p:sp>
          <p:nvSpPr>
            <p:cNvPr id="5" name="TextBox 5"/>
            <p:cNvSpPr txBox="1"/>
            <p:nvPr/>
          </p:nvSpPr>
          <p:spPr>
            <a:xfrm>
              <a:off x="590550" y="1165860"/>
              <a:ext cx="9164105" cy="819150"/>
            </a:xfrm>
            <a:prstGeom prst="rect">
              <a:avLst/>
            </a:prstGeom>
            <a:noFill/>
            <a:ln>
              <a:noFill/>
            </a:ln>
          </p:spPr>
          <p:txBody>
            <a:bodyPr wrap="none" lIns="0" tIns="0" rIns="0" bIns="0" anchor="t" anchorCtr="0">
              <a:spAutoFit/>
            </a:bodyPr>
            <a:lstStyle/>
            <a:p>
              <a:pPr algn="l"/>
              <a:r>
                <a:rPr lang="en-GB" sz="4200" b="1" dirty="0">
                  <a:solidFill>
                    <a:schemeClr val="dk1"/>
                  </a:solidFill>
                  <a:latin typeface="+mn-lt"/>
                  <a:ea typeface="+mn-ea"/>
                  <a:cs typeface="+mn-cs"/>
                </a:rPr>
                <a:t>Every Fix Teaches the Next One</a:t>
              </a:r>
              <a:endParaRPr lang="en-GB" sz="4200" b="1" dirty="0">
                <a:solidFill>
                  <a:schemeClr val="dk1"/>
                </a:solidFill>
                <a:latin typeface="+mn-lt"/>
                <a:ea typeface="+mn-ea"/>
                <a:cs typeface="+mn-cs"/>
              </a:endParaRPr>
            </a:p>
          </p:txBody>
        </p:sp>
      </p:grpSp>
      <p:grpSp>
        <p:nvGrpSpPr>
          <p:cNvPr id="8" name="Group 8"/>
          <p:cNvGrpSpPr/>
          <p:nvPr/>
        </p:nvGrpSpPr>
        <p:grpSpPr>
          <a:xfrm>
            <a:off x="600456" y="1844040"/>
            <a:ext cx="7357874" cy="352044"/>
            <a:chOff x="600456" y="1844040"/>
            <a:chExt cx="7357874" cy="352044"/>
          </a:xfrm>
        </p:grpSpPr>
        <p:sp>
          <p:nvSpPr>
            <p:cNvPr id="7" name="TextBox 7"/>
            <p:cNvSpPr txBox="1"/>
            <p:nvPr/>
          </p:nvSpPr>
          <p:spPr>
            <a:xfrm>
              <a:off x="600456" y="1844040"/>
              <a:ext cx="7357874" cy="352044"/>
            </a:xfrm>
            <a:prstGeom prst="rect">
              <a:avLst/>
            </a:prstGeom>
            <a:noFill/>
            <a:ln>
              <a:noFill/>
            </a:ln>
          </p:spPr>
          <p:txBody>
            <a:bodyPr wrap="none" lIns="0" tIns="0" rIns="0" bIns="0" anchor="t" anchorCtr="0">
              <a:spAutoFit/>
            </a:bodyPr>
            <a:lstStyle/>
            <a:p>
              <a:pPr algn="l"/>
              <a:r>
                <a:rPr lang="en-GB" sz="1800" dirty="0">
                  <a:solidFill>
                    <a:schemeClr val="accent5"/>
                  </a:solidFill>
                  <a:latin typeface="+mn-lt"/>
                  <a:ea typeface="+mn-ea"/>
                  <a:cs typeface="+mn-cs"/>
                </a:rPr>
                <a:t>A verified fix becomes a reusable SOP, indexed for next time.</a:t>
              </a:r>
              <a:endParaRPr lang="en-GB" sz="1800" dirty="0">
                <a:solidFill>
                  <a:schemeClr val="accent5"/>
                </a:solidFill>
                <a:latin typeface="+mn-lt"/>
                <a:ea typeface="+mn-ea"/>
                <a:cs typeface="+mn-cs"/>
              </a:endParaRPr>
            </a:p>
          </p:txBody>
        </p:sp>
      </p:grpSp>
      <p:grpSp>
        <p:nvGrpSpPr>
          <p:cNvPr id="14" name="Group 14"/>
          <p:cNvGrpSpPr/>
          <p:nvPr/>
        </p:nvGrpSpPr>
        <p:grpSpPr>
          <a:xfrm>
            <a:off x="609600" y="2419350"/>
            <a:ext cx="4000500" cy="904875"/>
            <a:chOff x="609600" y="2419350"/>
            <a:chExt cx="4000500" cy="904875"/>
          </a:xfrm>
        </p:grpSpPr>
        <p:sp>
          <p:nvSpPr>
            <p:cNvPr id="9" name="Rectangle 9"/>
            <p:cNvSpPr/>
            <p:nvPr/>
          </p:nvSpPr>
          <p:spPr>
            <a:xfrm>
              <a:off x="609600" y="2419350"/>
              <a:ext cx="4000500" cy="904875"/>
            </a:xfrm>
            <a:prstGeom prst="roundRect">
              <a:avLst>
                <a:gd name="adj" fmla="val 23158"/>
              </a:avLst>
            </a:prstGeom>
            <a:solidFill>
              <a:schemeClr val="lt2"/>
            </a:solidFill>
            <a:ln>
              <a:noFill/>
            </a:ln>
            <a:effectLst>
              <a:outerShdw blurRad="266700" dist="57150" dir="5400000" algn="ctr" rotWithShape="0">
                <a:srgbClr val="7C6FE0">
                  <a:alpha val="7500"/>
                </a:srgbClr>
              </a:outerShdw>
            </a:effectLst>
          </p:spPr>
        </p:sp>
        <p:sp>
          <p:nvSpPr>
            <p:cNvPr id="10" name="Ellipse 10"/>
            <p:cNvSpPr/>
            <p:nvPr/>
          </p:nvSpPr>
          <p:spPr>
            <a:xfrm>
              <a:off x="781050" y="2638425"/>
              <a:ext cx="457200" cy="457200"/>
            </a:xfrm>
            <a:prstGeom prst="ellipse">
              <a:avLst/>
            </a:prstGeom>
            <a:solidFill>
              <a:schemeClr val="accent1">
                <a:alpha val="15000"/>
              </a:schemeClr>
            </a:solidFill>
            <a:ln>
              <a:noFill/>
            </a:ln>
          </p:spPr>
        </p:sp>
        <p:sp>
          <p:nvSpPr>
            <p:cNvPr id="11" name="Freeform 11"/>
            <p:cNvSpPr/>
            <p:nvPr/>
          </p:nvSpPr>
          <p:spPr>
            <a:xfrm>
              <a:off x="914400" y="2784931"/>
              <a:ext cx="190500" cy="158719"/>
            </a:xfrm>
            <a:custGeom>
              <a:avLst/>
              <a:gdLst/>
              <a:ahLst/>
              <a:cxnLst/>
              <a:rect l="l" t="t" r="r" b="b"/>
              <a:pathLst>
                <a:path w="190500" h="158719">
                  <a:moveTo>
                    <a:pt x="185738" y="16695"/>
                  </a:moveTo>
                  <a:cubicBezTo>
                    <a:pt x="188339" y="18197"/>
                    <a:pt x="190079" y="20837"/>
                    <a:pt x="190433" y="23820"/>
                  </a:cubicBezTo>
                  <a:lnTo>
                    <a:pt x="190500" y="24944"/>
                  </a:lnTo>
                  <a:lnTo>
                    <a:pt x="190500" y="148769"/>
                  </a:lnTo>
                  <a:cubicBezTo>
                    <a:pt x="190500" y="152172"/>
                    <a:pt x="188684" y="155316"/>
                    <a:pt x="185737" y="157017"/>
                  </a:cubicBezTo>
                  <a:cubicBezTo>
                    <a:pt x="182790" y="158719"/>
                    <a:pt x="179160" y="158719"/>
                    <a:pt x="176213" y="157017"/>
                  </a:cubicBezTo>
                  <a:cubicBezTo>
                    <a:pt x="154298" y="144363"/>
                    <a:pt x="127531" y="143414"/>
                    <a:pt x="104775" y="154484"/>
                  </a:cubicBezTo>
                  <a:lnTo>
                    <a:pt x="104775" y="9951"/>
                  </a:lnTo>
                  <a:cubicBezTo>
                    <a:pt x="131416" y="0"/>
                    <a:pt x="161110" y="2473"/>
                    <a:pt x="185738" y="16695"/>
                  </a:cubicBezTo>
                  <a:moveTo>
                    <a:pt x="85725" y="9961"/>
                  </a:moveTo>
                  <a:lnTo>
                    <a:pt x="85735" y="154493"/>
                  </a:lnTo>
                  <a:cubicBezTo>
                    <a:pt x="63901" y="143864"/>
                    <a:pt x="38309" y="144278"/>
                    <a:pt x="16831" y="155608"/>
                  </a:cubicBezTo>
                  <a:lnTo>
                    <a:pt x="13716" y="157322"/>
                  </a:lnTo>
                  <a:lnTo>
                    <a:pt x="12735" y="157741"/>
                  </a:lnTo>
                  <a:lnTo>
                    <a:pt x="12268" y="157894"/>
                  </a:lnTo>
                  <a:lnTo>
                    <a:pt x="11220" y="158141"/>
                  </a:lnTo>
                  <a:lnTo>
                    <a:pt x="10639" y="158237"/>
                  </a:lnTo>
                  <a:lnTo>
                    <a:pt x="9525" y="158294"/>
                  </a:lnTo>
                  <a:lnTo>
                    <a:pt x="9125" y="158294"/>
                  </a:lnTo>
                  <a:lnTo>
                    <a:pt x="8077" y="158179"/>
                  </a:lnTo>
                  <a:lnTo>
                    <a:pt x="7344" y="158046"/>
                  </a:lnTo>
                  <a:lnTo>
                    <a:pt x="6315" y="157741"/>
                  </a:lnTo>
                  <a:lnTo>
                    <a:pt x="5115" y="157208"/>
                  </a:lnTo>
                  <a:lnTo>
                    <a:pt x="4210" y="156674"/>
                  </a:lnTo>
                  <a:lnTo>
                    <a:pt x="3362" y="156036"/>
                  </a:lnTo>
                  <a:lnTo>
                    <a:pt x="2791" y="155503"/>
                  </a:lnTo>
                  <a:lnTo>
                    <a:pt x="2095" y="154722"/>
                  </a:lnTo>
                  <a:lnTo>
                    <a:pt x="1486" y="153874"/>
                  </a:lnTo>
                  <a:lnTo>
                    <a:pt x="1276" y="153531"/>
                  </a:lnTo>
                  <a:lnTo>
                    <a:pt x="972" y="152960"/>
                  </a:lnTo>
                  <a:lnTo>
                    <a:pt x="552" y="151979"/>
                  </a:lnTo>
                  <a:lnTo>
                    <a:pt x="400" y="151512"/>
                  </a:lnTo>
                  <a:lnTo>
                    <a:pt x="152" y="150464"/>
                  </a:lnTo>
                  <a:lnTo>
                    <a:pt x="57" y="149883"/>
                  </a:lnTo>
                  <a:lnTo>
                    <a:pt x="19" y="149416"/>
                  </a:lnTo>
                  <a:lnTo>
                    <a:pt x="0" y="24944"/>
                  </a:lnTo>
                  <a:cubicBezTo>
                    <a:pt x="0" y="21541"/>
                    <a:pt x="1816" y="18396"/>
                    <a:pt x="4762" y="16695"/>
                  </a:cubicBezTo>
                  <a:cubicBezTo>
                    <a:pt x="29391" y="2476"/>
                    <a:pt x="59085" y="7"/>
                    <a:pt x="85725" y="9961"/>
                  </a:cubicBezTo>
                </a:path>
              </a:pathLst>
            </a:custGeom>
            <a:solidFill>
              <a:schemeClr val="accent1"/>
            </a:solidFill>
            <a:ln>
              <a:noFill/>
            </a:ln>
          </p:spPr>
        </p:sp>
        <p:sp>
          <p:nvSpPr>
            <p:cNvPr id="12" name="TextBox 12"/>
            <p:cNvSpPr txBox="1"/>
            <p:nvPr/>
          </p:nvSpPr>
          <p:spPr>
            <a:xfrm>
              <a:off x="1383030" y="2581275"/>
              <a:ext cx="2333092" cy="293370"/>
            </a:xfrm>
            <a:prstGeom prst="rect">
              <a:avLst/>
            </a:prstGeom>
            <a:noFill/>
            <a:ln>
              <a:noFill/>
            </a:ln>
          </p:spPr>
          <p:txBody>
            <a:bodyPr wrap="none" lIns="0" tIns="0" rIns="0" bIns="0" anchor="t" anchorCtr="0">
              <a:spAutoFit/>
            </a:bodyPr>
            <a:lstStyle/>
            <a:p>
              <a:pPr algn="l"/>
              <a:r>
                <a:rPr lang="en-GB" sz="1500" dirty="0">
                  <a:solidFill>
                    <a:schemeClr val="dk1"/>
                  </a:solidFill>
                  <a:latin typeface="+mn-lt"/>
                  <a:ea typeface="+mn-ea"/>
                  <a:cs typeface="+mn-cs"/>
                </a:rPr>
                <a:t>Verified RAG-miss fixes</a:t>
              </a:r>
              <a:endParaRPr lang="en-GB" sz="1500" dirty="0">
                <a:solidFill>
                  <a:schemeClr val="dk1"/>
                </a:solidFill>
                <a:latin typeface="+mn-lt"/>
                <a:ea typeface="+mn-ea"/>
                <a:cs typeface="+mn-cs"/>
              </a:endParaRPr>
            </a:p>
          </p:txBody>
        </p:sp>
        <p:sp>
          <p:nvSpPr>
            <p:cNvPr id="13" name="TextBox 13"/>
            <p:cNvSpPr txBox="1"/>
            <p:nvPr/>
          </p:nvSpPr>
          <p:spPr>
            <a:xfrm>
              <a:off x="1383030" y="2809875"/>
              <a:ext cx="2610311" cy="293370"/>
            </a:xfrm>
            <a:prstGeom prst="rect">
              <a:avLst/>
            </a:prstGeom>
            <a:noFill/>
            <a:ln>
              <a:noFill/>
            </a:ln>
          </p:spPr>
          <p:txBody>
            <a:bodyPr wrap="none" lIns="0" tIns="0" rIns="0" bIns="0" anchor="t" anchorCtr="0">
              <a:spAutoFit/>
            </a:bodyPr>
            <a:lstStyle/>
            <a:p>
              <a:pPr algn="l"/>
              <a:r>
                <a:rPr lang="en-GB" sz="1500" dirty="0">
                  <a:solidFill>
                    <a:schemeClr val="dk1"/>
                  </a:solidFill>
                  <a:latin typeface="+mn-lt"/>
                  <a:ea typeface="+mn-ea"/>
                  <a:cs typeface="+mn-cs"/>
                </a:rPr>
                <a:t>become new Master SOPs.</a:t>
              </a:r>
              <a:endParaRPr lang="en-GB" sz="1500" dirty="0">
                <a:solidFill>
                  <a:schemeClr val="dk1"/>
                </a:solidFill>
                <a:latin typeface="+mn-lt"/>
                <a:ea typeface="+mn-ea"/>
                <a:cs typeface="+mn-cs"/>
              </a:endParaRPr>
            </a:p>
          </p:txBody>
        </p:sp>
      </p:grpSp>
      <p:grpSp>
        <p:nvGrpSpPr>
          <p:cNvPr id="23" name="Group 23"/>
          <p:cNvGrpSpPr/>
          <p:nvPr/>
        </p:nvGrpSpPr>
        <p:grpSpPr>
          <a:xfrm>
            <a:off x="609600" y="3514725"/>
            <a:ext cx="4000500" cy="904875"/>
            <a:chOff x="609600" y="3514725"/>
            <a:chExt cx="4000500" cy="904875"/>
          </a:xfrm>
        </p:grpSpPr>
        <p:sp>
          <p:nvSpPr>
            <p:cNvPr id="15" name="Rectangle 15"/>
            <p:cNvSpPr/>
            <p:nvPr/>
          </p:nvSpPr>
          <p:spPr>
            <a:xfrm>
              <a:off x="609600" y="3514725"/>
              <a:ext cx="4000500" cy="904875"/>
            </a:xfrm>
            <a:prstGeom prst="roundRect">
              <a:avLst>
                <a:gd name="adj" fmla="val 23158"/>
              </a:avLst>
            </a:prstGeom>
            <a:solidFill>
              <a:schemeClr val="lt2"/>
            </a:solidFill>
            <a:ln>
              <a:noFill/>
            </a:ln>
            <a:effectLst>
              <a:outerShdw blurRad="266700" dist="57150" dir="5400000" algn="ctr" rotWithShape="0">
                <a:srgbClr val="7C6FE0">
                  <a:alpha val="7500"/>
                </a:srgbClr>
              </a:outerShdw>
            </a:effectLst>
          </p:spPr>
        </p:sp>
        <p:sp>
          <p:nvSpPr>
            <p:cNvPr id="16" name="Ellipse 16"/>
            <p:cNvSpPr/>
            <p:nvPr/>
          </p:nvSpPr>
          <p:spPr>
            <a:xfrm>
              <a:off x="781050" y="3733800"/>
              <a:ext cx="457200" cy="457200"/>
            </a:xfrm>
            <a:prstGeom prst="ellipse">
              <a:avLst/>
            </a:prstGeom>
            <a:solidFill>
              <a:schemeClr val="accent1">
                <a:alpha val="15000"/>
              </a:schemeClr>
            </a:solidFill>
            <a:ln>
              <a:noFill/>
            </a:ln>
          </p:spPr>
        </p:sp>
        <p:grpSp>
          <p:nvGrpSpPr>
            <p:cNvPr id="20" name="Group 20"/>
            <p:cNvGrpSpPr/>
            <p:nvPr/>
          </p:nvGrpSpPr>
          <p:grpSpPr>
            <a:xfrm>
              <a:off x="923924" y="3867150"/>
              <a:ext cx="171451" cy="190500"/>
              <a:chOff x="923924" y="3867150"/>
              <a:chExt cx="171451" cy="190500"/>
            </a:xfrm>
          </p:grpSpPr>
          <p:sp>
            <p:nvSpPr>
              <p:cNvPr id="17" name="Freeform 17"/>
              <p:cNvSpPr/>
              <p:nvPr/>
            </p:nvSpPr>
            <p:spPr>
              <a:xfrm>
                <a:off x="923925" y="3997938"/>
                <a:ext cx="171450" cy="59712"/>
              </a:xfrm>
              <a:custGeom>
                <a:avLst/>
                <a:gdLst/>
                <a:ahLst/>
                <a:cxnLst/>
                <a:rect l="l" t="t" r="r" b="b"/>
                <a:pathLst>
                  <a:path w="171450" h="59712">
                    <a:moveTo>
                      <a:pt x="0" y="0"/>
                    </a:moveTo>
                    <a:cubicBezTo>
                      <a:pt x="18745" y="14354"/>
                      <a:pt x="49854" y="21612"/>
                      <a:pt x="85725" y="21612"/>
                    </a:cubicBezTo>
                    <a:cubicBezTo>
                      <a:pt x="121539" y="21612"/>
                      <a:pt x="152638" y="14373"/>
                      <a:pt x="171450" y="162"/>
                    </a:cubicBezTo>
                    <a:lnTo>
                      <a:pt x="171450" y="21612"/>
                    </a:lnTo>
                    <a:cubicBezTo>
                      <a:pt x="171450" y="44710"/>
                      <a:pt x="134350" y="59103"/>
                      <a:pt x="88649" y="59693"/>
                    </a:cubicBezTo>
                    <a:lnTo>
                      <a:pt x="85725" y="59712"/>
                    </a:lnTo>
                    <a:cubicBezTo>
                      <a:pt x="38691" y="59712"/>
                      <a:pt x="0" y="45206"/>
                      <a:pt x="0" y="21612"/>
                    </a:cubicBezTo>
                    <a:close/>
                  </a:path>
                </a:pathLst>
              </a:custGeom>
              <a:solidFill>
                <a:schemeClr val="accent1"/>
              </a:solidFill>
              <a:ln>
                <a:noFill/>
              </a:ln>
            </p:spPr>
          </p:sp>
          <p:sp>
            <p:nvSpPr>
              <p:cNvPr id="18" name="Freeform 18"/>
              <p:cNvSpPr/>
              <p:nvPr/>
            </p:nvSpPr>
            <p:spPr>
              <a:xfrm>
                <a:off x="923925" y="3940788"/>
                <a:ext cx="171450" cy="59712"/>
              </a:xfrm>
              <a:custGeom>
                <a:avLst/>
                <a:gdLst/>
                <a:ahLst/>
                <a:cxnLst/>
                <a:rect l="l" t="t" r="r" b="b"/>
                <a:pathLst>
                  <a:path w="171450" h="59712">
                    <a:moveTo>
                      <a:pt x="0" y="0"/>
                    </a:moveTo>
                    <a:cubicBezTo>
                      <a:pt x="18745" y="14354"/>
                      <a:pt x="49854" y="21612"/>
                      <a:pt x="85725" y="21612"/>
                    </a:cubicBezTo>
                    <a:cubicBezTo>
                      <a:pt x="121539" y="21612"/>
                      <a:pt x="152638" y="14373"/>
                      <a:pt x="171450" y="162"/>
                    </a:cubicBezTo>
                    <a:lnTo>
                      <a:pt x="171450" y="21612"/>
                    </a:lnTo>
                    <a:cubicBezTo>
                      <a:pt x="171450" y="45206"/>
                      <a:pt x="132759" y="59712"/>
                      <a:pt x="85725" y="59712"/>
                    </a:cubicBezTo>
                    <a:cubicBezTo>
                      <a:pt x="40024" y="59712"/>
                      <a:pt x="2191" y="46015"/>
                      <a:pt x="200" y="23565"/>
                    </a:cubicBezTo>
                    <a:lnTo>
                      <a:pt x="48" y="22603"/>
                    </a:lnTo>
                    <a:lnTo>
                      <a:pt x="0" y="21612"/>
                    </a:lnTo>
                    <a:close/>
                  </a:path>
                </a:pathLst>
              </a:custGeom>
              <a:solidFill>
                <a:schemeClr val="accent1"/>
              </a:solidFill>
              <a:ln>
                <a:noFill/>
              </a:ln>
            </p:spPr>
          </p:sp>
          <p:sp>
            <p:nvSpPr>
              <p:cNvPr id="19" name="Freeform 19"/>
              <p:cNvSpPr/>
              <p:nvPr/>
            </p:nvSpPr>
            <p:spPr>
              <a:xfrm>
                <a:off x="923924" y="3867150"/>
                <a:ext cx="171451" cy="76200"/>
              </a:xfrm>
              <a:custGeom>
                <a:avLst/>
                <a:gdLst/>
                <a:ahLst/>
                <a:cxnLst/>
                <a:rect l="l" t="t" r="r" b="b"/>
                <a:pathLst>
                  <a:path w="171451" h="76200">
                    <a:moveTo>
                      <a:pt x="85726" y="0"/>
                    </a:moveTo>
                    <a:cubicBezTo>
                      <a:pt x="95641" y="0"/>
                      <a:pt x="105195" y="648"/>
                      <a:pt x="114082" y="1886"/>
                    </a:cubicBezTo>
                    <a:lnTo>
                      <a:pt x="118549" y="2562"/>
                    </a:lnTo>
                    <a:cubicBezTo>
                      <a:pt x="123883" y="3451"/>
                      <a:pt x="128918" y="4556"/>
                      <a:pt x="133656" y="5877"/>
                    </a:cubicBezTo>
                    <a:lnTo>
                      <a:pt x="137847" y="7125"/>
                    </a:lnTo>
                    <a:lnTo>
                      <a:pt x="138561" y="7353"/>
                    </a:lnTo>
                    <a:cubicBezTo>
                      <a:pt x="141153" y="8206"/>
                      <a:pt x="143711" y="9159"/>
                      <a:pt x="146229" y="10211"/>
                    </a:cubicBezTo>
                    <a:lnTo>
                      <a:pt x="148124" y="11030"/>
                    </a:lnTo>
                    <a:cubicBezTo>
                      <a:pt x="151521" y="12567"/>
                      <a:pt x="154591" y="14249"/>
                      <a:pt x="157335" y="16078"/>
                    </a:cubicBezTo>
                    <a:cubicBezTo>
                      <a:pt x="158382" y="16777"/>
                      <a:pt x="159376" y="17491"/>
                      <a:pt x="160316" y="18221"/>
                    </a:cubicBezTo>
                    <a:cubicBezTo>
                      <a:pt x="162697" y="20069"/>
                      <a:pt x="164837" y="22206"/>
                      <a:pt x="166688" y="24584"/>
                    </a:cubicBezTo>
                    <a:lnTo>
                      <a:pt x="167555" y="25803"/>
                    </a:lnTo>
                    <a:cubicBezTo>
                      <a:pt x="168000" y="26470"/>
                      <a:pt x="168409" y="27140"/>
                      <a:pt x="168784" y="27813"/>
                    </a:cubicBezTo>
                    <a:lnTo>
                      <a:pt x="169450" y="29137"/>
                    </a:lnTo>
                    <a:cubicBezTo>
                      <a:pt x="170486" y="31359"/>
                      <a:pt x="171121" y="33677"/>
                      <a:pt x="171355" y="36090"/>
                    </a:cubicBezTo>
                    <a:lnTo>
                      <a:pt x="171451" y="38100"/>
                    </a:lnTo>
                    <a:cubicBezTo>
                      <a:pt x="171451" y="61693"/>
                      <a:pt x="132760" y="76200"/>
                      <a:pt x="85726" y="76200"/>
                    </a:cubicBezTo>
                    <a:cubicBezTo>
                      <a:pt x="40025" y="76200"/>
                      <a:pt x="2191" y="62503"/>
                      <a:pt x="201" y="40053"/>
                    </a:cubicBezTo>
                    <a:cubicBezTo>
                      <a:pt x="67" y="39410"/>
                      <a:pt x="0" y="38756"/>
                      <a:pt x="1" y="38100"/>
                    </a:cubicBezTo>
                    <a:lnTo>
                      <a:pt x="48" y="37109"/>
                    </a:lnTo>
                    <a:lnTo>
                      <a:pt x="201" y="36157"/>
                    </a:lnTo>
                    <a:cubicBezTo>
                      <a:pt x="2153" y="14192"/>
                      <a:pt x="38396" y="600"/>
                      <a:pt x="82754" y="19"/>
                    </a:cubicBezTo>
                    <a:close/>
                  </a:path>
                </a:pathLst>
              </a:custGeom>
              <a:solidFill>
                <a:schemeClr val="accent1"/>
              </a:solidFill>
              <a:ln>
                <a:noFill/>
              </a:ln>
            </p:spPr>
          </p:sp>
        </p:grpSp>
        <p:sp>
          <p:nvSpPr>
            <p:cNvPr id="21" name="TextBox 21"/>
            <p:cNvSpPr txBox="1"/>
            <p:nvPr/>
          </p:nvSpPr>
          <p:spPr>
            <a:xfrm>
              <a:off x="1383030" y="3676650"/>
              <a:ext cx="2315528" cy="293370"/>
            </a:xfrm>
            <a:prstGeom prst="rect">
              <a:avLst/>
            </a:prstGeom>
            <a:noFill/>
            <a:ln>
              <a:noFill/>
            </a:ln>
          </p:spPr>
          <p:txBody>
            <a:bodyPr wrap="none" lIns="0" tIns="0" rIns="0" bIns="0" anchor="t" anchorCtr="0">
              <a:spAutoFit/>
            </a:bodyPr>
            <a:lstStyle/>
            <a:p>
              <a:pPr algn="l"/>
              <a:r>
                <a:rPr lang="en-GB" sz="1500" dirty="0">
                  <a:solidFill>
                    <a:schemeClr val="dk1"/>
                  </a:solidFill>
                  <a:latin typeface="+mn-lt"/>
                  <a:ea typeface="+mn-ea"/>
                  <a:cs typeface="+mn-cs"/>
                </a:rPr>
                <a:t>New SOPs index at once</a:t>
              </a:r>
              <a:endParaRPr lang="en-GB" sz="1500" dirty="0">
                <a:solidFill>
                  <a:schemeClr val="dk1"/>
                </a:solidFill>
                <a:latin typeface="+mn-lt"/>
                <a:ea typeface="+mn-ea"/>
                <a:cs typeface="+mn-cs"/>
              </a:endParaRPr>
            </a:p>
          </p:txBody>
        </p:sp>
        <p:sp>
          <p:nvSpPr>
            <p:cNvPr id="22" name="TextBox 22"/>
            <p:cNvSpPr txBox="1"/>
            <p:nvPr/>
          </p:nvSpPr>
          <p:spPr>
            <a:xfrm>
              <a:off x="1383030" y="3905250"/>
              <a:ext cx="2340102" cy="293370"/>
            </a:xfrm>
            <a:prstGeom prst="rect">
              <a:avLst/>
            </a:prstGeom>
            <a:noFill/>
            <a:ln>
              <a:noFill/>
            </a:ln>
          </p:spPr>
          <p:txBody>
            <a:bodyPr wrap="none" lIns="0" tIns="0" rIns="0" bIns="0" anchor="t" anchorCtr="0">
              <a:spAutoFit/>
            </a:bodyPr>
            <a:lstStyle/>
            <a:p>
              <a:pPr algn="l"/>
              <a:r>
                <a:rPr lang="en-GB" sz="1500" dirty="0">
                  <a:solidFill>
                    <a:schemeClr val="dk1"/>
                  </a:solidFill>
                  <a:latin typeface="+mn-lt"/>
                  <a:ea typeface="+mn-ea"/>
                  <a:cs typeface="+mn-cs"/>
                </a:rPr>
                <a:t>into ChromaDB for RAG.</a:t>
              </a:r>
              <a:endParaRPr lang="en-GB" sz="1500" dirty="0">
                <a:solidFill>
                  <a:schemeClr val="dk1"/>
                </a:solidFill>
                <a:latin typeface="+mn-lt"/>
                <a:ea typeface="+mn-ea"/>
                <a:cs typeface="+mn-cs"/>
              </a:endParaRPr>
            </a:p>
          </p:txBody>
        </p:sp>
      </p:grpSp>
      <p:grpSp>
        <p:nvGrpSpPr>
          <p:cNvPr id="29" name="Group 29"/>
          <p:cNvGrpSpPr/>
          <p:nvPr/>
        </p:nvGrpSpPr>
        <p:grpSpPr>
          <a:xfrm>
            <a:off x="609600" y="4610100"/>
            <a:ext cx="4130612" cy="904875"/>
            <a:chOff x="609600" y="4610100"/>
            <a:chExt cx="4130612" cy="904875"/>
          </a:xfrm>
        </p:grpSpPr>
        <p:sp>
          <p:nvSpPr>
            <p:cNvPr id="24" name="Rectangle 24"/>
            <p:cNvSpPr/>
            <p:nvPr/>
          </p:nvSpPr>
          <p:spPr>
            <a:xfrm>
              <a:off x="609600" y="4610100"/>
              <a:ext cx="4000500" cy="904875"/>
            </a:xfrm>
            <a:prstGeom prst="roundRect">
              <a:avLst>
                <a:gd name="adj" fmla="val 23158"/>
              </a:avLst>
            </a:prstGeom>
            <a:solidFill>
              <a:schemeClr val="lt2"/>
            </a:solidFill>
            <a:ln>
              <a:noFill/>
            </a:ln>
            <a:effectLst>
              <a:outerShdw blurRad="266700" dist="57150" dir="5400000" algn="ctr" rotWithShape="0">
                <a:srgbClr val="7C6FE0">
                  <a:alpha val="7500"/>
                </a:srgbClr>
              </a:outerShdw>
            </a:effectLst>
          </p:spPr>
        </p:sp>
        <p:sp>
          <p:nvSpPr>
            <p:cNvPr id="25" name="Ellipse 25"/>
            <p:cNvSpPr/>
            <p:nvPr/>
          </p:nvSpPr>
          <p:spPr>
            <a:xfrm>
              <a:off x="781050" y="4829175"/>
              <a:ext cx="457200" cy="457200"/>
            </a:xfrm>
            <a:prstGeom prst="ellipse">
              <a:avLst/>
            </a:prstGeom>
            <a:solidFill>
              <a:schemeClr val="accent2">
                <a:alpha val="15000"/>
              </a:schemeClr>
            </a:solidFill>
            <a:ln>
              <a:noFill/>
            </a:ln>
          </p:spPr>
        </p:sp>
        <p:sp>
          <p:nvSpPr>
            <p:cNvPr id="26" name="Freeform 26"/>
            <p:cNvSpPr/>
            <p:nvPr/>
          </p:nvSpPr>
          <p:spPr>
            <a:xfrm>
              <a:off x="910087" y="4962525"/>
              <a:ext cx="199117" cy="190602"/>
            </a:xfrm>
            <a:custGeom>
              <a:avLst/>
              <a:gdLst/>
              <a:ahLst/>
              <a:cxnLst/>
              <a:rect l="l" t="t" r="r" b="b"/>
              <a:pathLst>
                <a:path w="199117" h="190602">
                  <a:moveTo>
                    <a:pt x="99544" y="0"/>
                  </a:moveTo>
                  <a:lnTo>
                    <a:pt x="100668" y="67"/>
                  </a:lnTo>
                  <a:lnTo>
                    <a:pt x="101230" y="143"/>
                  </a:lnTo>
                  <a:lnTo>
                    <a:pt x="101811" y="267"/>
                  </a:lnTo>
                  <a:lnTo>
                    <a:pt x="102868" y="591"/>
                  </a:lnTo>
                  <a:cubicBezTo>
                    <a:pt x="103598" y="860"/>
                    <a:pt x="104293" y="1218"/>
                    <a:pt x="104935" y="1657"/>
                  </a:cubicBezTo>
                  <a:lnTo>
                    <a:pt x="105926" y="2438"/>
                  </a:lnTo>
                  <a:lnTo>
                    <a:pt x="108354" y="4515"/>
                  </a:lnTo>
                  <a:cubicBezTo>
                    <a:pt x="127569" y="20475"/>
                    <a:pt x="151854" y="29045"/>
                    <a:pt x="176830" y="28680"/>
                  </a:cubicBezTo>
                  <a:lnTo>
                    <a:pt x="180087" y="28585"/>
                  </a:lnTo>
                  <a:cubicBezTo>
                    <a:pt x="184470" y="28385"/>
                    <a:pt x="188423" y="31204"/>
                    <a:pt x="189660" y="35414"/>
                  </a:cubicBezTo>
                  <a:cubicBezTo>
                    <a:pt x="199117" y="67583"/>
                    <a:pt x="195123" y="102211"/>
                    <a:pt x="178593" y="131383"/>
                  </a:cubicBezTo>
                  <a:cubicBezTo>
                    <a:pt x="162063" y="160555"/>
                    <a:pt x="134409" y="181776"/>
                    <a:pt x="101954" y="190195"/>
                  </a:cubicBezTo>
                  <a:cubicBezTo>
                    <a:pt x="100386" y="190602"/>
                    <a:pt x="98740" y="190602"/>
                    <a:pt x="97172" y="190195"/>
                  </a:cubicBezTo>
                  <a:cubicBezTo>
                    <a:pt x="64715" y="181778"/>
                    <a:pt x="37059" y="160558"/>
                    <a:pt x="20527" y="131386"/>
                  </a:cubicBezTo>
                  <a:cubicBezTo>
                    <a:pt x="3994" y="102213"/>
                    <a:pt x="0" y="67584"/>
                    <a:pt x="9456" y="35414"/>
                  </a:cubicBezTo>
                  <a:cubicBezTo>
                    <a:pt x="10693" y="31204"/>
                    <a:pt x="14646" y="28385"/>
                    <a:pt x="19029" y="28585"/>
                  </a:cubicBezTo>
                  <a:cubicBezTo>
                    <a:pt x="45103" y="29776"/>
                    <a:pt x="70684" y="21193"/>
                    <a:pt x="90762" y="4515"/>
                  </a:cubicBezTo>
                  <a:lnTo>
                    <a:pt x="93267" y="2372"/>
                  </a:lnTo>
                  <a:lnTo>
                    <a:pt x="94181" y="1657"/>
                  </a:lnTo>
                  <a:cubicBezTo>
                    <a:pt x="94824" y="1218"/>
                    <a:pt x="95518" y="860"/>
                    <a:pt x="96248" y="591"/>
                  </a:cubicBezTo>
                  <a:lnTo>
                    <a:pt x="97315" y="267"/>
                  </a:lnTo>
                  <a:cubicBezTo>
                    <a:pt x="97688" y="177"/>
                    <a:pt x="98067" y="110"/>
                    <a:pt x="98448" y="67"/>
                  </a:cubicBezTo>
                  <a:lnTo>
                    <a:pt x="99544" y="0"/>
                  </a:lnTo>
                  <a:close/>
                  <a:moveTo>
                    <a:pt x="134882" y="69466"/>
                  </a:moveTo>
                  <a:cubicBezTo>
                    <a:pt x="133095" y="67677"/>
                    <a:pt x="130671" y="66672"/>
                    <a:pt x="128143" y="66672"/>
                  </a:cubicBezTo>
                  <a:cubicBezTo>
                    <a:pt x="125615" y="66672"/>
                    <a:pt x="123190" y="67677"/>
                    <a:pt x="121404" y="69466"/>
                  </a:cubicBezTo>
                  <a:lnTo>
                    <a:pt x="90038" y="100822"/>
                  </a:lnTo>
                  <a:lnTo>
                    <a:pt x="77722" y="88516"/>
                  </a:lnTo>
                  <a:lnTo>
                    <a:pt x="76827" y="87725"/>
                  </a:lnTo>
                  <a:cubicBezTo>
                    <a:pt x="72854" y="84653"/>
                    <a:pt x="67178" y="85194"/>
                    <a:pt x="63856" y="88961"/>
                  </a:cubicBezTo>
                  <a:cubicBezTo>
                    <a:pt x="60534" y="92728"/>
                    <a:pt x="60708" y="98427"/>
                    <a:pt x="64254" y="101984"/>
                  </a:cubicBezTo>
                  <a:lnTo>
                    <a:pt x="83304" y="121034"/>
                  </a:lnTo>
                  <a:lnTo>
                    <a:pt x="84199" y="121825"/>
                  </a:lnTo>
                  <a:cubicBezTo>
                    <a:pt x="87991" y="124766"/>
                    <a:pt x="93379" y="124427"/>
                    <a:pt x="96772" y="121034"/>
                  </a:cubicBezTo>
                  <a:lnTo>
                    <a:pt x="134872" y="82934"/>
                  </a:lnTo>
                  <a:lnTo>
                    <a:pt x="135663" y="82039"/>
                  </a:lnTo>
                  <a:cubicBezTo>
                    <a:pt x="138604" y="78247"/>
                    <a:pt x="138265" y="72859"/>
                    <a:pt x="134872" y="69466"/>
                  </a:cubicBezTo>
                  <a:close/>
                </a:path>
              </a:pathLst>
            </a:custGeom>
            <a:solidFill>
              <a:schemeClr val="accent2"/>
            </a:solidFill>
            <a:ln>
              <a:noFill/>
            </a:ln>
          </p:spPr>
        </p:sp>
        <p:sp>
          <p:nvSpPr>
            <p:cNvPr id="27" name="TextBox 27"/>
            <p:cNvSpPr txBox="1"/>
            <p:nvPr/>
          </p:nvSpPr>
          <p:spPr>
            <a:xfrm>
              <a:off x="1383030" y="4772025"/>
              <a:ext cx="2576540" cy="293370"/>
            </a:xfrm>
            <a:prstGeom prst="rect">
              <a:avLst/>
            </a:prstGeom>
            <a:noFill/>
            <a:ln>
              <a:noFill/>
            </a:ln>
          </p:spPr>
          <p:txBody>
            <a:bodyPr wrap="none" lIns="0" tIns="0" rIns="0" bIns="0" anchor="t" anchorCtr="0">
              <a:spAutoFit/>
            </a:bodyPr>
            <a:lstStyle/>
            <a:p>
              <a:pPr algn="l"/>
              <a:r>
                <a:rPr lang="en-GB" sz="1500" dirty="0">
                  <a:solidFill>
                    <a:schemeClr val="dk1"/>
                  </a:solidFill>
                  <a:latin typeface="+mn-lt"/>
                  <a:ea typeface="+mn-ea"/>
                  <a:cs typeface="+mn-cs"/>
                </a:rPr>
                <a:t>Grows from real, verified</a:t>
              </a:r>
              <a:endParaRPr lang="en-GB" sz="1500" dirty="0">
                <a:solidFill>
                  <a:schemeClr val="dk1"/>
                </a:solidFill>
                <a:latin typeface="+mn-lt"/>
                <a:ea typeface="+mn-ea"/>
                <a:cs typeface="+mn-cs"/>
              </a:endParaRPr>
            </a:p>
          </p:txBody>
        </p:sp>
        <p:sp>
          <p:nvSpPr>
            <p:cNvPr id="28" name="TextBox 28"/>
            <p:cNvSpPr txBox="1"/>
            <p:nvPr/>
          </p:nvSpPr>
          <p:spPr>
            <a:xfrm>
              <a:off x="1383030" y="5000625"/>
              <a:ext cx="3357182" cy="293370"/>
            </a:xfrm>
            <a:prstGeom prst="rect">
              <a:avLst/>
            </a:prstGeom>
            <a:noFill/>
            <a:ln>
              <a:noFill/>
            </a:ln>
          </p:spPr>
          <p:txBody>
            <a:bodyPr wrap="none" lIns="0" tIns="0" rIns="0" bIns="0" anchor="t" anchorCtr="0">
              <a:spAutoFit/>
            </a:bodyPr>
            <a:lstStyle/>
            <a:p>
              <a:pPr algn="l"/>
              <a:r>
                <a:rPr lang="en-GB" sz="1500" dirty="0">
                  <a:solidFill>
                    <a:schemeClr val="dk1"/>
                  </a:solidFill>
                  <a:latin typeface="+mn-lt"/>
                  <a:ea typeface="+mn-ea"/>
                  <a:cs typeface="+mn-cs"/>
                </a:rPr>
                <a:t>fixes, not hand-written guesses.</a:t>
              </a:r>
              <a:endParaRPr lang="en-GB" sz="1500" dirty="0">
                <a:solidFill>
                  <a:schemeClr val="dk1"/>
                </a:solidFill>
                <a:latin typeface="+mn-lt"/>
                <a:ea typeface="+mn-ea"/>
                <a:cs typeface="+mn-cs"/>
              </a:endParaRPr>
            </a:p>
          </p:txBody>
        </p:sp>
      </p:grpSp>
      <p:grpSp>
        <p:nvGrpSpPr>
          <p:cNvPr id="37" name="Group 37"/>
          <p:cNvGrpSpPr/>
          <p:nvPr/>
        </p:nvGrpSpPr>
        <p:grpSpPr>
          <a:xfrm>
            <a:off x="609600" y="5705475"/>
            <a:ext cx="4000500" cy="542925"/>
            <a:chOff x="609600" y="5705475"/>
            <a:chExt cx="4000500" cy="542925"/>
          </a:xfrm>
        </p:grpSpPr>
        <p:sp>
          <p:nvSpPr>
            <p:cNvPr id="30" name="Rectangle 30"/>
            <p:cNvSpPr/>
            <p:nvPr/>
          </p:nvSpPr>
          <p:spPr>
            <a:xfrm>
              <a:off x="609600" y="5705475"/>
              <a:ext cx="4000500" cy="542925"/>
            </a:xfrm>
            <a:prstGeom prst="roundRect">
              <a:avLst>
                <a:gd name="adj" fmla="val 38596"/>
              </a:avLst>
            </a:prstGeom>
            <a:solidFill>
              <a:schemeClr val="lt2"/>
            </a:solidFill>
            <a:ln>
              <a:noFill/>
            </a:ln>
            <a:effectLst>
              <a:outerShdw blurRad="266700" dist="57150" dir="5400000" algn="ctr" rotWithShape="0">
                <a:srgbClr val="7C6FE0">
                  <a:alpha val="7500"/>
                </a:srgbClr>
              </a:outerShdw>
            </a:effectLst>
          </p:spPr>
        </p:sp>
        <p:sp>
          <p:nvSpPr>
            <p:cNvPr id="31" name="Ellipse 31"/>
            <p:cNvSpPr/>
            <p:nvPr/>
          </p:nvSpPr>
          <p:spPr>
            <a:xfrm>
              <a:off x="819150" y="5781675"/>
              <a:ext cx="381000" cy="381000"/>
            </a:xfrm>
            <a:prstGeom prst="ellipse">
              <a:avLst/>
            </a:prstGeom>
            <a:solidFill>
              <a:schemeClr val="accent1">
                <a:alpha val="15000"/>
              </a:schemeClr>
            </a:solidFill>
            <a:ln>
              <a:noFill/>
            </a:ln>
          </p:spPr>
        </p:sp>
        <p:grpSp>
          <p:nvGrpSpPr>
            <p:cNvPr id="35" name="Group 35"/>
            <p:cNvGrpSpPr/>
            <p:nvPr/>
          </p:nvGrpSpPr>
          <p:grpSpPr>
            <a:xfrm>
              <a:off x="927632" y="5898094"/>
              <a:ext cx="156098" cy="148161"/>
              <a:chOff x="927632" y="5898094"/>
              <a:chExt cx="156098" cy="148161"/>
            </a:xfrm>
          </p:grpSpPr>
          <p:sp>
            <p:nvSpPr>
              <p:cNvPr id="32" name="Freeform 32"/>
              <p:cNvSpPr/>
              <p:nvPr/>
            </p:nvSpPr>
            <p:spPr>
              <a:xfrm>
                <a:off x="1033462" y="5993344"/>
                <a:ext cx="50268" cy="52911"/>
              </a:xfrm>
              <a:custGeom>
                <a:avLst/>
                <a:gdLst/>
                <a:ahLst/>
                <a:cxnLst/>
                <a:rect l="l" t="t" r="r" b="b"/>
                <a:pathLst>
                  <a:path w="50268" h="52911">
                    <a:moveTo>
                      <a:pt x="7937" y="34393"/>
                    </a:moveTo>
                    <a:cubicBezTo>
                      <a:pt x="3554" y="34393"/>
                      <a:pt x="0" y="30839"/>
                      <a:pt x="0" y="26456"/>
                    </a:cubicBezTo>
                    <a:cubicBezTo>
                      <a:pt x="0" y="22072"/>
                      <a:pt x="3554" y="18518"/>
                      <a:pt x="7937" y="18518"/>
                    </a:cubicBezTo>
                    <a:cubicBezTo>
                      <a:pt x="12321" y="18518"/>
                      <a:pt x="15875" y="14964"/>
                      <a:pt x="15875" y="10581"/>
                    </a:cubicBezTo>
                    <a:cubicBezTo>
                      <a:pt x="15875" y="0"/>
                      <a:pt x="31750" y="0"/>
                      <a:pt x="31750" y="10581"/>
                    </a:cubicBezTo>
                    <a:cubicBezTo>
                      <a:pt x="31750" y="14964"/>
                      <a:pt x="35304" y="18518"/>
                      <a:pt x="39687" y="18518"/>
                    </a:cubicBezTo>
                    <a:cubicBezTo>
                      <a:pt x="50268" y="18518"/>
                      <a:pt x="50268" y="34393"/>
                      <a:pt x="39687" y="34393"/>
                    </a:cubicBezTo>
                    <a:cubicBezTo>
                      <a:pt x="35304" y="34393"/>
                      <a:pt x="31750" y="37947"/>
                      <a:pt x="31750" y="42331"/>
                    </a:cubicBezTo>
                    <a:cubicBezTo>
                      <a:pt x="31750" y="52911"/>
                      <a:pt x="15875" y="52911"/>
                      <a:pt x="15875" y="42331"/>
                    </a:cubicBezTo>
                    <a:cubicBezTo>
                      <a:pt x="15875" y="37947"/>
                      <a:pt x="12321" y="34393"/>
                      <a:pt x="7937" y="34393"/>
                    </a:cubicBezTo>
                  </a:path>
                </a:pathLst>
              </a:custGeom>
              <a:solidFill>
                <a:schemeClr val="accent1"/>
              </a:solidFill>
              <a:ln>
                <a:noFill/>
              </a:ln>
            </p:spPr>
          </p:sp>
          <p:sp>
            <p:nvSpPr>
              <p:cNvPr id="33" name="Freeform 33"/>
              <p:cNvSpPr/>
              <p:nvPr/>
            </p:nvSpPr>
            <p:spPr>
              <a:xfrm>
                <a:off x="927632" y="5913969"/>
                <a:ext cx="116411" cy="113768"/>
              </a:xfrm>
              <a:custGeom>
                <a:avLst/>
                <a:gdLst/>
                <a:ahLst/>
                <a:cxnLst/>
                <a:rect l="l" t="t" r="r" b="b"/>
                <a:pathLst>
                  <a:path w="116411" h="113768">
                    <a:moveTo>
                      <a:pt x="10581" y="50268"/>
                    </a:moveTo>
                    <a:cubicBezTo>
                      <a:pt x="32499" y="50268"/>
                      <a:pt x="50268" y="32499"/>
                      <a:pt x="50268" y="10581"/>
                    </a:cubicBezTo>
                    <a:cubicBezTo>
                      <a:pt x="50268" y="0"/>
                      <a:pt x="66143" y="0"/>
                      <a:pt x="66143" y="10581"/>
                    </a:cubicBezTo>
                    <a:cubicBezTo>
                      <a:pt x="66143" y="32499"/>
                      <a:pt x="83912" y="50268"/>
                      <a:pt x="105831" y="50268"/>
                    </a:cubicBezTo>
                    <a:cubicBezTo>
                      <a:pt x="116411" y="50268"/>
                      <a:pt x="116411" y="66143"/>
                      <a:pt x="105831" y="66143"/>
                    </a:cubicBezTo>
                    <a:cubicBezTo>
                      <a:pt x="83912" y="66143"/>
                      <a:pt x="66143" y="83912"/>
                      <a:pt x="66143" y="105831"/>
                    </a:cubicBezTo>
                    <a:cubicBezTo>
                      <a:pt x="66143" y="110214"/>
                      <a:pt x="62589" y="113768"/>
                      <a:pt x="58206" y="113768"/>
                    </a:cubicBezTo>
                    <a:cubicBezTo>
                      <a:pt x="53822" y="113768"/>
                      <a:pt x="50268" y="110214"/>
                      <a:pt x="50268" y="105831"/>
                    </a:cubicBezTo>
                    <a:cubicBezTo>
                      <a:pt x="50268" y="83912"/>
                      <a:pt x="32499" y="66143"/>
                      <a:pt x="10581" y="66143"/>
                    </a:cubicBezTo>
                    <a:cubicBezTo>
                      <a:pt x="0" y="66143"/>
                      <a:pt x="0" y="50268"/>
                      <a:pt x="10581" y="50268"/>
                    </a:cubicBezTo>
                  </a:path>
                </a:pathLst>
              </a:custGeom>
              <a:solidFill>
                <a:schemeClr val="accent1"/>
              </a:solidFill>
              <a:ln>
                <a:noFill/>
              </a:ln>
            </p:spPr>
          </p:sp>
          <p:sp>
            <p:nvSpPr>
              <p:cNvPr id="34" name="Freeform 34"/>
              <p:cNvSpPr/>
              <p:nvPr/>
            </p:nvSpPr>
            <p:spPr>
              <a:xfrm>
                <a:off x="1033462" y="5898094"/>
                <a:ext cx="50268" cy="52911"/>
              </a:xfrm>
              <a:custGeom>
                <a:avLst/>
                <a:gdLst/>
                <a:ahLst/>
                <a:cxnLst/>
                <a:rect l="l" t="t" r="r" b="b"/>
                <a:pathLst>
                  <a:path w="50268" h="52911">
                    <a:moveTo>
                      <a:pt x="7937" y="34393"/>
                    </a:moveTo>
                    <a:cubicBezTo>
                      <a:pt x="3554" y="34393"/>
                      <a:pt x="0" y="30839"/>
                      <a:pt x="0" y="26456"/>
                    </a:cubicBezTo>
                    <a:cubicBezTo>
                      <a:pt x="0" y="22072"/>
                      <a:pt x="3554" y="18518"/>
                      <a:pt x="7937" y="18518"/>
                    </a:cubicBezTo>
                    <a:cubicBezTo>
                      <a:pt x="12321" y="18518"/>
                      <a:pt x="15875" y="14964"/>
                      <a:pt x="15875" y="10581"/>
                    </a:cubicBezTo>
                    <a:cubicBezTo>
                      <a:pt x="15875" y="0"/>
                      <a:pt x="31750" y="0"/>
                      <a:pt x="31750" y="10581"/>
                    </a:cubicBezTo>
                    <a:cubicBezTo>
                      <a:pt x="31750" y="14964"/>
                      <a:pt x="35304" y="18518"/>
                      <a:pt x="39687" y="18518"/>
                    </a:cubicBezTo>
                    <a:cubicBezTo>
                      <a:pt x="50268" y="18518"/>
                      <a:pt x="50268" y="34393"/>
                      <a:pt x="39687" y="34393"/>
                    </a:cubicBezTo>
                    <a:cubicBezTo>
                      <a:pt x="35304" y="34393"/>
                      <a:pt x="31750" y="37947"/>
                      <a:pt x="31750" y="42331"/>
                    </a:cubicBezTo>
                    <a:cubicBezTo>
                      <a:pt x="31750" y="52911"/>
                      <a:pt x="15875" y="52911"/>
                      <a:pt x="15875" y="42331"/>
                    </a:cubicBezTo>
                    <a:cubicBezTo>
                      <a:pt x="15875" y="37947"/>
                      <a:pt x="12321" y="34393"/>
                      <a:pt x="7937" y="34393"/>
                    </a:cubicBezTo>
                  </a:path>
                </a:pathLst>
              </a:custGeom>
              <a:solidFill>
                <a:schemeClr val="accent1"/>
              </a:solidFill>
              <a:ln>
                <a:noFill/>
              </a:ln>
            </p:spPr>
          </p:sp>
        </p:grpSp>
        <p:sp>
          <p:nvSpPr>
            <p:cNvPr id="36" name="TextBox 36"/>
            <p:cNvSpPr txBox="1"/>
            <p:nvPr/>
          </p:nvSpPr>
          <p:spPr>
            <a:xfrm>
              <a:off x="1383792" y="5883592"/>
              <a:ext cx="2838869" cy="264033"/>
            </a:xfrm>
            <a:prstGeom prst="rect">
              <a:avLst/>
            </a:prstGeom>
            <a:noFill/>
            <a:ln>
              <a:noFill/>
            </a:ln>
          </p:spPr>
          <p:txBody>
            <a:bodyPr wrap="none" lIns="0" tIns="0" rIns="0" bIns="0" anchor="t" anchorCtr="0">
              <a:spAutoFit/>
            </a:bodyPr>
            <a:lstStyle/>
            <a:p>
              <a:pPr algn="l"/>
              <a:r>
                <a:rPr lang="en-GB" sz="1350" dirty="0">
                  <a:solidFill>
                    <a:schemeClr val="dk1"/>
                  </a:solidFill>
                  <a:latin typeface="+mn-lt"/>
                  <a:ea typeface="+mn-ea"/>
                  <a:cs typeface="+mn-cs"/>
                </a:rPr>
                <a:t>Novel today, RAG hit tomorrow.</a:t>
              </a:r>
              <a:endParaRPr lang="en-GB" sz="1350" dirty="0">
                <a:solidFill>
                  <a:schemeClr val="dk1"/>
                </a:solidFill>
                <a:latin typeface="+mn-lt"/>
                <a:ea typeface="+mn-ea"/>
                <a:cs typeface="+mn-cs"/>
              </a:endParaRPr>
            </a:p>
          </p:txBody>
        </p:sp>
      </p:grpSp>
      <p:grpSp>
        <p:nvGrpSpPr>
          <p:cNvPr id="40" name="Group 40"/>
          <p:cNvGrpSpPr/>
          <p:nvPr/>
        </p:nvGrpSpPr>
        <p:grpSpPr>
          <a:xfrm>
            <a:off x="4838700" y="2190750"/>
            <a:ext cx="6743700" cy="3924300"/>
            <a:chOff x="4838700" y="2190750"/>
            <a:chExt cx="6743700" cy="3924300"/>
          </a:xfrm>
        </p:grpSpPr>
        <p:sp>
          <p:nvSpPr>
            <p:cNvPr id="38" name="Rectangle 38"/>
            <p:cNvSpPr/>
            <p:nvPr/>
          </p:nvSpPr>
          <p:spPr>
            <a:xfrm>
              <a:off x="4838700" y="2190750"/>
              <a:ext cx="6743700" cy="3924300"/>
            </a:xfrm>
            <a:prstGeom prst="roundRect">
              <a:avLst>
                <a:gd name="adj" fmla="val 6311"/>
              </a:avLst>
            </a:prstGeom>
            <a:solidFill>
              <a:schemeClr val="lt2"/>
            </a:solidFill>
            <a:ln>
              <a:noFill/>
            </a:ln>
            <a:effectLst>
              <a:outerShdw blurRad="266700" dist="57150" dir="5400000" algn="ctr" rotWithShape="0">
                <a:srgbClr val="7C6FE0">
                  <a:alpha val="7500"/>
                </a:srgbClr>
              </a:outerShdw>
            </a:effectLst>
          </p:spPr>
        </p:sp>
        <p:pic>
          <p:nvPicPr>
            <p:cNvPr id="39" name="Image 39"/>
            <p:cNvPicPr>
              <a:picLocks noChangeAspect="1"/>
            </p:cNvPicPr>
            <p:nvPr/>
          </p:nvPicPr>
          <p:blipFill>
            <a:blip r:embed="rId1"/>
            <a:stretch>
              <a:fillRect/>
            </a:stretch>
          </p:blipFill>
          <p:spPr>
            <a:xfrm>
              <a:off x="4991100" y="2343150"/>
              <a:ext cx="6438900" cy="3619500"/>
            </a:xfrm>
            <a:prstGeom prst="rect">
              <a:avLst/>
            </a:prstGeom>
          </p:spPr>
        </p:pic>
      </p:grpSp>
      <p:sp>
        <p:nvSpPr>
          <p:cNvPr id="45" name="Footer Placeholder 44"/>
          <p:cNvSpPr>
            <a:spLocks noGrp="1"/>
          </p:cNvSpPr>
          <p:nvPr>
            <p:ph type="ftr" sz="quarter" idx="11"/>
          </p:nvPr>
        </p:nvSpPr>
        <p:spPr/>
        <p:txBody>
          <a:bodyPr/>
          <a:p>
            <a:r>
              <a:rPr lang="en-US"/>
              <a:t>TCS | Confidential</a:t>
            </a:r>
            <a:endParaRPr lang="en-US"/>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609600" y="628650"/>
            <a:ext cx="2743200" cy="346901"/>
            <a:chOff x="609600" y="628650"/>
            <a:chExt cx="2743200" cy="346901"/>
          </a:xfrm>
        </p:grpSpPr>
        <p:sp>
          <p:nvSpPr>
            <p:cNvPr id="2" name="Rectangle 2"/>
            <p:cNvSpPr/>
            <p:nvPr/>
          </p:nvSpPr>
          <p:spPr>
            <a:xfrm>
              <a:off x="609600" y="628650"/>
              <a:ext cx="2743200" cy="342900"/>
            </a:xfrm>
            <a:prstGeom prst="roundRect">
              <a:avLst>
                <a:gd name="adj" fmla="val 50000"/>
              </a:avLst>
            </a:prstGeom>
            <a:solidFill>
              <a:schemeClr val="accent2">
                <a:alpha val="14000"/>
              </a:schemeClr>
            </a:solidFill>
            <a:ln>
              <a:noFill/>
            </a:ln>
          </p:spPr>
        </p:sp>
        <p:sp>
          <p:nvSpPr>
            <p:cNvPr id="3" name="TextBox 3"/>
            <p:cNvSpPr txBox="1"/>
            <p:nvPr/>
          </p:nvSpPr>
          <p:spPr>
            <a:xfrm>
              <a:off x="793242" y="711518"/>
              <a:ext cx="2232660" cy="264033"/>
            </a:xfrm>
            <a:prstGeom prst="rect">
              <a:avLst/>
            </a:prstGeom>
            <a:noFill/>
            <a:ln>
              <a:noFill/>
            </a:ln>
          </p:spPr>
          <p:txBody>
            <a:bodyPr wrap="none" lIns="0" tIns="0" rIns="0" bIns="0" anchor="t" anchorCtr="0">
              <a:spAutoFit/>
            </a:bodyPr>
            <a:lstStyle/>
            <a:p>
              <a:pPr algn="l"/>
              <a:r>
                <a:rPr lang="en-GB" sz="1350" b="1" spc="75" dirty="0">
                  <a:solidFill>
                    <a:srgbClr val="238A5E"/>
                  </a:solidFill>
                  <a:latin typeface="+mn-lt"/>
                  <a:ea typeface="+mn-ea"/>
                  <a:cs typeface="+mn-cs"/>
                </a:rPr>
                <a:t>ANALYTICS &amp; LEARNING</a:t>
              </a:r>
              <a:endParaRPr lang="en-GB" sz="1350" b="1" spc="75" dirty="0">
                <a:solidFill>
                  <a:srgbClr val="238A5E"/>
                </a:solidFill>
                <a:latin typeface="+mn-lt"/>
                <a:ea typeface="+mn-ea"/>
                <a:cs typeface="+mn-cs"/>
              </a:endParaRPr>
            </a:p>
          </p:txBody>
        </p:sp>
      </p:grpSp>
      <p:grpSp>
        <p:nvGrpSpPr>
          <p:cNvPr id="6" name="Group 6"/>
          <p:cNvGrpSpPr/>
          <p:nvPr/>
        </p:nvGrpSpPr>
        <p:grpSpPr>
          <a:xfrm>
            <a:off x="590550" y="1165860"/>
            <a:ext cx="6600160" cy="819150"/>
            <a:chOff x="590550" y="1165860"/>
            <a:chExt cx="6600160" cy="819150"/>
          </a:xfrm>
        </p:grpSpPr>
        <p:sp>
          <p:nvSpPr>
            <p:cNvPr id="5" name="TextBox 5"/>
            <p:cNvSpPr txBox="1"/>
            <p:nvPr/>
          </p:nvSpPr>
          <p:spPr>
            <a:xfrm>
              <a:off x="590550" y="1165860"/>
              <a:ext cx="6600160" cy="819150"/>
            </a:xfrm>
            <a:prstGeom prst="rect">
              <a:avLst/>
            </a:prstGeom>
            <a:noFill/>
            <a:ln>
              <a:noFill/>
            </a:ln>
          </p:spPr>
          <p:txBody>
            <a:bodyPr wrap="none" lIns="0" tIns="0" rIns="0" bIns="0" anchor="t" anchorCtr="0">
              <a:spAutoFit/>
            </a:bodyPr>
            <a:lstStyle/>
            <a:p>
              <a:pPr algn="l"/>
              <a:r>
                <a:rPr lang="en-GB" sz="4200" b="1" dirty="0">
                  <a:solidFill>
                    <a:schemeClr val="dk1"/>
                  </a:solidFill>
                  <a:latin typeface="+mn-lt"/>
                  <a:ea typeface="+mn-ea"/>
                  <a:cs typeface="+mn-cs"/>
                </a:rPr>
                <a:t>Autonomy With a Leash</a:t>
              </a:r>
              <a:endParaRPr lang="en-GB" sz="4200" b="1" dirty="0">
                <a:solidFill>
                  <a:schemeClr val="dk1"/>
                </a:solidFill>
                <a:latin typeface="+mn-lt"/>
                <a:ea typeface="+mn-ea"/>
                <a:cs typeface="+mn-cs"/>
              </a:endParaRPr>
            </a:p>
          </p:txBody>
        </p:sp>
      </p:grpSp>
      <p:grpSp>
        <p:nvGrpSpPr>
          <p:cNvPr id="8" name="Group 8"/>
          <p:cNvGrpSpPr/>
          <p:nvPr/>
        </p:nvGrpSpPr>
        <p:grpSpPr>
          <a:xfrm>
            <a:off x="600456" y="1844040"/>
            <a:ext cx="8459114" cy="352044"/>
            <a:chOff x="600456" y="1844040"/>
            <a:chExt cx="8459114" cy="352044"/>
          </a:xfrm>
        </p:grpSpPr>
        <p:sp>
          <p:nvSpPr>
            <p:cNvPr id="7" name="TextBox 7"/>
            <p:cNvSpPr txBox="1"/>
            <p:nvPr/>
          </p:nvSpPr>
          <p:spPr>
            <a:xfrm>
              <a:off x="600456" y="1844040"/>
              <a:ext cx="8459114" cy="352044"/>
            </a:xfrm>
            <a:prstGeom prst="rect">
              <a:avLst/>
            </a:prstGeom>
            <a:noFill/>
            <a:ln>
              <a:noFill/>
            </a:ln>
          </p:spPr>
          <p:txBody>
            <a:bodyPr wrap="none" lIns="0" tIns="0" rIns="0" bIns="0" anchor="t" anchorCtr="0">
              <a:spAutoFit/>
            </a:bodyPr>
            <a:lstStyle/>
            <a:p>
              <a:pPr algn="l"/>
              <a:r>
                <a:rPr lang="en-GB" sz="1800" dirty="0">
                  <a:solidFill>
                    <a:schemeClr val="accent5"/>
                  </a:solidFill>
                  <a:latin typeface="+mn-lt"/>
                  <a:ea typeface="+mn-ea"/>
                  <a:cs typeface="+mn-cs"/>
                </a:rPr>
                <a:t>A blacklist, validator, proof guard, and kill switch bound every action.</a:t>
              </a:r>
              <a:endParaRPr lang="en-GB" sz="1800" dirty="0">
                <a:solidFill>
                  <a:schemeClr val="accent5"/>
                </a:solidFill>
                <a:latin typeface="+mn-lt"/>
                <a:ea typeface="+mn-ea"/>
                <a:cs typeface="+mn-cs"/>
              </a:endParaRPr>
            </a:p>
          </p:txBody>
        </p:sp>
      </p:grpSp>
      <p:grpSp>
        <p:nvGrpSpPr>
          <p:cNvPr id="14" name="Group 14"/>
          <p:cNvGrpSpPr/>
          <p:nvPr/>
        </p:nvGrpSpPr>
        <p:grpSpPr>
          <a:xfrm>
            <a:off x="609600" y="2419350"/>
            <a:ext cx="4000500" cy="904875"/>
            <a:chOff x="609600" y="2419350"/>
            <a:chExt cx="4000500" cy="904875"/>
          </a:xfrm>
        </p:grpSpPr>
        <p:sp>
          <p:nvSpPr>
            <p:cNvPr id="9" name="Rectangle 9"/>
            <p:cNvSpPr/>
            <p:nvPr/>
          </p:nvSpPr>
          <p:spPr>
            <a:xfrm>
              <a:off x="609600" y="2419350"/>
              <a:ext cx="4000500" cy="904875"/>
            </a:xfrm>
            <a:prstGeom prst="roundRect">
              <a:avLst>
                <a:gd name="adj" fmla="val 23158"/>
              </a:avLst>
            </a:prstGeom>
            <a:solidFill>
              <a:schemeClr val="lt2"/>
            </a:solidFill>
            <a:ln>
              <a:noFill/>
            </a:ln>
            <a:effectLst>
              <a:outerShdw blurRad="266700" dist="57150" dir="5400000" algn="ctr" rotWithShape="0">
                <a:srgbClr val="E0607A">
                  <a:alpha val="9000"/>
                </a:srgbClr>
              </a:outerShdw>
            </a:effectLst>
          </p:spPr>
        </p:sp>
        <p:sp>
          <p:nvSpPr>
            <p:cNvPr id="10" name="Ellipse 10"/>
            <p:cNvSpPr/>
            <p:nvPr/>
          </p:nvSpPr>
          <p:spPr>
            <a:xfrm>
              <a:off x="781050" y="2638425"/>
              <a:ext cx="457200" cy="457200"/>
            </a:xfrm>
            <a:prstGeom prst="ellipse">
              <a:avLst/>
            </a:prstGeom>
            <a:solidFill>
              <a:srgbClr val="E0607A">
                <a:alpha val="15000"/>
              </a:srgbClr>
            </a:solidFill>
            <a:ln>
              <a:noFill/>
            </a:ln>
          </p:spPr>
        </p:sp>
        <p:sp>
          <p:nvSpPr>
            <p:cNvPr id="11" name="Freeform 11"/>
            <p:cNvSpPr/>
            <p:nvPr/>
          </p:nvSpPr>
          <p:spPr>
            <a:xfrm>
              <a:off x="910087" y="2771775"/>
              <a:ext cx="199117" cy="190602"/>
            </a:xfrm>
            <a:custGeom>
              <a:avLst/>
              <a:gdLst/>
              <a:ahLst/>
              <a:cxnLst/>
              <a:rect l="l" t="t" r="r" b="b"/>
              <a:pathLst>
                <a:path w="199117" h="190602">
                  <a:moveTo>
                    <a:pt x="99544" y="0"/>
                  </a:moveTo>
                  <a:lnTo>
                    <a:pt x="100668" y="67"/>
                  </a:lnTo>
                  <a:lnTo>
                    <a:pt x="101230" y="143"/>
                  </a:lnTo>
                  <a:lnTo>
                    <a:pt x="101811" y="267"/>
                  </a:lnTo>
                  <a:lnTo>
                    <a:pt x="102868" y="591"/>
                  </a:lnTo>
                  <a:cubicBezTo>
                    <a:pt x="103598" y="860"/>
                    <a:pt x="104293" y="1218"/>
                    <a:pt x="104935" y="1657"/>
                  </a:cubicBezTo>
                  <a:lnTo>
                    <a:pt x="105926" y="2438"/>
                  </a:lnTo>
                  <a:lnTo>
                    <a:pt x="108354" y="4515"/>
                  </a:lnTo>
                  <a:cubicBezTo>
                    <a:pt x="127569" y="20475"/>
                    <a:pt x="151854" y="29045"/>
                    <a:pt x="176830" y="28680"/>
                  </a:cubicBezTo>
                  <a:lnTo>
                    <a:pt x="180087" y="28585"/>
                  </a:lnTo>
                  <a:cubicBezTo>
                    <a:pt x="184470" y="28385"/>
                    <a:pt x="188423" y="31204"/>
                    <a:pt x="189660" y="35414"/>
                  </a:cubicBezTo>
                  <a:cubicBezTo>
                    <a:pt x="199117" y="67583"/>
                    <a:pt x="195123" y="102211"/>
                    <a:pt x="178593" y="131383"/>
                  </a:cubicBezTo>
                  <a:cubicBezTo>
                    <a:pt x="162063" y="160555"/>
                    <a:pt x="134409" y="181776"/>
                    <a:pt x="101954" y="190195"/>
                  </a:cubicBezTo>
                  <a:cubicBezTo>
                    <a:pt x="100386" y="190602"/>
                    <a:pt x="98740" y="190602"/>
                    <a:pt x="97172" y="190195"/>
                  </a:cubicBezTo>
                  <a:cubicBezTo>
                    <a:pt x="64715" y="181778"/>
                    <a:pt x="37059" y="160558"/>
                    <a:pt x="20527" y="131386"/>
                  </a:cubicBezTo>
                  <a:cubicBezTo>
                    <a:pt x="3994" y="102213"/>
                    <a:pt x="0" y="67584"/>
                    <a:pt x="9456" y="35414"/>
                  </a:cubicBezTo>
                  <a:cubicBezTo>
                    <a:pt x="10693" y="31204"/>
                    <a:pt x="14646" y="28385"/>
                    <a:pt x="19029" y="28585"/>
                  </a:cubicBezTo>
                  <a:cubicBezTo>
                    <a:pt x="45103" y="29776"/>
                    <a:pt x="70684" y="21193"/>
                    <a:pt x="90762" y="4515"/>
                  </a:cubicBezTo>
                  <a:lnTo>
                    <a:pt x="93267" y="2372"/>
                  </a:lnTo>
                  <a:lnTo>
                    <a:pt x="94181" y="1657"/>
                  </a:lnTo>
                  <a:cubicBezTo>
                    <a:pt x="94824" y="1218"/>
                    <a:pt x="95518" y="860"/>
                    <a:pt x="96248" y="591"/>
                  </a:cubicBezTo>
                  <a:lnTo>
                    <a:pt x="97315" y="267"/>
                  </a:lnTo>
                  <a:cubicBezTo>
                    <a:pt x="97688" y="177"/>
                    <a:pt x="98067" y="110"/>
                    <a:pt x="98448" y="67"/>
                  </a:cubicBezTo>
                  <a:lnTo>
                    <a:pt x="99544" y="0"/>
                  </a:lnTo>
                  <a:close/>
                  <a:moveTo>
                    <a:pt x="134882" y="69466"/>
                  </a:moveTo>
                  <a:cubicBezTo>
                    <a:pt x="133095" y="67677"/>
                    <a:pt x="130671" y="66672"/>
                    <a:pt x="128143" y="66672"/>
                  </a:cubicBezTo>
                  <a:cubicBezTo>
                    <a:pt x="125615" y="66672"/>
                    <a:pt x="123190" y="67677"/>
                    <a:pt x="121404" y="69466"/>
                  </a:cubicBezTo>
                  <a:lnTo>
                    <a:pt x="90038" y="100822"/>
                  </a:lnTo>
                  <a:lnTo>
                    <a:pt x="77722" y="88516"/>
                  </a:lnTo>
                  <a:lnTo>
                    <a:pt x="76827" y="87725"/>
                  </a:lnTo>
                  <a:cubicBezTo>
                    <a:pt x="72854" y="84653"/>
                    <a:pt x="67178" y="85194"/>
                    <a:pt x="63856" y="88961"/>
                  </a:cubicBezTo>
                  <a:cubicBezTo>
                    <a:pt x="60534" y="92728"/>
                    <a:pt x="60708" y="98427"/>
                    <a:pt x="64254" y="101984"/>
                  </a:cubicBezTo>
                  <a:lnTo>
                    <a:pt x="83304" y="121034"/>
                  </a:lnTo>
                  <a:lnTo>
                    <a:pt x="84199" y="121825"/>
                  </a:lnTo>
                  <a:cubicBezTo>
                    <a:pt x="87991" y="124766"/>
                    <a:pt x="93379" y="124427"/>
                    <a:pt x="96772" y="121034"/>
                  </a:cubicBezTo>
                  <a:lnTo>
                    <a:pt x="134872" y="82934"/>
                  </a:lnTo>
                  <a:lnTo>
                    <a:pt x="135663" y="82039"/>
                  </a:lnTo>
                  <a:cubicBezTo>
                    <a:pt x="138604" y="78247"/>
                    <a:pt x="138265" y="72859"/>
                    <a:pt x="134872" y="69466"/>
                  </a:cubicBezTo>
                  <a:close/>
                </a:path>
              </a:pathLst>
            </a:custGeom>
            <a:solidFill>
              <a:srgbClr val="C4415C"/>
            </a:solidFill>
            <a:ln>
              <a:noFill/>
            </a:ln>
          </p:spPr>
        </p:sp>
        <p:sp>
          <p:nvSpPr>
            <p:cNvPr id="12" name="TextBox 12"/>
            <p:cNvSpPr txBox="1"/>
            <p:nvPr/>
          </p:nvSpPr>
          <p:spPr>
            <a:xfrm>
              <a:off x="1383030" y="2581275"/>
              <a:ext cx="2546885" cy="293370"/>
            </a:xfrm>
            <a:prstGeom prst="rect">
              <a:avLst/>
            </a:prstGeom>
            <a:noFill/>
            <a:ln>
              <a:noFill/>
            </a:ln>
          </p:spPr>
          <p:txBody>
            <a:bodyPr wrap="none" lIns="0" tIns="0" rIns="0" bIns="0" anchor="t" anchorCtr="0">
              <a:spAutoFit/>
            </a:bodyPr>
            <a:lstStyle/>
            <a:p>
              <a:pPr algn="l"/>
              <a:r>
                <a:rPr lang="en-GB" sz="1500" dirty="0">
                  <a:solidFill>
                    <a:schemeClr val="dk1"/>
                  </a:solidFill>
                  <a:latin typeface="+mn-lt"/>
                  <a:ea typeface="+mn-ea"/>
                  <a:cs typeface="+mn-cs"/>
                </a:rPr>
                <a:t>Blacklist blocks rm -rf /,</a:t>
              </a:r>
              <a:endParaRPr lang="en-GB" sz="1500" dirty="0">
                <a:solidFill>
                  <a:schemeClr val="dk1"/>
                </a:solidFill>
                <a:latin typeface="+mn-lt"/>
                <a:ea typeface="+mn-ea"/>
                <a:cs typeface="+mn-cs"/>
              </a:endParaRPr>
            </a:p>
          </p:txBody>
        </p:sp>
        <p:sp>
          <p:nvSpPr>
            <p:cNvPr id="13" name="TextBox 13"/>
            <p:cNvSpPr txBox="1"/>
            <p:nvPr/>
          </p:nvSpPr>
          <p:spPr>
            <a:xfrm>
              <a:off x="1383030" y="2809875"/>
              <a:ext cx="2276856" cy="293370"/>
            </a:xfrm>
            <a:prstGeom prst="rect">
              <a:avLst/>
            </a:prstGeom>
            <a:noFill/>
            <a:ln>
              <a:noFill/>
            </a:ln>
          </p:spPr>
          <p:txBody>
            <a:bodyPr wrap="none" lIns="0" tIns="0" rIns="0" bIns="0" anchor="t" anchorCtr="0">
              <a:spAutoFit/>
            </a:bodyPr>
            <a:lstStyle/>
            <a:p>
              <a:pPr algn="l"/>
              <a:r>
                <a:rPr lang="en-GB" sz="1500" dirty="0">
                  <a:solidFill>
                    <a:schemeClr val="dk1"/>
                  </a:solidFill>
                  <a:latin typeface="+mn-lt"/>
                  <a:ea typeface="+mn-ea"/>
                  <a:cs typeface="+mn-cs"/>
                </a:rPr>
                <a:t>mkfs, dd, fork bombs.</a:t>
              </a:r>
              <a:endParaRPr lang="en-GB" sz="1500" dirty="0">
                <a:solidFill>
                  <a:schemeClr val="dk1"/>
                </a:solidFill>
                <a:latin typeface="+mn-lt"/>
                <a:ea typeface="+mn-ea"/>
                <a:cs typeface="+mn-cs"/>
              </a:endParaRPr>
            </a:p>
          </p:txBody>
        </p:sp>
      </p:grpSp>
      <p:grpSp>
        <p:nvGrpSpPr>
          <p:cNvPr id="20" name="Group 20"/>
          <p:cNvGrpSpPr/>
          <p:nvPr/>
        </p:nvGrpSpPr>
        <p:grpSpPr>
          <a:xfrm>
            <a:off x="609600" y="3514725"/>
            <a:ext cx="4000500" cy="904875"/>
            <a:chOff x="609600" y="3514725"/>
            <a:chExt cx="4000500" cy="904875"/>
          </a:xfrm>
        </p:grpSpPr>
        <p:sp>
          <p:nvSpPr>
            <p:cNvPr id="15" name="Rectangle 15"/>
            <p:cNvSpPr/>
            <p:nvPr/>
          </p:nvSpPr>
          <p:spPr>
            <a:xfrm>
              <a:off x="609600" y="3514725"/>
              <a:ext cx="4000500" cy="904875"/>
            </a:xfrm>
            <a:prstGeom prst="roundRect">
              <a:avLst>
                <a:gd name="adj" fmla="val 23158"/>
              </a:avLst>
            </a:prstGeom>
            <a:solidFill>
              <a:schemeClr val="lt2"/>
            </a:solidFill>
            <a:ln>
              <a:noFill/>
            </a:ln>
            <a:effectLst>
              <a:outerShdw blurRad="266700" dist="57150" dir="5400000" algn="ctr" rotWithShape="0">
                <a:srgbClr val="E0607A">
                  <a:alpha val="9000"/>
                </a:srgbClr>
              </a:outerShdw>
            </a:effectLst>
          </p:spPr>
        </p:sp>
        <p:sp>
          <p:nvSpPr>
            <p:cNvPr id="16" name="Ellipse 16"/>
            <p:cNvSpPr/>
            <p:nvPr/>
          </p:nvSpPr>
          <p:spPr>
            <a:xfrm>
              <a:off x="781050" y="3733800"/>
              <a:ext cx="457200" cy="457200"/>
            </a:xfrm>
            <a:prstGeom prst="ellipse">
              <a:avLst/>
            </a:prstGeom>
            <a:solidFill>
              <a:srgbClr val="E0607A">
                <a:alpha val="15000"/>
              </a:srgbClr>
            </a:solidFill>
            <a:ln>
              <a:noFill/>
            </a:ln>
          </p:spPr>
        </p:sp>
        <p:sp>
          <p:nvSpPr>
            <p:cNvPr id="17" name="Freeform 17"/>
            <p:cNvSpPr/>
            <p:nvPr/>
          </p:nvSpPr>
          <p:spPr>
            <a:xfrm>
              <a:off x="914399" y="3862883"/>
              <a:ext cx="200567" cy="201349"/>
            </a:xfrm>
            <a:custGeom>
              <a:avLst/>
              <a:gdLst/>
              <a:ahLst/>
              <a:cxnLst/>
              <a:rect l="l" t="t" r="r" b="b"/>
              <a:pathLst>
                <a:path w="200567" h="201349">
                  <a:moveTo>
                    <a:pt x="142876" y="17030"/>
                  </a:moveTo>
                  <a:cubicBezTo>
                    <a:pt x="182908" y="40142"/>
                    <a:pt x="200567" y="88661"/>
                    <a:pt x="184757" y="132097"/>
                  </a:cubicBezTo>
                  <a:cubicBezTo>
                    <a:pt x="168947" y="175534"/>
                    <a:pt x="124232" y="201349"/>
                    <a:pt x="78710" y="193322"/>
                  </a:cubicBezTo>
                  <a:cubicBezTo>
                    <a:pt x="33187" y="185294"/>
                    <a:pt x="0" y="145741"/>
                    <a:pt x="1" y="99517"/>
                  </a:cubicBezTo>
                  <a:lnTo>
                    <a:pt x="49" y="96431"/>
                  </a:lnTo>
                  <a:cubicBezTo>
                    <a:pt x="1134" y="62969"/>
                    <a:pt x="19707" y="32534"/>
                    <a:pt x="48968" y="16267"/>
                  </a:cubicBezTo>
                  <a:cubicBezTo>
                    <a:pt x="78230" y="0"/>
                    <a:pt x="113883" y="290"/>
                    <a:pt x="142876" y="17030"/>
                  </a:cubicBezTo>
                  <a:moveTo>
                    <a:pt x="82935" y="73732"/>
                  </a:moveTo>
                  <a:cubicBezTo>
                    <a:pt x="79216" y="70014"/>
                    <a:pt x="73187" y="70014"/>
                    <a:pt x="69467" y="73732"/>
                  </a:cubicBezTo>
                  <a:lnTo>
                    <a:pt x="50417" y="92782"/>
                  </a:lnTo>
                  <a:cubicBezTo>
                    <a:pt x="46699" y="96502"/>
                    <a:pt x="46699" y="102531"/>
                    <a:pt x="50417" y="106251"/>
                  </a:cubicBezTo>
                  <a:lnTo>
                    <a:pt x="69467" y="125301"/>
                  </a:lnTo>
                  <a:cubicBezTo>
                    <a:pt x="73187" y="129019"/>
                    <a:pt x="79216" y="129019"/>
                    <a:pt x="82935" y="125301"/>
                  </a:cubicBezTo>
                  <a:lnTo>
                    <a:pt x="83726" y="124405"/>
                  </a:lnTo>
                  <a:cubicBezTo>
                    <a:pt x="86667" y="120614"/>
                    <a:pt x="86328" y="115226"/>
                    <a:pt x="82935" y="111832"/>
                  </a:cubicBezTo>
                  <a:lnTo>
                    <a:pt x="70629" y="99517"/>
                  </a:lnTo>
                  <a:lnTo>
                    <a:pt x="82935" y="87201"/>
                  </a:lnTo>
                  <a:cubicBezTo>
                    <a:pt x="86654" y="83481"/>
                    <a:pt x="86654" y="77452"/>
                    <a:pt x="82935" y="73732"/>
                  </a:cubicBezTo>
                  <a:moveTo>
                    <a:pt x="121035" y="73732"/>
                  </a:moveTo>
                  <a:cubicBezTo>
                    <a:pt x="117316" y="70014"/>
                    <a:pt x="111287" y="70014"/>
                    <a:pt x="107567" y="73732"/>
                  </a:cubicBezTo>
                  <a:lnTo>
                    <a:pt x="106776" y="74628"/>
                  </a:lnTo>
                  <a:cubicBezTo>
                    <a:pt x="103835" y="78420"/>
                    <a:pt x="104174" y="83807"/>
                    <a:pt x="107567" y="87201"/>
                  </a:cubicBezTo>
                  <a:lnTo>
                    <a:pt x="119873" y="99517"/>
                  </a:lnTo>
                  <a:lnTo>
                    <a:pt x="107567" y="111832"/>
                  </a:lnTo>
                  <a:cubicBezTo>
                    <a:pt x="103957" y="115570"/>
                    <a:pt x="104009" y="121511"/>
                    <a:pt x="107683" y="125185"/>
                  </a:cubicBezTo>
                  <a:cubicBezTo>
                    <a:pt x="111357" y="128859"/>
                    <a:pt x="117298" y="128911"/>
                    <a:pt x="121035" y="125301"/>
                  </a:cubicBezTo>
                  <a:lnTo>
                    <a:pt x="140085" y="106251"/>
                  </a:lnTo>
                  <a:cubicBezTo>
                    <a:pt x="143804" y="102531"/>
                    <a:pt x="143804" y="96502"/>
                    <a:pt x="140085" y="92782"/>
                  </a:cubicBezTo>
                  <a:close/>
                </a:path>
              </a:pathLst>
            </a:custGeom>
            <a:solidFill>
              <a:srgbClr val="C4415C"/>
            </a:solidFill>
            <a:ln>
              <a:noFill/>
            </a:ln>
          </p:spPr>
        </p:sp>
        <p:sp>
          <p:nvSpPr>
            <p:cNvPr id="18" name="TextBox 18"/>
            <p:cNvSpPr txBox="1"/>
            <p:nvPr/>
          </p:nvSpPr>
          <p:spPr>
            <a:xfrm>
              <a:off x="1383030" y="3676650"/>
              <a:ext cx="2859048" cy="293370"/>
            </a:xfrm>
            <a:prstGeom prst="rect">
              <a:avLst/>
            </a:prstGeom>
            <a:noFill/>
            <a:ln>
              <a:noFill/>
            </a:ln>
          </p:spPr>
          <p:txBody>
            <a:bodyPr wrap="none" lIns="0" tIns="0" rIns="0" bIns="0" anchor="t" anchorCtr="0">
              <a:spAutoFit/>
            </a:bodyPr>
            <a:lstStyle/>
            <a:p>
              <a:pPr algn="l"/>
              <a:r>
                <a:rPr lang="en-GB" sz="1500" dirty="0">
                  <a:solidFill>
                    <a:schemeClr val="dk1"/>
                  </a:solidFill>
                  <a:latin typeface="+mn-lt"/>
                  <a:ea typeface="+mn-ea"/>
                  <a:cs typeface="+mn-cs"/>
                </a:rPr>
                <a:t>Loop-aware validator checks</a:t>
              </a:r>
              <a:endParaRPr lang="en-GB" sz="1500" dirty="0">
                <a:solidFill>
                  <a:schemeClr val="dk1"/>
                </a:solidFill>
                <a:latin typeface="+mn-lt"/>
                <a:ea typeface="+mn-ea"/>
                <a:cs typeface="+mn-cs"/>
              </a:endParaRPr>
            </a:p>
          </p:txBody>
        </p:sp>
        <p:sp>
          <p:nvSpPr>
            <p:cNvPr id="19" name="TextBox 19"/>
            <p:cNvSpPr txBox="1"/>
            <p:nvPr/>
          </p:nvSpPr>
          <p:spPr>
            <a:xfrm>
              <a:off x="1383030" y="3905250"/>
              <a:ext cx="3034094" cy="293370"/>
            </a:xfrm>
            <a:prstGeom prst="rect">
              <a:avLst/>
            </a:prstGeom>
            <a:noFill/>
            <a:ln>
              <a:noFill/>
            </a:ln>
          </p:spPr>
          <p:txBody>
            <a:bodyPr wrap="none" lIns="0" tIns="0" rIns="0" bIns="0" anchor="t" anchorCtr="0">
              <a:spAutoFit/>
            </a:bodyPr>
            <a:lstStyle/>
            <a:p>
              <a:pPr algn="l"/>
              <a:r>
                <a:rPr lang="en-GB" sz="1500" dirty="0">
                  <a:solidFill>
                    <a:schemeClr val="dk1"/>
                  </a:solidFill>
                  <a:latin typeface="+mn-lt"/>
                  <a:ea typeface="+mn-ea"/>
                  <a:cs typeface="+mn-cs"/>
                </a:rPr>
                <a:t>every bash control structure.</a:t>
              </a:r>
              <a:endParaRPr lang="en-GB" sz="1500" dirty="0">
                <a:solidFill>
                  <a:schemeClr val="dk1"/>
                </a:solidFill>
                <a:latin typeface="+mn-lt"/>
                <a:ea typeface="+mn-ea"/>
                <a:cs typeface="+mn-cs"/>
              </a:endParaRPr>
            </a:p>
          </p:txBody>
        </p:sp>
      </p:grpSp>
      <p:grpSp>
        <p:nvGrpSpPr>
          <p:cNvPr id="26" name="Group 26"/>
          <p:cNvGrpSpPr/>
          <p:nvPr/>
        </p:nvGrpSpPr>
        <p:grpSpPr>
          <a:xfrm>
            <a:off x="609600" y="4610100"/>
            <a:ext cx="4000500" cy="904875"/>
            <a:chOff x="609600" y="4610100"/>
            <a:chExt cx="4000500" cy="904875"/>
          </a:xfrm>
        </p:grpSpPr>
        <p:sp>
          <p:nvSpPr>
            <p:cNvPr id="21" name="Rectangle 21"/>
            <p:cNvSpPr/>
            <p:nvPr/>
          </p:nvSpPr>
          <p:spPr>
            <a:xfrm>
              <a:off x="609600" y="4610100"/>
              <a:ext cx="4000500" cy="904875"/>
            </a:xfrm>
            <a:prstGeom prst="roundRect">
              <a:avLst>
                <a:gd name="adj" fmla="val 23158"/>
              </a:avLst>
            </a:prstGeom>
            <a:solidFill>
              <a:schemeClr val="lt2"/>
            </a:solidFill>
            <a:ln>
              <a:noFill/>
            </a:ln>
            <a:effectLst>
              <a:outerShdw blurRad="266700" dist="57150" dir="5400000" algn="ctr" rotWithShape="0">
                <a:srgbClr val="E0607A">
                  <a:alpha val="9000"/>
                </a:srgbClr>
              </a:outerShdw>
            </a:effectLst>
          </p:spPr>
        </p:sp>
        <p:sp>
          <p:nvSpPr>
            <p:cNvPr id="22" name="Ellipse 22"/>
            <p:cNvSpPr/>
            <p:nvPr/>
          </p:nvSpPr>
          <p:spPr>
            <a:xfrm>
              <a:off x="781050" y="4829175"/>
              <a:ext cx="457200" cy="457200"/>
            </a:xfrm>
            <a:prstGeom prst="ellipse">
              <a:avLst/>
            </a:prstGeom>
            <a:solidFill>
              <a:srgbClr val="E0607A">
                <a:alpha val="15000"/>
              </a:srgbClr>
            </a:solidFill>
            <a:ln>
              <a:noFill/>
            </a:ln>
          </p:spPr>
        </p:sp>
        <p:sp>
          <p:nvSpPr>
            <p:cNvPr id="23" name="Freeform 23"/>
            <p:cNvSpPr/>
            <p:nvPr/>
          </p:nvSpPr>
          <p:spPr>
            <a:xfrm>
              <a:off x="910087" y="4962525"/>
              <a:ext cx="199117" cy="190602"/>
            </a:xfrm>
            <a:custGeom>
              <a:avLst/>
              <a:gdLst/>
              <a:ahLst/>
              <a:cxnLst/>
              <a:rect l="l" t="t" r="r" b="b"/>
              <a:pathLst>
                <a:path w="199117" h="190602">
                  <a:moveTo>
                    <a:pt x="99544" y="0"/>
                  </a:moveTo>
                  <a:lnTo>
                    <a:pt x="100668" y="67"/>
                  </a:lnTo>
                  <a:lnTo>
                    <a:pt x="101230" y="143"/>
                  </a:lnTo>
                  <a:lnTo>
                    <a:pt x="101811" y="267"/>
                  </a:lnTo>
                  <a:lnTo>
                    <a:pt x="102868" y="591"/>
                  </a:lnTo>
                  <a:cubicBezTo>
                    <a:pt x="103598" y="860"/>
                    <a:pt x="104293" y="1218"/>
                    <a:pt x="104935" y="1657"/>
                  </a:cubicBezTo>
                  <a:lnTo>
                    <a:pt x="105926" y="2438"/>
                  </a:lnTo>
                  <a:lnTo>
                    <a:pt x="108354" y="4515"/>
                  </a:lnTo>
                  <a:cubicBezTo>
                    <a:pt x="127569" y="20475"/>
                    <a:pt x="151854" y="29045"/>
                    <a:pt x="176830" y="28680"/>
                  </a:cubicBezTo>
                  <a:lnTo>
                    <a:pt x="180087" y="28585"/>
                  </a:lnTo>
                  <a:cubicBezTo>
                    <a:pt x="184470" y="28385"/>
                    <a:pt x="188423" y="31204"/>
                    <a:pt x="189660" y="35414"/>
                  </a:cubicBezTo>
                  <a:cubicBezTo>
                    <a:pt x="199117" y="67583"/>
                    <a:pt x="195123" y="102211"/>
                    <a:pt x="178593" y="131383"/>
                  </a:cubicBezTo>
                  <a:cubicBezTo>
                    <a:pt x="162063" y="160555"/>
                    <a:pt x="134409" y="181776"/>
                    <a:pt x="101954" y="190195"/>
                  </a:cubicBezTo>
                  <a:cubicBezTo>
                    <a:pt x="100386" y="190602"/>
                    <a:pt x="98740" y="190602"/>
                    <a:pt x="97172" y="190195"/>
                  </a:cubicBezTo>
                  <a:cubicBezTo>
                    <a:pt x="64715" y="181778"/>
                    <a:pt x="37059" y="160558"/>
                    <a:pt x="20527" y="131386"/>
                  </a:cubicBezTo>
                  <a:cubicBezTo>
                    <a:pt x="3994" y="102213"/>
                    <a:pt x="0" y="67584"/>
                    <a:pt x="9456" y="35414"/>
                  </a:cubicBezTo>
                  <a:cubicBezTo>
                    <a:pt x="10693" y="31204"/>
                    <a:pt x="14646" y="28385"/>
                    <a:pt x="19029" y="28585"/>
                  </a:cubicBezTo>
                  <a:cubicBezTo>
                    <a:pt x="45103" y="29776"/>
                    <a:pt x="70684" y="21193"/>
                    <a:pt x="90762" y="4515"/>
                  </a:cubicBezTo>
                  <a:lnTo>
                    <a:pt x="93267" y="2372"/>
                  </a:lnTo>
                  <a:lnTo>
                    <a:pt x="94181" y="1657"/>
                  </a:lnTo>
                  <a:cubicBezTo>
                    <a:pt x="94824" y="1218"/>
                    <a:pt x="95518" y="860"/>
                    <a:pt x="96248" y="591"/>
                  </a:cubicBezTo>
                  <a:lnTo>
                    <a:pt x="97315" y="267"/>
                  </a:lnTo>
                  <a:cubicBezTo>
                    <a:pt x="97688" y="177"/>
                    <a:pt x="98067" y="110"/>
                    <a:pt x="98448" y="67"/>
                  </a:cubicBezTo>
                  <a:lnTo>
                    <a:pt x="99544" y="0"/>
                  </a:lnTo>
                  <a:close/>
                  <a:moveTo>
                    <a:pt x="134882" y="69466"/>
                  </a:moveTo>
                  <a:cubicBezTo>
                    <a:pt x="133095" y="67677"/>
                    <a:pt x="130671" y="66672"/>
                    <a:pt x="128143" y="66672"/>
                  </a:cubicBezTo>
                  <a:cubicBezTo>
                    <a:pt x="125615" y="66672"/>
                    <a:pt x="123190" y="67677"/>
                    <a:pt x="121404" y="69466"/>
                  </a:cubicBezTo>
                  <a:lnTo>
                    <a:pt x="90038" y="100822"/>
                  </a:lnTo>
                  <a:lnTo>
                    <a:pt x="77722" y="88516"/>
                  </a:lnTo>
                  <a:lnTo>
                    <a:pt x="76827" y="87725"/>
                  </a:lnTo>
                  <a:cubicBezTo>
                    <a:pt x="72854" y="84653"/>
                    <a:pt x="67178" y="85194"/>
                    <a:pt x="63856" y="88961"/>
                  </a:cubicBezTo>
                  <a:cubicBezTo>
                    <a:pt x="60534" y="92728"/>
                    <a:pt x="60708" y="98427"/>
                    <a:pt x="64254" y="101984"/>
                  </a:cubicBezTo>
                  <a:lnTo>
                    <a:pt x="83304" y="121034"/>
                  </a:lnTo>
                  <a:lnTo>
                    <a:pt x="84199" y="121825"/>
                  </a:lnTo>
                  <a:cubicBezTo>
                    <a:pt x="87991" y="124766"/>
                    <a:pt x="93379" y="124427"/>
                    <a:pt x="96772" y="121034"/>
                  </a:cubicBezTo>
                  <a:lnTo>
                    <a:pt x="134872" y="82934"/>
                  </a:lnTo>
                  <a:lnTo>
                    <a:pt x="135663" y="82039"/>
                  </a:lnTo>
                  <a:cubicBezTo>
                    <a:pt x="138604" y="78247"/>
                    <a:pt x="138265" y="72859"/>
                    <a:pt x="134872" y="69466"/>
                  </a:cubicBezTo>
                  <a:close/>
                </a:path>
              </a:pathLst>
            </a:custGeom>
            <a:solidFill>
              <a:srgbClr val="C4415C"/>
            </a:solidFill>
            <a:ln>
              <a:noFill/>
            </a:ln>
          </p:spPr>
        </p:sp>
        <p:sp>
          <p:nvSpPr>
            <p:cNvPr id="24" name="TextBox 24"/>
            <p:cNvSpPr txBox="1"/>
            <p:nvPr/>
          </p:nvSpPr>
          <p:spPr>
            <a:xfrm>
              <a:off x="1383030" y="4772025"/>
              <a:ext cx="2883474" cy="293370"/>
            </a:xfrm>
            <a:prstGeom prst="rect">
              <a:avLst/>
            </a:prstGeom>
            <a:noFill/>
            <a:ln>
              <a:noFill/>
            </a:ln>
          </p:spPr>
          <p:txBody>
            <a:bodyPr wrap="none" lIns="0" tIns="0" rIns="0" bIns="0" anchor="t" anchorCtr="0">
              <a:spAutoFit/>
            </a:bodyPr>
            <a:lstStyle/>
            <a:p>
              <a:pPr algn="l"/>
              <a:r>
                <a:rPr lang="en-GB" sz="1500" dirty="0">
                  <a:solidFill>
                    <a:schemeClr val="dk1"/>
                  </a:solidFill>
                  <a:latin typeface="+mn-lt"/>
                  <a:ea typeface="+mn-ea"/>
                  <a:cs typeface="+mn-cs"/>
                </a:rPr>
                <a:t>Proof-of-Fix Guard prevents</a:t>
              </a:r>
              <a:endParaRPr lang="en-GB" sz="1500" dirty="0">
                <a:solidFill>
                  <a:schemeClr val="dk1"/>
                </a:solidFill>
                <a:latin typeface="+mn-lt"/>
                <a:ea typeface="+mn-ea"/>
                <a:cs typeface="+mn-cs"/>
              </a:endParaRPr>
            </a:p>
          </p:txBody>
        </p:sp>
        <p:sp>
          <p:nvSpPr>
            <p:cNvPr id="25" name="TextBox 25"/>
            <p:cNvSpPr txBox="1"/>
            <p:nvPr/>
          </p:nvSpPr>
          <p:spPr>
            <a:xfrm>
              <a:off x="1383030" y="5000625"/>
              <a:ext cx="1812417" cy="293370"/>
            </a:xfrm>
            <a:prstGeom prst="rect">
              <a:avLst/>
            </a:prstGeom>
            <a:noFill/>
            <a:ln>
              <a:noFill/>
            </a:ln>
          </p:spPr>
          <p:txBody>
            <a:bodyPr wrap="none" lIns="0" tIns="0" rIns="0" bIns="0" anchor="t" anchorCtr="0">
              <a:spAutoFit/>
            </a:bodyPr>
            <a:lstStyle/>
            <a:p>
              <a:pPr algn="l"/>
              <a:r>
                <a:rPr lang="en-GB" sz="1500" dirty="0">
                  <a:solidFill>
                    <a:schemeClr val="dk1"/>
                  </a:solidFill>
                  <a:latin typeface="+mn-lt"/>
                  <a:ea typeface="+mn-ea"/>
                  <a:cs typeface="+mn-cs"/>
                </a:rPr>
                <a:t>false resolutions.</a:t>
              </a:r>
              <a:endParaRPr lang="en-GB" sz="1500" dirty="0">
                <a:solidFill>
                  <a:schemeClr val="dk1"/>
                </a:solidFill>
                <a:latin typeface="+mn-lt"/>
                <a:ea typeface="+mn-ea"/>
                <a:cs typeface="+mn-cs"/>
              </a:endParaRPr>
            </a:p>
          </p:txBody>
        </p:sp>
      </p:grpSp>
      <p:grpSp>
        <p:nvGrpSpPr>
          <p:cNvPr id="31" name="Group 31"/>
          <p:cNvGrpSpPr/>
          <p:nvPr/>
        </p:nvGrpSpPr>
        <p:grpSpPr>
          <a:xfrm>
            <a:off x="609600" y="5705475"/>
            <a:ext cx="4000500" cy="542925"/>
            <a:chOff x="609600" y="5705475"/>
            <a:chExt cx="4000500" cy="542925"/>
          </a:xfrm>
        </p:grpSpPr>
        <p:sp>
          <p:nvSpPr>
            <p:cNvPr id="27" name="Rectangle 27"/>
            <p:cNvSpPr/>
            <p:nvPr/>
          </p:nvSpPr>
          <p:spPr>
            <a:xfrm>
              <a:off x="609600" y="5705475"/>
              <a:ext cx="4000500" cy="542925"/>
            </a:xfrm>
            <a:prstGeom prst="roundRect">
              <a:avLst>
                <a:gd name="adj" fmla="val 38596"/>
              </a:avLst>
            </a:prstGeom>
            <a:solidFill>
              <a:schemeClr val="lt2"/>
            </a:solidFill>
            <a:ln>
              <a:noFill/>
            </a:ln>
            <a:effectLst>
              <a:outerShdw blurRad="266700" dist="57150" dir="5400000" algn="ctr" rotWithShape="0">
                <a:srgbClr val="E0607A">
                  <a:alpha val="9000"/>
                </a:srgbClr>
              </a:outerShdw>
            </a:effectLst>
          </p:spPr>
        </p:sp>
        <p:sp>
          <p:nvSpPr>
            <p:cNvPr id="28" name="Ellipse 28"/>
            <p:cNvSpPr/>
            <p:nvPr/>
          </p:nvSpPr>
          <p:spPr>
            <a:xfrm>
              <a:off x="819150" y="5781675"/>
              <a:ext cx="381000" cy="381000"/>
            </a:xfrm>
            <a:prstGeom prst="ellipse">
              <a:avLst/>
            </a:prstGeom>
            <a:solidFill>
              <a:srgbClr val="E0607A">
                <a:alpha val="15000"/>
              </a:srgbClr>
            </a:solidFill>
            <a:ln>
              <a:noFill/>
            </a:ln>
          </p:spPr>
        </p:sp>
        <p:sp>
          <p:nvSpPr>
            <p:cNvPr id="29" name="Freeform 29"/>
            <p:cNvSpPr/>
            <p:nvPr/>
          </p:nvSpPr>
          <p:spPr>
            <a:xfrm>
              <a:off x="945791" y="5892800"/>
              <a:ext cx="127719" cy="161695"/>
            </a:xfrm>
            <a:custGeom>
              <a:avLst/>
              <a:gdLst/>
              <a:ahLst/>
              <a:cxnLst/>
              <a:rect l="l" t="t" r="r" b="b"/>
              <a:pathLst>
                <a:path w="127719" h="161695">
                  <a:moveTo>
                    <a:pt x="71797" y="0"/>
                  </a:moveTo>
                  <a:lnTo>
                    <a:pt x="71940" y="8"/>
                  </a:lnTo>
                  <a:lnTo>
                    <a:pt x="72067" y="16"/>
                  </a:lnTo>
                  <a:lnTo>
                    <a:pt x="72726" y="56"/>
                  </a:lnTo>
                  <a:lnTo>
                    <a:pt x="72813" y="71"/>
                  </a:lnTo>
                  <a:lnTo>
                    <a:pt x="72900" y="71"/>
                  </a:lnTo>
                  <a:lnTo>
                    <a:pt x="73202" y="143"/>
                  </a:lnTo>
                  <a:lnTo>
                    <a:pt x="73615" y="206"/>
                  </a:lnTo>
                  <a:lnTo>
                    <a:pt x="73742" y="254"/>
                  </a:lnTo>
                  <a:lnTo>
                    <a:pt x="73829" y="262"/>
                  </a:lnTo>
                  <a:lnTo>
                    <a:pt x="74059" y="349"/>
                  </a:lnTo>
                  <a:lnTo>
                    <a:pt x="74472" y="460"/>
                  </a:lnTo>
                  <a:lnTo>
                    <a:pt x="74623" y="532"/>
                  </a:lnTo>
                  <a:lnTo>
                    <a:pt x="74742" y="564"/>
                  </a:lnTo>
                  <a:lnTo>
                    <a:pt x="74964" y="675"/>
                  </a:lnTo>
                  <a:lnTo>
                    <a:pt x="75281" y="810"/>
                  </a:lnTo>
                  <a:lnTo>
                    <a:pt x="75448" y="905"/>
                  </a:lnTo>
                  <a:lnTo>
                    <a:pt x="75623" y="984"/>
                  </a:lnTo>
                  <a:lnTo>
                    <a:pt x="75805" y="1103"/>
                  </a:lnTo>
                  <a:lnTo>
                    <a:pt x="76051" y="1238"/>
                  </a:lnTo>
                  <a:lnTo>
                    <a:pt x="76321" y="1429"/>
                  </a:lnTo>
                  <a:lnTo>
                    <a:pt x="76464" y="1516"/>
                  </a:lnTo>
                  <a:lnTo>
                    <a:pt x="76567" y="1611"/>
                  </a:lnTo>
                  <a:lnTo>
                    <a:pt x="76758" y="1746"/>
                  </a:lnTo>
                  <a:lnTo>
                    <a:pt x="77059" y="2016"/>
                  </a:lnTo>
                  <a:lnTo>
                    <a:pt x="77234" y="2151"/>
                  </a:lnTo>
                  <a:lnTo>
                    <a:pt x="77298" y="2230"/>
                  </a:lnTo>
                  <a:lnTo>
                    <a:pt x="77409" y="2326"/>
                  </a:lnTo>
                  <a:lnTo>
                    <a:pt x="77694" y="2651"/>
                  </a:lnTo>
                  <a:lnTo>
                    <a:pt x="77901" y="2865"/>
                  </a:lnTo>
                  <a:lnTo>
                    <a:pt x="77948" y="2937"/>
                  </a:lnTo>
                  <a:cubicBezTo>
                    <a:pt x="78901" y="4104"/>
                    <a:pt x="79504" y="5493"/>
                    <a:pt x="79679" y="7009"/>
                  </a:cubicBezTo>
                  <a:lnTo>
                    <a:pt x="79687" y="7104"/>
                  </a:lnTo>
                  <a:lnTo>
                    <a:pt x="79703" y="7429"/>
                  </a:lnTo>
                  <a:lnTo>
                    <a:pt x="79734" y="7937"/>
                  </a:lnTo>
                  <a:lnTo>
                    <a:pt x="79734" y="55562"/>
                  </a:lnTo>
                  <a:lnTo>
                    <a:pt x="119422" y="55562"/>
                  </a:lnTo>
                  <a:cubicBezTo>
                    <a:pt x="122253" y="55562"/>
                    <a:pt x="124870" y="57069"/>
                    <a:pt x="126291" y="59518"/>
                  </a:cubicBezTo>
                  <a:cubicBezTo>
                    <a:pt x="127711" y="61968"/>
                    <a:pt x="127719" y="64988"/>
                    <a:pt x="126312" y="67445"/>
                  </a:cubicBezTo>
                  <a:lnTo>
                    <a:pt x="125835" y="68167"/>
                  </a:lnTo>
                  <a:lnTo>
                    <a:pt x="62335" y="155480"/>
                  </a:lnTo>
                  <a:cubicBezTo>
                    <a:pt x="57827" y="161695"/>
                    <a:pt x="47984" y="158496"/>
                    <a:pt x="47984" y="150812"/>
                  </a:cubicBezTo>
                  <a:lnTo>
                    <a:pt x="47984" y="103187"/>
                  </a:lnTo>
                  <a:lnTo>
                    <a:pt x="8297" y="103187"/>
                  </a:lnTo>
                  <a:cubicBezTo>
                    <a:pt x="5466" y="103188"/>
                    <a:pt x="2848" y="101681"/>
                    <a:pt x="1428" y="99231"/>
                  </a:cubicBezTo>
                  <a:cubicBezTo>
                    <a:pt x="8" y="96782"/>
                    <a:pt x="0" y="93762"/>
                    <a:pt x="1407" y="91305"/>
                  </a:cubicBezTo>
                  <a:lnTo>
                    <a:pt x="1883" y="90583"/>
                  </a:lnTo>
                  <a:lnTo>
                    <a:pt x="65383" y="3270"/>
                  </a:lnTo>
                  <a:lnTo>
                    <a:pt x="65463" y="3167"/>
                  </a:lnTo>
                  <a:lnTo>
                    <a:pt x="65606" y="2977"/>
                  </a:lnTo>
                  <a:lnTo>
                    <a:pt x="65868" y="2675"/>
                  </a:lnTo>
                  <a:lnTo>
                    <a:pt x="66010" y="2500"/>
                  </a:lnTo>
                  <a:lnTo>
                    <a:pt x="66082" y="2437"/>
                  </a:lnTo>
                  <a:lnTo>
                    <a:pt x="66185" y="2326"/>
                  </a:lnTo>
                  <a:lnTo>
                    <a:pt x="66503" y="2040"/>
                  </a:lnTo>
                  <a:lnTo>
                    <a:pt x="66725" y="1834"/>
                  </a:lnTo>
                  <a:lnTo>
                    <a:pt x="66788" y="1786"/>
                  </a:lnTo>
                  <a:cubicBezTo>
                    <a:pt x="67719" y="1025"/>
                    <a:pt x="68810" y="484"/>
                    <a:pt x="69979" y="206"/>
                  </a:cubicBezTo>
                  <a:lnTo>
                    <a:pt x="70066" y="198"/>
                  </a:lnTo>
                  <a:lnTo>
                    <a:pt x="70281" y="159"/>
                  </a:lnTo>
                  <a:lnTo>
                    <a:pt x="70868" y="56"/>
                  </a:lnTo>
                  <a:lnTo>
                    <a:pt x="70955" y="48"/>
                  </a:lnTo>
                  <a:lnTo>
                    <a:pt x="71281" y="32"/>
                  </a:lnTo>
                  <a:close/>
                </a:path>
              </a:pathLst>
            </a:custGeom>
            <a:solidFill>
              <a:srgbClr val="C4415C"/>
            </a:solidFill>
            <a:ln>
              <a:noFill/>
            </a:ln>
          </p:spPr>
        </p:sp>
        <p:sp>
          <p:nvSpPr>
            <p:cNvPr id="30" name="TextBox 30"/>
            <p:cNvSpPr txBox="1"/>
            <p:nvPr/>
          </p:nvSpPr>
          <p:spPr>
            <a:xfrm>
              <a:off x="1383792" y="5883592"/>
              <a:ext cx="3144619" cy="264033"/>
            </a:xfrm>
            <a:prstGeom prst="rect">
              <a:avLst/>
            </a:prstGeom>
            <a:noFill/>
            <a:ln>
              <a:noFill/>
            </a:ln>
          </p:spPr>
          <p:txBody>
            <a:bodyPr wrap="none" lIns="0" tIns="0" rIns="0" bIns="0" anchor="t" anchorCtr="0">
              <a:spAutoFit/>
            </a:bodyPr>
            <a:lstStyle/>
            <a:p>
              <a:pPr algn="l"/>
              <a:r>
                <a:rPr lang="en-GB" sz="1350" dirty="0">
                  <a:solidFill>
                    <a:schemeClr val="dk1"/>
                  </a:solidFill>
                  <a:latin typeface="+mn-lt"/>
                  <a:ea typeface="+mn-ea"/>
                  <a:cs typeface="+mn-cs"/>
                </a:rPr>
                <a:t>Kill Switch: under 1.5s fleet-wide.</a:t>
              </a:r>
              <a:endParaRPr lang="en-GB" sz="1350" dirty="0">
                <a:solidFill>
                  <a:schemeClr val="dk1"/>
                </a:solidFill>
                <a:latin typeface="+mn-lt"/>
                <a:ea typeface="+mn-ea"/>
                <a:cs typeface="+mn-cs"/>
              </a:endParaRPr>
            </a:p>
          </p:txBody>
        </p:sp>
      </p:grpSp>
      <p:grpSp>
        <p:nvGrpSpPr>
          <p:cNvPr id="34" name="Group 34"/>
          <p:cNvGrpSpPr/>
          <p:nvPr/>
        </p:nvGrpSpPr>
        <p:grpSpPr>
          <a:xfrm>
            <a:off x="4838700" y="2190750"/>
            <a:ext cx="6743700" cy="3924300"/>
            <a:chOff x="4838700" y="2190750"/>
            <a:chExt cx="6743700" cy="3924300"/>
          </a:xfrm>
        </p:grpSpPr>
        <p:sp>
          <p:nvSpPr>
            <p:cNvPr id="32" name="Rectangle 32"/>
            <p:cNvSpPr/>
            <p:nvPr/>
          </p:nvSpPr>
          <p:spPr>
            <a:xfrm>
              <a:off x="4838700" y="2190750"/>
              <a:ext cx="6743700" cy="3924300"/>
            </a:xfrm>
            <a:prstGeom prst="roundRect">
              <a:avLst>
                <a:gd name="adj" fmla="val 6311"/>
              </a:avLst>
            </a:prstGeom>
            <a:solidFill>
              <a:schemeClr val="lt2"/>
            </a:solidFill>
            <a:ln>
              <a:noFill/>
            </a:ln>
            <a:effectLst>
              <a:outerShdw blurRad="266700" dist="57150" dir="5400000" algn="ctr" rotWithShape="0">
                <a:srgbClr val="7C6FE0">
                  <a:alpha val="7500"/>
                </a:srgbClr>
              </a:outerShdw>
            </a:effectLst>
          </p:spPr>
        </p:sp>
        <p:pic>
          <p:nvPicPr>
            <p:cNvPr id="33" name="Image 33"/>
            <p:cNvPicPr>
              <a:picLocks noChangeAspect="1"/>
            </p:cNvPicPr>
            <p:nvPr/>
          </p:nvPicPr>
          <p:blipFill>
            <a:blip r:embed="rId1"/>
            <a:stretch>
              <a:fillRect/>
            </a:stretch>
          </p:blipFill>
          <p:spPr>
            <a:xfrm>
              <a:off x="4991100" y="2343150"/>
              <a:ext cx="6438900" cy="3619500"/>
            </a:xfrm>
            <a:prstGeom prst="rect">
              <a:avLst/>
            </a:prstGeom>
          </p:spPr>
        </p:pic>
      </p:grpSp>
      <p:sp>
        <p:nvSpPr>
          <p:cNvPr id="39" name="Footer Placeholder 38"/>
          <p:cNvSpPr>
            <a:spLocks noGrp="1"/>
          </p:cNvSpPr>
          <p:nvPr>
            <p:ph type="ftr" sz="quarter" idx="11"/>
          </p:nvPr>
        </p:nvSpPr>
        <p:spPr/>
        <p:txBody>
          <a:bodyPr/>
          <a:p>
            <a:r>
              <a:rPr lang="en-US"/>
              <a:t>TCS | Confidential</a:t>
            </a:r>
            <a:endParaRPr lang="en-US"/>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609600" y="628650"/>
            <a:ext cx="2743200" cy="346901"/>
            <a:chOff x="609600" y="628650"/>
            <a:chExt cx="2743200" cy="346901"/>
          </a:xfrm>
        </p:grpSpPr>
        <p:sp>
          <p:nvSpPr>
            <p:cNvPr id="2" name="Rectangle 2"/>
            <p:cNvSpPr/>
            <p:nvPr/>
          </p:nvSpPr>
          <p:spPr>
            <a:xfrm>
              <a:off x="609600" y="628650"/>
              <a:ext cx="2743200" cy="342900"/>
            </a:xfrm>
            <a:prstGeom prst="roundRect">
              <a:avLst>
                <a:gd name="adj" fmla="val 50000"/>
              </a:avLst>
            </a:prstGeom>
            <a:solidFill>
              <a:schemeClr val="accent2">
                <a:alpha val="14000"/>
              </a:schemeClr>
            </a:solidFill>
            <a:ln>
              <a:noFill/>
            </a:ln>
          </p:spPr>
        </p:sp>
        <p:sp>
          <p:nvSpPr>
            <p:cNvPr id="3" name="TextBox 3"/>
            <p:cNvSpPr txBox="1"/>
            <p:nvPr/>
          </p:nvSpPr>
          <p:spPr>
            <a:xfrm>
              <a:off x="793242" y="711518"/>
              <a:ext cx="2232660" cy="264033"/>
            </a:xfrm>
            <a:prstGeom prst="rect">
              <a:avLst/>
            </a:prstGeom>
            <a:noFill/>
            <a:ln>
              <a:noFill/>
            </a:ln>
          </p:spPr>
          <p:txBody>
            <a:bodyPr wrap="none" lIns="0" tIns="0" rIns="0" bIns="0" anchor="t" anchorCtr="0">
              <a:spAutoFit/>
            </a:bodyPr>
            <a:lstStyle/>
            <a:p>
              <a:pPr algn="l"/>
              <a:r>
                <a:rPr lang="en-GB" sz="1350" b="1" spc="75" dirty="0">
                  <a:solidFill>
                    <a:srgbClr val="238A5E"/>
                  </a:solidFill>
                  <a:latin typeface="+mn-lt"/>
                  <a:ea typeface="+mn-ea"/>
                  <a:cs typeface="+mn-cs"/>
                </a:rPr>
                <a:t>ANALYTICS &amp; LEARNING</a:t>
              </a:r>
              <a:endParaRPr lang="en-GB" sz="1350" b="1" spc="75" dirty="0">
                <a:solidFill>
                  <a:srgbClr val="238A5E"/>
                </a:solidFill>
                <a:latin typeface="+mn-lt"/>
                <a:ea typeface="+mn-ea"/>
                <a:cs typeface="+mn-cs"/>
              </a:endParaRPr>
            </a:p>
          </p:txBody>
        </p:sp>
      </p:grpSp>
      <p:grpSp>
        <p:nvGrpSpPr>
          <p:cNvPr id="6" name="Group 6"/>
          <p:cNvGrpSpPr/>
          <p:nvPr/>
        </p:nvGrpSpPr>
        <p:grpSpPr>
          <a:xfrm>
            <a:off x="590550" y="1165860"/>
            <a:ext cx="7332900" cy="819150"/>
            <a:chOff x="590550" y="1165860"/>
            <a:chExt cx="7332900" cy="819150"/>
          </a:xfrm>
        </p:grpSpPr>
        <p:sp>
          <p:nvSpPr>
            <p:cNvPr id="5" name="TextBox 5"/>
            <p:cNvSpPr txBox="1"/>
            <p:nvPr/>
          </p:nvSpPr>
          <p:spPr>
            <a:xfrm>
              <a:off x="590550" y="1165860"/>
              <a:ext cx="7332900" cy="819150"/>
            </a:xfrm>
            <a:prstGeom prst="rect">
              <a:avLst/>
            </a:prstGeom>
            <a:noFill/>
            <a:ln>
              <a:noFill/>
            </a:ln>
          </p:spPr>
          <p:txBody>
            <a:bodyPr wrap="none" lIns="0" tIns="0" rIns="0" bIns="0" anchor="t" anchorCtr="0">
              <a:spAutoFit/>
            </a:bodyPr>
            <a:lstStyle/>
            <a:p>
              <a:pPr algn="l"/>
              <a:r>
                <a:rPr lang="en-GB" sz="4200" b="1" dirty="0">
                  <a:solidFill>
                    <a:schemeClr val="dk1"/>
                  </a:solidFill>
                  <a:latin typeface="+mn-lt"/>
                  <a:ea typeface="+mn-ea"/>
                  <a:cs typeface="+mn-cs"/>
                </a:rPr>
                <a:t>The Receipts, Every Time</a:t>
              </a:r>
              <a:endParaRPr lang="en-GB" sz="4200" b="1" dirty="0">
                <a:solidFill>
                  <a:schemeClr val="dk1"/>
                </a:solidFill>
                <a:latin typeface="+mn-lt"/>
                <a:ea typeface="+mn-ea"/>
                <a:cs typeface="+mn-cs"/>
              </a:endParaRPr>
            </a:p>
          </p:txBody>
        </p:sp>
      </p:grpSp>
      <p:grpSp>
        <p:nvGrpSpPr>
          <p:cNvPr id="8" name="Group 8"/>
          <p:cNvGrpSpPr/>
          <p:nvPr/>
        </p:nvGrpSpPr>
        <p:grpSpPr>
          <a:xfrm>
            <a:off x="600456" y="1844040"/>
            <a:ext cx="8059040" cy="352044"/>
            <a:chOff x="600456" y="1844040"/>
            <a:chExt cx="8059040" cy="352044"/>
          </a:xfrm>
        </p:grpSpPr>
        <p:sp>
          <p:nvSpPr>
            <p:cNvPr id="7" name="TextBox 7"/>
            <p:cNvSpPr txBox="1"/>
            <p:nvPr/>
          </p:nvSpPr>
          <p:spPr>
            <a:xfrm>
              <a:off x="600456" y="1844040"/>
              <a:ext cx="8059040" cy="352044"/>
            </a:xfrm>
            <a:prstGeom prst="rect">
              <a:avLst/>
            </a:prstGeom>
            <a:noFill/>
            <a:ln>
              <a:noFill/>
            </a:ln>
          </p:spPr>
          <p:txBody>
            <a:bodyPr wrap="none" lIns="0" tIns="0" rIns="0" bIns="0" anchor="t" anchorCtr="0">
              <a:spAutoFit/>
            </a:bodyPr>
            <a:lstStyle/>
            <a:p>
              <a:pPr algn="l"/>
              <a:r>
                <a:rPr lang="en-GB" sz="1800" dirty="0">
                  <a:solidFill>
                    <a:schemeClr val="accent5"/>
                  </a:solidFill>
                  <a:latin typeface="+mn-lt"/>
                  <a:ea typeface="+mn-ea"/>
                  <a:cs typeface="+mn-cs"/>
                </a:rPr>
                <a:t>Every incident carries its complete story, permanently reviewable.</a:t>
              </a:r>
              <a:endParaRPr lang="en-GB" sz="1800" dirty="0">
                <a:solidFill>
                  <a:schemeClr val="accent5"/>
                </a:solidFill>
                <a:latin typeface="+mn-lt"/>
                <a:ea typeface="+mn-ea"/>
                <a:cs typeface="+mn-cs"/>
              </a:endParaRPr>
            </a:p>
          </p:txBody>
        </p:sp>
      </p:grpSp>
      <p:grpSp>
        <p:nvGrpSpPr>
          <p:cNvPr id="17" name="Group 17"/>
          <p:cNvGrpSpPr/>
          <p:nvPr/>
        </p:nvGrpSpPr>
        <p:grpSpPr>
          <a:xfrm>
            <a:off x="609600" y="2419350"/>
            <a:ext cx="4000500" cy="904875"/>
            <a:chOff x="609600" y="2419350"/>
            <a:chExt cx="4000500" cy="904875"/>
          </a:xfrm>
        </p:grpSpPr>
        <p:sp>
          <p:nvSpPr>
            <p:cNvPr id="9" name="Rectangle 9"/>
            <p:cNvSpPr/>
            <p:nvPr/>
          </p:nvSpPr>
          <p:spPr>
            <a:xfrm>
              <a:off x="609600" y="2419350"/>
              <a:ext cx="4000500" cy="904875"/>
            </a:xfrm>
            <a:prstGeom prst="roundRect">
              <a:avLst>
                <a:gd name="adj" fmla="val 23158"/>
              </a:avLst>
            </a:prstGeom>
            <a:solidFill>
              <a:schemeClr val="lt2"/>
            </a:solidFill>
            <a:ln>
              <a:noFill/>
            </a:ln>
            <a:effectLst>
              <a:outerShdw blurRad="266700" dist="57150" dir="5400000" algn="ctr" rotWithShape="0">
                <a:srgbClr val="7C6FE0">
                  <a:alpha val="7500"/>
                </a:srgbClr>
              </a:outerShdw>
            </a:effectLst>
          </p:spPr>
        </p:sp>
        <p:sp>
          <p:nvSpPr>
            <p:cNvPr id="10" name="Ellipse 10"/>
            <p:cNvSpPr/>
            <p:nvPr/>
          </p:nvSpPr>
          <p:spPr>
            <a:xfrm>
              <a:off x="781050" y="2638425"/>
              <a:ext cx="457200" cy="457200"/>
            </a:xfrm>
            <a:prstGeom prst="ellipse">
              <a:avLst/>
            </a:prstGeom>
            <a:solidFill>
              <a:schemeClr val="accent1">
                <a:alpha val="15000"/>
              </a:schemeClr>
            </a:solidFill>
            <a:ln>
              <a:noFill/>
            </a:ln>
          </p:spPr>
        </p:sp>
        <p:grpSp>
          <p:nvGrpSpPr>
            <p:cNvPr id="14" name="Group 14"/>
            <p:cNvGrpSpPr/>
            <p:nvPr/>
          </p:nvGrpSpPr>
          <p:grpSpPr>
            <a:xfrm>
              <a:off x="911228" y="2778128"/>
              <a:ext cx="187319" cy="177794"/>
              <a:chOff x="911228" y="2778128"/>
              <a:chExt cx="187319" cy="177794"/>
            </a:xfrm>
          </p:grpSpPr>
          <p:sp>
            <p:nvSpPr>
              <p:cNvPr id="11" name="Freeform 11"/>
              <p:cNvSpPr/>
              <p:nvPr/>
            </p:nvSpPr>
            <p:spPr>
              <a:xfrm>
                <a:off x="1038225" y="2892428"/>
                <a:ext cx="60322" cy="63494"/>
              </a:xfrm>
              <a:custGeom>
                <a:avLst/>
                <a:gdLst/>
                <a:ahLst/>
                <a:cxnLst/>
                <a:rect l="l" t="t" r="r" b="b"/>
                <a:pathLst>
                  <a:path w="60322" h="63494">
                    <a:moveTo>
                      <a:pt x="9525" y="41272"/>
                    </a:moveTo>
                    <a:cubicBezTo>
                      <a:pt x="4264" y="41272"/>
                      <a:pt x="0" y="37007"/>
                      <a:pt x="0" y="31747"/>
                    </a:cubicBezTo>
                    <a:cubicBezTo>
                      <a:pt x="0" y="26486"/>
                      <a:pt x="4264" y="22222"/>
                      <a:pt x="9525" y="22222"/>
                    </a:cubicBezTo>
                    <a:cubicBezTo>
                      <a:pt x="14786" y="22222"/>
                      <a:pt x="19050" y="17957"/>
                      <a:pt x="19050" y="12697"/>
                    </a:cubicBezTo>
                    <a:cubicBezTo>
                      <a:pt x="19050" y="0"/>
                      <a:pt x="38100" y="0"/>
                      <a:pt x="38100" y="12697"/>
                    </a:cubicBezTo>
                    <a:cubicBezTo>
                      <a:pt x="38100" y="17957"/>
                      <a:pt x="42364" y="22222"/>
                      <a:pt x="47625" y="22222"/>
                    </a:cubicBezTo>
                    <a:cubicBezTo>
                      <a:pt x="60322" y="22222"/>
                      <a:pt x="60322" y="41272"/>
                      <a:pt x="47625" y="41272"/>
                    </a:cubicBezTo>
                    <a:cubicBezTo>
                      <a:pt x="42364" y="41272"/>
                      <a:pt x="38100" y="45536"/>
                      <a:pt x="38100" y="50797"/>
                    </a:cubicBezTo>
                    <a:cubicBezTo>
                      <a:pt x="38100" y="63494"/>
                      <a:pt x="19050" y="63494"/>
                      <a:pt x="19050" y="50797"/>
                    </a:cubicBezTo>
                    <a:cubicBezTo>
                      <a:pt x="19050" y="45536"/>
                      <a:pt x="14786" y="41272"/>
                      <a:pt x="9525" y="41272"/>
                    </a:cubicBezTo>
                  </a:path>
                </a:pathLst>
              </a:custGeom>
              <a:solidFill>
                <a:schemeClr val="accent1"/>
              </a:solidFill>
              <a:ln>
                <a:noFill/>
              </a:ln>
            </p:spPr>
          </p:sp>
          <p:sp>
            <p:nvSpPr>
              <p:cNvPr id="12" name="Freeform 12"/>
              <p:cNvSpPr/>
              <p:nvPr/>
            </p:nvSpPr>
            <p:spPr>
              <a:xfrm>
                <a:off x="911228" y="2797178"/>
                <a:ext cx="139694" cy="136522"/>
              </a:xfrm>
              <a:custGeom>
                <a:avLst/>
                <a:gdLst/>
                <a:ahLst/>
                <a:cxnLst/>
                <a:rect l="l" t="t" r="r" b="b"/>
                <a:pathLst>
                  <a:path w="139694" h="136522">
                    <a:moveTo>
                      <a:pt x="12697" y="60322"/>
                    </a:moveTo>
                    <a:cubicBezTo>
                      <a:pt x="38999" y="60322"/>
                      <a:pt x="60322" y="38999"/>
                      <a:pt x="60322" y="12697"/>
                    </a:cubicBezTo>
                    <a:cubicBezTo>
                      <a:pt x="60322" y="0"/>
                      <a:pt x="79372" y="0"/>
                      <a:pt x="79372" y="12697"/>
                    </a:cubicBezTo>
                    <a:cubicBezTo>
                      <a:pt x="79372" y="38999"/>
                      <a:pt x="100694" y="60322"/>
                      <a:pt x="126997" y="60322"/>
                    </a:cubicBezTo>
                    <a:cubicBezTo>
                      <a:pt x="139694" y="60322"/>
                      <a:pt x="139694" y="79372"/>
                      <a:pt x="126997" y="79372"/>
                    </a:cubicBezTo>
                    <a:cubicBezTo>
                      <a:pt x="100694" y="79372"/>
                      <a:pt x="79372" y="100694"/>
                      <a:pt x="79372" y="126997"/>
                    </a:cubicBezTo>
                    <a:cubicBezTo>
                      <a:pt x="79372" y="132257"/>
                      <a:pt x="75107" y="136522"/>
                      <a:pt x="69847" y="136522"/>
                    </a:cubicBezTo>
                    <a:cubicBezTo>
                      <a:pt x="64586" y="136522"/>
                      <a:pt x="60322" y="132257"/>
                      <a:pt x="60322" y="126997"/>
                    </a:cubicBezTo>
                    <a:cubicBezTo>
                      <a:pt x="60322" y="100694"/>
                      <a:pt x="38999" y="79372"/>
                      <a:pt x="12697" y="79372"/>
                    </a:cubicBezTo>
                    <a:cubicBezTo>
                      <a:pt x="0" y="79372"/>
                      <a:pt x="0" y="60322"/>
                      <a:pt x="12697" y="60322"/>
                    </a:cubicBezTo>
                  </a:path>
                </a:pathLst>
              </a:custGeom>
              <a:solidFill>
                <a:schemeClr val="accent1"/>
              </a:solidFill>
              <a:ln>
                <a:noFill/>
              </a:ln>
            </p:spPr>
          </p:sp>
          <p:sp>
            <p:nvSpPr>
              <p:cNvPr id="13" name="Freeform 13"/>
              <p:cNvSpPr/>
              <p:nvPr/>
            </p:nvSpPr>
            <p:spPr>
              <a:xfrm>
                <a:off x="1038225" y="2778128"/>
                <a:ext cx="60322" cy="63494"/>
              </a:xfrm>
              <a:custGeom>
                <a:avLst/>
                <a:gdLst/>
                <a:ahLst/>
                <a:cxnLst/>
                <a:rect l="l" t="t" r="r" b="b"/>
                <a:pathLst>
                  <a:path w="60322" h="63494">
                    <a:moveTo>
                      <a:pt x="9525" y="41272"/>
                    </a:moveTo>
                    <a:cubicBezTo>
                      <a:pt x="4264" y="41272"/>
                      <a:pt x="0" y="37007"/>
                      <a:pt x="0" y="31747"/>
                    </a:cubicBezTo>
                    <a:cubicBezTo>
                      <a:pt x="0" y="26486"/>
                      <a:pt x="4264" y="22222"/>
                      <a:pt x="9525" y="22222"/>
                    </a:cubicBezTo>
                    <a:cubicBezTo>
                      <a:pt x="14786" y="22222"/>
                      <a:pt x="19050" y="17957"/>
                      <a:pt x="19050" y="12697"/>
                    </a:cubicBezTo>
                    <a:cubicBezTo>
                      <a:pt x="19050" y="0"/>
                      <a:pt x="38100" y="0"/>
                      <a:pt x="38100" y="12697"/>
                    </a:cubicBezTo>
                    <a:cubicBezTo>
                      <a:pt x="38100" y="17957"/>
                      <a:pt x="42364" y="22222"/>
                      <a:pt x="47625" y="22222"/>
                    </a:cubicBezTo>
                    <a:cubicBezTo>
                      <a:pt x="60322" y="22222"/>
                      <a:pt x="60322" y="41272"/>
                      <a:pt x="47625" y="41272"/>
                    </a:cubicBezTo>
                    <a:cubicBezTo>
                      <a:pt x="42364" y="41272"/>
                      <a:pt x="38100" y="45536"/>
                      <a:pt x="38100" y="50797"/>
                    </a:cubicBezTo>
                    <a:cubicBezTo>
                      <a:pt x="38100" y="63494"/>
                      <a:pt x="19050" y="63494"/>
                      <a:pt x="19050" y="50797"/>
                    </a:cubicBezTo>
                    <a:cubicBezTo>
                      <a:pt x="19050" y="45536"/>
                      <a:pt x="14786" y="41272"/>
                      <a:pt x="9525" y="41272"/>
                    </a:cubicBezTo>
                  </a:path>
                </a:pathLst>
              </a:custGeom>
              <a:solidFill>
                <a:schemeClr val="accent1"/>
              </a:solidFill>
              <a:ln>
                <a:noFill/>
              </a:ln>
            </p:spPr>
          </p:sp>
        </p:grpSp>
        <p:sp>
          <p:nvSpPr>
            <p:cNvPr id="15" name="TextBox 15"/>
            <p:cNvSpPr txBox="1"/>
            <p:nvPr/>
          </p:nvSpPr>
          <p:spPr>
            <a:xfrm>
              <a:off x="1383030" y="2581275"/>
              <a:ext cx="2199640" cy="293370"/>
            </a:xfrm>
            <a:prstGeom prst="rect">
              <a:avLst/>
            </a:prstGeom>
            <a:noFill/>
            <a:ln>
              <a:noFill/>
            </a:ln>
          </p:spPr>
          <p:txBody>
            <a:bodyPr wrap="none" lIns="0" tIns="0" rIns="0" bIns="0" anchor="t" anchorCtr="0">
              <a:spAutoFit/>
            </a:bodyPr>
            <a:lstStyle/>
            <a:p>
              <a:pPr algn="l"/>
              <a:r>
                <a:rPr lang="en-GB" sz="1500" dirty="0">
                  <a:solidFill>
                    <a:schemeClr val="dk1"/>
                  </a:solidFill>
                  <a:latin typeface="+mn-lt"/>
                  <a:ea typeface="+mn-ea"/>
                  <a:cs typeface="+mn-cs"/>
                </a:rPr>
                <a:t>AI work notes capture</a:t>
              </a:r>
              <a:endParaRPr lang="en-GB" sz="1500" dirty="0">
                <a:solidFill>
                  <a:schemeClr val="dk1"/>
                </a:solidFill>
                <a:latin typeface="+mn-lt"/>
                <a:ea typeface="+mn-ea"/>
                <a:cs typeface="+mn-cs"/>
              </a:endParaRPr>
            </a:p>
          </p:txBody>
        </p:sp>
        <p:sp>
          <p:nvSpPr>
            <p:cNvPr id="16" name="TextBox 16"/>
            <p:cNvSpPr txBox="1"/>
            <p:nvPr/>
          </p:nvSpPr>
          <p:spPr>
            <a:xfrm>
              <a:off x="1383030" y="2809875"/>
              <a:ext cx="3155252" cy="293370"/>
            </a:xfrm>
            <a:prstGeom prst="rect">
              <a:avLst/>
            </a:prstGeom>
            <a:noFill/>
            <a:ln>
              <a:noFill/>
            </a:ln>
          </p:spPr>
          <p:txBody>
            <a:bodyPr wrap="none" lIns="0" tIns="0" rIns="0" bIns="0" anchor="t" anchorCtr="0">
              <a:spAutoFit/>
            </a:bodyPr>
            <a:lstStyle/>
            <a:p>
              <a:pPr algn="l"/>
              <a:r>
                <a:rPr lang="en-GB" sz="1500" dirty="0">
                  <a:solidFill>
                    <a:schemeClr val="dk1"/>
                  </a:solidFill>
                  <a:latin typeface="+mn-lt"/>
                  <a:ea typeface="+mn-ea"/>
                  <a:cs typeface="+mn-cs"/>
                </a:rPr>
                <a:t>routing reasoning &amp; confidence.</a:t>
              </a:r>
              <a:endParaRPr lang="en-GB" sz="1500" dirty="0">
                <a:solidFill>
                  <a:schemeClr val="dk1"/>
                </a:solidFill>
                <a:latin typeface="+mn-lt"/>
                <a:ea typeface="+mn-ea"/>
                <a:cs typeface="+mn-cs"/>
              </a:endParaRPr>
            </a:p>
          </p:txBody>
        </p:sp>
      </p:grpSp>
      <p:grpSp>
        <p:nvGrpSpPr>
          <p:cNvPr id="25" name="Group 25"/>
          <p:cNvGrpSpPr/>
          <p:nvPr/>
        </p:nvGrpSpPr>
        <p:grpSpPr>
          <a:xfrm>
            <a:off x="609600" y="3514725"/>
            <a:ext cx="4000500" cy="904875"/>
            <a:chOff x="609600" y="3514725"/>
            <a:chExt cx="4000500" cy="904875"/>
          </a:xfrm>
        </p:grpSpPr>
        <p:sp>
          <p:nvSpPr>
            <p:cNvPr id="18" name="Rectangle 18"/>
            <p:cNvSpPr/>
            <p:nvPr/>
          </p:nvSpPr>
          <p:spPr>
            <a:xfrm>
              <a:off x="609600" y="3514725"/>
              <a:ext cx="4000500" cy="904875"/>
            </a:xfrm>
            <a:prstGeom prst="roundRect">
              <a:avLst>
                <a:gd name="adj" fmla="val 23158"/>
              </a:avLst>
            </a:prstGeom>
            <a:solidFill>
              <a:schemeClr val="lt2"/>
            </a:solidFill>
            <a:ln>
              <a:noFill/>
            </a:ln>
            <a:effectLst>
              <a:outerShdw blurRad="266700" dist="57150" dir="5400000" algn="ctr" rotWithShape="0">
                <a:srgbClr val="7C6FE0">
                  <a:alpha val="7500"/>
                </a:srgbClr>
              </a:outerShdw>
            </a:effectLst>
          </p:spPr>
        </p:sp>
        <p:sp>
          <p:nvSpPr>
            <p:cNvPr id="19" name="Ellipse 19"/>
            <p:cNvSpPr/>
            <p:nvPr/>
          </p:nvSpPr>
          <p:spPr>
            <a:xfrm>
              <a:off x="781050" y="3733800"/>
              <a:ext cx="457200" cy="457200"/>
            </a:xfrm>
            <a:prstGeom prst="ellipse">
              <a:avLst/>
            </a:prstGeom>
            <a:solidFill>
              <a:schemeClr val="accent1">
                <a:alpha val="15000"/>
              </a:schemeClr>
            </a:solidFill>
            <a:ln>
              <a:noFill/>
            </a:ln>
          </p:spPr>
        </p:sp>
        <p:grpSp>
          <p:nvGrpSpPr>
            <p:cNvPr id="22" name="Group 22"/>
            <p:cNvGrpSpPr/>
            <p:nvPr/>
          </p:nvGrpSpPr>
          <p:grpSpPr>
            <a:xfrm>
              <a:off x="923925" y="3867150"/>
              <a:ext cx="171450" cy="200022"/>
              <a:chOff x="923925" y="3867150"/>
              <a:chExt cx="171450" cy="200022"/>
            </a:xfrm>
          </p:grpSpPr>
          <p:sp>
            <p:nvSpPr>
              <p:cNvPr id="20" name="Freeform 20"/>
              <p:cNvSpPr/>
              <p:nvPr/>
            </p:nvSpPr>
            <p:spPr>
              <a:xfrm>
                <a:off x="923925" y="4010022"/>
                <a:ext cx="171450" cy="57150"/>
              </a:xfrm>
              <a:custGeom>
                <a:avLst/>
                <a:gdLst/>
                <a:ahLst/>
                <a:cxnLst/>
                <a:rect l="l" t="t" r="r" b="b"/>
                <a:pathLst>
                  <a:path w="171450" h="57150">
                    <a:moveTo>
                      <a:pt x="85725" y="3"/>
                    </a:moveTo>
                    <a:cubicBezTo>
                      <a:pt x="98165" y="3"/>
                      <a:pt x="108756" y="7957"/>
                      <a:pt x="112681" y="19053"/>
                    </a:cubicBezTo>
                    <a:lnTo>
                      <a:pt x="161925" y="19053"/>
                    </a:lnTo>
                    <a:cubicBezTo>
                      <a:pt x="167186" y="19053"/>
                      <a:pt x="171450" y="23318"/>
                      <a:pt x="171450" y="28578"/>
                    </a:cubicBezTo>
                    <a:cubicBezTo>
                      <a:pt x="171450" y="33839"/>
                      <a:pt x="167186" y="38103"/>
                      <a:pt x="161925" y="38103"/>
                    </a:cubicBezTo>
                    <a:lnTo>
                      <a:pt x="112671" y="38103"/>
                    </a:lnTo>
                    <a:cubicBezTo>
                      <a:pt x="108630" y="49519"/>
                      <a:pt x="97835" y="57150"/>
                      <a:pt x="85725" y="57150"/>
                    </a:cubicBezTo>
                    <a:cubicBezTo>
                      <a:pt x="73615" y="57150"/>
                      <a:pt x="62820" y="49519"/>
                      <a:pt x="58779" y="38103"/>
                    </a:cubicBezTo>
                    <a:lnTo>
                      <a:pt x="9525" y="38103"/>
                    </a:lnTo>
                    <a:cubicBezTo>
                      <a:pt x="4264" y="38103"/>
                      <a:pt x="0" y="33839"/>
                      <a:pt x="0" y="28578"/>
                    </a:cubicBezTo>
                    <a:cubicBezTo>
                      <a:pt x="0" y="23318"/>
                      <a:pt x="4264" y="19053"/>
                      <a:pt x="9525" y="19053"/>
                    </a:cubicBezTo>
                    <a:lnTo>
                      <a:pt x="58769" y="19053"/>
                    </a:lnTo>
                    <a:cubicBezTo>
                      <a:pt x="62810" y="7633"/>
                      <a:pt x="73611" y="0"/>
                      <a:pt x="85725" y="3"/>
                    </a:cubicBezTo>
                    <a:close/>
                  </a:path>
                </a:pathLst>
              </a:custGeom>
              <a:solidFill>
                <a:schemeClr val="accent1"/>
              </a:solidFill>
              <a:ln>
                <a:noFill/>
              </a:ln>
            </p:spPr>
          </p:sp>
          <p:sp>
            <p:nvSpPr>
              <p:cNvPr id="21" name="Freeform 21"/>
              <p:cNvSpPr/>
              <p:nvPr/>
            </p:nvSpPr>
            <p:spPr>
              <a:xfrm>
                <a:off x="942975" y="3867150"/>
                <a:ext cx="133350" cy="134291"/>
              </a:xfrm>
              <a:custGeom>
                <a:avLst/>
                <a:gdLst/>
                <a:ahLst/>
                <a:cxnLst/>
                <a:rect l="l" t="t" r="r" b="b"/>
                <a:pathLst>
                  <a:path w="133350" h="134291">
                    <a:moveTo>
                      <a:pt x="114300" y="0"/>
                    </a:moveTo>
                    <a:cubicBezTo>
                      <a:pt x="124821" y="0"/>
                      <a:pt x="133350" y="8529"/>
                      <a:pt x="133350" y="19050"/>
                    </a:cubicBezTo>
                    <a:lnTo>
                      <a:pt x="133350" y="95250"/>
                    </a:lnTo>
                    <a:cubicBezTo>
                      <a:pt x="133350" y="105771"/>
                      <a:pt x="124821" y="114300"/>
                      <a:pt x="114300" y="114300"/>
                    </a:cubicBezTo>
                    <a:lnTo>
                      <a:pt x="89668" y="114300"/>
                    </a:lnTo>
                    <a:lnTo>
                      <a:pt x="73409" y="130559"/>
                    </a:lnTo>
                    <a:cubicBezTo>
                      <a:pt x="70016" y="133952"/>
                      <a:pt x="64628" y="134291"/>
                      <a:pt x="60836" y="131350"/>
                    </a:cubicBezTo>
                    <a:lnTo>
                      <a:pt x="59941" y="130559"/>
                    </a:lnTo>
                    <a:lnTo>
                      <a:pt x="43672" y="114300"/>
                    </a:lnTo>
                    <a:lnTo>
                      <a:pt x="19050" y="114300"/>
                    </a:lnTo>
                    <a:cubicBezTo>
                      <a:pt x="9081" y="114303"/>
                      <a:pt x="795" y="106620"/>
                      <a:pt x="48" y="96679"/>
                    </a:cubicBezTo>
                    <a:lnTo>
                      <a:pt x="0" y="95250"/>
                    </a:lnTo>
                    <a:lnTo>
                      <a:pt x="0" y="19050"/>
                    </a:lnTo>
                    <a:cubicBezTo>
                      <a:pt x="0" y="8529"/>
                      <a:pt x="8529" y="0"/>
                      <a:pt x="19050" y="0"/>
                    </a:cubicBezTo>
                    <a:lnTo>
                      <a:pt x="114300" y="0"/>
                    </a:lnTo>
                    <a:close/>
                  </a:path>
                </a:pathLst>
              </a:custGeom>
              <a:solidFill>
                <a:schemeClr val="accent1"/>
              </a:solidFill>
              <a:ln>
                <a:noFill/>
              </a:ln>
            </p:spPr>
          </p:sp>
        </p:grpSp>
        <p:sp>
          <p:nvSpPr>
            <p:cNvPr id="23" name="TextBox 23"/>
            <p:cNvSpPr txBox="1"/>
            <p:nvPr/>
          </p:nvSpPr>
          <p:spPr>
            <a:xfrm>
              <a:off x="1383030" y="3676650"/>
              <a:ext cx="2888889" cy="293370"/>
            </a:xfrm>
            <a:prstGeom prst="rect">
              <a:avLst/>
            </a:prstGeom>
            <a:noFill/>
            <a:ln>
              <a:noFill/>
            </a:ln>
          </p:spPr>
          <p:txBody>
            <a:bodyPr wrap="none" lIns="0" tIns="0" rIns="0" bIns="0" anchor="t" anchorCtr="0">
              <a:spAutoFit/>
            </a:bodyPr>
            <a:lstStyle/>
            <a:p>
              <a:pPr algn="l"/>
              <a:r>
                <a:rPr lang="en-GB" sz="1500" dirty="0">
                  <a:solidFill>
                    <a:schemeClr val="dk1"/>
                  </a:solidFill>
                  <a:latin typeface="+mn-lt"/>
                  <a:ea typeface="+mn-ea"/>
                  <a:cs typeface="+mn-cs"/>
                </a:rPr>
                <a:t>Full diagnostic-to-resolution</a:t>
              </a:r>
              <a:endParaRPr lang="en-GB" sz="1500" dirty="0">
                <a:solidFill>
                  <a:schemeClr val="dk1"/>
                </a:solidFill>
                <a:latin typeface="+mn-lt"/>
                <a:ea typeface="+mn-ea"/>
                <a:cs typeface="+mn-cs"/>
              </a:endParaRPr>
            </a:p>
          </p:txBody>
        </p:sp>
        <p:sp>
          <p:nvSpPr>
            <p:cNvPr id="24" name="TextBox 24"/>
            <p:cNvSpPr txBox="1"/>
            <p:nvPr/>
          </p:nvSpPr>
          <p:spPr>
            <a:xfrm>
              <a:off x="1383030" y="3905250"/>
              <a:ext cx="2266760" cy="293370"/>
            </a:xfrm>
            <a:prstGeom prst="rect">
              <a:avLst/>
            </a:prstGeom>
            <a:noFill/>
            <a:ln>
              <a:noFill/>
            </a:ln>
          </p:spPr>
          <p:txBody>
            <a:bodyPr wrap="none" lIns="0" tIns="0" rIns="0" bIns="0" anchor="t" anchorCtr="0">
              <a:spAutoFit/>
            </a:bodyPr>
            <a:lstStyle/>
            <a:p>
              <a:pPr algn="l"/>
              <a:r>
                <a:rPr lang="en-GB" sz="1500" dirty="0">
                  <a:solidFill>
                    <a:schemeClr val="dk1"/>
                  </a:solidFill>
                  <a:latin typeface="+mn-lt"/>
                  <a:ea typeface="+mn-ea"/>
                  <a:cs typeface="+mn-cs"/>
                </a:rPr>
                <a:t>log kept on the ticket.</a:t>
              </a:r>
              <a:endParaRPr lang="en-GB" sz="1500" dirty="0">
                <a:solidFill>
                  <a:schemeClr val="dk1"/>
                </a:solidFill>
                <a:latin typeface="+mn-lt"/>
                <a:ea typeface="+mn-ea"/>
                <a:cs typeface="+mn-cs"/>
              </a:endParaRPr>
            </a:p>
          </p:txBody>
        </p:sp>
      </p:grpSp>
      <p:grpSp>
        <p:nvGrpSpPr>
          <p:cNvPr id="31" name="Group 31"/>
          <p:cNvGrpSpPr/>
          <p:nvPr/>
        </p:nvGrpSpPr>
        <p:grpSpPr>
          <a:xfrm>
            <a:off x="609600" y="4610100"/>
            <a:ext cx="4000500" cy="904875"/>
            <a:chOff x="609600" y="4610100"/>
            <a:chExt cx="4000500" cy="904875"/>
          </a:xfrm>
        </p:grpSpPr>
        <p:sp>
          <p:nvSpPr>
            <p:cNvPr id="26" name="Rectangle 26"/>
            <p:cNvSpPr/>
            <p:nvPr/>
          </p:nvSpPr>
          <p:spPr>
            <a:xfrm>
              <a:off x="609600" y="4610100"/>
              <a:ext cx="4000500" cy="904875"/>
            </a:xfrm>
            <a:prstGeom prst="roundRect">
              <a:avLst>
                <a:gd name="adj" fmla="val 23158"/>
              </a:avLst>
            </a:prstGeom>
            <a:solidFill>
              <a:schemeClr val="lt2"/>
            </a:solidFill>
            <a:ln>
              <a:noFill/>
            </a:ln>
            <a:effectLst>
              <a:outerShdw blurRad="266700" dist="57150" dir="5400000" algn="ctr" rotWithShape="0">
                <a:srgbClr val="7C6FE0">
                  <a:alpha val="7500"/>
                </a:srgbClr>
              </a:outerShdw>
            </a:effectLst>
          </p:spPr>
        </p:sp>
        <p:sp>
          <p:nvSpPr>
            <p:cNvPr id="27" name="Ellipse 27"/>
            <p:cNvSpPr/>
            <p:nvPr/>
          </p:nvSpPr>
          <p:spPr>
            <a:xfrm>
              <a:off x="781050" y="4829175"/>
              <a:ext cx="457200" cy="457200"/>
            </a:xfrm>
            <a:prstGeom prst="ellipse">
              <a:avLst/>
            </a:prstGeom>
            <a:solidFill>
              <a:schemeClr val="accent1">
                <a:alpha val="15000"/>
              </a:schemeClr>
            </a:solidFill>
            <a:ln>
              <a:noFill/>
            </a:ln>
          </p:spPr>
        </p:sp>
        <p:sp>
          <p:nvSpPr>
            <p:cNvPr id="28" name="Freeform 28"/>
            <p:cNvSpPr/>
            <p:nvPr/>
          </p:nvSpPr>
          <p:spPr>
            <a:xfrm>
              <a:off x="914390" y="4981575"/>
              <a:ext cx="190510" cy="152400"/>
            </a:xfrm>
            <a:custGeom>
              <a:avLst/>
              <a:gdLst/>
              <a:ahLst/>
              <a:cxnLst/>
              <a:rect l="l" t="t" r="r" b="b"/>
              <a:pathLst>
                <a:path w="190510" h="152400">
                  <a:moveTo>
                    <a:pt x="114310" y="0"/>
                  </a:moveTo>
                  <a:lnTo>
                    <a:pt x="114310" y="19050"/>
                  </a:lnTo>
                  <a:cubicBezTo>
                    <a:pt x="114310" y="24311"/>
                    <a:pt x="118574" y="28575"/>
                    <a:pt x="123835" y="28575"/>
                  </a:cubicBezTo>
                  <a:cubicBezTo>
                    <a:pt x="129095" y="28575"/>
                    <a:pt x="133360" y="24311"/>
                    <a:pt x="133360" y="19050"/>
                  </a:cubicBezTo>
                  <a:lnTo>
                    <a:pt x="133360" y="0"/>
                  </a:lnTo>
                  <a:lnTo>
                    <a:pt x="161935" y="0"/>
                  </a:lnTo>
                  <a:cubicBezTo>
                    <a:pt x="177716" y="0"/>
                    <a:pt x="190510" y="12793"/>
                    <a:pt x="190510" y="28575"/>
                  </a:cubicBezTo>
                  <a:lnTo>
                    <a:pt x="190510" y="57150"/>
                  </a:lnTo>
                  <a:cubicBezTo>
                    <a:pt x="190509" y="61979"/>
                    <a:pt x="186895" y="66043"/>
                    <a:pt x="182099" y="66608"/>
                  </a:cubicBezTo>
                  <a:lnTo>
                    <a:pt x="180985" y="66675"/>
                  </a:lnTo>
                  <a:cubicBezTo>
                    <a:pt x="175945" y="66681"/>
                    <a:pt x="171782" y="70611"/>
                    <a:pt x="171487" y="75642"/>
                  </a:cubicBezTo>
                  <a:cubicBezTo>
                    <a:pt x="171192" y="80673"/>
                    <a:pt x="174866" y="85063"/>
                    <a:pt x="179871" y="85658"/>
                  </a:cubicBezTo>
                  <a:lnTo>
                    <a:pt x="180985" y="85725"/>
                  </a:lnTo>
                  <a:cubicBezTo>
                    <a:pt x="186245" y="85725"/>
                    <a:pt x="190510" y="89989"/>
                    <a:pt x="190510" y="95250"/>
                  </a:cubicBezTo>
                  <a:lnTo>
                    <a:pt x="190510" y="123825"/>
                  </a:lnTo>
                  <a:cubicBezTo>
                    <a:pt x="190510" y="139607"/>
                    <a:pt x="177716" y="152400"/>
                    <a:pt x="161935" y="152400"/>
                  </a:cubicBezTo>
                  <a:lnTo>
                    <a:pt x="133360" y="152400"/>
                  </a:lnTo>
                  <a:lnTo>
                    <a:pt x="133360" y="133350"/>
                  </a:lnTo>
                  <a:cubicBezTo>
                    <a:pt x="133359" y="128521"/>
                    <a:pt x="129745" y="124457"/>
                    <a:pt x="124949" y="123892"/>
                  </a:cubicBezTo>
                  <a:lnTo>
                    <a:pt x="123835" y="123825"/>
                  </a:lnTo>
                  <a:cubicBezTo>
                    <a:pt x="118574" y="123825"/>
                    <a:pt x="114310" y="128089"/>
                    <a:pt x="114310" y="133350"/>
                  </a:cubicBezTo>
                  <a:lnTo>
                    <a:pt x="114310" y="152400"/>
                  </a:lnTo>
                  <a:lnTo>
                    <a:pt x="28585" y="152400"/>
                  </a:lnTo>
                  <a:cubicBezTo>
                    <a:pt x="12803" y="152400"/>
                    <a:pt x="10" y="139607"/>
                    <a:pt x="10" y="123825"/>
                  </a:cubicBezTo>
                  <a:lnTo>
                    <a:pt x="10" y="95250"/>
                  </a:lnTo>
                  <a:cubicBezTo>
                    <a:pt x="11" y="90421"/>
                    <a:pt x="3625" y="86357"/>
                    <a:pt x="8421" y="85792"/>
                  </a:cubicBezTo>
                  <a:lnTo>
                    <a:pt x="9535" y="85725"/>
                  </a:lnTo>
                  <a:cubicBezTo>
                    <a:pt x="14575" y="85719"/>
                    <a:pt x="18738" y="81789"/>
                    <a:pt x="19033" y="76758"/>
                  </a:cubicBezTo>
                  <a:cubicBezTo>
                    <a:pt x="19328" y="71727"/>
                    <a:pt x="15654" y="67337"/>
                    <a:pt x="10649" y="66742"/>
                  </a:cubicBezTo>
                  <a:lnTo>
                    <a:pt x="9535" y="66675"/>
                  </a:lnTo>
                  <a:cubicBezTo>
                    <a:pt x="4274" y="66675"/>
                    <a:pt x="10" y="62411"/>
                    <a:pt x="10" y="57150"/>
                  </a:cubicBezTo>
                  <a:lnTo>
                    <a:pt x="10" y="28575"/>
                  </a:lnTo>
                  <a:cubicBezTo>
                    <a:pt x="0" y="13802"/>
                    <a:pt x="11270" y="1465"/>
                    <a:pt x="25985" y="143"/>
                  </a:cubicBezTo>
                  <a:lnTo>
                    <a:pt x="28099" y="10"/>
                  </a:lnTo>
                  <a:close/>
                  <a:moveTo>
                    <a:pt x="123835" y="57150"/>
                  </a:moveTo>
                  <a:cubicBezTo>
                    <a:pt x="118574" y="57150"/>
                    <a:pt x="114310" y="61414"/>
                    <a:pt x="114310" y="66675"/>
                  </a:cubicBezTo>
                  <a:lnTo>
                    <a:pt x="114310" y="85725"/>
                  </a:lnTo>
                  <a:cubicBezTo>
                    <a:pt x="114310" y="90986"/>
                    <a:pt x="118574" y="95250"/>
                    <a:pt x="123835" y="95250"/>
                  </a:cubicBezTo>
                  <a:cubicBezTo>
                    <a:pt x="129095" y="95250"/>
                    <a:pt x="133360" y="90986"/>
                    <a:pt x="133360" y="85725"/>
                  </a:cubicBezTo>
                  <a:lnTo>
                    <a:pt x="133360" y="66675"/>
                  </a:lnTo>
                  <a:cubicBezTo>
                    <a:pt x="133360" y="61414"/>
                    <a:pt x="129095" y="57150"/>
                    <a:pt x="123835" y="57150"/>
                  </a:cubicBezTo>
                </a:path>
              </a:pathLst>
            </a:custGeom>
            <a:solidFill>
              <a:schemeClr val="accent1"/>
            </a:solidFill>
            <a:ln>
              <a:noFill/>
            </a:ln>
          </p:spPr>
        </p:sp>
        <p:sp>
          <p:nvSpPr>
            <p:cNvPr id="29" name="TextBox 29"/>
            <p:cNvSpPr txBox="1"/>
            <p:nvPr/>
          </p:nvSpPr>
          <p:spPr>
            <a:xfrm>
              <a:off x="1383030" y="4772025"/>
              <a:ext cx="2292248" cy="293370"/>
            </a:xfrm>
            <a:prstGeom prst="rect">
              <a:avLst/>
            </a:prstGeom>
            <a:noFill/>
            <a:ln>
              <a:noFill/>
            </a:ln>
          </p:spPr>
          <p:txBody>
            <a:bodyPr wrap="none" lIns="0" tIns="0" rIns="0" bIns="0" anchor="t" anchorCtr="0">
              <a:spAutoFit/>
            </a:bodyPr>
            <a:lstStyle/>
            <a:p>
              <a:pPr algn="l"/>
              <a:r>
                <a:rPr lang="en-GB" sz="1500" dirty="0">
                  <a:solidFill>
                    <a:schemeClr val="dk1"/>
                  </a:solidFill>
                  <a:latin typeface="+mn-lt"/>
                  <a:ea typeface="+mn-ea"/>
                  <a:cs typeface="+mn-cs"/>
                </a:rPr>
                <a:t>ITIL close codes posted</a:t>
              </a:r>
              <a:endParaRPr lang="en-GB" sz="1500" dirty="0">
                <a:solidFill>
                  <a:schemeClr val="dk1"/>
                </a:solidFill>
                <a:latin typeface="+mn-lt"/>
                <a:ea typeface="+mn-ea"/>
                <a:cs typeface="+mn-cs"/>
              </a:endParaRPr>
            </a:p>
          </p:txBody>
        </p:sp>
        <p:sp>
          <p:nvSpPr>
            <p:cNvPr id="30" name="TextBox 30"/>
            <p:cNvSpPr txBox="1"/>
            <p:nvPr/>
          </p:nvSpPr>
          <p:spPr>
            <a:xfrm>
              <a:off x="1383030" y="5000625"/>
              <a:ext cx="2226374" cy="293370"/>
            </a:xfrm>
            <a:prstGeom prst="rect">
              <a:avLst/>
            </a:prstGeom>
            <a:noFill/>
            <a:ln>
              <a:noFill/>
            </a:ln>
          </p:spPr>
          <p:txBody>
            <a:bodyPr wrap="none" lIns="0" tIns="0" rIns="0" bIns="0" anchor="t" anchorCtr="0">
              <a:spAutoFit/>
            </a:bodyPr>
            <a:lstStyle/>
            <a:p>
              <a:pPr algn="l"/>
              <a:r>
                <a:rPr lang="en-GB" sz="1500" dirty="0">
                  <a:solidFill>
                    <a:schemeClr val="dk1"/>
                  </a:solidFill>
                  <a:latin typeface="+mn-lt"/>
                  <a:ea typeface="+mn-ea"/>
                  <a:cs typeface="+mn-cs"/>
                </a:rPr>
                <a:t>without manual entry.</a:t>
              </a:r>
              <a:endParaRPr lang="en-GB" sz="1500" dirty="0">
                <a:solidFill>
                  <a:schemeClr val="dk1"/>
                </a:solidFill>
                <a:latin typeface="+mn-lt"/>
                <a:ea typeface="+mn-ea"/>
                <a:cs typeface="+mn-cs"/>
              </a:endParaRPr>
            </a:p>
          </p:txBody>
        </p:sp>
      </p:grpSp>
      <p:grpSp>
        <p:nvGrpSpPr>
          <p:cNvPr id="38" name="Group 38"/>
          <p:cNvGrpSpPr/>
          <p:nvPr/>
        </p:nvGrpSpPr>
        <p:grpSpPr>
          <a:xfrm>
            <a:off x="609600" y="5705475"/>
            <a:ext cx="4000500" cy="542925"/>
            <a:chOff x="609600" y="5705475"/>
            <a:chExt cx="4000500" cy="542925"/>
          </a:xfrm>
        </p:grpSpPr>
        <p:sp>
          <p:nvSpPr>
            <p:cNvPr id="32" name="Rectangle 32"/>
            <p:cNvSpPr/>
            <p:nvPr/>
          </p:nvSpPr>
          <p:spPr>
            <a:xfrm>
              <a:off x="609600" y="5705475"/>
              <a:ext cx="4000500" cy="542925"/>
            </a:xfrm>
            <a:prstGeom prst="roundRect">
              <a:avLst>
                <a:gd name="adj" fmla="val 38596"/>
              </a:avLst>
            </a:prstGeom>
            <a:solidFill>
              <a:schemeClr val="lt2"/>
            </a:solidFill>
            <a:ln>
              <a:noFill/>
            </a:ln>
            <a:effectLst>
              <a:outerShdw blurRad="266700" dist="57150" dir="5400000" algn="ctr" rotWithShape="0">
                <a:srgbClr val="7C6FE0">
                  <a:alpha val="7500"/>
                </a:srgbClr>
              </a:outerShdw>
            </a:effectLst>
          </p:spPr>
        </p:sp>
        <p:sp>
          <p:nvSpPr>
            <p:cNvPr id="33" name="Ellipse 33"/>
            <p:cNvSpPr/>
            <p:nvPr/>
          </p:nvSpPr>
          <p:spPr>
            <a:xfrm>
              <a:off x="819150" y="5781675"/>
              <a:ext cx="381000" cy="381000"/>
            </a:xfrm>
            <a:prstGeom prst="ellipse">
              <a:avLst/>
            </a:prstGeom>
            <a:solidFill>
              <a:schemeClr val="accent1">
                <a:alpha val="15000"/>
              </a:schemeClr>
            </a:solidFill>
            <a:ln>
              <a:noFill/>
            </a:ln>
          </p:spPr>
        </p:sp>
        <p:grpSp>
          <p:nvGrpSpPr>
            <p:cNvPr id="36" name="Group 36"/>
            <p:cNvGrpSpPr/>
            <p:nvPr/>
          </p:nvGrpSpPr>
          <p:grpSpPr>
            <a:xfrm>
              <a:off x="937273" y="5899779"/>
              <a:ext cx="144588" cy="135896"/>
              <a:chOff x="937273" y="5899779"/>
              <a:chExt cx="144588" cy="135896"/>
            </a:xfrm>
          </p:grpSpPr>
          <p:sp>
            <p:nvSpPr>
              <p:cNvPr id="34" name="Freeform 34"/>
              <p:cNvSpPr/>
              <p:nvPr/>
            </p:nvSpPr>
            <p:spPr>
              <a:xfrm>
                <a:off x="938212" y="5947374"/>
                <a:ext cx="142875" cy="88301"/>
              </a:xfrm>
              <a:custGeom>
                <a:avLst/>
                <a:gdLst/>
                <a:ahLst/>
                <a:cxnLst/>
                <a:rect l="l" t="t" r="r" b="b"/>
                <a:pathLst>
                  <a:path w="142875" h="88301">
                    <a:moveTo>
                      <a:pt x="96996" y="3965"/>
                    </a:moveTo>
                    <a:cubicBezTo>
                      <a:pt x="99706" y="583"/>
                      <a:pt x="104628" y="0"/>
                      <a:pt x="108053" y="2655"/>
                    </a:cubicBezTo>
                    <a:lnTo>
                      <a:pt x="108799" y="3314"/>
                    </a:lnTo>
                    <a:lnTo>
                      <a:pt x="140549" y="35064"/>
                    </a:lnTo>
                    <a:cubicBezTo>
                      <a:pt x="141783" y="36299"/>
                      <a:pt x="142575" y="37905"/>
                      <a:pt x="142804" y="39636"/>
                    </a:cubicBezTo>
                    <a:lnTo>
                      <a:pt x="142875" y="40676"/>
                    </a:lnTo>
                    <a:lnTo>
                      <a:pt x="142875" y="80363"/>
                    </a:lnTo>
                    <a:cubicBezTo>
                      <a:pt x="142874" y="84387"/>
                      <a:pt x="139863" y="87774"/>
                      <a:pt x="135866" y="88245"/>
                    </a:cubicBezTo>
                    <a:lnTo>
                      <a:pt x="134937" y="88301"/>
                    </a:lnTo>
                    <a:lnTo>
                      <a:pt x="7763" y="88301"/>
                    </a:lnTo>
                    <a:lnTo>
                      <a:pt x="6890" y="88229"/>
                    </a:lnTo>
                    <a:lnTo>
                      <a:pt x="6017" y="88070"/>
                    </a:lnTo>
                    <a:lnTo>
                      <a:pt x="5167" y="87801"/>
                    </a:lnTo>
                    <a:lnTo>
                      <a:pt x="4334" y="87435"/>
                    </a:lnTo>
                    <a:lnTo>
                      <a:pt x="3540" y="86967"/>
                    </a:lnTo>
                    <a:lnTo>
                      <a:pt x="2794" y="86412"/>
                    </a:lnTo>
                    <a:lnTo>
                      <a:pt x="2318" y="85975"/>
                    </a:lnTo>
                    <a:lnTo>
                      <a:pt x="1746" y="85324"/>
                    </a:lnTo>
                    <a:lnTo>
                      <a:pt x="1238" y="84618"/>
                    </a:lnTo>
                    <a:lnTo>
                      <a:pt x="810" y="83856"/>
                    </a:lnTo>
                    <a:lnTo>
                      <a:pt x="683" y="83578"/>
                    </a:lnTo>
                    <a:lnTo>
                      <a:pt x="365" y="82760"/>
                    </a:lnTo>
                    <a:lnTo>
                      <a:pt x="151" y="81919"/>
                    </a:lnTo>
                    <a:lnTo>
                      <a:pt x="32" y="81062"/>
                    </a:lnTo>
                    <a:lnTo>
                      <a:pt x="0" y="80189"/>
                    </a:lnTo>
                    <a:lnTo>
                      <a:pt x="71" y="79315"/>
                    </a:lnTo>
                    <a:lnTo>
                      <a:pt x="222" y="78482"/>
                    </a:lnTo>
                    <a:cubicBezTo>
                      <a:pt x="302" y="78164"/>
                      <a:pt x="397" y="77871"/>
                      <a:pt x="500" y="77593"/>
                    </a:cubicBezTo>
                    <a:lnTo>
                      <a:pt x="865" y="76760"/>
                    </a:lnTo>
                    <a:lnTo>
                      <a:pt x="1333" y="75966"/>
                    </a:lnTo>
                    <a:lnTo>
                      <a:pt x="33083" y="28341"/>
                    </a:lnTo>
                    <a:cubicBezTo>
                      <a:pt x="35094" y="25314"/>
                      <a:pt x="38903" y="24039"/>
                      <a:pt x="42331" y="25245"/>
                    </a:cubicBezTo>
                    <a:lnTo>
                      <a:pt x="43236" y="25642"/>
                    </a:lnTo>
                    <a:lnTo>
                      <a:pt x="69247" y="38644"/>
                    </a:lnTo>
                    <a:lnTo>
                      <a:pt x="96988" y="3965"/>
                    </a:lnTo>
                    <a:close/>
                  </a:path>
                </a:pathLst>
              </a:custGeom>
              <a:solidFill>
                <a:schemeClr val="accent1"/>
              </a:solidFill>
              <a:ln>
                <a:noFill/>
              </a:ln>
            </p:spPr>
          </p:sp>
          <p:sp>
            <p:nvSpPr>
              <p:cNvPr id="35" name="Freeform 35"/>
              <p:cNvSpPr/>
              <p:nvPr/>
            </p:nvSpPr>
            <p:spPr>
              <a:xfrm>
                <a:off x="937273" y="5899779"/>
                <a:ext cx="144588" cy="81273"/>
              </a:xfrm>
              <a:custGeom>
                <a:avLst/>
                <a:gdLst/>
                <a:ahLst/>
                <a:cxnLst/>
                <a:rect l="l" t="t" r="r" b="b"/>
                <a:pathLst>
                  <a:path w="144588" h="81273">
                    <a:moveTo>
                      <a:pt x="98031" y="3816"/>
                    </a:moveTo>
                    <a:cubicBezTo>
                      <a:pt x="100769" y="527"/>
                      <a:pt x="105621" y="0"/>
                      <a:pt x="109001" y="2625"/>
                    </a:cubicBezTo>
                    <a:lnTo>
                      <a:pt x="109739" y="3284"/>
                    </a:lnTo>
                    <a:lnTo>
                      <a:pt x="141489" y="35034"/>
                    </a:lnTo>
                    <a:cubicBezTo>
                      <a:pt x="144443" y="37998"/>
                      <a:pt x="144588" y="42747"/>
                      <a:pt x="141820" y="45887"/>
                    </a:cubicBezTo>
                    <a:cubicBezTo>
                      <a:pt x="139052" y="49026"/>
                      <a:pt x="134322" y="49476"/>
                      <a:pt x="131011" y="46916"/>
                    </a:cubicBezTo>
                    <a:lnTo>
                      <a:pt x="130265" y="46257"/>
                    </a:lnTo>
                    <a:lnTo>
                      <a:pt x="104659" y="20659"/>
                    </a:lnTo>
                    <a:lnTo>
                      <a:pt x="70536" y="61601"/>
                    </a:lnTo>
                    <a:cubicBezTo>
                      <a:pt x="68413" y="64147"/>
                      <a:pt x="64931" y="65106"/>
                      <a:pt x="61804" y="64006"/>
                    </a:cubicBezTo>
                    <a:lnTo>
                      <a:pt x="60891" y="63617"/>
                    </a:lnTo>
                    <a:lnTo>
                      <a:pt x="35063" y="50710"/>
                    </a:lnTo>
                    <a:lnTo>
                      <a:pt x="15227" y="77158"/>
                    </a:lnTo>
                    <a:cubicBezTo>
                      <a:pt x="12828" y="80358"/>
                      <a:pt x="8423" y="81273"/>
                      <a:pt x="4948" y="79293"/>
                    </a:cubicBezTo>
                    <a:lnTo>
                      <a:pt x="4115" y="78746"/>
                    </a:lnTo>
                    <a:cubicBezTo>
                      <a:pt x="915" y="76346"/>
                      <a:pt x="0" y="71942"/>
                      <a:pt x="1979" y="68467"/>
                    </a:cubicBezTo>
                    <a:lnTo>
                      <a:pt x="2527" y="67633"/>
                    </a:lnTo>
                    <a:lnTo>
                      <a:pt x="26340" y="35883"/>
                    </a:lnTo>
                    <a:cubicBezTo>
                      <a:pt x="28429" y="33100"/>
                      <a:pt x="32088" y="32003"/>
                      <a:pt x="35364" y="33176"/>
                    </a:cubicBezTo>
                    <a:lnTo>
                      <a:pt x="36238" y="33550"/>
                    </a:lnTo>
                    <a:lnTo>
                      <a:pt x="62360" y="46607"/>
                    </a:lnTo>
                    <a:lnTo>
                      <a:pt x="98031" y="3816"/>
                    </a:lnTo>
                    <a:close/>
                  </a:path>
                </a:pathLst>
              </a:custGeom>
              <a:solidFill>
                <a:schemeClr val="accent1"/>
              </a:solidFill>
              <a:ln>
                <a:noFill/>
              </a:ln>
            </p:spPr>
          </p:sp>
        </p:grpSp>
        <p:sp>
          <p:nvSpPr>
            <p:cNvPr id="37" name="TextBox 37"/>
            <p:cNvSpPr txBox="1"/>
            <p:nvPr/>
          </p:nvSpPr>
          <p:spPr>
            <a:xfrm>
              <a:off x="1383792" y="5883592"/>
              <a:ext cx="3195118" cy="264033"/>
            </a:xfrm>
            <a:prstGeom prst="rect">
              <a:avLst/>
            </a:prstGeom>
            <a:noFill/>
            <a:ln>
              <a:noFill/>
            </a:ln>
          </p:spPr>
          <p:txBody>
            <a:bodyPr wrap="none" lIns="0" tIns="0" rIns="0" bIns="0" anchor="t" anchorCtr="0">
              <a:spAutoFit/>
            </a:bodyPr>
            <a:lstStyle/>
            <a:p>
              <a:pPr algn="l"/>
              <a:r>
                <a:rPr lang="en-GB" sz="1350" dirty="0">
                  <a:solidFill>
                    <a:schemeClr val="dk1"/>
                  </a:solidFill>
                  <a:latin typeface="+mn-lt"/>
                  <a:ea typeface="+mn-ea"/>
                  <a:cs typeface="+mn-cs"/>
                </a:rPr>
                <a:t>SLA timers vs. actual elapsed time.</a:t>
              </a:r>
              <a:endParaRPr lang="en-GB" sz="1350" dirty="0">
                <a:solidFill>
                  <a:schemeClr val="dk1"/>
                </a:solidFill>
                <a:latin typeface="+mn-lt"/>
                <a:ea typeface="+mn-ea"/>
                <a:cs typeface="+mn-cs"/>
              </a:endParaRPr>
            </a:p>
          </p:txBody>
        </p:sp>
      </p:grpSp>
      <p:grpSp>
        <p:nvGrpSpPr>
          <p:cNvPr id="41" name="Group 41"/>
          <p:cNvGrpSpPr/>
          <p:nvPr/>
        </p:nvGrpSpPr>
        <p:grpSpPr>
          <a:xfrm>
            <a:off x="4838700" y="2190750"/>
            <a:ext cx="6743700" cy="3924300"/>
            <a:chOff x="4838700" y="2190750"/>
            <a:chExt cx="6743700" cy="3924300"/>
          </a:xfrm>
        </p:grpSpPr>
        <p:sp>
          <p:nvSpPr>
            <p:cNvPr id="39" name="Rectangle 39"/>
            <p:cNvSpPr/>
            <p:nvPr/>
          </p:nvSpPr>
          <p:spPr>
            <a:xfrm>
              <a:off x="4838700" y="2190750"/>
              <a:ext cx="6743700" cy="3924300"/>
            </a:xfrm>
            <a:prstGeom prst="roundRect">
              <a:avLst>
                <a:gd name="adj" fmla="val 6311"/>
              </a:avLst>
            </a:prstGeom>
            <a:solidFill>
              <a:schemeClr val="lt2"/>
            </a:solidFill>
            <a:ln>
              <a:noFill/>
            </a:ln>
            <a:effectLst>
              <a:outerShdw blurRad="266700" dist="57150" dir="5400000" algn="ctr" rotWithShape="0">
                <a:srgbClr val="7C6FE0">
                  <a:alpha val="7500"/>
                </a:srgbClr>
              </a:outerShdw>
            </a:effectLst>
          </p:spPr>
        </p:sp>
        <p:pic>
          <p:nvPicPr>
            <p:cNvPr id="40" name="Image 40"/>
            <p:cNvPicPr>
              <a:picLocks noChangeAspect="1"/>
            </p:cNvPicPr>
            <p:nvPr/>
          </p:nvPicPr>
          <p:blipFill>
            <a:blip r:embed="rId1"/>
            <a:stretch>
              <a:fillRect/>
            </a:stretch>
          </p:blipFill>
          <p:spPr>
            <a:xfrm>
              <a:off x="4991100" y="2343150"/>
              <a:ext cx="6438900" cy="3619500"/>
            </a:xfrm>
            <a:prstGeom prst="rect">
              <a:avLst/>
            </a:prstGeom>
          </p:spPr>
        </p:pic>
      </p:grpSp>
      <p:sp>
        <p:nvSpPr>
          <p:cNvPr id="46" name="Footer Placeholder 45"/>
          <p:cNvSpPr>
            <a:spLocks noGrp="1"/>
          </p:cNvSpPr>
          <p:nvPr>
            <p:ph type="ftr" sz="quarter" idx="11"/>
          </p:nvPr>
        </p:nvSpPr>
        <p:spPr/>
        <p:txBody>
          <a:bodyPr/>
          <a:p>
            <a:r>
              <a:rPr lang="en-US"/>
              <a:t>TCS | Confidential</a:t>
            </a:r>
            <a:endParaRPr lang="en-US"/>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609600" y="628650"/>
            <a:ext cx="2019300" cy="346901"/>
            <a:chOff x="609600" y="628650"/>
            <a:chExt cx="2019300" cy="346901"/>
          </a:xfrm>
        </p:grpSpPr>
        <p:sp>
          <p:nvSpPr>
            <p:cNvPr id="2" name="Rectangle 2"/>
            <p:cNvSpPr/>
            <p:nvPr/>
          </p:nvSpPr>
          <p:spPr>
            <a:xfrm>
              <a:off x="609600" y="628650"/>
              <a:ext cx="2019300" cy="342900"/>
            </a:xfrm>
            <a:prstGeom prst="roundRect">
              <a:avLst>
                <a:gd name="adj" fmla="val 50000"/>
              </a:avLst>
            </a:prstGeom>
            <a:solidFill>
              <a:schemeClr val="accent3">
                <a:alpha val="16000"/>
              </a:schemeClr>
            </a:solidFill>
            <a:ln>
              <a:noFill/>
            </a:ln>
          </p:spPr>
        </p:sp>
        <p:sp>
          <p:nvSpPr>
            <p:cNvPr id="3" name="TextBox 3"/>
            <p:cNvSpPr txBox="1"/>
            <p:nvPr/>
          </p:nvSpPr>
          <p:spPr>
            <a:xfrm>
              <a:off x="793242" y="711518"/>
              <a:ext cx="1655094" cy="264033"/>
            </a:xfrm>
            <a:prstGeom prst="rect">
              <a:avLst/>
            </a:prstGeom>
            <a:noFill/>
            <a:ln>
              <a:noFill/>
            </a:ln>
          </p:spPr>
          <p:txBody>
            <a:bodyPr wrap="none" lIns="0" tIns="0" rIns="0" bIns="0" anchor="t" anchorCtr="0">
              <a:spAutoFit/>
            </a:bodyPr>
            <a:lstStyle/>
            <a:p>
              <a:pPr algn="l"/>
              <a:r>
                <a:rPr lang="en-GB" sz="1350" b="1" spc="75" dirty="0">
                  <a:solidFill>
                    <a:srgbClr val="B9862E"/>
                  </a:solidFill>
                  <a:latin typeface="+mn-lt"/>
                  <a:ea typeface="+mn-ea"/>
                  <a:cs typeface="+mn-cs"/>
                </a:rPr>
                <a:t>IMPACT &amp; VISION</a:t>
              </a:r>
              <a:endParaRPr lang="en-GB" sz="1350" b="1" spc="75" dirty="0">
                <a:solidFill>
                  <a:srgbClr val="B9862E"/>
                </a:solidFill>
                <a:latin typeface="+mn-lt"/>
                <a:ea typeface="+mn-ea"/>
                <a:cs typeface="+mn-cs"/>
              </a:endParaRPr>
            </a:p>
          </p:txBody>
        </p:sp>
      </p:grpSp>
      <p:grpSp>
        <p:nvGrpSpPr>
          <p:cNvPr id="6" name="Group 6"/>
          <p:cNvGrpSpPr/>
          <p:nvPr/>
        </p:nvGrpSpPr>
        <p:grpSpPr>
          <a:xfrm>
            <a:off x="590550" y="1165860"/>
            <a:ext cx="5651794" cy="819150"/>
            <a:chOff x="590550" y="1165860"/>
            <a:chExt cx="5651794" cy="819150"/>
          </a:xfrm>
        </p:grpSpPr>
        <p:sp>
          <p:nvSpPr>
            <p:cNvPr id="5" name="TextBox 5"/>
            <p:cNvSpPr txBox="1"/>
            <p:nvPr/>
          </p:nvSpPr>
          <p:spPr>
            <a:xfrm>
              <a:off x="590550" y="1165860"/>
              <a:ext cx="5651794" cy="819150"/>
            </a:xfrm>
            <a:prstGeom prst="rect">
              <a:avLst/>
            </a:prstGeom>
            <a:noFill/>
            <a:ln>
              <a:noFill/>
            </a:ln>
          </p:spPr>
          <p:txBody>
            <a:bodyPr wrap="none" lIns="0" tIns="0" rIns="0" bIns="0" anchor="t" anchorCtr="0">
              <a:spAutoFit/>
            </a:bodyPr>
            <a:lstStyle/>
            <a:p>
              <a:pPr algn="l"/>
              <a:r>
                <a:rPr lang="en-GB" sz="4200" b="1" dirty="0">
                  <a:solidFill>
                    <a:schemeClr val="dk1"/>
                  </a:solidFill>
                  <a:latin typeface="+mn-lt"/>
                  <a:ea typeface="+mn-ea"/>
                  <a:cs typeface="+mn-cs"/>
                </a:rPr>
                <a:t>Minutes, Not Hours</a:t>
              </a:r>
              <a:endParaRPr lang="en-GB" sz="4200" b="1" dirty="0">
                <a:solidFill>
                  <a:schemeClr val="dk1"/>
                </a:solidFill>
                <a:latin typeface="+mn-lt"/>
                <a:ea typeface="+mn-ea"/>
                <a:cs typeface="+mn-cs"/>
              </a:endParaRPr>
            </a:p>
          </p:txBody>
        </p:sp>
      </p:grpSp>
      <p:grpSp>
        <p:nvGrpSpPr>
          <p:cNvPr id="8" name="Group 8"/>
          <p:cNvGrpSpPr/>
          <p:nvPr/>
        </p:nvGrpSpPr>
        <p:grpSpPr>
          <a:xfrm>
            <a:off x="600456" y="1844040"/>
            <a:ext cx="7206279" cy="352044"/>
            <a:chOff x="600456" y="1844040"/>
            <a:chExt cx="7206279" cy="352044"/>
          </a:xfrm>
        </p:grpSpPr>
        <p:sp>
          <p:nvSpPr>
            <p:cNvPr id="7" name="TextBox 7"/>
            <p:cNvSpPr txBox="1"/>
            <p:nvPr/>
          </p:nvSpPr>
          <p:spPr>
            <a:xfrm>
              <a:off x="600456" y="1844040"/>
              <a:ext cx="7206279" cy="352044"/>
            </a:xfrm>
            <a:prstGeom prst="rect">
              <a:avLst/>
            </a:prstGeom>
            <a:noFill/>
            <a:ln>
              <a:noFill/>
            </a:ln>
          </p:spPr>
          <p:txBody>
            <a:bodyPr wrap="none" lIns="0" tIns="0" rIns="0" bIns="0" anchor="t" anchorCtr="0">
              <a:spAutoFit/>
            </a:bodyPr>
            <a:lstStyle/>
            <a:p>
              <a:pPr algn="l"/>
              <a:r>
                <a:rPr lang="en-GB" sz="1800" dirty="0">
                  <a:solidFill>
                    <a:schemeClr val="accent5"/>
                  </a:solidFill>
                  <a:latin typeface="+mn-lt"/>
                  <a:ea typeface="+mn-ea"/>
                  <a:cs typeface="+mn-cs"/>
                </a:rPr>
                <a:t>Autonomous resolution collapses MTTR on matched incidents.</a:t>
              </a:r>
              <a:endParaRPr lang="en-GB" sz="1800" dirty="0">
                <a:solidFill>
                  <a:schemeClr val="accent5"/>
                </a:solidFill>
                <a:latin typeface="+mn-lt"/>
                <a:ea typeface="+mn-ea"/>
                <a:cs typeface="+mn-cs"/>
              </a:endParaRPr>
            </a:p>
          </p:txBody>
        </p:sp>
      </p:grpSp>
      <p:grpSp>
        <p:nvGrpSpPr>
          <p:cNvPr id="16" name="Group 16"/>
          <p:cNvGrpSpPr/>
          <p:nvPr/>
        </p:nvGrpSpPr>
        <p:grpSpPr>
          <a:xfrm>
            <a:off x="609600" y="2419350"/>
            <a:ext cx="4000500" cy="904875"/>
            <a:chOff x="609600" y="2419350"/>
            <a:chExt cx="4000500" cy="904875"/>
          </a:xfrm>
        </p:grpSpPr>
        <p:sp>
          <p:nvSpPr>
            <p:cNvPr id="9" name="Rectangle 9"/>
            <p:cNvSpPr/>
            <p:nvPr/>
          </p:nvSpPr>
          <p:spPr>
            <a:xfrm>
              <a:off x="609600" y="2419350"/>
              <a:ext cx="4000500" cy="904875"/>
            </a:xfrm>
            <a:prstGeom prst="roundRect">
              <a:avLst>
                <a:gd name="adj" fmla="val 23158"/>
              </a:avLst>
            </a:prstGeom>
            <a:solidFill>
              <a:schemeClr val="lt2"/>
            </a:solidFill>
            <a:ln>
              <a:noFill/>
            </a:ln>
            <a:effectLst>
              <a:outerShdw blurRad="266700" dist="57150" dir="5400000" algn="ctr" rotWithShape="0">
                <a:srgbClr val="7C6FE0">
                  <a:alpha val="7500"/>
                </a:srgbClr>
              </a:outerShdw>
            </a:effectLst>
          </p:spPr>
        </p:sp>
        <p:sp>
          <p:nvSpPr>
            <p:cNvPr id="10" name="Ellipse 10"/>
            <p:cNvSpPr/>
            <p:nvPr/>
          </p:nvSpPr>
          <p:spPr>
            <a:xfrm>
              <a:off x="781050" y="2638425"/>
              <a:ext cx="457200" cy="457200"/>
            </a:xfrm>
            <a:prstGeom prst="ellipse">
              <a:avLst/>
            </a:prstGeom>
            <a:solidFill>
              <a:schemeClr val="accent1">
                <a:alpha val="15000"/>
              </a:schemeClr>
            </a:solidFill>
            <a:ln>
              <a:noFill/>
            </a:ln>
          </p:spPr>
        </p:sp>
        <p:grpSp>
          <p:nvGrpSpPr>
            <p:cNvPr id="13" name="Group 13"/>
            <p:cNvGrpSpPr/>
            <p:nvPr/>
          </p:nvGrpSpPr>
          <p:grpSpPr>
            <a:xfrm>
              <a:off x="914400" y="2771775"/>
              <a:ext cx="192350" cy="190500"/>
              <a:chOff x="914400" y="2771775"/>
              <a:chExt cx="192350" cy="190500"/>
            </a:xfrm>
          </p:grpSpPr>
          <p:sp>
            <p:nvSpPr>
              <p:cNvPr id="11" name="Freeform 11"/>
              <p:cNvSpPr/>
              <p:nvPr/>
            </p:nvSpPr>
            <p:spPr>
              <a:xfrm>
                <a:off x="914400" y="2771775"/>
                <a:ext cx="190500" cy="190500"/>
              </a:xfrm>
              <a:custGeom>
                <a:avLst/>
                <a:gdLst/>
                <a:ahLst/>
                <a:cxnLst/>
                <a:rect l="l" t="t" r="r" b="b"/>
                <a:pathLst>
                  <a:path w="190500" h="190500">
                    <a:moveTo>
                      <a:pt x="9525" y="0"/>
                    </a:moveTo>
                    <a:cubicBezTo>
                      <a:pt x="14786" y="0"/>
                      <a:pt x="19050" y="4264"/>
                      <a:pt x="19050" y="9525"/>
                    </a:cubicBezTo>
                    <a:lnTo>
                      <a:pt x="19050" y="171450"/>
                    </a:lnTo>
                    <a:lnTo>
                      <a:pt x="180975" y="171450"/>
                    </a:lnTo>
                    <a:cubicBezTo>
                      <a:pt x="185804" y="171451"/>
                      <a:pt x="189868" y="175065"/>
                      <a:pt x="190433" y="179861"/>
                    </a:cubicBezTo>
                    <a:lnTo>
                      <a:pt x="190500" y="180975"/>
                    </a:lnTo>
                    <a:cubicBezTo>
                      <a:pt x="190500" y="186236"/>
                      <a:pt x="186236" y="190500"/>
                      <a:pt x="180975" y="190500"/>
                    </a:cubicBezTo>
                    <a:lnTo>
                      <a:pt x="9525" y="190500"/>
                    </a:lnTo>
                    <a:cubicBezTo>
                      <a:pt x="4264" y="190500"/>
                      <a:pt x="0" y="186236"/>
                      <a:pt x="0" y="180975"/>
                    </a:cubicBezTo>
                    <a:lnTo>
                      <a:pt x="0" y="9525"/>
                    </a:lnTo>
                    <a:cubicBezTo>
                      <a:pt x="0" y="4264"/>
                      <a:pt x="4264" y="0"/>
                      <a:pt x="9525" y="0"/>
                    </a:cubicBezTo>
                    <a:close/>
                  </a:path>
                </a:pathLst>
              </a:custGeom>
              <a:solidFill>
                <a:schemeClr val="accent1"/>
              </a:solidFill>
              <a:ln>
                <a:noFill/>
              </a:ln>
            </p:spPr>
          </p:sp>
          <p:sp>
            <p:nvSpPr>
              <p:cNvPr id="12" name="Freeform 12"/>
              <p:cNvSpPr/>
              <p:nvPr/>
            </p:nvSpPr>
            <p:spPr>
              <a:xfrm>
                <a:off x="949376" y="2790825"/>
                <a:ext cx="157374" cy="136230"/>
              </a:xfrm>
              <a:custGeom>
                <a:avLst/>
                <a:gdLst/>
                <a:ahLst/>
                <a:cxnLst/>
                <a:rect l="l" t="t" r="r" b="b"/>
                <a:pathLst>
                  <a:path w="157374" h="136230">
                    <a:moveTo>
                      <a:pt x="126949" y="0"/>
                    </a:moveTo>
                    <a:cubicBezTo>
                      <a:pt x="137890" y="25"/>
                      <a:pt x="147857" y="6295"/>
                      <a:pt x="152616" y="16147"/>
                    </a:cubicBezTo>
                    <a:cubicBezTo>
                      <a:pt x="157374" y="25999"/>
                      <a:pt x="156089" y="37704"/>
                      <a:pt x="149307" y="46289"/>
                    </a:cubicBezTo>
                    <a:cubicBezTo>
                      <a:pt x="142524" y="54874"/>
                      <a:pt x="131434" y="58833"/>
                      <a:pt x="120748" y="56483"/>
                    </a:cubicBezTo>
                    <a:lnTo>
                      <a:pt x="101679" y="86982"/>
                    </a:lnTo>
                    <a:cubicBezTo>
                      <a:pt x="110677" y="98287"/>
                      <a:pt x="109821" y="114529"/>
                      <a:pt x="99685" y="124825"/>
                    </a:cubicBezTo>
                    <a:cubicBezTo>
                      <a:pt x="89549" y="135121"/>
                      <a:pt x="73322" y="136230"/>
                      <a:pt x="61878" y="127411"/>
                    </a:cubicBezTo>
                    <a:cubicBezTo>
                      <a:pt x="50434" y="118591"/>
                      <a:pt x="47375" y="102616"/>
                      <a:pt x="54750" y="90192"/>
                    </a:cubicBezTo>
                    <a:lnTo>
                      <a:pt x="41624" y="74428"/>
                    </a:lnTo>
                    <a:cubicBezTo>
                      <a:pt x="28575" y="79260"/>
                      <a:pt x="13943" y="73990"/>
                      <a:pt x="6971" y="61947"/>
                    </a:cubicBezTo>
                    <a:cubicBezTo>
                      <a:pt x="0" y="49905"/>
                      <a:pt x="2717" y="34591"/>
                      <a:pt x="13405" y="25682"/>
                    </a:cubicBezTo>
                    <a:cubicBezTo>
                      <a:pt x="24094" y="16772"/>
                      <a:pt x="39646" y="16858"/>
                      <a:pt x="50237" y="25883"/>
                    </a:cubicBezTo>
                    <a:cubicBezTo>
                      <a:pt x="60827" y="34909"/>
                      <a:pt x="63376" y="50252"/>
                      <a:pt x="56274" y="62217"/>
                    </a:cubicBezTo>
                    <a:lnTo>
                      <a:pt x="69399" y="77972"/>
                    </a:lnTo>
                    <a:cubicBezTo>
                      <a:pt x="74556" y="76059"/>
                      <a:pt x="80156" y="75679"/>
                      <a:pt x="85525" y="76876"/>
                    </a:cubicBezTo>
                    <a:lnTo>
                      <a:pt x="104594" y="46368"/>
                    </a:lnTo>
                    <a:cubicBezTo>
                      <a:pt x="97763" y="37784"/>
                      <a:pt x="96450" y="26047"/>
                      <a:pt x="101214" y="16165"/>
                    </a:cubicBezTo>
                    <a:cubicBezTo>
                      <a:pt x="105978" y="6284"/>
                      <a:pt x="115979" y="2"/>
                      <a:pt x="126949" y="0"/>
                    </a:cubicBezTo>
                    <a:close/>
                  </a:path>
                </a:pathLst>
              </a:custGeom>
              <a:solidFill>
                <a:schemeClr val="accent1"/>
              </a:solidFill>
              <a:ln>
                <a:noFill/>
              </a:ln>
            </p:spPr>
          </p:sp>
        </p:grpSp>
        <p:sp>
          <p:nvSpPr>
            <p:cNvPr id="14" name="TextBox 14"/>
            <p:cNvSpPr txBox="1"/>
            <p:nvPr/>
          </p:nvSpPr>
          <p:spPr>
            <a:xfrm>
              <a:off x="1383030" y="2581275"/>
              <a:ext cx="2735459" cy="293370"/>
            </a:xfrm>
            <a:prstGeom prst="rect">
              <a:avLst/>
            </a:prstGeom>
            <a:noFill/>
            <a:ln>
              <a:noFill/>
            </a:ln>
          </p:spPr>
          <p:txBody>
            <a:bodyPr wrap="none" lIns="0" tIns="0" rIns="0" bIns="0" anchor="t" anchorCtr="0">
              <a:spAutoFit/>
            </a:bodyPr>
            <a:lstStyle/>
            <a:p>
              <a:pPr algn="l"/>
              <a:r>
                <a:rPr lang="en-GB" sz="1500" dirty="0">
                  <a:solidFill>
                    <a:schemeClr val="dk1"/>
                  </a:solidFill>
                  <a:latin typeface="+mn-lt"/>
                  <a:ea typeface="+mn-ea"/>
                  <a:cs typeface="+mn-cs"/>
                </a:rPr>
                <a:t>Autonomous MTTR measured</a:t>
              </a:r>
              <a:endParaRPr lang="en-GB" sz="1500" dirty="0">
                <a:solidFill>
                  <a:schemeClr val="dk1"/>
                </a:solidFill>
                <a:latin typeface="+mn-lt"/>
                <a:ea typeface="+mn-ea"/>
                <a:cs typeface="+mn-cs"/>
              </a:endParaRPr>
            </a:p>
          </p:txBody>
        </p:sp>
        <p:sp>
          <p:nvSpPr>
            <p:cNvPr id="15" name="TextBox 15"/>
            <p:cNvSpPr txBox="1"/>
            <p:nvPr/>
          </p:nvSpPr>
          <p:spPr>
            <a:xfrm>
              <a:off x="1383030" y="2809875"/>
              <a:ext cx="2811971" cy="293370"/>
            </a:xfrm>
            <a:prstGeom prst="rect">
              <a:avLst/>
            </a:prstGeom>
            <a:noFill/>
            <a:ln>
              <a:noFill/>
            </a:ln>
          </p:spPr>
          <p:txBody>
            <a:bodyPr wrap="none" lIns="0" tIns="0" rIns="0" bIns="0" anchor="t" anchorCtr="0">
              <a:spAutoFit/>
            </a:bodyPr>
            <a:lstStyle/>
            <a:p>
              <a:pPr algn="l"/>
              <a:r>
                <a:rPr lang="en-GB" sz="1500" dirty="0">
                  <a:solidFill>
                    <a:schemeClr val="dk1"/>
                  </a:solidFill>
                  <a:latin typeface="+mn-lt"/>
                  <a:ea typeface="+mn-ea"/>
                  <a:cs typeface="+mn-cs"/>
                </a:rPr>
                <a:t>against the manual baseline.</a:t>
              </a:r>
              <a:endParaRPr lang="en-GB" sz="1500" dirty="0">
                <a:solidFill>
                  <a:schemeClr val="dk1"/>
                </a:solidFill>
                <a:latin typeface="+mn-lt"/>
                <a:ea typeface="+mn-ea"/>
                <a:cs typeface="+mn-cs"/>
              </a:endParaRPr>
            </a:p>
          </p:txBody>
        </p:sp>
      </p:grpSp>
      <p:grpSp>
        <p:nvGrpSpPr>
          <p:cNvPr id="24" name="Group 24"/>
          <p:cNvGrpSpPr/>
          <p:nvPr/>
        </p:nvGrpSpPr>
        <p:grpSpPr>
          <a:xfrm>
            <a:off x="609600" y="3514725"/>
            <a:ext cx="4000500" cy="904875"/>
            <a:chOff x="609600" y="3514725"/>
            <a:chExt cx="4000500" cy="904875"/>
          </a:xfrm>
        </p:grpSpPr>
        <p:sp>
          <p:nvSpPr>
            <p:cNvPr id="17" name="Rectangle 17"/>
            <p:cNvSpPr/>
            <p:nvPr/>
          </p:nvSpPr>
          <p:spPr>
            <a:xfrm>
              <a:off x="609600" y="3514725"/>
              <a:ext cx="4000500" cy="904875"/>
            </a:xfrm>
            <a:prstGeom prst="roundRect">
              <a:avLst>
                <a:gd name="adj" fmla="val 23158"/>
              </a:avLst>
            </a:prstGeom>
            <a:solidFill>
              <a:schemeClr val="lt2"/>
            </a:solidFill>
            <a:ln>
              <a:noFill/>
            </a:ln>
            <a:effectLst>
              <a:outerShdw blurRad="266700" dist="57150" dir="5400000" algn="ctr" rotWithShape="0">
                <a:srgbClr val="7C6FE0">
                  <a:alpha val="7500"/>
                </a:srgbClr>
              </a:outerShdw>
            </a:effectLst>
          </p:spPr>
        </p:sp>
        <p:sp>
          <p:nvSpPr>
            <p:cNvPr id="18" name="Ellipse 18"/>
            <p:cNvSpPr/>
            <p:nvPr/>
          </p:nvSpPr>
          <p:spPr>
            <a:xfrm>
              <a:off x="781050" y="3733800"/>
              <a:ext cx="457200" cy="457200"/>
            </a:xfrm>
            <a:prstGeom prst="ellipse">
              <a:avLst/>
            </a:prstGeom>
            <a:solidFill>
              <a:schemeClr val="accent1">
                <a:alpha val="15000"/>
              </a:schemeClr>
            </a:solidFill>
            <a:ln>
              <a:noFill/>
            </a:ln>
          </p:spPr>
        </p:sp>
        <p:grpSp>
          <p:nvGrpSpPr>
            <p:cNvPr id="21" name="Group 21"/>
            <p:cNvGrpSpPr/>
            <p:nvPr/>
          </p:nvGrpSpPr>
          <p:grpSpPr>
            <a:xfrm>
              <a:off x="942975" y="3867150"/>
              <a:ext cx="133350" cy="190500"/>
              <a:chOff x="942975" y="3867150"/>
              <a:chExt cx="133350" cy="190500"/>
            </a:xfrm>
          </p:grpSpPr>
          <p:sp>
            <p:nvSpPr>
              <p:cNvPr id="19" name="Freeform 19"/>
              <p:cNvSpPr/>
              <p:nvPr/>
            </p:nvSpPr>
            <p:spPr>
              <a:xfrm>
                <a:off x="962025" y="3867150"/>
                <a:ext cx="95250" cy="95250"/>
              </a:xfrm>
              <a:custGeom>
                <a:avLst/>
                <a:gdLst/>
                <a:ahLst/>
                <a:cxnLst/>
                <a:rect l="l" t="t" r="r" b="b"/>
                <a:pathLst>
                  <a:path w="95250" h="95250">
                    <a:moveTo>
                      <a:pt x="47625" y="0"/>
                    </a:moveTo>
                    <a:cubicBezTo>
                      <a:pt x="73928" y="0"/>
                      <a:pt x="95250" y="21322"/>
                      <a:pt x="95250" y="47625"/>
                    </a:cubicBezTo>
                    <a:cubicBezTo>
                      <a:pt x="95250" y="73928"/>
                      <a:pt x="73928" y="95250"/>
                      <a:pt x="47625" y="95250"/>
                    </a:cubicBezTo>
                    <a:cubicBezTo>
                      <a:pt x="21322" y="95250"/>
                      <a:pt x="0" y="73928"/>
                      <a:pt x="0" y="47625"/>
                    </a:cubicBezTo>
                    <a:lnTo>
                      <a:pt x="48" y="45558"/>
                    </a:lnTo>
                    <a:cubicBezTo>
                      <a:pt x="1154" y="20084"/>
                      <a:pt x="22127" y="1"/>
                      <a:pt x="47625" y="0"/>
                    </a:cubicBezTo>
                    <a:close/>
                  </a:path>
                </a:pathLst>
              </a:custGeom>
              <a:solidFill>
                <a:schemeClr val="accent1"/>
              </a:solidFill>
              <a:ln>
                <a:noFill/>
              </a:ln>
            </p:spPr>
          </p:sp>
          <p:sp>
            <p:nvSpPr>
              <p:cNvPr id="20" name="Freeform 20"/>
              <p:cNvSpPr/>
              <p:nvPr/>
            </p:nvSpPr>
            <p:spPr>
              <a:xfrm>
                <a:off x="942975" y="3981450"/>
                <a:ext cx="133350" cy="76200"/>
              </a:xfrm>
              <a:custGeom>
                <a:avLst/>
                <a:gdLst/>
                <a:ahLst/>
                <a:cxnLst/>
                <a:rect l="l" t="t" r="r" b="b"/>
                <a:pathLst>
                  <a:path w="133350" h="76200">
                    <a:moveTo>
                      <a:pt x="85725" y="0"/>
                    </a:moveTo>
                    <a:cubicBezTo>
                      <a:pt x="112028" y="0"/>
                      <a:pt x="133350" y="21322"/>
                      <a:pt x="133350" y="47625"/>
                    </a:cubicBezTo>
                    <a:lnTo>
                      <a:pt x="133350" y="57150"/>
                    </a:lnTo>
                    <a:cubicBezTo>
                      <a:pt x="133350" y="67671"/>
                      <a:pt x="124821" y="76200"/>
                      <a:pt x="114300" y="76200"/>
                    </a:cubicBezTo>
                    <a:lnTo>
                      <a:pt x="19050" y="76200"/>
                    </a:lnTo>
                    <a:cubicBezTo>
                      <a:pt x="8529" y="76200"/>
                      <a:pt x="0" y="67671"/>
                      <a:pt x="0" y="57150"/>
                    </a:cubicBezTo>
                    <a:lnTo>
                      <a:pt x="0" y="47625"/>
                    </a:lnTo>
                    <a:cubicBezTo>
                      <a:pt x="0" y="21322"/>
                      <a:pt x="21322" y="0"/>
                      <a:pt x="47625" y="0"/>
                    </a:cubicBezTo>
                    <a:lnTo>
                      <a:pt x="85725" y="0"/>
                    </a:lnTo>
                    <a:close/>
                  </a:path>
                </a:pathLst>
              </a:custGeom>
              <a:solidFill>
                <a:schemeClr val="accent1"/>
              </a:solidFill>
              <a:ln>
                <a:noFill/>
              </a:ln>
            </p:spPr>
          </p:sp>
        </p:grpSp>
        <p:sp>
          <p:nvSpPr>
            <p:cNvPr id="22" name="TextBox 22"/>
            <p:cNvSpPr txBox="1"/>
            <p:nvPr/>
          </p:nvSpPr>
          <p:spPr>
            <a:xfrm>
              <a:off x="1383030" y="3676650"/>
              <a:ext cx="2475002" cy="293370"/>
            </a:xfrm>
            <a:prstGeom prst="rect">
              <a:avLst/>
            </a:prstGeom>
            <a:noFill/>
            <a:ln>
              <a:noFill/>
            </a:ln>
          </p:spPr>
          <p:txBody>
            <a:bodyPr wrap="none" lIns="0" tIns="0" rIns="0" bIns="0" anchor="t" anchorCtr="0">
              <a:spAutoFit/>
            </a:bodyPr>
            <a:lstStyle/>
            <a:p>
              <a:pPr algn="l"/>
              <a:r>
                <a:rPr lang="en-GB" sz="1500" dirty="0">
                  <a:solidFill>
                    <a:schemeClr val="dk1"/>
                  </a:solidFill>
                  <a:latin typeface="+mn-lt"/>
                  <a:ea typeface="+mn-ea"/>
                  <a:cs typeface="+mn-cs"/>
                </a:rPr>
                <a:t>Engineer hours reclaimed</a:t>
              </a:r>
              <a:endParaRPr lang="en-GB" sz="1500" dirty="0">
                <a:solidFill>
                  <a:schemeClr val="dk1"/>
                </a:solidFill>
                <a:latin typeface="+mn-lt"/>
                <a:ea typeface="+mn-ea"/>
                <a:cs typeface="+mn-cs"/>
              </a:endParaRPr>
            </a:p>
          </p:txBody>
        </p:sp>
        <p:sp>
          <p:nvSpPr>
            <p:cNvPr id="23" name="TextBox 23"/>
            <p:cNvSpPr txBox="1"/>
            <p:nvPr/>
          </p:nvSpPr>
          <p:spPr>
            <a:xfrm>
              <a:off x="1383030" y="3905250"/>
              <a:ext cx="2902839" cy="293370"/>
            </a:xfrm>
            <a:prstGeom prst="rect">
              <a:avLst/>
            </a:prstGeom>
            <a:noFill/>
            <a:ln>
              <a:noFill/>
            </a:ln>
          </p:spPr>
          <p:txBody>
            <a:bodyPr wrap="none" lIns="0" tIns="0" rIns="0" bIns="0" anchor="t" anchorCtr="0">
              <a:spAutoFit/>
            </a:bodyPr>
            <a:lstStyle/>
            <a:p>
              <a:pPr algn="l"/>
              <a:r>
                <a:rPr lang="en-GB" sz="1500" dirty="0">
                  <a:solidFill>
                    <a:schemeClr val="dk1"/>
                  </a:solidFill>
                  <a:latin typeface="+mn-lt"/>
                  <a:ea typeface="+mn-ea"/>
                  <a:cs typeface="+mn-cs"/>
                </a:rPr>
                <a:t>from repetitive triage work.</a:t>
              </a:r>
              <a:endParaRPr lang="en-GB" sz="1500" dirty="0">
                <a:solidFill>
                  <a:schemeClr val="dk1"/>
                </a:solidFill>
                <a:latin typeface="+mn-lt"/>
                <a:ea typeface="+mn-ea"/>
                <a:cs typeface="+mn-cs"/>
              </a:endParaRPr>
            </a:p>
          </p:txBody>
        </p:sp>
      </p:grpSp>
      <p:grpSp>
        <p:nvGrpSpPr>
          <p:cNvPr id="32" name="Group 32"/>
          <p:cNvGrpSpPr/>
          <p:nvPr/>
        </p:nvGrpSpPr>
        <p:grpSpPr>
          <a:xfrm>
            <a:off x="609600" y="4610100"/>
            <a:ext cx="4000500" cy="904875"/>
            <a:chOff x="609600" y="4610100"/>
            <a:chExt cx="4000500" cy="904875"/>
          </a:xfrm>
        </p:grpSpPr>
        <p:sp>
          <p:nvSpPr>
            <p:cNvPr id="25" name="Rectangle 25"/>
            <p:cNvSpPr/>
            <p:nvPr/>
          </p:nvSpPr>
          <p:spPr>
            <a:xfrm>
              <a:off x="609600" y="4610100"/>
              <a:ext cx="4000500" cy="904875"/>
            </a:xfrm>
            <a:prstGeom prst="roundRect">
              <a:avLst>
                <a:gd name="adj" fmla="val 23158"/>
              </a:avLst>
            </a:prstGeom>
            <a:solidFill>
              <a:schemeClr val="lt2"/>
            </a:solidFill>
            <a:ln>
              <a:noFill/>
            </a:ln>
            <a:effectLst>
              <a:outerShdw blurRad="266700" dist="57150" dir="5400000" algn="ctr" rotWithShape="0">
                <a:srgbClr val="7C6FE0">
                  <a:alpha val="7500"/>
                </a:srgbClr>
              </a:outerShdw>
            </a:effectLst>
          </p:spPr>
        </p:sp>
        <p:sp>
          <p:nvSpPr>
            <p:cNvPr id="26" name="Ellipse 26"/>
            <p:cNvSpPr/>
            <p:nvPr/>
          </p:nvSpPr>
          <p:spPr>
            <a:xfrm>
              <a:off x="781050" y="4829175"/>
              <a:ext cx="457200" cy="457200"/>
            </a:xfrm>
            <a:prstGeom prst="ellipse">
              <a:avLst/>
            </a:prstGeom>
            <a:solidFill>
              <a:schemeClr val="accent2">
                <a:alpha val="15000"/>
              </a:schemeClr>
            </a:solidFill>
            <a:ln>
              <a:noFill/>
            </a:ln>
          </p:spPr>
        </p:sp>
        <p:grpSp>
          <p:nvGrpSpPr>
            <p:cNvPr id="29" name="Group 29"/>
            <p:cNvGrpSpPr/>
            <p:nvPr/>
          </p:nvGrpSpPr>
          <p:grpSpPr>
            <a:xfrm>
              <a:off x="922798" y="4970900"/>
              <a:ext cx="173506" cy="163075"/>
              <a:chOff x="922798" y="4970900"/>
              <a:chExt cx="173506" cy="163075"/>
            </a:xfrm>
          </p:grpSpPr>
          <p:sp>
            <p:nvSpPr>
              <p:cNvPr id="27" name="Freeform 27"/>
              <p:cNvSpPr/>
              <p:nvPr/>
            </p:nvSpPr>
            <p:spPr>
              <a:xfrm>
                <a:off x="923925" y="5028014"/>
                <a:ext cx="171450" cy="105961"/>
              </a:xfrm>
              <a:custGeom>
                <a:avLst/>
                <a:gdLst/>
                <a:ahLst/>
                <a:cxnLst/>
                <a:rect l="l" t="t" r="r" b="b"/>
                <a:pathLst>
                  <a:path w="171450" h="105961">
                    <a:moveTo>
                      <a:pt x="116395" y="4758"/>
                    </a:moveTo>
                    <a:cubicBezTo>
                      <a:pt x="119648" y="700"/>
                      <a:pt x="125554" y="0"/>
                      <a:pt x="129664" y="3186"/>
                    </a:cubicBezTo>
                    <a:lnTo>
                      <a:pt x="130559" y="3977"/>
                    </a:lnTo>
                    <a:lnTo>
                      <a:pt x="168659" y="42077"/>
                    </a:lnTo>
                    <a:cubicBezTo>
                      <a:pt x="170140" y="43558"/>
                      <a:pt x="171090" y="45487"/>
                      <a:pt x="171364" y="47563"/>
                    </a:cubicBezTo>
                    <a:lnTo>
                      <a:pt x="171450" y="48811"/>
                    </a:lnTo>
                    <a:lnTo>
                      <a:pt x="171450" y="96436"/>
                    </a:lnTo>
                    <a:cubicBezTo>
                      <a:pt x="171449" y="101265"/>
                      <a:pt x="167835" y="105329"/>
                      <a:pt x="163039" y="105894"/>
                    </a:cubicBezTo>
                    <a:lnTo>
                      <a:pt x="161925" y="105961"/>
                    </a:lnTo>
                    <a:lnTo>
                      <a:pt x="9315" y="105961"/>
                    </a:lnTo>
                    <a:lnTo>
                      <a:pt x="8268" y="105875"/>
                    </a:lnTo>
                    <a:lnTo>
                      <a:pt x="7220" y="105685"/>
                    </a:lnTo>
                    <a:lnTo>
                      <a:pt x="6201" y="105361"/>
                    </a:lnTo>
                    <a:lnTo>
                      <a:pt x="5201" y="104923"/>
                    </a:lnTo>
                    <a:lnTo>
                      <a:pt x="4248" y="104361"/>
                    </a:lnTo>
                    <a:lnTo>
                      <a:pt x="3353" y="103694"/>
                    </a:lnTo>
                    <a:lnTo>
                      <a:pt x="2781" y="103170"/>
                    </a:lnTo>
                    <a:lnTo>
                      <a:pt x="2095" y="102389"/>
                    </a:lnTo>
                    <a:lnTo>
                      <a:pt x="1486" y="101541"/>
                    </a:lnTo>
                    <a:lnTo>
                      <a:pt x="972" y="100627"/>
                    </a:lnTo>
                    <a:lnTo>
                      <a:pt x="819" y="100293"/>
                    </a:lnTo>
                    <a:lnTo>
                      <a:pt x="438" y="99312"/>
                    </a:lnTo>
                    <a:lnTo>
                      <a:pt x="181" y="98303"/>
                    </a:lnTo>
                    <a:lnTo>
                      <a:pt x="38" y="97274"/>
                    </a:lnTo>
                    <a:lnTo>
                      <a:pt x="0" y="96226"/>
                    </a:lnTo>
                    <a:lnTo>
                      <a:pt x="86" y="95179"/>
                    </a:lnTo>
                    <a:lnTo>
                      <a:pt x="267" y="94178"/>
                    </a:lnTo>
                    <a:cubicBezTo>
                      <a:pt x="362" y="93797"/>
                      <a:pt x="476" y="93445"/>
                      <a:pt x="600" y="93112"/>
                    </a:cubicBezTo>
                    <a:lnTo>
                      <a:pt x="1038" y="92112"/>
                    </a:lnTo>
                    <a:lnTo>
                      <a:pt x="1600" y="91159"/>
                    </a:lnTo>
                    <a:lnTo>
                      <a:pt x="39700" y="34009"/>
                    </a:lnTo>
                    <a:cubicBezTo>
                      <a:pt x="42113" y="30377"/>
                      <a:pt x="46684" y="28847"/>
                      <a:pt x="50797" y="30294"/>
                    </a:cubicBezTo>
                    <a:lnTo>
                      <a:pt x="51883" y="30771"/>
                    </a:lnTo>
                    <a:lnTo>
                      <a:pt x="83096" y="46372"/>
                    </a:lnTo>
                    <a:lnTo>
                      <a:pt x="116386" y="4758"/>
                    </a:lnTo>
                    <a:close/>
                  </a:path>
                </a:pathLst>
              </a:custGeom>
              <a:solidFill>
                <a:schemeClr val="accent2"/>
              </a:solidFill>
              <a:ln>
                <a:noFill/>
              </a:ln>
            </p:spPr>
          </p:sp>
          <p:sp>
            <p:nvSpPr>
              <p:cNvPr id="28" name="Freeform 28"/>
              <p:cNvSpPr/>
              <p:nvPr/>
            </p:nvSpPr>
            <p:spPr>
              <a:xfrm>
                <a:off x="922798" y="4970900"/>
                <a:ext cx="173506" cy="97527"/>
              </a:xfrm>
              <a:custGeom>
                <a:avLst/>
                <a:gdLst/>
                <a:ahLst/>
                <a:cxnLst/>
                <a:rect l="l" t="t" r="r" b="b"/>
                <a:pathLst>
                  <a:path w="173506" h="97527">
                    <a:moveTo>
                      <a:pt x="117637" y="4579"/>
                    </a:moveTo>
                    <a:cubicBezTo>
                      <a:pt x="120923" y="632"/>
                      <a:pt x="126745" y="0"/>
                      <a:pt x="130801" y="3150"/>
                    </a:cubicBezTo>
                    <a:lnTo>
                      <a:pt x="131687" y="3941"/>
                    </a:lnTo>
                    <a:lnTo>
                      <a:pt x="169787" y="42041"/>
                    </a:lnTo>
                    <a:cubicBezTo>
                      <a:pt x="173332" y="45598"/>
                      <a:pt x="173506" y="51297"/>
                      <a:pt x="170184" y="55064"/>
                    </a:cubicBezTo>
                    <a:cubicBezTo>
                      <a:pt x="166863" y="58831"/>
                      <a:pt x="161187" y="59372"/>
                      <a:pt x="157214" y="56300"/>
                    </a:cubicBezTo>
                    <a:lnTo>
                      <a:pt x="156318" y="55509"/>
                    </a:lnTo>
                    <a:lnTo>
                      <a:pt x="125591" y="24791"/>
                    </a:lnTo>
                    <a:lnTo>
                      <a:pt x="84643" y="73921"/>
                    </a:lnTo>
                    <a:cubicBezTo>
                      <a:pt x="82095" y="76976"/>
                      <a:pt x="77918" y="78127"/>
                      <a:pt x="74165" y="76807"/>
                    </a:cubicBezTo>
                    <a:lnTo>
                      <a:pt x="73070" y="76340"/>
                    </a:lnTo>
                    <a:lnTo>
                      <a:pt x="42075" y="60853"/>
                    </a:lnTo>
                    <a:lnTo>
                      <a:pt x="18272" y="92590"/>
                    </a:lnTo>
                    <a:cubicBezTo>
                      <a:pt x="15393" y="96429"/>
                      <a:pt x="10108" y="97527"/>
                      <a:pt x="5938" y="95152"/>
                    </a:cubicBezTo>
                    <a:lnTo>
                      <a:pt x="4937" y="94495"/>
                    </a:lnTo>
                    <a:cubicBezTo>
                      <a:pt x="1098" y="91616"/>
                      <a:pt x="0" y="86330"/>
                      <a:pt x="2375" y="82160"/>
                    </a:cubicBezTo>
                    <a:lnTo>
                      <a:pt x="3032" y="81160"/>
                    </a:lnTo>
                    <a:lnTo>
                      <a:pt x="31607" y="43060"/>
                    </a:lnTo>
                    <a:cubicBezTo>
                      <a:pt x="34115" y="39720"/>
                      <a:pt x="38506" y="38403"/>
                      <a:pt x="42437" y="39812"/>
                    </a:cubicBezTo>
                    <a:lnTo>
                      <a:pt x="43485" y="40259"/>
                    </a:lnTo>
                    <a:lnTo>
                      <a:pt x="74832" y="55928"/>
                    </a:lnTo>
                    <a:lnTo>
                      <a:pt x="117637" y="4579"/>
                    </a:lnTo>
                    <a:close/>
                  </a:path>
                </a:pathLst>
              </a:custGeom>
              <a:solidFill>
                <a:schemeClr val="accent2"/>
              </a:solidFill>
              <a:ln>
                <a:noFill/>
              </a:ln>
            </p:spPr>
          </p:sp>
        </p:grpSp>
        <p:sp>
          <p:nvSpPr>
            <p:cNvPr id="30" name="TextBox 30"/>
            <p:cNvSpPr txBox="1"/>
            <p:nvPr/>
          </p:nvSpPr>
          <p:spPr>
            <a:xfrm>
              <a:off x="1383030" y="4772025"/>
              <a:ext cx="2869168" cy="293370"/>
            </a:xfrm>
            <a:prstGeom prst="rect">
              <a:avLst/>
            </a:prstGeom>
            <a:noFill/>
            <a:ln>
              <a:noFill/>
            </a:ln>
          </p:spPr>
          <p:txBody>
            <a:bodyPr wrap="none" lIns="0" tIns="0" rIns="0" bIns="0" anchor="t" anchorCtr="0">
              <a:spAutoFit/>
            </a:bodyPr>
            <a:lstStyle/>
            <a:p>
              <a:pPr algn="l"/>
              <a:r>
                <a:rPr lang="en-GB" sz="1500" dirty="0">
                  <a:solidFill>
                    <a:schemeClr val="dk1"/>
                  </a:solidFill>
                  <a:latin typeface="+mn-lt"/>
                  <a:ea typeface="+mn-ea"/>
                  <a:cs typeface="+mn-cs"/>
                </a:rPr>
                <a:t>Success rate tracked across</a:t>
              </a:r>
              <a:endParaRPr lang="en-GB" sz="1500" dirty="0">
                <a:solidFill>
                  <a:schemeClr val="dk1"/>
                </a:solidFill>
                <a:latin typeface="+mn-lt"/>
                <a:ea typeface="+mn-ea"/>
                <a:cs typeface="+mn-cs"/>
              </a:endParaRPr>
            </a:p>
          </p:txBody>
        </p:sp>
        <p:sp>
          <p:nvSpPr>
            <p:cNvPr id="31" name="TextBox 31"/>
            <p:cNvSpPr txBox="1"/>
            <p:nvPr/>
          </p:nvSpPr>
          <p:spPr>
            <a:xfrm>
              <a:off x="1383030" y="5000625"/>
              <a:ext cx="2286952" cy="293370"/>
            </a:xfrm>
            <a:prstGeom prst="rect">
              <a:avLst/>
            </a:prstGeom>
            <a:noFill/>
            <a:ln>
              <a:noFill/>
            </a:ln>
          </p:spPr>
          <p:txBody>
            <a:bodyPr wrap="none" lIns="0" tIns="0" rIns="0" bIns="0" anchor="t" anchorCtr="0">
              <a:spAutoFit/>
            </a:bodyPr>
            <a:lstStyle/>
            <a:p>
              <a:pPr algn="l"/>
              <a:r>
                <a:rPr lang="en-GB" sz="1500" dirty="0">
                  <a:solidFill>
                    <a:schemeClr val="dk1"/>
                  </a:solidFill>
                  <a:latin typeface="+mn-lt"/>
                  <a:ea typeface="+mn-ea"/>
                  <a:cs typeface="+mn-cs"/>
                </a:rPr>
                <a:t>every autonomous run.</a:t>
              </a:r>
              <a:endParaRPr lang="en-GB" sz="1500" dirty="0">
                <a:solidFill>
                  <a:schemeClr val="dk1"/>
                </a:solidFill>
                <a:latin typeface="+mn-lt"/>
                <a:ea typeface="+mn-ea"/>
                <a:cs typeface="+mn-cs"/>
              </a:endParaRPr>
            </a:p>
          </p:txBody>
        </p:sp>
      </p:grpSp>
      <p:grpSp>
        <p:nvGrpSpPr>
          <p:cNvPr id="37" name="Group 37"/>
          <p:cNvGrpSpPr/>
          <p:nvPr/>
        </p:nvGrpSpPr>
        <p:grpSpPr>
          <a:xfrm>
            <a:off x="609600" y="5705475"/>
            <a:ext cx="4000500" cy="542925"/>
            <a:chOff x="609600" y="5705475"/>
            <a:chExt cx="4000500" cy="542925"/>
          </a:xfrm>
        </p:grpSpPr>
        <p:sp>
          <p:nvSpPr>
            <p:cNvPr id="33" name="Rectangle 33"/>
            <p:cNvSpPr/>
            <p:nvPr/>
          </p:nvSpPr>
          <p:spPr>
            <a:xfrm>
              <a:off x="609600" y="5705475"/>
              <a:ext cx="4000500" cy="542925"/>
            </a:xfrm>
            <a:prstGeom prst="roundRect">
              <a:avLst>
                <a:gd name="adj" fmla="val 38596"/>
              </a:avLst>
            </a:prstGeom>
            <a:solidFill>
              <a:schemeClr val="lt2"/>
            </a:solidFill>
            <a:ln>
              <a:noFill/>
            </a:ln>
            <a:effectLst>
              <a:outerShdw blurRad="266700" dist="57150" dir="5400000" algn="ctr" rotWithShape="0">
                <a:srgbClr val="7C6FE0">
                  <a:alpha val="7500"/>
                </a:srgbClr>
              </a:outerShdw>
            </a:effectLst>
          </p:spPr>
        </p:sp>
        <p:sp>
          <p:nvSpPr>
            <p:cNvPr id="34" name="Ellipse 34"/>
            <p:cNvSpPr/>
            <p:nvPr/>
          </p:nvSpPr>
          <p:spPr>
            <a:xfrm>
              <a:off x="819150" y="5781675"/>
              <a:ext cx="381000" cy="381000"/>
            </a:xfrm>
            <a:prstGeom prst="ellipse">
              <a:avLst/>
            </a:prstGeom>
            <a:solidFill>
              <a:schemeClr val="accent3">
                <a:alpha val="16000"/>
              </a:schemeClr>
            </a:solidFill>
            <a:ln>
              <a:noFill/>
            </a:ln>
          </p:spPr>
        </p:sp>
        <p:sp>
          <p:nvSpPr>
            <p:cNvPr id="35" name="Freeform 35"/>
            <p:cNvSpPr/>
            <p:nvPr/>
          </p:nvSpPr>
          <p:spPr>
            <a:xfrm>
              <a:off x="926681" y="5892800"/>
              <a:ext cx="165930" cy="158835"/>
            </a:xfrm>
            <a:custGeom>
              <a:avLst/>
              <a:gdLst/>
              <a:ahLst/>
              <a:cxnLst/>
              <a:rect l="l" t="t" r="r" b="b"/>
              <a:pathLst>
                <a:path w="165930" h="158835">
                  <a:moveTo>
                    <a:pt x="82953" y="0"/>
                  </a:moveTo>
                  <a:lnTo>
                    <a:pt x="83890" y="56"/>
                  </a:lnTo>
                  <a:lnTo>
                    <a:pt x="84358" y="119"/>
                  </a:lnTo>
                  <a:lnTo>
                    <a:pt x="84842" y="222"/>
                  </a:lnTo>
                  <a:lnTo>
                    <a:pt x="85723" y="492"/>
                  </a:lnTo>
                  <a:cubicBezTo>
                    <a:pt x="86332" y="716"/>
                    <a:pt x="86910" y="1015"/>
                    <a:pt x="87446" y="1381"/>
                  </a:cubicBezTo>
                  <a:lnTo>
                    <a:pt x="88271" y="2032"/>
                  </a:lnTo>
                  <a:lnTo>
                    <a:pt x="90295" y="3762"/>
                  </a:lnTo>
                  <a:cubicBezTo>
                    <a:pt x="106308" y="17062"/>
                    <a:pt x="126545" y="24204"/>
                    <a:pt x="147358" y="23900"/>
                  </a:cubicBezTo>
                  <a:lnTo>
                    <a:pt x="150073" y="23820"/>
                  </a:lnTo>
                  <a:cubicBezTo>
                    <a:pt x="153725" y="23654"/>
                    <a:pt x="157019" y="26004"/>
                    <a:pt x="158050" y="29512"/>
                  </a:cubicBezTo>
                  <a:cubicBezTo>
                    <a:pt x="165930" y="56319"/>
                    <a:pt x="162603" y="85176"/>
                    <a:pt x="148828" y="109486"/>
                  </a:cubicBezTo>
                  <a:cubicBezTo>
                    <a:pt x="135052" y="133796"/>
                    <a:pt x="112008" y="151480"/>
                    <a:pt x="84961" y="158496"/>
                  </a:cubicBezTo>
                  <a:cubicBezTo>
                    <a:pt x="83655" y="158835"/>
                    <a:pt x="82283" y="158835"/>
                    <a:pt x="80977" y="158496"/>
                  </a:cubicBezTo>
                  <a:cubicBezTo>
                    <a:pt x="53929" y="151482"/>
                    <a:pt x="30882" y="133798"/>
                    <a:pt x="17105" y="109488"/>
                  </a:cubicBezTo>
                  <a:cubicBezTo>
                    <a:pt x="3329" y="85178"/>
                    <a:pt x="0" y="56320"/>
                    <a:pt x="7880" y="29512"/>
                  </a:cubicBezTo>
                  <a:cubicBezTo>
                    <a:pt x="8911" y="26004"/>
                    <a:pt x="12205" y="23654"/>
                    <a:pt x="15857" y="23820"/>
                  </a:cubicBezTo>
                  <a:cubicBezTo>
                    <a:pt x="37586" y="24814"/>
                    <a:pt x="58903" y="17661"/>
                    <a:pt x="75635" y="3762"/>
                  </a:cubicBezTo>
                  <a:lnTo>
                    <a:pt x="77722" y="1976"/>
                  </a:lnTo>
                  <a:lnTo>
                    <a:pt x="78484" y="1381"/>
                  </a:lnTo>
                  <a:cubicBezTo>
                    <a:pt x="79020" y="1015"/>
                    <a:pt x="79598" y="716"/>
                    <a:pt x="80207" y="492"/>
                  </a:cubicBezTo>
                  <a:lnTo>
                    <a:pt x="81096" y="222"/>
                  </a:lnTo>
                  <a:cubicBezTo>
                    <a:pt x="81407" y="147"/>
                    <a:pt x="81722" y="91"/>
                    <a:pt x="82040" y="56"/>
                  </a:cubicBezTo>
                  <a:lnTo>
                    <a:pt x="82953" y="0"/>
                  </a:lnTo>
                  <a:close/>
                  <a:moveTo>
                    <a:pt x="112401" y="57888"/>
                  </a:moveTo>
                  <a:cubicBezTo>
                    <a:pt x="110912" y="56398"/>
                    <a:pt x="108892" y="55560"/>
                    <a:pt x="106785" y="55560"/>
                  </a:cubicBezTo>
                  <a:cubicBezTo>
                    <a:pt x="104679" y="55560"/>
                    <a:pt x="102659" y="56398"/>
                    <a:pt x="101170" y="57888"/>
                  </a:cubicBezTo>
                  <a:lnTo>
                    <a:pt x="75032" y="84018"/>
                  </a:lnTo>
                  <a:lnTo>
                    <a:pt x="64768" y="73763"/>
                  </a:lnTo>
                  <a:lnTo>
                    <a:pt x="64022" y="73104"/>
                  </a:lnTo>
                  <a:cubicBezTo>
                    <a:pt x="60711" y="70544"/>
                    <a:pt x="55981" y="70995"/>
                    <a:pt x="53213" y="74134"/>
                  </a:cubicBezTo>
                  <a:cubicBezTo>
                    <a:pt x="50445" y="77273"/>
                    <a:pt x="50590" y="82022"/>
                    <a:pt x="53545" y="84987"/>
                  </a:cubicBezTo>
                  <a:lnTo>
                    <a:pt x="69420" y="100862"/>
                  </a:lnTo>
                  <a:lnTo>
                    <a:pt x="70166" y="101521"/>
                  </a:lnTo>
                  <a:cubicBezTo>
                    <a:pt x="73326" y="103972"/>
                    <a:pt x="77815" y="103689"/>
                    <a:pt x="80643" y="100862"/>
                  </a:cubicBezTo>
                  <a:lnTo>
                    <a:pt x="112393" y="69112"/>
                  </a:lnTo>
                  <a:lnTo>
                    <a:pt x="113052" y="68366"/>
                  </a:lnTo>
                  <a:cubicBezTo>
                    <a:pt x="115503" y="65206"/>
                    <a:pt x="115221" y="60716"/>
                    <a:pt x="112393" y="57888"/>
                  </a:cubicBezTo>
                  <a:close/>
                </a:path>
              </a:pathLst>
            </a:custGeom>
            <a:solidFill>
              <a:srgbClr val="B9862E"/>
            </a:solidFill>
            <a:ln>
              <a:noFill/>
            </a:ln>
          </p:spPr>
        </p:sp>
        <p:sp>
          <p:nvSpPr>
            <p:cNvPr id="36" name="TextBox 36"/>
            <p:cNvSpPr txBox="1"/>
            <p:nvPr/>
          </p:nvSpPr>
          <p:spPr>
            <a:xfrm>
              <a:off x="1383792" y="5883592"/>
              <a:ext cx="2873199" cy="264033"/>
            </a:xfrm>
            <a:prstGeom prst="rect">
              <a:avLst/>
            </a:prstGeom>
            <a:noFill/>
            <a:ln>
              <a:noFill/>
            </a:ln>
          </p:spPr>
          <p:txBody>
            <a:bodyPr wrap="none" lIns="0" tIns="0" rIns="0" bIns="0" anchor="t" anchorCtr="0">
              <a:spAutoFit/>
            </a:bodyPr>
            <a:lstStyle/>
            <a:p>
              <a:pPr algn="l"/>
              <a:r>
                <a:rPr lang="en-GB" sz="1350" dirty="0">
                  <a:solidFill>
                    <a:schemeClr val="dk1"/>
                  </a:solidFill>
                  <a:latin typeface="+mn-lt"/>
                  <a:ea typeface="+mn-ea"/>
                  <a:cs typeface="+mn-cs"/>
                </a:rPr>
                <a:t>Governance overhead stays low.</a:t>
              </a:r>
              <a:endParaRPr lang="en-GB" sz="1350" dirty="0">
                <a:solidFill>
                  <a:schemeClr val="dk1"/>
                </a:solidFill>
                <a:latin typeface="+mn-lt"/>
                <a:ea typeface="+mn-ea"/>
                <a:cs typeface="+mn-cs"/>
              </a:endParaRPr>
            </a:p>
          </p:txBody>
        </p:sp>
      </p:grpSp>
      <p:grpSp>
        <p:nvGrpSpPr>
          <p:cNvPr id="40" name="Group 40"/>
          <p:cNvGrpSpPr/>
          <p:nvPr/>
        </p:nvGrpSpPr>
        <p:grpSpPr>
          <a:xfrm>
            <a:off x="4838700" y="2190750"/>
            <a:ext cx="6743700" cy="3924300"/>
            <a:chOff x="4838700" y="2190750"/>
            <a:chExt cx="6743700" cy="3924300"/>
          </a:xfrm>
        </p:grpSpPr>
        <p:sp>
          <p:nvSpPr>
            <p:cNvPr id="38" name="Rectangle 38"/>
            <p:cNvSpPr/>
            <p:nvPr/>
          </p:nvSpPr>
          <p:spPr>
            <a:xfrm>
              <a:off x="4838700" y="2190750"/>
              <a:ext cx="6743700" cy="3924300"/>
            </a:xfrm>
            <a:prstGeom prst="roundRect">
              <a:avLst>
                <a:gd name="adj" fmla="val 6311"/>
              </a:avLst>
            </a:prstGeom>
            <a:solidFill>
              <a:schemeClr val="lt2"/>
            </a:solidFill>
            <a:ln>
              <a:noFill/>
            </a:ln>
            <a:effectLst>
              <a:outerShdw blurRad="266700" dist="57150" dir="5400000" algn="ctr" rotWithShape="0">
                <a:srgbClr val="7C6FE0">
                  <a:alpha val="7500"/>
                </a:srgbClr>
              </a:outerShdw>
            </a:effectLst>
          </p:spPr>
        </p:sp>
        <p:pic>
          <p:nvPicPr>
            <p:cNvPr id="39" name="Image 39"/>
            <p:cNvPicPr>
              <a:picLocks noChangeAspect="1"/>
            </p:cNvPicPr>
            <p:nvPr/>
          </p:nvPicPr>
          <p:blipFill>
            <a:blip r:embed="rId1"/>
            <a:stretch>
              <a:fillRect/>
            </a:stretch>
          </p:blipFill>
          <p:spPr>
            <a:xfrm>
              <a:off x="4991100" y="2343150"/>
              <a:ext cx="6438900" cy="3619500"/>
            </a:xfrm>
            <a:prstGeom prst="rect">
              <a:avLst/>
            </a:prstGeom>
          </p:spPr>
        </p:pic>
      </p:grpSp>
      <p:sp>
        <p:nvSpPr>
          <p:cNvPr id="45" name="Footer Placeholder 44"/>
          <p:cNvSpPr>
            <a:spLocks noGrp="1"/>
          </p:cNvSpPr>
          <p:nvPr>
            <p:ph type="ftr" sz="quarter" idx="11"/>
          </p:nvPr>
        </p:nvSpPr>
        <p:spPr/>
        <p:txBody>
          <a:bodyPr/>
          <a:p>
            <a:r>
              <a:rPr lang="en-US"/>
              <a:t>TCS | Confidential</a:t>
            </a:r>
            <a:endParaRPr lang="en-US"/>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609600" y="628650"/>
            <a:ext cx="2019300" cy="346901"/>
            <a:chOff x="609600" y="628650"/>
            <a:chExt cx="2019300" cy="346901"/>
          </a:xfrm>
        </p:grpSpPr>
        <p:sp>
          <p:nvSpPr>
            <p:cNvPr id="2" name="Rectangle 2"/>
            <p:cNvSpPr/>
            <p:nvPr/>
          </p:nvSpPr>
          <p:spPr>
            <a:xfrm>
              <a:off x="609600" y="628650"/>
              <a:ext cx="2019300" cy="342900"/>
            </a:xfrm>
            <a:prstGeom prst="roundRect">
              <a:avLst>
                <a:gd name="adj" fmla="val 50000"/>
              </a:avLst>
            </a:prstGeom>
            <a:solidFill>
              <a:schemeClr val="accent3">
                <a:alpha val="16000"/>
              </a:schemeClr>
            </a:solidFill>
            <a:ln>
              <a:noFill/>
            </a:ln>
          </p:spPr>
        </p:sp>
        <p:sp>
          <p:nvSpPr>
            <p:cNvPr id="3" name="TextBox 3"/>
            <p:cNvSpPr txBox="1"/>
            <p:nvPr/>
          </p:nvSpPr>
          <p:spPr>
            <a:xfrm>
              <a:off x="793242" y="711518"/>
              <a:ext cx="1655094" cy="264033"/>
            </a:xfrm>
            <a:prstGeom prst="rect">
              <a:avLst/>
            </a:prstGeom>
            <a:noFill/>
            <a:ln>
              <a:noFill/>
            </a:ln>
          </p:spPr>
          <p:txBody>
            <a:bodyPr wrap="none" lIns="0" tIns="0" rIns="0" bIns="0" anchor="t" anchorCtr="0">
              <a:spAutoFit/>
            </a:bodyPr>
            <a:lstStyle/>
            <a:p>
              <a:pPr algn="l"/>
              <a:r>
                <a:rPr lang="en-GB" sz="1350" b="1" spc="75" dirty="0">
                  <a:solidFill>
                    <a:srgbClr val="B9862E"/>
                  </a:solidFill>
                  <a:latin typeface="+mn-lt"/>
                  <a:ea typeface="+mn-ea"/>
                  <a:cs typeface="+mn-cs"/>
                </a:rPr>
                <a:t>IMPACT &amp; VISION</a:t>
              </a:r>
              <a:endParaRPr lang="en-GB" sz="1350" b="1" spc="75" dirty="0">
                <a:solidFill>
                  <a:srgbClr val="B9862E"/>
                </a:solidFill>
                <a:latin typeface="+mn-lt"/>
                <a:ea typeface="+mn-ea"/>
                <a:cs typeface="+mn-cs"/>
              </a:endParaRPr>
            </a:p>
          </p:txBody>
        </p:sp>
      </p:grpSp>
      <p:grpSp>
        <p:nvGrpSpPr>
          <p:cNvPr id="6" name="Group 6"/>
          <p:cNvGrpSpPr/>
          <p:nvPr/>
        </p:nvGrpSpPr>
        <p:grpSpPr>
          <a:xfrm>
            <a:off x="590550" y="1165860"/>
            <a:ext cx="9323389" cy="819150"/>
            <a:chOff x="590550" y="1165860"/>
            <a:chExt cx="9323389" cy="819150"/>
          </a:xfrm>
        </p:grpSpPr>
        <p:sp>
          <p:nvSpPr>
            <p:cNvPr id="5" name="TextBox 5"/>
            <p:cNvSpPr txBox="1"/>
            <p:nvPr/>
          </p:nvSpPr>
          <p:spPr>
            <a:xfrm>
              <a:off x="590550" y="1165860"/>
              <a:ext cx="9323389" cy="819150"/>
            </a:xfrm>
            <a:prstGeom prst="rect">
              <a:avLst/>
            </a:prstGeom>
            <a:noFill/>
            <a:ln>
              <a:noFill/>
            </a:ln>
          </p:spPr>
          <p:txBody>
            <a:bodyPr wrap="none" lIns="0" tIns="0" rIns="0" bIns="0" anchor="t" anchorCtr="0">
              <a:spAutoFit/>
            </a:bodyPr>
            <a:lstStyle/>
            <a:p>
              <a:pPr algn="l"/>
              <a:r>
                <a:rPr lang="en-GB" sz="4200" b="1" dirty="0">
                  <a:solidFill>
                    <a:schemeClr val="dk1"/>
                  </a:solidFill>
                  <a:latin typeface="+mn-lt"/>
                  <a:ea typeface="+mn-ea"/>
                  <a:cs typeface="+mn-cs"/>
                </a:rPr>
                <a:t>Not a Chatbot on a Ticket Queue</a:t>
              </a:r>
              <a:endParaRPr lang="en-GB" sz="4200" b="1" dirty="0">
                <a:solidFill>
                  <a:schemeClr val="dk1"/>
                </a:solidFill>
                <a:latin typeface="+mn-lt"/>
                <a:ea typeface="+mn-ea"/>
                <a:cs typeface="+mn-cs"/>
              </a:endParaRPr>
            </a:p>
          </p:txBody>
        </p:sp>
      </p:grpSp>
      <p:grpSp>
        <p:nvGrpSpPr>
          <p:cNvPr id="9" name="Group 9"/>
          <p:cNvGrpSpPr/>
          <p:nvPr/>
        </p:nvGrpSpPr>
        <p:grpSpPr>
          <a:xfrm>
            <a:off x="832104" y="1965960"/>
            <a:ext cx="7080626" cy="234696"/>
            <a:chOff x="832104" y="1965960"/>
            <a:chExt cx="7080626" cy="234696"/>
          </a:xfrm>
        </p:grpSpPr>
        <p:sp>
          <p:nvSpPr>
            <p:cNvPr id="7" name="TextBox 7"/>
            <p:cNvSpPr txBox="1"/>
            <p:nvPr/>
          </p:nvSpPr>
          <p:spPr>
            <a:xfrm>
              <a:off x="832104" y="1965960"/>
              <a:ext cx="1940966" cy="234696"/>
            </a:xfrm>
            <a:prstGeom prst="rect">
              <a:avLst/>
            </a:prstGeom>
            <a:noFill/>
            <a:ln>
              <a:noFill/>
            </a:ln>
          </p:spPr>
          <p:txBody>
            <a:bodyPr wrap="none" lIns="0" tIns="0" rIns="0" bIns="0" anchor="t" anchorCtr="0">
              <a:spAutoFit/>
            </a:bodyPr>
            <a:lstStyle/>
            <a:p>
              <a:pPr algn="l"/>
              <a:r>
                <a:rPr lang="en-GB" sz="1200" b="1" spc="75" dirty="0">
                  <a:solidFill>
                    <a:schemeClr val="accent5"/>
                  </a:solidFill>
                  <a:latin typeface="+mn-lt"/>
                  <a:ea typeface="+mn-ea"/>
                  <a:cs typeface="+mn-cs"/>
                </a:rPr>
                <a:t>TYPICAL AUTOMATION</a:t>
              </a:r>
              <a:endParaRPr lang="en-GB" sz="1200" b="1" spc="75" dirty="0">
                <a:solidFill>
                  <a:schemeClr val="accent5"/>
                </a:solidFill>
                <a:latin typeface="+mn-lt"/>
                <a:ea typeface="+mn-ea"/>
                <a:cs typeface="+mn-cs"/>
              </a:endParaRPr>
            </a:p>
          </p:txBody>
        </p:sp>
        <p:sp>
          <p:nvSpPr>
            <p:cNvPr id="8" name="TextBox 8"/>
            <p:cNvSpPr txBox="1"/>
            <p:nvPr/>
          </p:nvSpPr>
          <p:spPr>
            <a:xfrm>
              <a:off x="6509004" y="1965960"/>
              <a:ext cx="1403726" cy="234696"/>
            </a:xfrm>
            <a:prstGeom prst="rect">
              <a:avLst/>
            </a:prstGeom>
            <a:noFill/>
            <a:ln>
              <a:noFill/>
            </a:ln>
          </p:spPr>
          <p:txBody>
            <a:bodyPr wrap="none" lIns="0" tIns="0" rIns="0" bIns="0" anchor="t" anchorCtr="0">
              <a:spAutoFit/>
            </a:bodyPr>
            <a:lstStyle/>
            <a:p>
              <a:pPr algn="l"/>
              <a:r>
                <a:rPr lang="en-GB" sz="1200" b="1" spc="75" dirty="0">
                  <a:solidFill>
                    <a:srgbClr val="238A5E"/>
                  </a:solidFill>
                  <a:latin typeface="+mn-lt"/>
                  <a:ea typeface="+mn-ea"/>
                  <a:cs typeface="+mn-cs"/>
                </a:rPr>
                <a:t>THIS PLATFORM</a:t>
              </a:r>
              <a:endParaRPr lang="en-GB" sz="1200" b="1" spc="75" dirty="0">
                <a:solidFill>
                  <a:srgbClr val="238A5E"/>
                </a:solidFill>
                <a:latin typeface="+mn-lt"/>
                <a:ea typeface="+mn-ea"/>
                <a:cs typeface="+mn-cs"/>
              </a:endParaRPr>
            </a:p>
          </p:txBody>
        </p:sp>
      </p:grpSp>
      <p:grpSp>
        <p:nvGrpSpPr>
          <p:cNvPr id="18" name="Group 18"/>
          <p:cNvGrpSpPr/>
          <p:nvPr/>
        </p:nvGrpSpPr>
        <p:grpSpPr>
          <a:xfrm>
            <a:off x="609600" y="2419350"/>
            <a:ext cx="10972800" cy="666750"/>
            <a:chOff x="609600" y="2419350"/>
            <a:chExt cx="10972800" cy="666750"/>
          </a:xfrm>
        </p:grpSpPr>
        <p:sp>
          <p:nvSpPr>
            <p:cNvPr id="10" name="Rectangle 10"/>
            <p:cNvSpPr/>
            <p:nvPr/>
          </p:nvSpPr>
          <p:spPr>
            <a:xfrm>
              <a:off x="609600" y="2419350"/>
              <a:ext cx="5295900" cy="666750"/>
            </a:xfrm>
            <a:prstGeom prst="roundRect">
              <a:avLst>
                <a:gd name="adj" fmla="val 28571"/>
              </a:avLst>
            </a:prstGeom>
            <a:solidFill>
              <a:schemeClr val="lt2"/>
            </a:solidFill>
            <a:ln>
              <a:noFill/>
            </a:ln>
            <a:effectLst>
              <a:outerShdw blurRad="266700" dist="57150" dir="5400000" algn="ctr" rotWithShape="0">
                <a:srgbClr val="7C6FE0">
                  <a:alpha val="7500"/>
                </a:srgbClr>
              </a:outerShdw>
            </a:effectLst>
          </p:spPr>
        </p:sp>
        <p:sp>
          <p:nvSpPr>
            <p:cNvPr id="11" name="Ellipse 11"/>
            <p:cNvSpPr/>
            <p:nvPr/>
          </p:nvSpPr>
          <p:spPr>
            <a:xfrm>
              <a:off x="876300" y="2695575"/>
              <a:ext cx="114300" cy="114300"/>
            </a:xfrm>
            <a:prstGeom prst="ellipse">
              <a:avLst/>
            </a:prstGeom>
            <a:solidFill>
              <a:srgbClr val="B7AFC9"/>
            </a:solidFill>
            <a:ln>
              <a:noFill/>
            </a:ln>
          </p:spPr>
        </p:sp>
        <p:sp>
          <p:nvSpPr>
            <p:cNvPr id="12" name="TextBox 12"/>
            <p:cNvSpPr txBox="1"/>
            <p:nvPr/>
          </p:nvSpPr>
          <p:spPr>
            <a:xfrm>
              <a:off x="1136523" y="2548414"/>
              <a:ext cx="2112207" cy="249364"/>
            </a:xfrm>
            <a:prstGeom prst="rect">
              <a:avLst/>
            </a:prstGeom>
            <a:noFill/>
            <a:ln>
              <a:noFill/>
            </a:ln>
          </p:spPr>
          <p:txBody>
            <a:bodyPr wrap="none" lIns="0" tIns="0" rIns="0" bIns="0" anchor="t" anchorCtr="0">
              <a:spAutoFit/>
            </a:bodyPr>
            <a:lstStyle/>
            <a:p>
              <a:pPr algn="l"/>
              <a:r>
                <a:rPr lang="en-GB" sz="1280" dirty="0">
                  <a:solidFill>
                    <a:schemeClr val="accent5"/>
                  </a:solidFill>
                  <a:latin typeface="+mn-lt"/>
                  <a:ea typeface="+mn-ea"/>
                  <a:cs typeface="+mn-cs"/>
                </a:rPr>
                <a:t>Rules engines guess from</a:t>
              </a:r>
              <a:endParaRPr lang="en-GB" sz="1280" dirty="0">
                <a:solidFill>
                  <a:schemeClr val="accent5"/>
                </a:solidFill>
                <a:latin typeface="+mn-lt"/>
                <a:ea typeface="+mn-ea"/>
                <a:cs typeface="+mn-cs"/>
              </a:endParaRPr>
            </a:p>
          </p:txBody>
        </p:sp>
        <p:sp>
          <p:nvSpPr>
            <p:cNvPr id="13" name="TextBox 13"/>
            <p:cNvSpPr txBox="1"/>
            <p:nvPr/>
          </p:nvSpPr>
          <p:spPr>
            <a:xfrm>
              <a:off x="1136523" y="2757964"/>
              <a:ext cx="1546545" cy="249364"/>
            </a:xfrm>
            <a:prstGeom prst="rect">
              <a:avLst/>
            </a:prstGeom>
            <a:noFill/>
            <a:ln>
              <a:noFill/>
            </a:ln>
          </p:spPr>
          <p:txBody>
            <a:bodyPr wrap="none" lIns="0" tIns="0" rIns="0" bIns="0" anchor="t" anchorCtr="0">
              <a:spAutoFit/>
            </a:bodyPr>
            <a:lstStyle/>
            <a:p>
              <a:pPr algn="l"/>
              <a:r>
                <a:rPr lang="en-GB" sz="1280" dirty="0">
                  <a:solidFill>
                    <a:schemeClr val="accent5"/>
                  </a:solidFill>
                  <a:latin typeface="+mn-lt"/>
                  <a:ea typeface="+mn-ea"/>
                  <a:cs typeface="+mn-cs"/>
                </a:rPr>
                <a:t>static conditions.</a:t>
              </a:r>
              <a:endParaRPr lang="en-GB" sz="1280" dirty="0">
                <a:solidFill>
                  <a:schemeClr val="accent5"/>
                </a:solidFill>
                <a:latin typeface="+mn-lt"/>
                <a:ea typeface="+mn-ea"/>
                <a:cs typeface="+mn-cs"/>
              </a:endParaRPr>
            </a:p>
          </p:txBody>
        </p:sp>
        <p:sp>
          <p:nvSpPr>
            <p:cNvPr id="14" name="Rectangle 14"/>
            <p:cNvSpPr/>
            <p:nvPr/>
          </p:nvSpPr>
          <p:spPr>
            <a:xfrm>
              <a:off x="6286500" y="2419350"/>
              <a:ext cx="5295900" cy="666750"/>
            </a:xfrm>
            <a:prstGeom prst="roundRect">
              <a:avLst>
                <a:gd name="adj" fmla="val 28571"/>
              </a:avLst>
            </a:prstGeom>
            <a:solidFill>
              <a:schemeClr val="lt2"/>
            </a:solidFill>
            <a:ln>
              <a:noFill/>
            </a:ln>
            <a:effectLst>
              <a:outerShdw blurRad="266700" dist="57150" dir="5400000" algn="ctr" rotWithShape="0">
                <a:srgbClr val="2FA875">
                  <a:alpha val="9000"/>
                </a:srgbClr>
              </a:outerShdw>
            </a:effectLst>
          </p:spPr>
        </p:sp>
        <p:sp>
          <p:nvSpPr>
            <p:cNvPr id="15" name="Freeform 15"/>
            <p:cNvSpPr/>
            <p:nvPr/>
          </p:nvSpPr>
          <p:spPr>
            <a:xfrm>
              <a:off x="6545203" y="2662238"/>
              <a:ext cx="149337" cy="142951"/>
            </a:xfrm>
            <a:custGeom>
              <a:avLst/>
              <a:gdLst/>
              <a:ahLst/>
              <a:cxnLst/>
              <a:rect l="l" t="t" r="r" b="b"/>
              <a:pathLst>
                <a:path w="149337" h="142951">
                  <a:moveTo>
                    <a:pt x="74658" y="0"/>
                  </a:moveTo>
                  <a:lnTo>
                    <a:pt x="75501" y="50"/>
                  </a:lnTo>
                  <a:lnTo>
                    <a:pt x="75922" y="107"/>
                  </a:lnTo>
                  <a:lnTo>
                    <a:pt x="76358" y="200"/>
                  </a:lnTo>
                  <a:lnTo>
                    <a:pt x="77151" y="443"/>
                  </a:lnTo>
                  <a:cubicBezTo>
                    <a:pt x="77699" y="645"/>
                    <a:pt x="78219" y="914"/>
                    <a:pt x="78701" y="1243"/>
                  </a:cubicBezTo>
                  <a:lnTo>
                    <a:pt x="79444" y="1829"/>
                  </a:lnTo>
                  <a:lnTo>
                    <a:pt x="81266" y="3386"/>
                  </a:lnTo>
                  <a:cubicBezTo>
                    <a:pt x="95677" y="15356"/>
                    <a:pt x="113890" y="21783"/>
                    <a:pt x="132622" y="21510"/>
                  </a:cubicBezTo>
                  <a:lnTo>
                    <a:pt x="135065" y="21438"/>
                  </a:lnTo>
                  <a:cubicBezTo>
                    <a:pt x="138353" y="21288"/>
                    <a:pt x="141317" y="23403"/>
                    <a:pt x="142245" y="26560"/>
                  </a:cubicBezTo>
                  <a:cubicBezTo>
                    <a:pt x="149337" y="50687"/>
                    <a:pt x="146342" y="76658"/>
                    <a:pt x="133945" y="98537"/>
                  </a:cubicBezTo>
                  <a:cubicBezTo>
                    <a:pt x="121547" y="120416"/>
                    <a:pt x="100807" y="136332"/>
                    <a:pt x="76465" y="142646"/>
                  </a:cubicBezTo>
                  <a:cubicBezTo>
                    <a:pt x="75289" y="142951"/>
                    <a:pt x="74055" y="142951"/>
                    <a:pt x="72879" y="142646"/>
                  </a:cubicBezTo>
                  <a:cubicBezTo>
                    <a:pt x="48536" y="136334"/>
                    <a:pt x="27794" y="120418"/>
                    <a:pt x="15395" y="98539"/>
                  </a:cubicBezTo>
                  <a:cubicBezTo>
                    <a:pt x="2996" y="76660"/>
                    <a:pt x="0" y="50688"/>
                    <a:pt x="7092" y="26560"/>
                  </a:cubicBezTo>
                  <a:cubicBezTo>
                    <a:pt x="8020" y="23403"/>
                    <a:pt x="10985" y="21288"/>
                    <a:pt x="14272" y="21438"/>
                  </a:cubicBezTo>
                  <a:cubicBezTo>
                    <a:pt x="33827" y="22332"/>
                    <a:pt x="53013" y="15895"/>
                    <a:pt x="68071" y="3386"/>
                  </a:cubicBezTo>
                  <a:lnTo>
                    <a:pt x="69950" y="1779"/>
                  </a:lnTo>
                  <a:lnTo>
                    <a:pt x="70636" y="1243"/>
                  </a:lnTo>
                  <a:cubicBezTo>
                    <a:pt x="71118" y="914"/>
                    <a:pt x="71638" y="645"/>
                    <a:pt x="72186" y="443"/>
                  </a:cubicBezTo>
                  <a:lnTo>
                    <a:pt x="72986" y="200"/>
                  </a:lnTo>
                  <a:cubicBezTo>
                    <a:pt x="73266" y="132"/>
                    <a:pt x="73550" y="82"/>
                    <a:pt x="73836" y="50"/>
                  </a:cubicBezTo>
                  <a:lnTo>
                    <a:pt x="74658" y="0"/>
                  </a:lnTo>
                  <a:close/>
                  <a:moveTo>
                    <a:pt x="101161" y="52099"/>
                  </a:moveTo>
                  <a:cubicBezTo>
                    <a:pt x="99821" y="50758"/>
                    <a:pt x="98003" y="50004"/>
                    <a:pt x="96107" y="50004"/>
                  </a:cubicBezTo>
                  <a:cubicBezTo>
                    <a:pt x="94211" y="50004"/>
                    <a:pt x="92393" y="50758"/>
                    <a:pt x="91053" y="52099"/>
                  </a:cubicBezTo>
                  <a:lnTo>
                    <a:pt x="67528" y="75617"/>
                  </a:lnTo>
                  <a:lnTo>
                    <a:pt x="58292" y="66387"/>
                  </a:lnTo>
                  <a:lnTo>
                    <a:pt x="57620" y="65794"/>
                  </a:lnTo>
                  <a:cubicBezTo>
                    <a:pt x="54640" y="63490"/>
                    <a:pt x="50383" y="63895"/>
                    <a:pt x="47892" y="66721"/>
                  </a:cubicBezTo>
                  <a:cubicBezTo>
                    <a:pt x="45401" y="69546"/>
                    <a:pt x="45531" y="73820"/>
                    <a:pt x="48190" y="76488"/>
                  </a:cubicBezTo>
                  <a:lnTo>
                    <a:pt x="62478" y="90776"/>
                  </a:lnTo>
                  <a:lnTo>
                    <a:pt x="63149" y="91369"/>
                  </a:lnTo>
                  <a:cubicBezTo>
                    <a:pt x="65993" y="93575"/>
                    <a:pt x="70034" y="93320"/>
                    <a:pt x="72579" y="90776"/>
                  </a:cubicBezTo>
                  <a:lnTo>
                    <a:pt x="101154" y="62201"/>
                  </a:lnTo>
                  <a:lnTo>
                    <a:pt x="101747" y="61529"/>
                  </a:lnTo>
                  <a:cubicBezTo>
                    <a:pt x="103953" y="58685"/>
                    <a:pt x="103699" y="54644"/>
                    <a:pt x="101154" y="52099"/>
                  </a:cubicBezTo>
                  <a:close/>
                </a:path>
              </a:pathLst>
            </a:custGeom>
            <a:solidFill>
              <a:schemeClr val="accent2"/>
            </a:solidFill>
            <a:ln>
              <a:noFill/>
            </a:ln>
          </p:spPr>
        </p:sp>
        <p:sp>
          <p:nvSpPr>
            <p:cNvPr id="16" name="TextBox 16"/>
            <p:cNvSpPr txBox="1"/>
            <p:nvPr/>
          </p:nvSpPr>
          <p:spPr>
            <a:xfrm>
              <a:off x="6813423" y="2548414"/>
              <a:ext cx="2129227" cy="249364"/>
            </a:xfrm>
            <a:prstGeom prst="rect">
              <a:avLst/>
            </a:prstGeom>
            <a:noFill/>
            <a:ln>
              <a:noFill/>
            </a:ln>
          </p:spPr>
          <p:txBody>
            <a:bodyPr wrap="none" lIns="0" tIns="0" rIns="0" bIns="0" anchor="t" anchorCtr="0">
              <a:spAutoFit/>
            </a:bodyPr>
            <a:lstStyle/>
            <a:p>
              <a:pPr algn="l"/>
              <a:r>
                <a:rPr lang="en-GB" sz="1280" dirty="0">
                  <a:solidFill>
                    <a:schemeClr val="dk1"/>
                  </a:solidFill>
                  <a:latin typeface="+mn-lt"/>
                  <a:ea typeface="+mn-ea"/>
                  <a:cs typeface="+mn-cs"/>
                </a:rPr>
                <a:t>Grounds every decision in</a:t>
              </a:r>
              <a:endParaRPr lang="en-GB" sz="1280" dirty="0">
                <a:solidFill>
                  <a:schemeClr val="dk1"/>
                </a:solidFill>
                <a:latin typeface="+mn-lt"/>
                <a:ea typeface="+mn-ea"/>
                <a:cs typeface="+mn-cs"/>
              </a:endParaRPr>
            </a:p>
          </p:txBody>
        </p:sp>
        <p:sp>
          <p:nvSpPr>
            <p:cNvPr id="17" name="TextBox 17"/>
            <p:cNvSpPr txBox="1"/>
            <p:nvPr/>
          </p:nvSpPr>
          <p:spPr>
            <a:xfrm>
              <a:off x="6813423" y="2757964"/>
              <a:ext cx="1348384" cy="249364"/>
            </a:xfrm>
            <a:prstGeom prst="rect">
              <a:avLst/>
            </a:prstGeom>
            <a:noFill/>
            <a:ln>
              <a:noFill/>
            </a:ln>
          </p:spPr>
          <p:txBody>
            <a:bodyPr wrap="none" lIns="0" tIns="0" rIns="0" bIns="0" anchor="t" anchorCtr="0">
              <a:spAutoFit/>
            </a:bodyPr>
            <a:lstStyle/>
            <a:p>
              <a:pPr algn="l"/>
              <a:r>
                <a:rPr lang="en-GB" sz="1280" dirty="0">
                  <a:solidFill>
                    <a:schemeClr val="dk1"/>
                  </a:solidFill>
                  <a:latin typeface="+mn-lt"/>
                  <a:ea typeface="+mn-ea"/>
                  <a:cs typeface="+mn-cs"/>
                </a:rPr>
                <a:t>real precedent.</a:t>
              </a:r>
              <a:endParaRPr lang="en-GB" sz="1280" dirty="0">
                <a:solidFill>
                  <a:schemeClr val="dk1"/>
                </a:solidFill>
                <a:latin typeface="+mn-lt"/>
                <a:ea typeface="+mn-ea"/>
                <a:cs typeface="+mn-cs"/>
              </a:endParaRPr>
            </a:p>
          </p:txBody>
        </p:sp>
      </p:grpSp>
      <p:grpSp>
        <p:nvGrpSpPr>
          <p:cNvPr id="27" name="Group 27"/>
          <p:cNvGrpSpPr/>
          <p:nvPr/>
        </p:nvGrpSpPr>
        <p:grpSpPr>
          <a:xfrm>
            <a:off x="609600" y="3200400"/>
            <a:ext cx="10972800" cy="666750"/>
            <a:chOff x="609600" y="3200400"/>
            <a:chExt cx="10972800" cy="666750"/>
          </a:xfrm>
        </p:grpSpPr>
        <p:sp>
          <p:nvSpPr>
            <p:cNvPr id="19" name="Rectangle 19"/>
            <p:cNvSpPr/>
            <p:nvPr/>
          </p:nvSpPr>
          <p:spPr>
            <a:xfrm>
              <a:off x="609600" y="3200400"/>
              <a:ext cx="5295900" cy="666750"/>
            </a:xfrm>
            <a:prstGeom prst="roundRect">
              <a:avLst>
                <a:gd name="adj" fmla="val 28571"/>
              </a:avLst>
            </a:prstGeom>
            <a:solidFill>
              <a:schemeClr val="lt2"/>
            </a:solidFill>
            <a:ln>
              <a:noFill/>
            </a:ln>
            <a:effectLst>
              <a:outerShdw blurRad="266700" dist="57150" dir="5400000" algn="ctr" rotWithShape="0">
                <a:srgbClr val="7C6FE0">
                  <a:alpha val="7500"/>
                </a:srgbClr>
              </a:outerShdw>
            </a:effectLst>
          </p:spPr>
        </p:sp>
        <p:sp>
          <p:nvSpPr>
            <p:cNvPr id="20" name="Ellipse 20"/>
            <p:cNvSpPr/>
            <p:nvPr/>
          </p:nvSpPr>
          <p:spPr>
            <a:xfrm>
              <a:off x="876300" y="3476625"/>
              <a:ext cx="114300" cy="114300"/>
            </a:xfrm>
            <a:prstGeom prst="ellipse">
              <a:avLst/>
            </a:prstGeom>
            <a:solidFill>
              <a:srgbClr val="B7AFC9"/>
            </a:solidFill>
            <a:ln>
              <a:noFill/>
            </a:ln>
          </p:spPr>
        </p:sp>
        <p:sp>
          <p:nvSpPr>
            <p:cNvPr id="21" name="TextBox 21"/>
            <p:cNvSpPr txBox="1"/>
            <p:nvPr/>
          </p:nvSpPr>
          <p:spPr>
            <a:xfrm>
              <a:off x="1136523" y="3329464"/>
              <a:ext cx="1741509" cy="249364"/>
            </a:xfrm>
            <a:prstGeom prst="rect">
              <a:avLst/>
            </a:prstGeom>
            <a:noFill/>
            <a:ln>
              <a:noFill/>
            </a:ln>
          </p:spPr>
          <p:txBody>
            <a:bodyPr wrap="none" lIns="0" tIns="0" rIns="0" bIns="0" anchor="t" anchorCtr="0">
              <a:spAutoFit/>
            </a:bodyPr>
            <a:lstStyle/>
            <a:p>
              <a:pPr algn="l"/>
              <a:r>
                <a:rPr lang="en-GB" sz="1280" dirty="0">
                  <a:solidFill>
                    <a:schemeClr val="accent5"/>
                  </a:solidFill>
                  <a:latin typeface="+mn-lt"/>
                  <a:ea typeface="+mn-ea"/>
                  <a:cs typeface="+mn-cs"/>
                </a:rPr>
                <a:t>Chat assistants only</a:t>
              </a:r>
              <a:endParaRPr lang="en-GB" sz="1280" dirty="0">
                <a:solidFill>
                  <a:schemeClr val="accent5"/>
                </a:solidFill>
                <a:latin typeface="+mn-lt"/>
                <a:ea typeface="+mn-ea"/>
                <a:cs typeface="+mn-cs"/>
              </a:endParaRPr>
            </a:p>
          </p:txBody>
        </p:sp>
        <p:sp>
          <p:nvSpPr>
            <p:cNvPr id="22" name="TextBox 22"/>
            <p:cNvSpPr txBox="1"/>
            <p:nvPr/>
          </p:nvSpPr>
          <p:spPr>
            <a:xfrm>
              <a:off x="1136523" y="3539014"/>
              <a:ext cx="1253612" cy="249364"/>
            </a:xfrm>
            <a:prstGeom prst="rect">
              <a:avLst/>
            </a:prstGeom>
            <a:noFill/>
            <a:ln>
              <a:noFill/>
            </a:ln>
          </p:spPr>
          <p:txBody>
            <a:bodyPr wrap="none" lIns="0" tIns="0" rIns="0" bIns="0" anchor="t" anchorCtr="0">
              <a:spAutoFit/>
            </a:bodyPr>
            <a:lstStyle/>
            <a:p>
              <a:pPr algn="l"/>
              <a:r>
                <a:rPr lang="en-GB" sz="1280" dirty="0">
                  <a:solidFill>
                    <a:schemeClr val="accent5"/>
                  </a:solidFill>
                  <a:latin typeface="+mn-lt"/>
                  <a:ea typeface="+mn-ea"/>
                  <a:cs typeface="+mn-cs"/>
                </a:rPr>
                <a:t>suggest fixes.</a:t>
              </a:r>
              <a:endParaRPr lang="en-GB" sz="1280" dirty="0">
                <a:solidFill>
                  <a:schemeClr val="accent5"/>
                </a:solidFill>
                <a:latin typeface="+mn-lt"/>
                <a:ea typeface="+mn-ea"/>
                <a:cs typeface="+mn-cs"/>
              </a:endParaRPr>
            </a:p>
          </p:txBody>
        </p:sp>
        <p:sp>
          <p:nvSpPr>
            <p:cNvPr id="23" name="Rectangle 23"/>
            <p:cNvSpPr/>
            <p:nvPr/>
          </p:nvSpPr>
          <p:spPr>
            <a:xfrm>
              <a:off x="6286500" y="3200400"/>
              <a:ext cx="5295900" cy="666750"/>
            </a:xfrm>
            <a:prstGeom prst="roundRect">
              <a:avLst>
                <a:gd name="adj" fmla="val 28571"/>
              </a:avLst>
            </a:prstGeom>
            <a:solidFill>
              <a:schemeClr val="lt2"/>
            </a:solidFill>
            <a:ln>
              <a:noFill/>
            </a:ln>
            <a:effectLst>
              <a:outerShdw blurRad="266700" dist="57150" dir="5400000" algn="ctr" rotWithShape="0">
                <a:srgbClr val="2FA875">
                  <a:alpha val="9000"/>
                </a:srgbClr>
              </a:outerShdw>
            </a:effectLst>
          </p:spPr>
        </p:sp>
        <p:sp>
          <p:nvSpPr>
            <p:cNvPr id="24" name="Freeform 24"/>
            <p:cNvSpPr/>
            <p:nvPr/>
          </p:nvSpPr>
          <p:spPr>
            <a:xfrm>
              <a:off x="6545203" y="3443288"/>
              <a:ext cx="149337" cy="142951"/>
            </a:xfrm>
            <a:custGeom>
              <a:avLst/>
              <a:gdLst/>
              <a:ahLst/>
              <a:cxnLst/>
              <a:rect l="l" t="t" r="r" b="b"/>
              <a:pathLst>
                <a:path w="149337" h="142951">
                  <a:moveTo>
                    <a:pt x="74658" y="0"/>
                  </a:moveTo>
                  <a:lnTo>
                    <a:pt x="75501" y="50"/>
                  </a:lnTo>
                  <a:lnTo>
                    <a:pt x="75922" y="107"/>
                  </a:lnTo>
                  <a:lnTo>
                    <a:pt x="76358" y="200"/>
                  </a:lnTo>
                  <a:lnTo>
                    <a:pt x="77151" y="443"/>
                  </a:lnTo>
                  <a:cubicBezTo>
                    <a:pt x="77699" y="645"/>
                    <a:pt x="78219" y="914"/>
                    <a:pt x="78701" y="1243"/>
                  </a:cubicBezTo>
                  <a:lnTo>
                    <a:pt x="79444" y="1829"/>
                  </a:lnTo>
                  <a:lnTo>
                    <a:pt x="81266" y="3386"/>
                  </a:lnTo>
                  <a:cubicBezTo>
                    <a:pt x="95677" y="15356"/>
                    <a:pt x="113890" y="21783"/>
                    <a:pt x="132622" y="21510"/>
                  </a:cubicBezTo>
                  <a:lnTo>
                    <a:pt x="135065" y="21438"/>
                  </a:lnTo>
                  <a:cubicBezTo>
                    <a:pt x="138353" y="21288"/>
                    <a:pt x="141317" y="23403"/>
                    <a:pt x="142245" y="26560"/>
                  </a:cubicBezTo>
                  <a:cubicBezTo>
                    <a:pt x="149337" y="50687"/>
                    <a:pt x="146342" y="76658"/>
                    <a:pt x="133945" y="98537"/>
                  </a:cubicBezTo>
                  <a:cubicBezTo>
                    <a:pt x="121547" y="120416"/>
                    <a:pt x="100807" y="136332"/>
                    <a:pt x="76465" y="142646"/>
                  </a:cubicBezTo>
                  <a:cubicBezTo>
                    <a:pt x="75289" y="142951"/>
                    <a:pt x="74055" y="142951"/>
                    <a:pt x="72879" y="142646"/>
                  </a:cubicBezTo>
                  <a:cubicBezTo>
                    <a:pt x="48536" y="136334"/>
                    <a:pt x="27794" y="120418"/>
                    <a:pt x="15395" y="98539"/>
                  </a:cubicBezTo>
                  <a:cubicBezTo>
                    <a:pt x="2996" y="76660"/>
                    <a:pt x="0" y="50688"/>
                    <a:pt x="7092" y="26560"/>
                  </a:cubicBezTo>
                  <a:cubicBezTo>
                    <a:pt x="8020" y="23403"/>
                    <a:pt x="10985" y="21288"/>
                    <a:pt x="14272" y="21438"/>
                  </a:cubicBezTo>
                  <a:cubicBezTo>
                    <a:pt x="33827" y="22332"/>
                    <a:pt x="53013" y="15895"/>
                    <a:pt x="68071" y="3386"/>
                  </a:cubicBezTo>
                  <a:lnTo>
                    <a:pt x="69950" y="1779"/>
                  </a:lnTo>
                  <a:lnTo>
                    <a:pt x="70636" y="1243"/>
                  </a:lnTo>
                  <a:cubicBezTo>
                    <a:pt x="71118" y="914"/>
                    <a:pt x="71638" y="645"/>
                    <a:pt x="72186" y="443"/>
                  </a:cubicBezTo>
                  <a:lnTo>
                    <a:pt x="72986" y="200"/>
                  </a:lnTo>
                  <a:cubicBezTo>
                    <a:pt x="73266" y="132"/>
                    <a:pt x="73550" y="82"/>
                    <a:pt x="73836" y="50"/>
                  </a:cubicBezTo>
                  <a:lnTo>
                    <a:pt x="74658" y="0"/>
                  </a:lnTo>
                  <a:close/>
                  <a:moveTo>
                    <a:pt x="101161" y="52099"/>
                  </a:moveTo>
                  <a:cubicBezTo>
                    <a:pt x="99821" y="50758"/>
                    <a:pt x="98003" y="50004"/>
                    <a:pt x="96107" y="50004"/>
                  </a:cubicBezTo>
                  <a:cubicBezTo>
                    <a:pt x="94211" y="50004"/>
                    <a:pt x="92393" y="50758"/>
                    <a:pt x="91053" y="52099"/>
                  </a:cubicBezTo>
                  <a:lnTo>
                    <a:pt x="67528" y="75617"/>
                  </a:lnTo>
                  <a:lnTo>
                    <a:pt x="58292" y="66387"/>
                  </a:lnTo>
                  <a:lnTo>
                    <a:pt x="57620" y="65794"/>
                  </a:lnTo>
                  <a:cubicBezTo>
                    <a:pt x="54640" y="63490"/>
                    <a:pt x="50383" y="63895"/>
                    <a:pt x="47892" y="66721"/>
                  </a:cubicBezTo>
                  <a:cubicBezTo>
                    <a:pt x="45401" y="69546"/>
                    <a:pt x="45531" y="73820"/>
                    <a:pt x="48190" y="76488"/>
                  </a:cubicBezTo>
                  <a:lnTo>
                    <a:pt x="62478" y="90776"/>
                  </a:lnTo>
                  <a:lnTo>
                    <a:pt x="63149" y="91369"/>
                  </a:lnTo>
                  <a:cubicBezTo>
                    <a:pt x="65993" y="93575"/>
                    <a:pt x="70034" y="93320"/>
                    <a:pt x="72579" y="90776"/>
                  </a:cubicBezTo>
                  <a:lnTo>
                    <a:pt x="101154" y="62201"/>
                  </a:lnTo>
                  <a:lnTo>
                    <a:pt x="101747" y="61529"/>
                  </a:lnTo>
                  <a:cubicBezTo>
                    <a:pt x="103953" y="58685"/>
                    <a:pt x="103699" y="54644"/>
                    <a:pt x="101154" y="52099"/>
                  </a:cubicBezTo>
                  <a:close/>
                </a:path>
              </a:pathLst>
            </a:custGeom>
            <a:solidFill>
              <a:schemeClr val="accent2"/>
            </a:solidFill>
            <a:ln>
              <a:noFill/>
            </a:ln>
          </p:spPr>
        </p:sp>
        <p:sp>
          <p:nvSpPr>
            <p:cNvPr id="25" name="TextBox 25"/>
            <p:cNvSpPr txBox="1"/>
            <p:nvPr/>
          </p:nvSpPr>
          <p:spPr>
            <a:xfrm>
              <a:off x="6813423" y="3329464"/>
              <a:ext cx="1904836" cy="249364"/>
            </a:xfrm>
            <a:prstGeom prst="rect">
              <a:avLst/>
            </a:prstGeom>
            <a:noFill/>
            <a:ln>
              <a:noFill/>
            </a:ln>
          </p:spPr>
          <p:txBody>
            <a:bodyPr wrap="none" lIns="0" tIns="0" rIns="0" bIns="0" anchor="t" anchorCtr="0">
              <a:spAutoFit/>
            </a:bodyPr>
            <a:lstStyle/>
            <a:p>
              <a:pPr algn="l"/>
              <a:r>
                <a:rPr lang="en-GB" sz="1280" dirty="0">
                  <a:solidFill>
                    <a:schemeClr val="dk1"/>
                  </a:solidFill>
                  <a:latin typeface="+mn-lt"/>
                  <a:ea typeface="+mn-ea"/>
                  <a:cs typeface="+mn-cs"/>
                </a:rPr>
                <a:t>Executes live over SSH</a:t>
              </a:r>
              <a:endParaRPr lang="en-GB" sz="1280" dirty="0">
                <a:solidFill>
                  <a:schemeClr val="dk1"/>
                </a:solidFill>
                <a:latin typeface="+mn-lt"/>
                <a:ea typeface="+mn-ea"/>
                <a:cs typeface="+mn-cs"/>
              </a:endParaRPr>
            </a:p>
          </p:txBody>
        </p:sp>
        <p:sp>
          <p:nvSpPr>
            <p:cNvPr id="26" name="TextBox 26"/>
            <p:cNvSpPr txBox="1"/>
            <p:nvPr/>
          </p:nvSpPr>
          <p:spPr>
            <a:xfrm>
              <a:off x="6813423" y="3539014"/>
              <a:ext cx="1813631" cy="249364"/>
            </a:xfrm>
            <a:prstGeom prst="rect">
              <a:avLst/>
            </a:prstGeom>
            <a:noFill/>
            <a:ln>
              <a:noFill/>
            </a:ln>
          </p:spPr>
          <p:txBody>
            <a:bodyPr wrap="none" lIns="0" tIns="0" rIns="0" bIns="0" anchor="t" anchorCtr="0">
              <a:spAutoFit/>
            </a:bodyPr>
            <a:lstStyle/>
            <a:p>
              <a:pPr algn="l"/>
              <a:r>
                <a:rPr lang="en-GB" sz="1280" dirty="0">
                  <a:solidFill>
                    <a:schemeClr val="dk1"/>
                  </a:solidFill>
                  <a:latin typeface="+mn-lt"/>
                  <a:ea typeface="+mn-ea"/>
                  <a:cs typeface="+mn-cs"/>
                </a:rPr>
                <a:t>with captured proof.</a:t>
              </a:r>
              <a:endParaRPr lang="en-GB" sz="1280" dirty="0">
                <a:solidFill>
                  <a:schemeClr val="dk1"/>
                </a:solidFill>
                <a:latin typeface="+mn-lt"/>
                <a:ea typeface="+mn-ea"/>
                <a:cs typeface="+mn-cs"/>
              </a:endParaRPr>
            </a:p>
          </p:txBody>
        </p:sp>
      </p:grpSp>
      <p:grpSp>
        <p:nvGrpSpPr>
          <p:cNvPr id="36" name="Group 36"/>
          <p:cNvGrpSpPr/>
          <p:nvPr/>
        </p:nvGrpSpPr>
        <p:grpSpPr>
          <a:xfrm>
            <a:off x="609600" y="3981450"/>
            <a:ext cx="10972800" cy="666750"/>
            <a:chOff x="609600" y="3981450"/>
            <a:chExt cx="10972800" cy="666750"/>
          </a:xfrm>
        </p:grpSpPr>
        <p:sp>
          <p:nvSpPr>
            <p:cNvPr id="28" name="Rectangle 28"/>
            <p:cNvSpPr/>
            <p:nvPr/>
          </p:nvSpPr>
          <p:spPr>
            <a:xfrm>
              <a:off x="609600" y="3981450"/>
              <a:ext cx="5295900" cy="666750"/>
            </a:xfrm>
            <a:prstGeom prst="roundRect">
              <a:avLst>
                <a:gd name="adj" fmla="val 28571"/>
              </a:avLst>
            </a:prstGeom>
            <a:solidFill>
              <a:schemeClr val="lt2"/>
            </a:solidFill>
            <a:ln>
              <a:noFill/>
            </a:ln>
            <a:effectLst>
              <a:outerShdw blurRad="266700" dist="57150" dir="5400000" algn="ctr" rotWithShape="0">
                <a:srgbClr val="7C6FE0">
                  <a:alpha val="7500"/>
                </a:srgbClr>
              </a:outerShdw>
            </a:effectLst>
          </p:spPr>
        </p:sp>
        <p:sp>
          <p:nvSpPr>
            <p:cNvPr id="29" name="Ellipse 29"/>
            <p:cNvSpPr/>
            <p:nvPr/>
          </p:nvSpPr>
          <p:spPr>
            <a:xfrm>
              <a:off x="876300" y="4257675"/>
              <a:ext cx="114300" cy="114300"/>
            </a:xfrm>
            <a:prstGeom prst="ellipse">
              <a:avLst/>
            </a:prstGeom>
            <a:solidFill>
              <a:srgbClr val="B7AFC9"/>
            </a:solidFill>
            <a:ln>
              <a:noFill/>
            </a:ln>
          </p:spPr>
        </p:sp>
        <p:sp>
          <p:nvSpPr>
            <p:cNvPr id="30" name="TextBox 30"/>
            <p:cNvSpPr txBox="1"/>
            <p:nvPr/>
          </p:nvSpPr>
          <p:spPr>
            <a:xfrm>
              <a:off x="1136523" y="4110514"/>
              <a:ext cx="1965899" cy="249364"/>
            </a:xfrm>
            <a:prstGeom prst="rect">
              <a:avLst/>
            </a:prstGeom>
            <a:noFill/>
            <a:ln>
              <a:noFill/>
            </a:ln>
          </p:spPr>
          <p:txBody>
            <a:bodyPr wrap="none" lIns="0" tIns="0" rIns="0" bIns="0" anchor="t" anchorCtr="0">
              <a:spAutoFit/>
            </a:bodyPr>
            <a:lstStyle/>
            <a:p>
              <a:pPr algn="l"/>
              <a:r>
                <a:rPr lang="en-GB" sz="1280" dirty="0">
                  <a:solidFill>
                    <a:schemeClr val="accent5"/>
                  </a:solidFill>
                  <a:latin typeface="+mn-lt"/>
                  <a:ea typeface="+mn-ea"/>
                  <a:cs typeface="+mn-cs"/>
                </a:rPr>
                <a:t>Trusts its own success</a:t>
              </a:r>
              <a:endParaRPr lang="en-GB" sz="1280" dirty="0">
                <a:solidFill>
                  <a:schemeClr val="accent5"/>
                </a:solidFill>
                <a:latin typeface="+mn-lt"/>
                <a:ea typeface="+mn-ea"/>
                <a:cs typeface="+mn-cs"/>
              </a:endParaRPr>
            </a:p>
          </p:txBody>
        </p:sp>
        <p:sp>
          <p:nvSpPr>
            <p:cNvPr id="31" name="TextBox 31"/>
            <p:cNvSpPr txBox="1"/>
            <p:nvPr/>
          </p:nvSpPr>
          <p:spPr>
            <a:xfrm>
              <a:off x="1136523" y="4320064"/>
              <a:ext cx="529895" cy="249364"/>
            </a:xfrm>
            <a:prstGeom prst="rect">
              <a:avLst/>
            </a:prstGeom>
            <a:noFill/>
            <a:ln>
              <a:noFill/>
            </a:ln>
          </p:spPr>
          <p:txBody>
            <a:bodyPr wrap="none" lIns="0" tIns="0" rIns="0" bIns="0" anchor="t" anchorCtr="0">
              <a:spAutoFit/>
            </a:bodyPr>
            <a:lstStyle/>
            <a:p>
              <a:pPr algn="l"/>
              <a:r>
                <a:rPr lang="en-GB" sz="1280" dirty="0">
                  <a:solidFill>
                    <a:schemeClr val="accent5"/>
                  </a:solidFill>
                  <a:latin typeface="+mn-lt"/>
                  <a:ea typeface="+mn-ea"/>
                  <a:cs typeface="+mn-cs"/>
                </a:rPr>
                <a:t>claim.</a:t>
              </a:r>
              <a:endParaRPr lang="en-GB" sz="1280" dirty="0">
                <a:solidFill>
                  <a:schemeClr val="accent5"/>
                </a:solidFill>
                <a:latin typeface="+mn-lt"/>
                <a:ea typeface="+mn-ea"/>
                <a:cs typeface="+mn-cs"/>
              </a:endParaRPr>
            </a:p>
          </p:txBody>
        </p:sp>
        <p:sp>
          <p:nvSpPr>
            <p:cNvPr id="32" name="Rectangle 32"/>
            <p:cNvSpPr/>
            <p:nvPr/>
          </p:nvSpPr>
          <p:spPr>
            <a:xfrm>
              <a:off x="6286500" y="3981450"/>
              <a:ext cx="5295900" cy="666750"/>
            </a:xfrm>
            <a:prstGeom prst="roundRect">
              <a:avLst>
                <a:gd name="adj" fmla="val 28571"/>
              </a:avLst>
            </a:prstGeom>
            <a:solidFill>
              <a:schemeClr val="lt2"/>
            </a:solidFill>
            <a:ln>
              <a:noFill/>
            </a:ln>
            <a:effectLst>
              <a:outerShdw blurRad="266700" dist="57150" dir="5400000" algn="ctr" rotWithShape="0">
                <a:srgbClr val="2FA875">
                  <a:alpha val="9000"/>
                </a:srgbClr>
              </a:outerShdw>
            </a:effectLst>
          </p:spPr>
        </p:sp>
        <p:sp>
          <p:nvSpPr>
            <p:cNvPr id="33" name="Freeform 33"/>
            <p:cNvSpPr/>
            <p:nvPr/>
          </p:nvSpPr>
          <p:spPr>
            <a:xfrm>
              <a:off x="6545203" y="4224338"/>
              <a:ext cx="149337" cy="142951"/>
            </a:xfrm>
            <a:custGeom>
              <a:avLst/>
              <a:gdLst/>
              <a:ahLst/>
              <a:cxnLst/>
              <a:rect l="l" t="t" r="r" b="b"/>
              <a:pathLst>
                <a:path w="149337" h="142951">
                  <a:moveTo>
                    <a:pt x="74658" y="0"/>
                  </a:moveTo>
                  <a:lnTo>
                    <a:pt x="75501" y="50"/>
                  </a:lnTo>
                  <a:lnTo>
                    <a:pt x="75922" y="107"/>
                  </a:lnTo>
                  <a:lnTo>
                    <a:pt x="76358" y="200"/>
                  </a:lnTo>
                  <a:lnTo>
                    <a:pt x="77151" y="443"/>
                  </a:lnTo>
                  <a:cubicBezTo>
                    <a:pt x="77699" y="645"/>
                    <a:pt x="78219" y="914"/>
                    <a:pt x="78701" y="1243"/>
                  </a:cubicBezTo>
                  <a:lnTo>
                    <a:pt x="79444" y="1829"/>
                  </a:lnTo>
                  <a:lnTo>
                    <a:pt x="81266" y="3386"/>
                  </a:lnTo>
                  <a:cubicBezTo>
                    <a:pt x="95677" y="15356"/>
                    <a:pt x="113890" y="21783"/>
                    <a:pt x="132622" y="21510"/>
                  </a:cubicBezTo>
                  <a:lnTo>
                    <a:pt x="135065" y="21438"/>
                  </a:lnTo>
                  <a:cubicBezTo>
                    <a:pt x="138353" y="21288"/>
                    <a:pt x="141317" y="23403"/>
                    <a:pt x="142245" y="26560"/>
                  </a:cubicBezTo>
                  <a:cubicBezTo>
                    <a:pt x="149337" y="50687"/>
                    <a:pt x="146342" y="76658"/>
                    <a:pt x="133945" y="98537"/>
                  </a:cubicBezTo>
                  <a:cubicBezTo>
                    <a:pt x="121547" y="120416"/>
                    <a:pt x="100807" y="136332"/>
                    <a:pt x="76465" y="142646"/>
                  </a:cubicBezTo>
                  <a:cubicBezTo>
                    <a:pt x="75289" y="142951"/>
                    <a:pt x="74055" y="142951"/>
                    <a:pt x="72879" y="142646"/>
                  </a:cubicBezTo>
                  <a:cubicBezTo>
                    <a:pt x="48536" y="136334"/>
                    <a:pt x="27794" y="120418"/>
                    <a:pt x="15395" y="98539"/>
                  </a:cubicBezTo>
                  <a:cubicBezTo>
                    <a:pt x="2996" y="76660"/>
                    <a:pt x="0" y="50688"/>
                    <a:pt x="7092" y="26560"/>
                  </a:cubicBezTo>
                  <a:cubicBezTo>
                    <a:pt x="8020" y="23403"/>
                    <a:pt x="10985" y="21288"/>
                    <a:pt x="14272" y="21438"/>
                  </a:cubicBezTo>
                  <a:cubicBezTo>
                    <a:pt x="33827" y="22332"/>
                    <a:pt x="53013" y="15895"/>
                    <a:pt x="68071" y="3386"/>
                  </a:cubicBezTo>
                  <a:lnTo>
                    <a:pt x="69950" y="1779"/>
                  </a:lnTo>
                  <a:lnTo>
                    <a:pt x="70636" y="1243"/>
                  </a:lnTo>
                  <a:cubicBezTo>
                    <a:pt x="71118" y="914"/>
                    <a:pt x="71638" y="645"/>
                    <a:pt x="72186" y="443"/>
                  </a:cubicBezTo>
                  <a:lnTo>
                    <a:pt x="72986" y="200"/>
                  </a:lnTo>
                  <a:cubicBezTo>
                    <a:pt x="73266" y="132"/>
                    <a:pt x="73550" y="82"/>
                    <a:pt x="73836" y="50"/>
                  </a:cubicBezTo>
                  <a:lnTo>
                    <a:pt x="74658" y="0"/>
                  </a:lnTo>
                  <a:close/>
                  <a:moveTo>
                    <a:pt x="101161" y="52099"/>
                  </a:moveTo>
                  <a:cubicBezTo>
                    <a:pt x="99821" y="50758"/>
                    <a:pt x="98003" y="50004"/>
                    <a:pt x="96107" y="50004"/>
                  </a:cubicBezTo>
                  <a:cubicBezTo>
                    <a:pt x="94211" y="50004"/>
                    <a:pt x="92393" y="50758"/>
                    <a:pt x="91053" y="52099"/>
                  </a:cubicBezTo>
                  <a:lnTo>
                    <a:pt x="67528" y="75617"/>
                  </a:lnTo>
                  <a:lnTo>
                    <a:pt x="58292" y="66387"/>
                  </a:lnTo>
                  <a:lnTo>
                    <a:pt x="57620" y="65794"/>
                  </a:lnTo>
                  <a:cubicBezTo>
                    <a:pt x="54640" y="63490"/>
                    <a:pt x="50383" y="63895"/>
                    <a:pt x="47892" y="66721"/>
                  </a:cubicBezTo>
                  <a:cubicBezTo>
                    <a:pt x="45401" y="69546"/>
                    <a:pt x="45531" y="73820"/>
                    <a:pt x="48190" y="76488"/>
                  </a:cubicBezTo>
                  <a:lnTo>
                    <a:pt x="62478" y="90776"/>
                  </a:lnTo>
                  <a:lnTo>
                    <a:pt x="63149" y="91369"/>
                  </a:lnTo>
                  <a:cubicBezTo>
                    <a:pt x="65993" y="93575"/>
                    <a:pt x="70034" y="93320"/>
                    <a:pt x="72579" y="90776"/>
                  </a:cubicBezTo>
                  <a:lnTo>
                    <a:pt x="101154" y="62201"/>
                  </a:lnTo>
                  <a:lnTo>
                    <a:pt x="101747" y="61529"/>
                  </a:lnTo>
                  <a:cubicBezTo>
                    <a:pt x="103953" y="58685"/>
                    <a:pt x="103699" y="54644"/>
                    <a:pt x="101154" y="52099"/>
                  </a:cubicBezTo>
                  <a:close/>
                </a:path>
              </a:pathLst>
            </a:custGeom>
            <a:solidFill>
              <a:schemeClr val="accent2"/>
            </a:solidFill>
            <a:ln>
              <a:noFill/>
            </a:ln>
          </p:spPr>
        </p:sp>
        <p:sp>
          <p:nvSpPr>
            <p:cNvPr id="34" name="TextBox 34"/>
            <p:cNvSpPr txBox="1"/>
            <p:nvPr/>
          </p:nvSpPr>
          <p:spPr>
            <a:xfrm>
              <a:off x="6813423" y="4110514"/>
              <a:ext cx="1500443" cy="249364"/>
            </a:xfrm>
            <a:prstGeom prst="rect">
              <a:avLst/>
            </a:prstGeom>
            <a:noFill/>
            <a:ln>
              <a:noFill/>
            </a:ln>
          </p:spPr>
          <p:txBody>
            <a:bodyPr wrap="none" lIns="0" tIns="0" rIns="0" bIns="0" anchor="t" anchorCtr="0">
              <a:spAutoFit/>
            </a:bodyPr>
            <a:lstStyle/>
            <a:p>
              <a:pPr algn="l"/>
              <a:r>
                <a:rPr lang="en-GB" sz="1280" dirty="0">
                  <a:solidFill>
                    <a:schemeClr val="dk1"/>
                  </a:solidFill>
                  <a:latin typeface="+mn-lt"/>
                  <a:ea typeface="+mn-ea"/>
                  <a:cs typeface="+mn-cs"/>
                </a:rPr>
                <a:t>Requires in-guest</a:t>
              </a:r>
              <a:endParaRPr lang="en-GB" sz="1280" dirty="0">
                <a:solidFill>
                  <a:schemeClr val="dk1"/>
                </a:solidFill>
                <a:latin typeface="+mn-lt"/>
                <a:ea typeface="+mn-ea"/>
                <a:cs typeface="+mn-cs"/>
              </a:endParaRPr>
            </a:p>
          </p:txBody>
        </p:sp>
        <p:sp>
          <p:nvSpPr>
            <p:cNvPr id="35" name="TextBox 35"/>
            <p:cNvSpPr txBox="1"/>
            <p:nvPr/>
          </p:nvSpPr>
          <p:spPr>
            <a:xfrm>
              <a:off x="6813423" y="4320064"/>
              <a:ext cx="1598239" cy="249364"/>
            </a:xfrm>
            <a:prstGeom prst="rect">
              <a:avLst/>
            </a:prstGeom>
            <a:noFill/>
            <a:ln>
              <a:noFill/>
            </a:ln>
          </p:spPr>
          <p:txBody>
            <a:bodyPr wrap="none" lIns="0" tIns="0" rIns="0" bIns="0" anchor="t" anchorCtr="0">
              <a:spAutoFit/>
            </a:bodyPr>
            <a:lstStyle/>
            <a:p>
              <a:pPr algn="l"/>
              <a:r>
                <a:rPr lang="en-GB" sz="1280" dirty="0">
                  <a:solidFill>
                    <a:schemeClr val="dk1"/>
                  </a:solidFill>
                  <a:latin typeface="+mn-lt"/>
                  <a:ea typeface="+mn-ea"/>
                  <a:cs typeface="+mn-cs"/>
                </a:rPr>
                <a:t>verification first.</a:t>
              </a:r>
              <a:endParaRPr lang="en-GB" sz="1280" dirty="0">
                <a:solidFill>
                  <a:schemeClr val="dk1"/>
                </a:solidFill>
                <a:latin typeface="+mn-lt"/>
                <a:ea typeface="+mn-ea"/>
                <a:cs typeface="+mn-cs"/>
              </a:endParaRPr>
            </a:p>
          </p:txBody>
        </p:sp>
      </p:grpSp>
      <p:grpSp>
        <p:nvGrpSpPr>
          <p:cNvPr id="45" name="Group 45"/>
          <p:cNvGrpSpPr/>
          <p:nvPr/>
        </p:nvGrpSpPr>
        <p:grpSpPr>
          <a:xfrm>
            <a:off x="609600" y="4762500"/>
            <a:ext cx="10972800" cy="666750"/>
            <a:chOff x="609600" y="4762500"/>
            <a:chExt cx="10972800" cy="666750"/>
          </a:xfrm>
        </p:grpSpPr>
        <p:sp>
          <p:nvSpPr>
            <p:cNvPr id="37" name="Rectangle 37"/>
            <p:cNvSpPr/>
            <p:nvPr/>
          </p:nvSpPr>
          <p:spPr>
            <a:xfrm>
              <a:off x="609600" y="4762500"/>
              <a:ext cx="5295900" cy="666750"/>
            </a:xfrm>
            <a:prstGeom prst="roundRect">
              <a:avLst>
                <a:gd name="adj" fmla="val 28571"/>
              </a:avLst>
            </a:prstGeom>
            <a:solidFill>
              <a:schemeClr val="lt2"/>
            </a:solidFill>
            <a:ln>
              <a:noFill/>
            </a:ln>
            <a:effectLst>
              <a:outerShdw blurRad="266700" dist="57150" dir="5400000" algn="ctr" rotWithShape="0">
                <a:srgbClr val="7C6FE0">
                  <a:alpha val="7500"/>
                </a:srgbClr>
              </a:outerShdw>
            </a:effectLst>
          </p:spPr>
        </p:sp>
        <p:sp>
          <p:nvSpPr>
            <p:cNvPr id="38" name="Ellipse 38"/>
            <p:cNvSpPr/>
            <p:nvPr/>
          </p:nvSpPr>
          <p:spPr>
            <a:xfrm>
              <a:off x="876300" y="5038725"/>
              <a:ext cx="114300" cy="114300"/>
            </a:xfrm>
            <a:prstGeom prst="ellipse">
              <a:avLst/>
            </a:prstGeom>
            <a:solidFill>
              <a:srgbClr val="B7AFC9"/>
            </a:solidFill>
            <a:ln>
              <a:noFill/>
            </a:ln>
          </p:spPr>
        </p:sp>
        <p:sp>
          <p:nvSpPr>
            <p:cNvPr id="39" name="TextBox 39"/>
            <p:cNvSpPr txBox="1"/>
            <p:nvPr/>
          </p:nvSpPr>
          <p:spPr>
            <a:xfrm>
              <a:off x="1136523" y="4891564"/>
              <a:ext cx="1982889" cy="249364"/>
            </a:xfrm>
            <a:prstGeom prst="rect">
              <a:avLst/>
            </a:prstGeom>
            <a:noFill/>
            <a:ln>
              <a:noFill/>
            </a:ln>
          </p:spPr>
          <p:txBody>
            <a:bodyPr wrap="none" lIns="0" tIns="0" rIns="0" bIns="0" anchor="t" anchorCtr="0">
              <a:spAutoFit/>
            </a:bodyPr>
            <a:lstStyle/>
            <a:p>
              <a:pPr algn="l"/>
              <a:r>
                <a:rPr lang="en-GB" sz="1280" dirty="0">
                  <a:solidFill>
                    <a:schemeClr val="accent5"/>
                  </a:solidFill>
                  <a:latin typeface="+mn-lt"/>
                  <a:ea typeface="+mn-ea"/>
                  <a:cs typeface="+mn-cs"/>
                </a:rPr>
                <a:t>Reacts to incidents one</a:t>
              </a:r>
              <a:endParaRPr lang="en-GB" sz="1280" dirty="0">
                <a:solidFill>
                  <a:schemeClr val="accent5"/>
                </a:solidFill>
                <a:latin typeface="+mn-lt"/>
                <a:ea typeface="+mn-ea"/>
                <a:cs typeface="+mn-cs"/>
              </a:endParaRPr>
            </a:p>
          </p:txBody>
        </p:sp>
        <p:sp>
          <p:nvSpPr>
            <p:cNvPr id="40" name="TextBox 40"/>
            <p:cNvSpPr txBox="1"/>
            <p:nvPr/>
          </p:nvSpPr>
          <p:spPr>
            <a:xfrm>
              <a:off x="1136523" y="5101114"/>
              <a:ext cx="865906" cy="249364"/>
            </a:xfrm>
            <a:prstGeom prst="rect">
              <a:avLst/>
            </a:prstGeom>
            <a:noFill/>
            <a:ln>
              <a:noFill/>
            </a:ln>
          </p:spPr>
          <p:txBody>
            <a:bodyPr wrap="none" lIns="0" tIns="0" rIns="0" bIns="0" anchor="t" anchorCtr="0">
              <a:spAutoFit/>
            </a:bodyPr>
            <a:lstStyle/>
            <a:p>
              <a:pPr algn="l"/>
              <a:r>
                <a:rPr lang="en-GB" sz="1280" dirty="0">
                  <a:solidFill>
                    <a:schemeClr val="accent5"/>
                  </a:solidFill>
                  <a:latin typeface="+mn-lt"/>
                  <a:ea typeface="+mn-ea"/>
                  <a:cs typeface="+mn-cs"/>
                </a:rPr>
                <a:t>at a time.</a:t>
              </a:r>
              <a:endParaRPr lang="en-GB" sz="1280" dirty="0">
                <a:solidFill>
                  <a:schemeClr val="accent5"/>
                </a:solidFill>
                <a:latin typeface="+mn-lt"/>
                <a:ea typeface="+mn-ea"/>
                <a:cs typeface="+mn-cs"/>
              </a:endParaRPr>
            </a:p>
          </p:txBody>
        </p:sp>
        <p:sp>
          <p:nvSpPr>
            <p:cNvPr id="41" name="Rectangle 41"/>
            <p:cNvSpPr/>
            <p:nvPr/>
          </p:nvSpPr>
          <p:spPr>
            <a:xfrm>
              <a:off x="6286500" y="4762500"/>
              <a:ext cx="5295900" cy="666750"/>
            </a:xfrm>
            <a:prstGeom prst="roundRect">
              <a:avLst>
                <a:gd name="adj" fmla="val 28571"/>
              </a:avLst>
            </a:prstGeom>
            <a:solidFill>
              <a:schemeClr val="lt2"/>
            </a:solidFill>
            <a:ln>
              <a:noFill/>
            </a:ln>
            <a:effectLst>
              <a:outerShdw blurRad="266700" dist="57150" dir="5400000" algn="ctr" rotWithShape="0">
                <a:srgbClr val="2FA875">
                  <a:alpha val="9000"/>
                </a:srgbClr>
              </a:outerShdw>
            </a:effectLst>
          </p:spPr>
        </p:sp>
        <p:sp>
          <p:nvSpPr>
            <p:cNvPr id="42" name="Freeform 42"/>
            <p:cNvSpPr/>
            <p:nvPr/>
          </p:nvSpPr>
          <p:spPr>
            <a:xfrm>
              <a:off x="6545203" y="5005388"/>
              <a:ext cx="149337" cy="142951"/>
            </a:xfrm>
            <a:custGeom>
              <a:avLst/>
              <a:gdLst/>
              <a:ahLst/>
              <a:cxnLst/>
              <a:rect l="l" t="t" r="r" b="b"/>
              <a:pathLst>
                <a:path w="149337" h="142951">
                  <a:moveTo>
                    <a:pt x="74658" y="0"/>
                  </a:moveTo>
                  <a:lnTo>
                    <a:pt x="75501" y="50"/>
                  </a:lnTo>
                  <a:lnTo>
                    <a:pt x="75922" y="107"/>
                  </a:lnTo>
                  <a:lnTo>
                    <a:pt x="76358" y="200"/>
                  </a:lnTo>
                  <a:lnTo>
                    <a:pt x="77151" y="443"/>
                  </a:lnTo>
                  <a:cubicBezTo>
                    <a:pt x="77699" y="645"/>
                    <a:pt x="78219" y="914"/>
                    <a:pt x="78701" y="1243"/>
                  </a:cubicBezTo>
                  <a:lnTo>
                    <a:pt x="79444" y="1829"/>
                  </a:lnTo>
                  <a:lnTo>
                    <a:pt x="81266" y="3386"/>
                  </a:lnTo>
                  <a:cubicBezTo>
                    <a:pt x="95677" y="15356"/>
                    <a:pt x="113890" y="21783"/>
                    <a:pt x="132622" y="21510"/>
                  </a:cubicBezTo>
                  <a:lnTo>
                    <a:pt x="135065" y="21438"/>
                  </a:lnTo>
                  <a:cubicBezTo>
                    <a:pt x="138353" y="21288"/>
                    <a:pt x="141317" y="23403"/>
                    <a:pt x="142245" y="26560"/>
                  </a:cubicBezTo>
                  <a:cubicBezTo>
                    <a:pt x="149337" y="50687"/>
                    <a:pt x="146342" y="76658"/>
                    <a:pt x="133945" y="98537"/>
                  </a:cubicBezTo>
                  <a:cubicBezTo>
                    <a:pt x="121547" y="120416"/>
                    <a:pt x="100807" y="136332"/>
                    <a:pt x="76465" y="142646"/>
                  </a:cubicBezTo>
                  <a:cubicBezTo>
                    <a:pt x="75289" y="142951"/>
                    <a:pt x="74055" y="142951"/>
                    <a:pt x="72879" y="142646"/>
                  </a:cubicBezTo>
                  <a:cubicBezTo>
                    <a:pt x="48536" y="136334"/>
                    <a:pt x="27794" y="120418"/>
                    <a:pt x="15395" y="98539"/>
                  </a:cubicBezTo>
                  <a:cubicBezTo>
                    <a:pt x="2996" y="76660"/>
                    <a:pt x="0" y="50688"/>
                    <a:pt x="7092" y="26560"/>
                  </a:cubicBezTo>
                  <a:cubicBezTo>
                    <a:pt x="8020" y="23403"/>
                    <a:pt x="10985" y="21288"/>
                    <a:pt x="14272" y="21438"/>
                  </a:cubicBezTo>
                  <a:cubicBezTo>
                    <a:pt x="33827" y="22332"/>
                    <a:pt x="53013" y="15895"/>
                    <a:pt x="68071" y="3386"/>
                  </a:cubicBezTo>
                  <a:lnTo>
                    <a:pt x="69950" y="1779"/>
                  </a:lnTo>
                  <a:lnTo>
                    <a:pt x="70636" y="1243"/>
                  </a:lnTo>
                  <a:cubicBezTo>
                    <a:pt x="71118" y="914"/>
                    <a:pt x="71638" y="645"/>
                    <a:pt x="72186" y="443"/>
                  </a:cubicBezTo>
                  <a:lnTo>
                    <a:pt x="72986" y="200"/>
                  </a:lnTo>
                  <a:cubicBezTo>
                    <a:pt x="73266" y="132"/>
                    <a:pt x="73550" y="82"/>
                    <a:pt x="73836" y="50"/>
                  </a:cubicBezTo>
                  <a:lnTo>
                    <a:pt x="74658" y="0"/>
                  </a:lnTo>
                  <a:close/>
                  <a:moveTo>
                    <a:pt x="101161" y="52099"/>
                  </a:moveTo>
                  <a:cubicBezTo>
                    <a:pt x="99821" y="50758"/>
                    <a:pt x="98003" y="50004"/>
                    <a:pt x="96107" y="50004"/>
                  </a:cubicBezTo>
                  <a:cubicBezTo>
                    <a:pt x="94211" y="50004"/>
                    <a:pt x="92393" y="50758"/>
                    <a:pt x="91053" y="52099"/>
                  </a:cubicBezTo>
                  <a:lnTo>
                    <a:pt x="67528" y="75617"/>
                  </a:lnTo>
                  <a:lnTo>
                    <a:pt x="58292" y="66387"/>
                  </a:lnTo>
                  <a:lnTo>
                    <a:pt x="57620" y="65794"/>
                  </a:lnTo>
                  <a:cubicBezTo>
                    <a:pt x="54640" y="63490"/>
                    <a:pt x="50383" y="63895"/>
                    <a:pt x="47892" y="66721"/>
                  </a:cubicBezTo>
                  <a:cubicBezTo>
                    <a:pt x="45401" y="69546"/>
                    <a:pt x="45531" y="73820"/>
                    <a:pt x="48190" y="76488"/>
                  </a:cubicBezTo>
                  <a:lnTo>
                    <a:pt x="62478" y="90776"/>
                  </a:lnTo>
                  <a:lnTo>
                    <a:pt x="63149" y="91369"/>
                  </a:lnTo>
                  <a:cubicBezTo>
                    <a:pt x="65993" y="93575"/>
                    <a:pt x="70034" y="93320"/>
                    <a:pt x="72579" y="90776"/>
                  </a:cubicBezTo>
                  <a:lnTo>
                    <a:pt x="101154" y="62201"/>
                  </a:lnTo>
                  <a:lnTo>
                    <a:pt x="101747" y="61529"/>
                  </a:lnTo>
                  <a:cubicBezTo>
                    <a:pt x="103953" y="58685"/>
                    <a:pt x="103699" y="54644"/>
                    <a:pt x="101154" y="52099"/>
                  </a:cubicBezTo>
                  <a:close/>
                </a:path>
              </a:pathLst>
            </a:custGeom>
            <a:solidFill>
              <a:schemeClr val="accent2"/>
            </a:solidFill>
            <a:ln>
              <a:noFill/>
            </a:ln>
          </p:spPr>
        </p:sp>
        <p:sp>
          <p:nvSpPr>
            <p:cNvPr id="43" name="TextBox 43"/>
            <p:cNvSpPr txBox="1"/>
            <p:nvPr/>
          </p:nvSpPr>
          <p:spPr>
            <a:xfrm>
              <a:off x="6813423" y="4891564"/>
              <a:ext cx="2456712" cy="249364"/>
            </a:xfrm>
            <a:prstGeom prst="rect">
              <a:avLst/>
            </a:prstGeom>
            <a:noFill/>
            <a:ln>
              <a:noFill/>
            </a:ln>
          </p:spPr>
          <p:txBody>
            <a:bodyPr wrap="none" lIns="0" tIns="0" rIns="0" bIns="0" anchor="t" anchorCtr="0">
              <a:spAutoFit/>
            </a:bodyPr>
            <a:lstStyle/>
            <a:p>
              <a:pPr algn="l"/>
              <a:r>
                <a:rPr lang="en-GB" sz="1280" dirty="0">
                  <a:solidFill>
                    <a:schemeClr val="dk1"/>
                  </a:solidFill>
                  <a:latin typeface="+mn-lt"/>
                  <a:ea typeface="+mn-ea"/>
                  <a:cs typeface="+mn-cs"/>
                </a:rPr>
                <a:t>Clusters incidents, prevents</a:t>
              </a:r>
              <a:endParaRPr lang="en-GB" sz="1280" dirty="0">
                <a:solidFill>
                  <a:schemeClr val="dk1"/>
                </a:solidFill>
                <a:latin typeface="+mn-lt"/>
                <a:ea typeface="+mn-ea"/>
                <a:cs typeface="+mn-cs"/>
              </a:endParaRPr>
            </a:p>
          </p:txBody>
        </p:sp>
        <p:sp>
          <p:nvSpPr>
            <p:cNvPr id="44" name="TextBox 44"/>
            <p:cNvSpPr txBox="1"/>
            <p:nvPr/>
          </p:nvSpPr>
          <p:spPr>
            <a:xfrm>
              <a:off x="6813423" y="5101114"/>
              <a:ext cx="1158839" cy="249364"/>
            </a:xfrm>
            <a:prstGeom prst="rect">
              <a:avLst/>
            </a:prstGeom>
            <a:noFill/>
            <a:ln>
              <a:noFill/>
            </a:ln>
          </p:spPr>
          <p:txBody>
            <a:bodyPr wrap="none" lIns="0" tIns="0" rIns="0" bIns="0" anchor="t" anchorCtr="0">
              <a:spAutoFit/>
            </a:bodyPr>
            <a:lstStyle/>
            <a:p>
              <a:pPr algn="l"/>
              <a:r>
                <a:rPr lang="en-GB" sz="1280" dirty="0">
                  <a:solidFill>
                    <a:schemeClr val="dk1"/>
                  </a:solidFill>
                  <a:latin typeface="+mn-lt"/>
                  <a:ea typeface="+mn-ea"/>
                  <a:cs typeface="+mn-cs"/>
                </a:rPr>
                <a:t>the next one.</a:t>
              </a:r>
              <a:endParaRPr lang="en-GB" sz="1280" dirty="0">
                <a:solidFill>
                  <a:schemeClr val="dk1"/>
                </a:solidFill>
                <a:latin typeface="+mn-lt"/>
                <a:ea typeface="+mn-ea"/>
                <a:cs typeface="+mn-cs"/>
              </a:endParaRPr>
            </a:p>
          </p:txBody>
        </p:sp>
      </p:grpSp>
      <p:grpSp>
        <p:nvGrpSpPr>
          <p:cNvPr id="54" name="Group 54"/>
          <p:cNvGrpSpPr/>
          <p:nvPr/>
        </p:nvGrpSpPr>
        <p:grpSpPr>
          <a:xfrm>
            <a:off x="609600" y="5543550"/>
            <a:ext cx="10972800" cy="666750"/>
            <a:chOff x="609600" y="5543550"/>
            <a:chExt cx="10972800" cy="666750"/>
          </a:xfrm>
        </p:grpSpPr>
        <p:sp>
          <p:nvSpPr>
            <p:cNvPr id="46" name="Rectangle 46"/>
            <p:cNvSpPr/>
            <p:nvPr/>
          </p:nvSpPr>
          <p:spPr>
            <a:xfrm>
              <a:off x="609600" y="5543550"/>
              <a:ext cx="5295900" cy="666750"/>
            </a:xfrm>
            <a:prstGeom prst="roundRect">
              <a:avLst>
                <a:gd name="adj" fmla="val 28571"/>
              </a:avLst>
            </a:prstGeom>
            <a:solidFill>
              <a:schemeClr val="lt2"/>
            </a:solidFill>
            <a:ln>
              <a:noFill/>
            </a:ln>
            <a:effectLst>
              <a:outerShdw blurRad="266700" dist="57150" dir="5400000" algn="ctr" rotWithShape="0">
                <a:srgbClr val="7C6FE0">
                  <a:alpha val="7500"/>
                </a:srgbClr>
              </a:outerShdw>
            </a:effectLst>
          </p:spPr>
        </p:sp>
        <p:sp>
          <p:nvSpPr>
            <p:cNvPr id="47" name="Ellipse 47"/>
            <p:cNvSpPr/>
            <p:nvPr/>
          </p:nvSpPr>
          <p:spPr>
            <a:xfrm>
              <a:off x="876300" y="5819775"/>
              <a:ext cx="114300" cy="114300"/>
            </a:xfrm>
            <a:prstGeom prst="ellipse">
              <a:avLst/>
            </a:prstGeom>
            <a:solidFill>
              <a:srgbClr val="B7AFC9"/>
            </a:solidFill>
            <a:ln>
              <a:noFill/>
            </a:ln>
          </p:spPr>
        </p:sp>
        <p:sp>
          <p:nvSpPr>
            <p:cNvPr id="48" name="TextBox 48"/>
            <p:cNvSpPr txBox="1"/>
            <p:nvPr/>
          </p:nvSpPr>
          <p:spPr>
            <a:xfrm>
              <a:off x="1136523" y="5672614"/>
              <a:ext cx="1448554" cy="249364"/>
            </a:xfrm>
            <a:prstGeom prst="rect">
              <a:avLst/>
            </a:prstGeom>
            <a:noFill/>
            <a:ln>
              <a:noFill/>
            </a:ln>
          </p:spPr>
          <p:txBody>
            <a:bodyPr wrap="none" lIns="0" tIns="0" rIns="0" bIns="0" anchor="t" anchorCtr="0">
              <a:spAutoFit/>
            </a:bodyPr>
            <a:lstStyle/>
            <a:p>
              <a:pPr algn="l"/>
              <a:r>
                <a:rPr lang="en-GB" sz="1280" dirty="0">
                  <a:solidFill>
                    <a:schemeClr val="accent5"/>
                  </a:solidFill>
                  <a:latin typeface="+mn-lt"/>
                  <a:ea typeface="+mn-ea"/>
                  <a:cs typeface="+mn-cs"/>
                </a:rPr>
                <a:t>Skips governance</a:t>
              </a:r>
              <a:endParaRPr lang="en-GB" sz="1280" dirty="0">
                <a:solidFill>
                  <a:schemeClr val="accent5"/>
                </a:solidFill>
                <a:latin typeface="+mn-lt"/>
                <a:ea typeface="+mn-ea"/>
                <a:cs typeface="+mn-cs"/>
              </a:endParaRPr>
            </a:p>
          </p:txBody>
        </p:sp>
        <p:sp>
          <p:nvSpPr>
            <p:cNvPr id="49" name="TextBox 49"/>
            <p:cNvSpPr txBox="1"/>
            <p:nvPr/>
          </p:nvSpPr>
          <p:spPr>
            <a:xfrm>
              <a:off x="1136523" y="5882164"/>
              <a:ext cx="779750" cy="249364"/>
            </a:xfrm>
            <a:prstGeom prst="rect">
              <a:avLst/>
            </a:prstGeom>
            <a:noFill/>
            <a:ln>
              <a:noFill/>
            </a:ln>
          </p:spPr>
          <p:txBody>
            <a:bodyPr wrap="none" lIns="0" tIns="0" rIns="0" bIns="0" anchor="t" anchorCtr="0">
              <a:spAutoFit/>
            </a:bodyPr>
            <a:lstStyle/>
            <a:p>
              <a:pPr algn="l"/>
              <a:r>
                <a:rPr lang="en-GB" sz="1280" dirty="0">
                  <a:solidFill>
                    <a:schemeClr val="accent5"/>
                  </a:solidFill>
                  <a:latin typeface="+mn-lt"/>
                  <a:ea typeface="+mn-ea"/>
                  <a:cs typeface="+mn-cs"/>
                </a:rPr>
                <a:t>entirely.</a:t>
              </a:r>
              <a:endParaRPr lang="en-GB" sz="1280" dirty="0">
                <a:solidFill>
                  <a:schemeClr val="accent5"/>
                </a:solidFill>
                <a:latin typeface="+mn-lt"/>
                <a:ea typeface="+mn-ea"/>
                <a:cs typeface="+mn-cs"/>
              </a:endParaRPr>
            </a:p>
          </p:txBody>
        </p:sp>
        <p:sp>
          <p:nvSpPr>
            <p:cNvPr id="50" name="Rectangle 50"/>
            <p:cNvSpPr/>
            <p:nvPr/>
          </p:nvSpPr>
          <p:spPr>
            <a:xfrm>
              <a:off x="6286500" y="5543550"/>
              <a:ext cx="5295900" cy="666750"/>
            </a:xfrm>
            <a:prstGeom prst="roundRect">
              <a:avLst>
                <a:gd name="adj" fmla="val 28571"/>
              </a:avLst>
            </a:prstGeom>
            <a:solidFill>
              <a:schemeClr val="lt2"/>
            </a:solidFill>
            <a:ln>
              <a:noFill/>
            </a:ln>
            <a:effectLst>
              <a:outerShdw blurRad="266700" dist="57150" dir="5400000" algn="ctr" rotWithShape="0">
                <a:srgbClr val="2FA875">
                  <a:alpha val="9000"/>
                </a:srgbClr>
              </a:outerShdw>
            </a:effectLst>
          </p:spPr>
        </p:sp>
        <p:sp>
          <p:nvSpPr>
            <p:cNvPr id="51" name="Freeform 51"/>
            <p:cNvSpPr/>
            <p:nvPr/>
          </p:nvSpPr>
          <p:spPr>
            <a:xfrm>
              <a:off x="6545203" y="5786438"/>
              <a:ext cx="149337" cy="142951"/>
            </a:xfrm>
            <a:custGeom>
              <a:avLst/>
              <a:gdLst/>
              <a:ahLst/>
              <a:cxnLst/>
              <a:rect l="l" t="t" r="r" b="b"/>
              <a:pathLst>
                <a:path w="149337" h="142951">
                  <a:moveTo>
                    <a:pt x="74658" y="0"/>
                  </a:moveTo>
                  <a:lnTo>
                    <a:pt x="75501" y="50"/>
                  </a:lnTo>
                  <a:lnTo>
                    <a:pt x="75922" y="107"/>
                  </a:lnTo>
                  <a:lnTo>
                    <a:pt x="76358" y="200"/>
                  </a:lnTo>
                  <a:lnTo>
                    <a:pt x="77151" y="443"/>
                  </a:lnTo>
                  <a:cubicBezTo>
                    <a:pt x="77699" y="645"/>
                    <a:pt x="78219" y="914"/>
                    <a:pt x="78701" y="1243"/>
                  </a:cubicBezTo>
                  <a:lnTo>
                    <a:pt x="79444" y="1829"/>
                  </a:lnTo>
                  <a:lnTo>
                    <a:pt x="81266" y="3386"/>
                  </a:lnTo>
                  <a:cubicBezTo>
                    <a:pt x="95677" y="15356"/>
                    <a:pt x="113890" y="21783"/>
                    <a:pt x="132622" y="21510"/>
                  </a:cubicBezTo>
                  <a:lnTo>
                    <a:pt x="135065" y="21438"/>
                  </a:lnTo>
                  <a:cubicBezTo>
                    <a:pt x="138353" y="21288"/>
                    <a:pt x="141317" y="23403"/>
                    <a:pt x="142245" y="26560"/>
                  </a:cubicBezTo>
                  <a:cubicBezTo>
                    <a:pt x="149337" y="50687"/>
                    <a:pt x="146342" y="76658"/>
                    <a:pt x="133945" y="98537"/>
                  </a:cubicBezTo>
                  <a:cubicBezTo>
                    <a:pt x="121547" y="120416"/>
                    <a:pt x="100807" y="136332"/>
                    <a:pt x="76465" y="142646"/>
                  </a:cubicBezTo>
                  <a:cubicBezTo>
                    <a:pt x="75289" y="142951"/>
                    <a:pt x="74055" y="142951"/>
                    <a:pt x="72879" y="142646"/>
                  </a:cubicBezTo>
                  <a:cubicBezTo>
                    <a:pt x="48536" y="136334"/>
                    <a:pt x="27794" y="120418"/>
                    <a:pt x="15395" y="98539"/>
                  </a:cubicBezTo>
                  <a:cubicBezTo>
                    <a:pt x="2996" y="76660"/>
                    <a:pt x="0" y="50688"/>
                    <a:pt x="7092" y="26560"/>
                  </a:cubicBezTo>
                  <a:cubicBezTo>
                    <a:pt x="8020" y="23403"/>
                    <a:pt x="10985" y="21288"/>
                    <a:pt x="14272" y="21438"/>
                  </a:cubicBezTo>
                  <a:cubicBezTo>
                    <a:pt x="33827" y="22332"/>
                    <a:pt x="53013" y="15895"/>
                    <a:pt x="68071" y="3386"/>
                  </a:cubicBezTo>
                  <a:lnTo>
                    <a:pt x="69950" y="1779"/>
                  </a:lnTo>
                  <a:lnTo>
                    <a:pt x="70636" y="1243"/>
                  </a:lnTo>
                  <a:cubicBezTo>
                    <a:pt x="71118" y="914"/>
                    <a:pt x="71638" y="645"/>
                    <a:pt x="72186" y="443"/>
                  </a:cubicBezTo>
                  <a:lnTo>
                    <a:pt x="72986" y="200"/>
                  </a:lnTo>
                  <a:cubicBezTo>
                    <a:pt x="73266" y="132"/>
                    <a:pt x="73550" y="82"/>
                    <a:pt x="73836" y="50"/>
                  </a:cubicBezTo>
                  <a:lnTo>
                    <a:pt x="74658" y="0"/>
                  </a:lnTo>
                  <a:close/>
                  <a:moveTo>
                    <a:pt x="101161" y="52099"/>
                  </a:moveTo>
                  <a:cubicBezTo>
                    <a:pt x="99821" y="50758"/>
                    <a:pt x="98003" y="50004"/>
                    <a:pt x="96107" y="50004"/>
                  </a:cubicBezTo>
                  <a:cubicBezTo>
                    <a:pt x="94211" y="50004"/>
                    <a:pt x="92393" y="50758"/>
                    <a:pt x="91053" y="52099"/>
                  </a:cubicBezTo>
                  <a:lnTo>
                    <a:pt x="67528" y="75617"/>
                  </a:lnTo>
                  <a:lnTo>
                    <a:pt x="58292" y="66387"/>
                  </a:lnTo>
                  <a:lnTo>
                    <a:pt x="57620" y="65794"/>
                  </a:lnTo>
                  <a:cubicBezTo>
                    <a:pt x="54640" y="63490"/>
                    <a:pt x="50383" y="63895"/>
                    <a:pt x="47892" y="66721"/>
                  </a:cubicBezTo>
                  <a:cubicBezTo>
                    <a:pt x="45401" y="69546"/>
                    <a:pt x="45531" y="73820"/>
                    <a:pt x="48190" y="76488"/>
                  </a:cubicBezTo>
                  <a:lnTo>
                    <a:pt x="62478" y="90776"/>
                  </a:lnTo>
                  <a:lnTo>
                    <a:pt x="63149" y="91369"/>
                  </a:lnTo>
                  <a:cubicBezTo>
                    <a:pt x="65993" y="93575"/>
                    <a:pt x="70034" y="93320"/>
                    <a:pt x="72579" y="90776"/>
                  </a:cubicBezTo>
                  <a:lnTo>
                    <a:pt x="101154" y="62201"/>
                  </a:lnTo>
                  <a:lnTo>
                    <a:pt x="101747" y="61529"/>
                  </a:lnTo>
                  <a:cubicBezTo>
                    <a:pt x="103953" y="58685"/>
                    <a:pt x="103699" y="54644"/>
                    <a:pt x="101154" y="52099"/>
                  </a:cubicBezTo>
                  <a:close/>
                </a:path>
              </a:pathLst>
            </a:custGeom>
            <a:solidFill>
              <a:schemeClr val="accent2"/>
            </a:solidFill>
            <a:ln>
              <a:noFill/>
            </a:ln>
          </p:spPr>
        </p:sp>
        <p:sp>
          <p:nvSpPr>
            <p:cNvPr id="52" name="TextBox 52"/>
            <p:cNvSpPr txBox="1"/>
            <p:nvPr/>
          </p:nvSpPr>
          <p:spPr>
            <a:xfrm>
              <a:off x="6813423" y="5672614"/>
              <a:ext cx="2069013" cy="249364"/>
            </a:xfrm>
            <a:prstGeom prst="rect">
              <a:avLst/>
            </a:prstGeom>
            <a:noFill/>
            <a:ln>
              <a:noFill/>
            </a:ln>
          </p:spPr>
          <p:txBody>
            <a:bodyPr wrap="none" lIns="0" tIns="0" rIns="0" bIns="0" anchor="t" anchorCtr="0">
              <a:spAutoFit/>
            </a:bodyPr>
            <a:lstStyle/>
            <a:p>
              <a:pPr algn="l"/>
              <a:r>
                <a:rPr lang="en-GB" sz="1280" dirty="0">
                  <a:solidFill>
                    <a:schemeClr val="dk1"/>
                  </a:solidFill>
                  <a:latin typeface="+mn-lt"/>
                  <a:ea typeface="+mn-ea"/>
                  <a:cs typeface="+mn-cs"/>
                </a:rPr>
                <a:t>Every novel action waits</a:t>
              </a:r>
              <a:endParaRPr lang="en-GB" sz="1280" dirty="0">
                <a:solidFill>
                  <a:schemeClr val="dk1"/>
                </a:solidFill>
                <a:latin typeface="+mn-lt"/>
                <a:ea typeface="+mn-ea"/>
                <a:cs typeface="+mn-cs"/>
              </a:endParaRPr>
            </a:p>
          </p:txBody>
        </p:sp>
        <p:sp>
          <p:nvSpPr>
            <p:cNvPr id="53" name="TextBox 53"/>
            <p:cNvSpPr txBox="1"/>
            <p:nvPr/>
          </p:nvSpPr>
          <p:spPr>
            <a:xfrm>
              <a:off x="6813423" y="5882164"/>
              <a:ext cx="1098530" cy="249364"/>
            </a:xfrm>
            <a:prstGeom prst="rect">
              <a:avLst/>
            </a:prstGeom>
            <a:noFill/>
            <a:ln>
              <a:noFill/>
            </a:ln>
          </p:spPr>
          <p:txBody>
            <a:bodyPr wrap="none" lIns="0" tIns="0" rIns="0" bIns="0" anchor="t" anchorCtr="0">
              <a:spAutoFit/>
            </a:bodyPr>
            <a:lstStyle/>
            <a:p>
              <a:pPr algn="l"/>
              <a:r>
                <a:rPr lang="en-GB" sz="1280" dirty="0">
                  <a:solidFill>
                    <a:schemeClr val="dk1"/>
                  </a:solidFill>
                  <a:latin typeface="+mn-lt"/>
                  <a:ea typeface="+mn-ea"/>
                  <a:cs typeface="+mn-cs"/>
                </a:rPr>
                <a:t>for a human.</a:t>
              </a:r>
              <a:endParaRPr lang="en-GB" sz="1280" dirty="0">
                <a:solidFill>
                  <a:schemeClr val="dk1"/>
                </a:solidFill>
                <a:latin typeface="+mn-lt"/>
                <a:ea typeface="+mn-ea"/>
                <a:cs typeface="+mn-cs"/>
              </a:endParaRPr>
            </a:p>
          </p:txBody>
        </p:sp>
      </p:grpSp>
      <p:sp>
        <p:nvSpPr>
          <p:cNvPr id="59" name="Footer Placeholder 58"/>
          <p:cNvSpPr>
            <a:spLocks noGrp="1"/>
          </p:cNvSpPr>
          <p:nvPr>
            <p:ph type="ftr" sz="quarter" idx="11"/>
          </p:nvPr>
        </p:nvSpPr>
        <p:spPr/>
        <p:txBody>
          <a:bodyPr/>
          <a:p>
            <a:r>
              <a:rPr lang="en-US"/>
              <a:t>TCS | Confidential</a:t>
            </a:r>
            <a:endParaRPr lang="en-US"/>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p:nvSpPr>
          <p:cNvPr id="2" name="Ellipse 2"/>
          <p:cNvSpPr/>
          <p:nvPr/>
        </p:nvSpPr>
        <p:spPr>
          <a:xfrm>
            <a:off x="6667500" y="1905000"/>
            <a:ext cx="8001000" cy="8001000"/>
          </a:xfrm>
          <a:prstGeom prst="ellipse">
            <a:avLst/>
          </a:prstGeom>
          <a:gradFill>
            <a:gsLst>
              <a:gs pos="0">
                <a:schemeClr val="accent2">
                  <a:alpha val="14000"/>
                </a:schemeClr>
              </a:gs>
              <a:gs pos="100000">
                <a:schemeClr val="accent2">
                  <a:alpha val="0"/>
                </a:schemeClr>
              </a:gs>
            </a:gsLst>
            <a:path path="circle">
              <a:fillToRect l="50000" t="50000" r="50000" b="50000"/>
            </a:path>
          </a:gradFill>
          <a:ln>
            <a:noFill/>
          </a:ln>
        </p:spPr>
      </p:sp>
      <p:grpSp>
        <p:nvGrpSpPr>
          <p:cNvPr id="5" name="Group 5"/>
          <p:cNvGrpSpPr/>
          <p:nvPr/>
        </p:nvGrpSpPr>
        <p:grpSpPr>
          <a:xfrm>
            <a:off x="609600" y="628650"/>
            <a:ext cx="1409700" cy="346901"/>
            <a:chOff x="609600" y="628650"/>
            <a:chExt cx="1409700" cy="346901"/>
          </a:xfrm>
        </p:grpSpPr>
        <p:sp>
          <p:nvSpPr>
            <p:cNvPr id="3" name="Rectangle 3"/>
            <p:cNvSpPr/>
            <p:nvPr/>
          </p:nvSpPr>
          <p:spPr>
            <a:xfrm>
              <a:off x="609600" y="628650"/>
              <a:ext cx="1409700" cy="342900"/>
            </a:xfrm>
            <a:prstGeom prst="roundRect">
              <a:avLst>
                <a:gd name="adj" fmla="val 50000"/>
              </a:avLst>
            </a:prstGeom>
            <a:solidFill>
              <a:schemeClr val="accent1">
                <a:alpha val="14000"/>
              </a:schemeClr>
            </a:solidFill>
            <a:ln>
              <a:noFill/>
            </a:ln>
          </p:spPr>
        </p:sp>
        <p:sp>
          <p:nvSpPr>
            <p:cNvPr id="4" name="TextBox 4"/>
            <p:cNvSpPr txBox="1"/>
            <p:nvPr/>
          </p:nvSpPr>
          <p:spPr>
            <a:xfrm>
              <a:off x="793242" y="711518"/>
              <a:ext cx="1104092" cy="264033"/>
            </a:xfrm>
            <a:prstGeom prst="rect">
              <a:avLst/>
            </a:prstGeom>
            <a:noFill/>
            <a:ln>
              <a:noFill/>
            </a:ln>
          </p:spPr>
          <p:txBody>
            <a:bodyPr wrap="none" lIns="0" tIns="0" rIns="0" bIns="0" anchor="t" anchorCtr="0">
              <a:spAutoFit/>
            </a:bodyPr>
            <a:lstStyle/>
            <a:p>
              <a:pPr algn="l"/>
              <a:r>
                <a:rPr lang="en-GB" sz="1350" b="1" spc="90" dirty="0">
                  <a:solidFill>
                    <a:schemeClr val="accent1"/>
                  </a:solidFill>
                  <a:latin typeface="+mn-lt"/>
                  <a:ea typeface="+mn-ea"/>
                  <a:cs typeface="+mn-cs"/>
                </a:rPr>
                <a:t>THANK YOU</a:t>
              </a:r>
              <a:endParaRPr lang="en-GB" sz="1350" b="1" spc="90" dirty="0">
                <a:solidFill>
                  <a:schemeClr val="accent1"/>
                </a:solidFill>
                <a:latin typeface="+mn-lt"/>
                <a:ea typeface="+mn-ea"/>
                <a:cs typeface="+mn-cs"/>
              </a:endParaRPr>
            </a:p>
          </p:txBody>
        </p:sp>
      </p:grpSp>
      <p:grpSp>
        <p:nvGrpSpPr>
          <p:cNvPr id="8" name="Group 8"/>
          <p:cNvGrpSpPr/>
          <p:nvPr/>
        </p:nvGrpSpPr>
        <p:grpSpPr>
          <a:xfrm>
            <a:off x="590550" y="1451610"/>
            <a:ext cx="4526661" cy="1390650"/>
            <a:chOff x="590550" y="1451610"/>
            <a:chExt cx="4526661" cy="1390650"/>
          </a:xfrm>
        </p:grpSpPr>
        <p:sp>
          <p:nvSpPr>
            <p:cNvPr id="6" name="TextBox 6"/>
            <p:cNvSpPr txBox="1"/>
            <p:nvPr/>
          </p:nvSpPr>
          <p:spPr>
            <a:xfrm>
              <a:off x="590550" y="1451610"/>
              <a:ext cx="3243941" cy="819150"/>
            </a:xfrm>
            <a:prstGeom prst="rect">
              <a:avLst/>
            </a:prstGeom>
            <a:noFill/>
            <a:ln>
              <a:noFill/>
            </a:ln>
          </p:spPr>
          <p:txBody>
            <a:bodyPr wrap="none" lIns="0" tIns="0" rIns="0" bIns="0" anchor="t" anchorCtr="0">
              <a:spAutoFit/>
            </a:bodyPr>
            <a:lstStyle/>
            <a:p>
              <a:pPr algn="l"/>
              <a:r>
                <a:rPr lang="en-GB" sz="4200" b="1" dirty="0">
                  <a:solidFill>
                    <a:schemeClr val="dk1"/>
                  </a:solidFill>
                  <a:latin typeface="+mn-lt"/>
                  <a:ea typeface="+mn-ea"/>
                  <a:cs typeface="+mn-cs"/>
                </a:rPr>
                <a:t>The Loop Is</a:t>
              </a:r>
              <a:endParaRPr lang="en-GB" sz="4200" b="1" dirty="0">
                <a:solidFill>
                  <a:schemeClr val="dk1"/>
                </a:solidFill>
                <a:latin typeface="+mn-lt"/>
                <a:ea typeface="+mn-ea"/>
                <a:cs typeface="+mn-cs"/>
              </a:endParaRPr>
            </a:p>
          </p:txBody>
        </p:sp>
        <p:sp>
          <p:nvSpPr>
            <p:cNvPr id="7" name="TextBox 7"/>
            <p:cNvSpPr txBox="1"/>
            <p:nvPr/>
          </p:nvSpPr>
          <p:spPr>
            <a:xfrm>
              <a:off x="590550" y="2023110"/>
              <a:ext cx="4526661" cy="819150"/>
            </a:xfrm>
            <a:prstGeom prst="rect">
              <a:avLst/>
            </a:prstGeom>
            <a:noFill/>
            <a:ln>
              <a:noFill/>
            </a:ln>
          </p:spPr>
          <p:txBody>
            <a:bodyPr wrap="none" lIns="0" tIns="0" rIns="0" bIns="0" anchor="t" anchorCtr="0">
              <a:spAutoFit/>
            </a:bodyPr>
            <a:lstStyle/>
            <a:p>
              <a:pPr algn="l"/>
              <a:r>
                <a:rPr lang="en-GB" sz="4200" b="1" dirty="0">
                  <a:solidFill>
                    <a:schemeClr val="dk1"/>
                  </a:solidFill>
                  <a:latin typeface="+mn-lt"/>
                  <a:ea typeface="+mn-ea"/>
                  <a:cs typeface="+mn-cs"/>
                </a:rPr>
                <a:t>Already Running</a:t>
              </a:r>
              <a:endParaRPr lang="en-GB" sz="4200" b="1" dirty="0">
                <a:solidFill>
                  <a:schemeClr val="dk1"/>
                </a:solidFill>
                <a:latin typeface="+mn-lt"/>
                <a:ea typeface="+mn-ea"/>
                <a:cs typeface="+mn-cs"/>
              </a:endParaRPr>
            </a:p>
          </p:txBody>
        </p:sp>
      </p:grpSp>
      <p:grpSp>
        <p:nvGrpSpPr>
          <p:cNvPr id="11" name="Group 11"/>
          <p:cNvGrpSpPr/>
          <p:nvPr/>
        </p:nvGrpSpPr>
        <p:grpSpPr>
          <a:xfrm>
            <a:off x="600456" y="2891790"/>
            <a:ext cx="4977331" cy="656844"/>
            <a:chOff x="600456" y="2891790"/>
            <a:chExt cx="4977331" cy="656844"/>
          </a:xfrm>
        </p:grpSpPr>
        <p:sp>
          <p:nvSpPr>
            <p:cNvPr id="9" name="TextBox 9"/>
            <p:cNvSpPr txBox="1"/>
            <p:nvPr/>
          </p:nvSpPr>
          <p:spPr>
            <a:xfrm>
              <a:off x="600456" y="2891790"/>
              <a:ext cx="4768131" cy="352044"/>
            </a:xfrm>
            <a:prstGeom prst="rect">
              <a:avLst/>
            </a:prstGeom>
            <a:noFill/>
            <a:ln>
              <a:noFill/>
            </a:ln>
          </p:spPr>
          <p:txBody>
            <a:bodyPr wrap="none" lIns="0" tIns="0" rIns="0" bIns="0" anchor="t" anchorCtr="0">
              <a:spAutoFit/>
            </a:bodyPr>
            <a:lstStyle/>
            <a:p>
              <a:pPr algn="l"/>
              <a:r>
                <a:rPr lang="en-GB" sz="1800" dirty="0">
                  <a:solidFill>
                    <a:schemeClr val="dk1"/>
                  </a:solidFill>
                  <a:latin typeface="+mn-lt"/>
                  <a:ea typeface="+mn-ea"/>
                  <a:cs typeface="+mn-cs"/>
                </a:rPr>
                <a:t>Triage → Retrieve → Remediate → Verify →</a:t>
              </a:r>
              <a:endParaRPr lang="en-GB" sz="1800" dirty="0">
                <a:solidFill>
                  <a:schemeClr val="dk1"/>
                </a:solidFill>
                <a:latin typeface="+mn-lt"/>
                <a:ea typeface="+mn-ea"/>
                <a:cs typeface="+mn-cs"/>
              </a:endParaRPr>
            </a:p>
          </p:txBody>
        </p:sp>
        <p:sp>
          <p:nvSpPr>
            <p:cNvPr id="10" name="TextBox 10"/>
            <p:cNvSpPr txBox="1"/>
            <p:nvPr/>
          </p:nvSpPr>
          <p:spPr>
            <a:xfrm>
              <a:off x="600456" y="3196590"/>
              <a:ext cx="4977331" cy="352044"/>
            </a:xfrm>
            <a:prstGeom prst="rect">
              <a:avLst/>
            </a:prstGeom>
            <a:noFill/>
            <a:ln>
              <a:noFill/>
            </a:ln>
          </p:spPr>
          <p:txBody>
            <a:bodyPr wrap="none" lIns="0" tIns="0" rIns="0" bIns="0" anchor="t" anchorCtr="0">
              <a:spAutoFit/>
            </a:bodyPr>
            <a:lstStyle/>
            <a:p>
              <a:pPr algn="l"/>
              <a:r>
                <a:rPr lang="en-GB" sz="1800" dirty="0">
                  <a:solidFill>
                    <a:schemeClr val="dk1"/>
                  </a:solidFill>
                  <a:latin typeface="+mn-lt"/>
                  <a:ea typeface="+mn-ea"/>
                  <a:cs typeface="+mn-cs"/>
                </a:rPr>
                <a:t>Analyze → Prevent → Learn — a closed loop.</a:t>
              </a:r>
              <a:endParaRPr lang="en-GB" sz="1800" dirty="0">
                <a:solidFill>
                  <a:schemeClr val="dk1"/>
                </a:solidFill>
                <a:latin typeface="+mn-lt"/>
                <a:ea typeface="+mn-ea"/>
                <a:cs typeface="+mn-cs"/>
              </a:endParaRPr>
            </a:p>
          </p:txBody>
        </p:sp>
      </p:grpSp>
      <p:grpSp>
        <p:nvGrpSpPr>
          <p:cNvPr id="13" name="Group 13"/>
          <p:cNvGrpSpPr/>
          <p:nvPr/>
        </p:nvGrpSpPr>
        <p:grpSpPr>
          <a:xfrm>
            <a:off x="601218" y="3612832"/>
            <a:ext cx="7243934" cy="322707"/>
            <a:chOff x="601218" y="3612832"/>
            <a:chExt cx="7243934" cy="322707"/>
          </a:xfrm>
        </p:grpSpPr>
        <p:sp>
          <p:nvSpPr>
            <p:cNvPr id="12" name="TextBox 12"/>
            <p:cNvSpPr txBox="1"/>
            <p:nvPr/>
          </p:nvSpPr>
          <p:spPr>
            <a:xfrm>
              <a:off x="601218" y="3612832"/>
              <a:ext cx="7243934" cy="322707"/>
            </a:xfrm>
            <a:prstGeom prst="rect">
              <a:avLst/>
            </a:prstGeom>
            <a:noFill/>
            <a:ln>
              <a:noFill/>
            </a:ln>
          </p:spPr>
          <p:txBody>
            <a:bodyPr wrap="none" lIns="0" tIns="0" rIns="0" bIns="0" anchor="t" anchorCtr="0">
              <a:spAutoFit/>
            </a:bodyPr>
            <a:lstStyle/>
            <a:p>
              <a:pPr algn="l"/>
              <a:r>
                <a:rPr lang="en-GB" sz="1650" dirty="0">
                  <a:solidFill>
                    <a:schemeClr val="accent5"/>
                  </a:solidFill>
                  <a:latin typeface="+mn-lt"/>
                  <a:ea typeface="+mn-ea"/>
                  <a:cs typeface="+mn-cs"/>
                </a:rPr>
                <a:t>Built end-to-end as a real, running platform — not a concept deck.</a:t>
              </a:r>
              <a:endParaRPr lang="en-GB" sz="1650" dirty="0">
                <a:solidFill>
                  <a:schemeClr val="accent5"/>
                </a:solidFill>
                <a:latin typeface="+mn-lt"/>
                <a:ea typeface="+mn-ea"/>
                <a:cs typeface="+mn-cs"/>
              </a:endParaRPr>
            </a:p>
          </p:txBody>
        </p:sp>
      </p:grpSp>
      <p:grpSp>
        <p:nvGrpSpPr>
          <p:cNvPr id="15" name="Group 15"/>
          <p:cNvGrpSpPr/>
          <p:nvPr/>
        </p:nvGrpSpPr>
        <p:grpSpPr>
          <a:xfrm>
            <a:off x="601218" y="4012882"/>
            <a:ext cx="7421511" cy="322707"/>
            <a:chOff x="601218" y="4012882"/>
            <a:chExt cx="7421511" cy="322707"/>
          </a:xfrm>
        </p:grpSpPr>
        <p:sp>
          <p:nvSpPr>
            <p:cNvPr id="14" name="TextBox 14"/>
            <p:cNvSpPr txBox="1"/>
            <p:nvPr/>
          </p:nvSpPr>
          <p:spPr>
            <a:xfrm>
              <a:off x="601218" y="4012882"/>
              <a:ext cx="7421511" cy="322707"/>
            </a:xfrm>
            <a:prstGeom prst="rect">
              <a:avLst/>
            </a:prstGeom>
            <a:noFill/>
            <a:ln>
              <a:noFill/>
            </a:ln>
          </p:spPr>
          <p:txBody>
            <a:bodyPr wrap="none" lIns="0" tIns="0" rIns="0" bIns="0" anchor="t" anchorCtr="0">
              <a:spAutoFit/>
            </a:bodyPr>
            <a:lstStyle/>
            <a:p>
              <a:pPr algn="l"/>
              <a:r>
                <a:rPr lang="en-GB" sz="1650" dirty="0">
                  <a:solidFill>
                    <a:srgbClr val="238A5E"/>
                  </a:solidFill>
                  <a:latin typeface="+mn-lt"/>
                  <a:ea typeface="+mn-ea"/>
                  <a:cs typeface="+mn-cs"/>
                </a:rPr>
                <a:t>Thank you — questions, a live demo, and the architecture are ready.</a:t>
              </a:r>
              <a:endParaRPr lang="en-GB" sz="1650" dirty="0">
                <a:solidFill>
                  <a:srgbClr val="238A5E"/>
                </a:solidFill>
                <a:latin typeface="+mn-lt"/>
                <a:ea typeface="+mn-ea"/>
                <a:cs typeface="+mn-cs"/>
              </a:endParaRPr>
            </a:p>
          </p:txBody>
        </p:sp>
      </p:grpSp>
      <p:sp>
        <p:nvSpPr>
          <p:cNvPr id="29" name="Footer Placeholder 28"/>
          <p:cNvSpPr>
            <a:spLocks noGrp="1"/>
          </p:cNvSpPr>
          <p:nvPr>
            <p:ph type="ftr" sz="quarter" idx="11"/>
          </p:nvPr>
        </p:nvSpPr>
        <p:spPr/>
        <p:txBody>
          <a:bodyPr/>
          <a:p>
            <a:r>
              <a:rPr lang="en-US"/>
              <a:t>TCS | Confidential</a:t>
            </a:r>
            <a:endParaRPr lang="en-US"/>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theme/theme1.xml><?xml version="1.0" encoding="utf-8"?>
<a:theme xmlns:a="http://schemas.openxmlformats.org/drawingml/2006/main" name="itsm_detailed_rounded">
  <a:themeElements>
    <a:clrScheme name="itsm_detailed_rounded">
      <a:dk1>
        <a:srgbClr val="332D4A"/>
      </a:dk1>
      <a:lt1>
        <a:srgbClr val="F6F3FB"/>
      </a:lt1>
      <a:dk2>
        <a:srgbClr val="1F497D"/>
      </a:dk2>
      <a:lt2>
        <a:srgbClr val="FFFFFF"/>
      </a:lt2>
      <a:accent1>
        <a:srgbClr val="7C6FE0"/>
      </a:accent1>
      <a:accent2>
        <a:srgbClr val="2FA875"/>
      </a:accent2>
      <a:accent3>
        <a:srgbClr val="D9A441"/>
      </a:accent3>
      <a:accent4>
        <a:srgbClr val="7C6FE0"/>
      </a:accent4>
      <a:accent5>
        <a:srgbClr val="8A84A0"/>
      </a:accent5>
      <a:accent6>
        <a:srgbClr val="EFEAFB"/>
      </a:accent6>
      <a:hlink>
        <a:srgbClr val="2FA875"/>
      </a:hlink>
      <a:folHlink>
        <a:srgbClr val="D9A441"/>
      </a:folHlink>
    </a:clrScheme>
    <a:fontScheme name="itsm_detailed_rounded">
      <a:majorFont>
        <a:latin typeface="Segoe UI"/>
        <a:ea typeface="Microsoft YaHei"/>
        <a:cs typeface="Segoe UI"/>
        <a:font script="Jpan" typeface="Microsoft YaHei"/>
        <a:font script="Hang" typeface="Microsoft YaHei"/>
        <a:font script="Hans" typeface="Microsoft YaHei"/>
        <a:font script="Hant" typeface="Microsoft YaHei"/>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Microsoft YaHei"/>
        <a:cs typeface="Segoe UI"/>
        <a:font script="Jpan" typeface="Microsoft YaHei"/>
        <a:font script="Hang" typeface="Microsoft YaHei"/>
        <a:font script="Hans" typeface="Microsoft YaHei"/>
        <a:font script="Hant" typeface="Microsoft YaHei"/>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itsm_detailed_rounded">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itsm_detailed_rounded">
  <a:themeElements>
    <a:clrScheme name="itsm_detailed_rounded">
      <a:dk1>
        <a:srgbClr val="332D4A"/>
      </a:dk1>
      <a:lt1>
        <a:srgbClr val="F6F3FB"/>
      </a:lt1>
      <a:dk2>
        <a:srgbClr val="1F497D"/>
      </a:dk2>
      <a:lt2>
        <a:srgbClr val="FFFFFF"/>
      </a:lt2>
      <a:accent1>
        <a:srgbClr val="7C6FE0"/>
      </a:accent1>
      <a:accent2>
        <a:srgbClr val="2FA875"/>
      </a:accent2>
      <a:accent3>
        <a:srgbClr val="D9A441"/>
      </a:accent3>
      <a:accent4>
        <a:srgbClr val="7C6FE0"/>
      </a:accent4>
      <a:accent5>
        <a:srgbClr val="8A84A0"/>
      </a:accent5>
      <a:accent6>
        <a:srgbClr val="EFEAFB"/>
      </a:accent6>
      <a:hlink>
        <a:srgbClr val="2FA875"/>
      </a:hlink>
      <a:folHlink>
        <a:srgbClr val="D9A441"/>
      </a:folHlink>
    </a:clrScheme>
    <a:fontScheme name="itsm_detailed_rounded">
      <a:majorFont>
        <a:latin typeface="Segoe UI"/>
        <a:ea typeface="Microsoft YaHei"/>
        <a:cs typeface="Segoe UI"/>
        <a:font script="Jpan" typeface="Microsoft YaHei"/>
        <a:font script="Hang" typeface="Microsoft YaHei"/>
        <a:font script="Hans" typeface="Microsoft YaHei"/>
        <a:font script="Hant" typeface="Microsoft YaHei"/>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Microsoft YaHei"/>
        <a:cs typeface="Segoe UI"/>
        <a:font script="Jpan" typeface="Microsoft YaHei"/>
        <a:font script="Hang" typeface="Microsoft YaHei"/>
        <a:font script="Hans" typeface="Microsoft YaHei"/>
        <a:font script="Hant" typeface="Microsoft YaHei"/>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itsm_detailed_rounded">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6903</Words>
  <Application>WPS Presentation</Application>
  <PresentationFormat>On-screen Show (16:9)</PresentationFormat>
  <Paragraphs>568</Paragraphs>
  <Slides>20</Slides>
  <Notes>0</Notes>
  <HiddenSlides>0</HiddenSlides>
  <MMClips>0</MMClips>
  <ScaleCrop>false</ScaleCrop>
  <HeadingPairs>
    <vt:vector size="6" baseType="variant">
      <vt:variant>
        <vt:lpstr>已用的字体</vt:lpstr>
      </vt:variant>
      <vt:variant>
        <vt:i4>11</vt:i4>
      </vt:variant>
      <vt:variant>
        <vt:lpstr>主题</vt:lpstr>
      </vt:variant>
      <vt:variant>
        <vt:i4>1</vt:i4>
      </vt:variant>
      <vt:variant>
        <vt:lpstr>幻灯片标题</vt:lpstr>
      </vt:variant>
      <vt:variant>
        <vt:i4>20</vt:i4>
      </vt:variant>
    </vt:vector>
  </HeadingPairs>
  <TitlesOfParts>
    <vt:vector size="32" baseType="lpstr">
      <vt:lpstr>Arial</vt:lpstr>
      <vt:lpstr>SimSun</vt:lpstr>
      <vt:lpstr>Wingdings</vt:lpstr>
      <vt:lpstr>Arial</vt:lpstr>
      <vt:lpstr>Segoe UI</vt:lpstr>
      <vt:lpstr>Microsoft YaHei</vt:lpstr>
      <vt:lpstr>Arial Unicode MS</vt:lpstr>
      <vt:lpstr>Calibri Light</vt:lpstr>
      <vt:lpstr>Calibri</vt:lpstr>
      <vt:lpstr>Inter</vt:lpstr>
      <vt:lpstr>Inter Bold</vt:lpstr>
      <vt:lpstr>itsm_detailed_rounded</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Venu Gopal</cp:lastModifiedBy>
  <cp:revision>6</cp:revision>
  <dcterms:created xsi:type="dcterms:W3CDTF">2026-09-23T04:29:00Z</dcterms:created>
  <dcterms:modified xsi:type="dcterms:W3CDTF">2026-09-23T13:45:44Z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6B72850C2B884C969A9E5816DF237E74_13</vt:lpwstr>
  </property>
  <property fmtid="{D5CDD505-2E9C-101B-9397-08002B2CF9AE}" pid="3" name="KSOProductBuildVer">
    <vt:lpwstr>1033-12.2.0.23206</vt:lpwstr>
  </property>
</Properties>
</file>