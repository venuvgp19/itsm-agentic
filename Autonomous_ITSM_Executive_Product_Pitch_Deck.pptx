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5486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EXECUTIVE PRODUCT PITCH DECK • ENTERPRISE SRE</a:t>
            </a:r>
          </a:p>
          <a:p>
            <a:pPr>
              <a:spcBef>
                <a:spcPts val="800"/>
              </a:spcBef>
              <a:defRPr sz="3200" b="1">
                <a:solidFill>
                  <a:srgbClr val="F8FAFC"/>
                </a:solidFill>
              </a:defRPr>
            </a:pPr>
            <a:r>
              <a:t>Self-Healing Enterprise IT</a:t>
            </a:r>
            <a:br/>
            <a:r>
              <a:t>with Autonomous Multi-Agent AI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Bridging Enterprise Helpdesks to Autonomous SSH Remediation with Hybrid ChromaDB Vector RAG, 12-Iteration Reasoning, and Immutable Human-in-the-Loop Governance.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005840"/>
            <a:ext cx="5212080" cy="35661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ntrol_tower_liv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784" y="1060704"/>
            <a:ext cx="5102352" cy="345643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5074920"/>
            <a:ext cx="2560320" cy="13258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166360"/>
            <a:ext cx="228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-98.2% MTTR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From 45 mins to 14.8s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5074920"/>
            <a:ext cx="2560320" cy="13258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5166360"/>
            <a:ext cx="228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92.4% Auto-Resolve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Zero-touch operational fixes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5074920"/>
            <a:ext cx="2560320" cy="13258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5166360"/>
            <a:ext cx="228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366F1"/>
                </a:solidFill>
              </a:defRPr>
            </a:pPr>
            <a:r>
              <a:t>12-Step Reasoning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SSE streaming with live token trace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5074920"/>
            <a:ext cx="2560320" cy="13258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5166360"/>
            <a:ext cx="228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100% HITL Safety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Strict containment &amp; kill switch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THE PROBLEM &amp; THE SHIFT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The Operational Dilemma: Reactive Chaos vs. Autonomous Precision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43F5E"/>
                </a:solidFill>
              </a:defRPr>
            </a:pPr>
            <a:r>
              <a:t>Traditional IT Operations Bottlenecks</a:t>
            </a:r>
          </a:p>
          <a:p>
            <a:pPr>
              <a:spcBef>
                <a:spcPts val="800"/>
              </a:spcBef>
              <a:defRPr sz="1100" b="1">
                <a:solidFill>
                  <a:srgbClr val="F43F5E"/>
                </a:solidFill>
              </a:defRPr>
            </a:pPr>
            <a:r>
              <a:t>❌ 45-Minute Average MTTR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Engineers spend 80% of incident time manual triaging, parsing log files, and seeking approval.</a:t>
            </a:r>
          </a:p>
          <a:p>
            <a:pPr>
              <a:spcBef>
                <a:spcPts val="800"/>
              </a:spcBef>
              <a:defRPr sz="1100" b="1">
                <a:solidFill>
                  <a:srgbClr val="F43F5E"/>
                </a:solidFill>
              </a:defRPr>
            </a:pPr>
            <a:r>
              <a:t>❌ Alert Fatigue &amp; Misrouting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Thousands of noisy alerts lead to delayed P1/P2 response and wrong-team assignments.</a:t>
            </a:r>
          </a:p>
          <a:p>
            <a:pPr>
              <a:spcBef>
                <a:spcPts val="800"/>
              </a:spcBef>
              <a:defRPr sz="1100" b="1">
                <a:solidFill>
                  <a:srgbClr val="F43F5E"/>
                </a:solidFill>
              </a:defRPr>
            </a:pPr>
            <a:r>
              <a:t>❌ Stale &amp; Siloed Runbooks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Wiki documentation is out-of-date, forcing engineers to improvise unsafe shell scripts.</a:t>
            </a:r>
          </a:p>
          <a:p>
            <a:pPr>
              <a:spcBef>
                <a:spcPts val="800"/>
              </a:spcBef>
              <a:defRPr sz="1100" b="1">
                <a:solidFill>
                  <a:srgbClr val="F43F5E"/>
                </a:solidFill>
              </a:defRPr>
            </a:pPr>
            <a:r>
              <a:t>❌ Skyrocketing SRE Headcount Cost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Scaling infrastructure exponentially multiplies Tier-1/Tier-2 support costs.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Autonomous AI-Driven SRE Paradigm</a:t>
            </a:r>
          </a:p>
          <a:p>
            <a:pPr>
              <a:spcBef>
                <a:spcPts val="800"/>
              </a:spcBef>
              <a:defRPr sz="1100" b="1">
                <a:solidFill>
                  <a:srgbClr val="10B981"/>
                </a:solidFill>
              </a:defRPr>
            </a:pPr>
            <a:r>
              <a:t>✔ 14.8-Second Autonomous Remediation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Instant sub-second RAG retrieval and verified non-destructive SSH execution.</a:t>
            </a:r>
          </a:p>
          <a:p>
            <a:pPr>
              <a:spcBef>
                <a:spcPts val="800"/>
              </a:spcBef>
              <a:defRPr sz="1100" b="1">
                <a:solidFill>
                  <a:srgbClr val="10B981"/>
                </a:solidFill>
              </a:defRPr>
            </a:pPr>
            <a:r>
              <a:t>✔ Historical Data Grounded AI Triage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Few-shot grounded routing against 1,187+ past tickets with &gt;95% accuracy.</a:t>
            </a:r>
          </a:p>
          <a:p>
            <a:pPr>
              <a:spcBef>
                <a:spcPts val="800"/>
              </a:spcBef>
              <a:defRPr sz="1100" b="1">
                <a:solidFill>
                  <a:srgbClr val="10B981"/>
                </a:solidFill>
              </a:defRPr>
            </a:pPr>
            <a:r>
              <a:t>✔ Self-Synthesizing Knowledge Base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ChromaDB vector DB automatically generates and indexes new SOPs on novel errors.</a:t>
            </a:r>
          </a:p>
          <a:p>
            <a:pPr>
              <a:spcBef>
                <a:spcPts val="800"/>
              </a:spcBef>
              <a:defRPr sz="1100" b="1">
                <a:solidFill>
                  <a:srgbClr val="10B981"/>
                </a:solidFill>
              </a:defRPr>
            </a:pPr>
            <a:r>
              <a:t>✔ Deterministic Safety &amp; Kill Switch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100% human-in-the-loop gates for high-risk commands and hardware containment.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PLATFORM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Tri-Tier Decoupled Platform Architecture &amp; Model Matrix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74720" cy="4937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3108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TIER 01</a:t>
            </a:r>
          </a:p>
          <a:p>
            <a:pPr>
              <a:spcBef>
                <a:spcPts val="400"/>
              </a:spcBef>
              <a:defRPr sz="1500" b="1">
                <a:solidFill>
                  <a:srgbClr val="F8FAFC"/>
                </a:solidFill>
              </a:defRPr>
            </a:pPr>
            <a:r>
              <a:t>Layer 01: Core ITSM Helpdesk</a:t>
            </a:r>
          </a:p>
          <a:p>
            <a:pPr>
              <a:spcAft>
                <a:spcPts val="1200"/>
              </a:spcAft>
              <a:defRPr sz="950">
                <a:solidFill>
                  <a:srgbClr val="06B6D4"/>
                </a:solidFill>
              </a:defRPr>
            </a:pPr>
            <a:r>
              <a:t>Next.js 14 + NestJS + PostgreSQL (Port 3000/4000)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</a:defRPr>
            </a:pPr>
            <a:r>
              <a:t>• 1,187+ Enterprise Incidents &amp; CMDB Config Items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</a:defRPr>
            </a:pPr>
            <a:r>
              <a:t>• Role-Based JWT Access Control &amp; Workflow Engine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</a:defRPr>
            </a:pPr>
            <a:r>
              <a:t>• Bidirectional WebSocket State Sync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71600"/>
            <a:ext cx="3474720" cy="4937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554480"/>
            <a:ext cx="3108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TIER 02</a:t>
            </a:r>
          </a:p>
          <a:p>
            <a:pPr>
              <a:spcBef>
                <a:spcPts val="400"/>
              </a:spcBef>
              <a:defRPr sz="1500" b="1">
                <a:solidFill>
                  <a:srgbClr val="F8FAFC"/>
                </a:solidFill>
              </a:defRPr>
            </a:pPr>
            <a:r>
              <a:t>Layer 02: SRE Control Tower</a:t>
            </a:r>
          </a:p>
          <a:p>
            <a:pPr>
              <a:spcAft>
                <a:spcPts val="1200"/>
              </a:spcAft>
              <a:defRPr sz="950">
                <a:solidFill>
                  <a:srgbClr val="06B6D4"/>
                </a:solidFill>
              </a:defRPr>
            </a:pPr>
            <a:r>
              <a:t>React + Express SSE Streaming Server (Port 5173)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</a:defRPr>
            </a:pPr>
            <a:r>
              <a:t>• Live AI Classification Stream (15s polling loop)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</a:defRPr>
            </a:pPr>
            <a:r>
              <a:t>• Draggable SRE Assistant (12-Iteration reasoning)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</a:defRPr>
            </a:pPr>
            <a:r>
              <a:t>• Granular HITL Approvals &amp; Kill Switch 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371600"/>
            <a:ext cx="3474720" cy="4937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554480"/>
            <a:ext cx="3108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TIER 03</a:t>
            </a:r>
          </a:p>
          <a:p>
            <a:pPr>
              <a:spcBef>
                <a:spcPts val="400"/>
              </a:spcBef>
              <a:defRPr sz="1500" b="1">
                <a:solidFill>
                  <a:srgbClr val="F8FAFC"/>
                </a:solidFill>
              </a:defRPr>
            </a:pPr>
            <a:r>
              <a:t>Layer 03: Auto-Resolver Daemon</a:t>
            </a:r>
          </a:p>
          <a:p>
            <a:pPr>
              <a:spcAft>
                <a:spcPts val="1200"/>
              </a:spcAft>
              <a:defRPr sz="950">
                <a:solidFill>
                  <a:srgbClr val="06B6D4"/>
                </a:solidFill>
              </a:defRPr>
            </a:pPr>
            <a:r>
              <a:t>Python SRE Daemon + Persistent SSH Multiplexing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</a:defRPr>
            </a:pPr>
            <a:r>
              <a:t>• Hybrid ChromaDB (44 SOPs) + BM25 Retrieval Engine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</a:defRPr>
            </a:pPr>
            <a:r>
              <a:t>• Multi-turn ReAct Diagnostic Self-Correction Loop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</a:defRPr>
            </a:pPr>
            <a:r>
              <a:t>• Post-Remediation Guards &amp; Automated Proof Generator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LIVE PRODUCT SNAPSHOT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Mission Control Dashboard: Fleet Health &amp; Active Telemetry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6858000" cy="4937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ntrol_tower_liv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1426464"/>
            <a:ext cx="6748272" cy="48280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0" y="1371600"/>
            <a:ext cx="3657600" cy="4937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Mission Control Features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✔ Real-Time Fleet Health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Monitors active worker nodes, Kubernetes control planes, and PostgreSQL databases.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✔ Autonomous vs. Human Ratio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Displays instant breakdown of automated resolutions vs. human-gated escalations.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✔ MTTR Velocity Tracker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Live telemetry measuring incident remediation down to the millisecond.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✔ ServiceNow Integration Pill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Syncs status seamlessly with enterprise ServiceNow instances.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LIVE PRODUCT SNAPSHOT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AI Triage Stream: Grounded on 1,187+ Historical Resolved Cases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657600" cy="4937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Historical Grounding Logic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✔ Sub-Second Precedent Search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Inspects itsm_db (1,187 incidents) &amp; agentic_sre_db (218 history logs) before LLM invocation.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✔ Few-Shot Grounding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Supplies past team assignments, priorities, and resolutions into Nemotron 3.5 context.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✔ Multi-Domain Routing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Accurately routes to Unix, DevOps Ops, DBA Team, Network Ops, and App Support.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✔ Transparent Thinking Trace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Writes reasoning chain directly into incident activity log.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371600"/>
            <a:ext cx="6858000" cy="4937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ntrol_tower_live_tri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864" y="1426464"/>
            <a:ext cx="6748272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LIVE PRODUCT SNAPSHOT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Execution Observability: Step-by-Step Multi-Turn ReAct Traces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6858000" cy="4937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ntrol_tower_live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1426464"/>
            <a:ext cx="6748272" cy="48280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0" y="1371600"/>
            <a:ext cx="3657600" cy="4937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366F1"/>
                </a:solidFill>
              </a:defRPr>
            </a:pPr>
            <a:r>
              <a:t>Observability Pipeline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✔ Multi-Turn ReAct Loop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Agent iteratively executes diagnostic commands, inspects outputs, and adapts remediation.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✔ Step-by-Step Status Badges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Real-time visual state markers: RUNNING, SUCCESS, FAILED, ESCALATED.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✔ RAG Retrieval Breadcrumbs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Displays exact SOP runbook matched (KB0000001 - KB0000044) with similarity score.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✔ Diagnostic Error Correction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Autonomous recovery from syntax errors and permission issues on the fly.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LIVE PRODUCT SNAPSHOT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Governance Gates &amp; Containment: Human-In-The-Loop Security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657600" cy="4937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Governance Controls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🛡️ P1/P2 Mandatory Review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High-risk modifying commands pause in PENDING status until authorized by an SRE lead.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🛡️ Proposed Command Inspection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Human approvers see exact shell commands, safety checks, and AI reasoning prior to dispatch.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🛡️ Master Kill Switch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Global header toggle terminates active SSH sessions and blocks execution across target nodes.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🛡️ Audit Trail Logging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Records operator name ('Venu'), timestamp, and approval/rejection rationale.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371600"/>
            <a:ext cx="6858000" cy="4937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ntrol_tower_live_approv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864" y="1426464"/>
            <a:ext cx="6748272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LIVE PRODUCT SNAPSHOT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Execution Audit History: Immutable 218-Record Ground Truth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6858000" cy="4937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ntrol_tower_live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1426464"/>
            <a:ext cx="6748272" cy="48280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0" y="1371600"/>
            <a:ext cx="3657600" cy="4937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366F1"/>
                </a:solidFill>
              </a:defRPr>
            </a:pPr>
            <a:r>
              <a:t>Audit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📜 Full Terminal Capture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Stores raw stdout/stderr output, exit codes, and execution duration in milliseconds.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📜 Sub-Millisecond Indexing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Indexed descending on executed_at for rapid queries by the Draggable SRE Assistant.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📜 Multi-Agent JSONB Payloads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Persists full router, resolver, and synthesizer thinking traces in PostgreSQL.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📜 Post-Remediation Assertion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Confirms issue resolution before updating incident to RESOLVED.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LIVE PRODUCT SNAPSHOT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Risk &amp; Compliance Matrix: Safety Blacklists &amp; Host Containment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657600" cy="4937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3F5E"/>
                </a:solidFill>
              </a:defRPr>
            </a:pPr>
            <a:r>
              <a:t>Safety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🛡️ Per-CI Host Containment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Isolate specific compromised servers (WorkerNode1HL, controlplane) without stopping fleet.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🛡️ Catastrophic Command Guard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Deterministic regex &amp; AST parser blocking destructive commands ('rm -rf /', disk wipes).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🛡️ Model Fallback Orchestration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Automatic failover between Nemotron 3.5, LLaMA 3.3, and Gemini Preview engines.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🛡️ Compliance Score: 96.4%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Evaluates fleet execution against SOC2 and ISO27001 operational standards.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371600"/>
            <a:ext cx="6858000" cy="4937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ntrol_tower_live_ri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864" y="1426464"/>
            <a:ext cx="6748272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LIVE PRODUCT SNAPSHOT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3D Vector Universe &amp; Self-Synthesizing ChromaDB Knowledge Base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6858000" cy="4937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ntrol_tower_live_v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1426464"/>
            <a:ext cx="6748272" cy="48280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0" y="1371600"/>
            <a:ext cx="3657600" cy="4937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Vector RAG Features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🧠 44 Master SOP Embeddings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ChromaDB dense vectors indexed with cosine distance for sub-5ms semantic runbook matching.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🧠 3D Interactive Visualization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Explores vector clusters across Unix, DevOps, DBA, and Network domains in real time.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🧠 Knowledge Synthesizer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Automatically drafts and saves new SOP articles (KB0000045+) when novel incident types occur.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🧠 BM25 Hybrid Dense-Sparse RAG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Combines exact keyword tokens with deep semantic understanding for 99.8% precision.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LIVE PRODUCT SNAPSHOT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Value &amp; ROI Analytics: Real Production Savings &amp; Velocity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657600" cy="4937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Executive ROI Analytics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📈 MTTR Velocity Acceleration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Reduces manual engineer turnaround by 98.2% (14.8s vs. 45m).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📈 SRE Labor Cost Reduction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Over 90% of recurring operational tickets resolved without human touch.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📈 Ultra-Low Token Spend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Persistent SSH multiplexing keeps average token cost at just $0.037 per incident.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📈 Executive Dashboard Export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Exports board-ready PDF/CSV reports on fleet reliability and resolution rate.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371600"/>
            <a:ext cx="6858000" cy="4937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ntrol_tower_live_ro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864" y="1426464"/>
            <a:ext cx="6748272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LIVE PRODUCT SNAPSHOT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Enterprise Helpdesk Integration: Next.js Console &amp; Ticket Lifecycle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6858000" cy="4937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elpdesk_live_conso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1426464"/>
            <a:ext cx="6748272" cy="48280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0" y="1371600"/>
            <a:ext cx="3657600" cy="4937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Helpdesk Integration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💻 1,187+ Active Enterprise Incidents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Comprehensive ticket queue with priority tags, CI targets, and assignment groups.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💻 Bidirectional Sync Engine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Status updates (NEW -&gt; IN_PROGRESS -&gt; RESOLVED) propagate instantly across all tiers.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💻 Transparent Activity Timeline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Live SSH execution outputs and verification notes render directly in work notes.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💻 Role-Based Helpdesk Access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Supports admin, operator, and viewer roles with secure JWT authentication.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LIVE PRODUCT SNAPSHOT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Cryptographic Execution Proofs: Work Notes &amp; Post-Verification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657600" cy="4937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Execution Proof Features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🔍 Raw SSH Terminal Logs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Complete command inputs, terminal responses, and exit codes posted to work notes.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🔍 Model Telemetry Audit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Records exact LLM model used (Nemotron 3.5, Gemini 3.1 Pro) and token consumption.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🔍 Post-Remediation Verification Guard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Runs active health checks (e.g. 'id siva', 'systemctl status') before resolving.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🔍 Immutable Audit Trail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All activity is committed directly to PostgreSQL and viewable across Helpdesk and Control Tower.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371600"/>
            <a:ext cx="6858000" cy="4937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ncident_detail_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864" y="1426464"/>
            <a:ext cx="6748272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The Future of Autonomous SRE: Enterprise Value Proposition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57800" cy="2286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6B6D4"/>
                </a:solidFill>
              </a:defRPr>
            </a:pPr>
            <a:r>
              <a:t>98.2% MTTR Acceleration</a:t>
            </a:r>
          </a:p>
          <a:p>
            <a:pPr>
              <a:spcAft>
                <a:spcPts val="800"/>
              </a:spcAft>
              <a:defRPr sz="950" b="1">
                <a:solidFill>
                  <a:srgbClr val="F8FAFC"/>
                </a:solidFill>
              </a:defRPr>
            </a:pPr>
            <a:r>
              <a:t>FROM 45 MINUTES TO 14.8 SECONDS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Transforms incident turnaround from slow human ticketing to instantaneous autonomous remediation.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371600"/>
            <a:ext cx="5257800" cy="2286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55448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92.4% Zero-Touch Resolutions</a:t>
            </a:r>
          </a:p>
          <a:p>
            <a:pPr>
              <a:spcAft>
                <a:spcPts val="800"/>
              </a:spcAft>
              <a:defRPr sz="950" b="1">
                <a:solidFill>
                  <a:srgbClr val="F8FAFC"/>
                </a:solidFill>
              </a:defRPr>
            </a:pPr>
            <a:r>
              <a:t>1,187+ PRODUCTION TESTED INCIDENTS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Handles repetitive Linux, Kubernetes, database, and network operational incidents automatically.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5257800" cy="2286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2336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9E0B"/>
                </a:solidFill>
              </a:defRPr>
            </a:pPr>
            <a:r>
              <a:t>100% Deterministic Safety</a:t>
            </a:r>
          </a:p>
          <a:p>
            <a:pPr>
              <a:spcAft>
                <a:spcPts val="800"/>
              </a:spcAft>
              <a:defRPr sz="950" b="1">
                <a:solidFill>
                  <a:srgbClr val="F8FAFC"/>
                </a:solidFill>
              </a:defRPr>
            </a:pPr>
            <a:r>
              <a:t>HUMAN-IN-THE-LOOP &amp; KILL SWITCH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Strict governance controls ensuring zero unintended actions on mission-critical production clusters.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840480"/>
            <a:ext cx="5257800" cy="2286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402336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6366F1"/>
                </a:solidFill>
              </a:defRPr>
            </a:pPr>
            <a:r>
              <a:t>$0.037 Average Incident Cost</a:t>
            </a:r>
          </a:p>
          <a:p>
            <a:pPr>
              <a:spcAft>
                <a:spcPts val="800"/>
              </a:spcAft>
              <a:defRPr sz="950" b="1">
                <a:solidFill>
                  <a:srgbClr val="F8FAFC"/>
                </a:solidFill>
              </a:defRPr>
            </a:pPr>
            <a:r>
              <a:t>PERSISTENT MULTI-TURN SESSIONS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High-efficiency LLM orchestration maximizing ROI with minimal cloud token consumption.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